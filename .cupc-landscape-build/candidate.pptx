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  <p:sldId id="260" r:id="rId9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92"/>
  </p:normalViewPr>
  <p:slideViewPr>
    <p:cSldViewPr snapToGrid="0">
      <p:cViewPr>
        <p:scale>
          <a:sx n="33" d="100"/>
          <a:sy n="33" d="100"/>
        </p:scale>
        <p:origin x="-24" y="-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  <pc:sldChg chg="addSp modSp">
        <pc:chgData name="Guest User" userId="" providerId="Windows Live" clId="Web-{6473874E-BB57-4884-5C66-EE1C81F1FB1F}" dt="2026-10-06T18:07:50.156" v="49" actId="14100"/>
        <pc:sldMkLst>
          <pc:docMk/>
          <pc:sldMk cId="868487171" sldId="259"/>
        </pc:sldMkLst>
        <pc:spChg chg="add mod">
          <ac:chgData name="Guest User" userId="" providerId="Windows Live" clId="Web-{6473874E-BB57-4884-5C66-EE1C81F1FB1F}" dt="2026-10-06T18:05:06.482" v="43" actId="1076"/>
          <ac:spMkLst>
            <pc:docMk/>
            <pc:sldMk cId="868487171" sldId="259"/>
            <ac:spMk id="2" creationId="{6F669F8B-BE33-0C82-515C-AF8D3B759FB3}"/>
          </ac:spMkLst>
        </pc:spChg>
        <pc:spChg chg="add mod">
          <ac:chgData name="Guest User" userId="" providerId="Windows Live" clId="Web-{6473874E-BB57-4884-5C66-EE1C81F1FB1F}" dt="2026-10-06T18:04:32.935" v="42" actId="20577"/>
          <ac:spMkLst>
            <pc:docMk/>
            <pc:sldMk cId="868487171" sldId="259"/>
            <ac:spMk id="7" creationId="{3AC78928-AF13-E1B9-F802-F1FD39D07D33}"/>
          </ac:spMkLst>
        </pc:spChg>
        <pc:spChg chg="add mod">
          <ac:chgData name="Guest User" userId="" providerId="Windows Live" clId="Web-{6473874E-BB57-4884-5C66-EE1C81F1FB1F}" dt="2026-10-06T18:05:37.561" v="46" actId="1076"/>
          <ac:spMkLst>
            <pc:docMk/>
            <pc:sldMk cId="868487171" sldId="259"/>
            <ac:spMk id="11" creationId="{AF7EDC07-606F-DD66-5973-0AE0D673B23B}"/>
          </ac:spMkLst>
        </pc:spChg>
        <pc:spChg chg="mod">
          <ac:chgData name="Guest User" userId="" providerId="Windows Live" clId="Web-{6473874E-BB57-4884-5C66-EE1C81F1FB1F}" dt="2026-10-06T17:45:22.514" v="13" actId="20577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Guest User" userId="" providerId="Windows Live" clId="Web-{6473874E-BB57-4884-5C66-EE1C81F1FB1F}" dt="2026-10-06T18:07:50.156" v="49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Guest User" userId="" providerId="Windows Live" clId="Web-{6473874E-BB57-4884-5C66-EE1C81F1FB1F}" dt="2026-10-06T18:03:08.387" v="34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Guest User" userId="" providerId="Windows Live" clId="Web-{6473874E-BB57-4884-5C66-EE1C81F1FB1F}" dt="2026-10-06T18:00:42.510" v="28" actId="1076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Guest User" userId="" providerId="Windows Live" clId="Web-{6473874E-BB57-4884-5C66-EE1C81F1FB1F}" dt="2026-10-06T18:02:35.371" v="33" actId="1076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Guest User" userId="" providerId="Windows Live" clId="Web-{6473874E-BB57-4884-5C66-EE1C81F1FB1F}" dt="2026-10-06T18:07:15.078" v="48" actId="20577"/>
          <ac:spMkLst>
            <pc:docMk/>
            <pc:sldMk cId="868487171" sldId="259"/>
            <ac:spMk id="75" creationId="{1321580B-F01F-0657-4172-18EB0518DB94}"/>
          </ac:spMkLst>
        </pc:spChg>
        <pc:spChg chg="mod">
          <ac:chgData name="Guest User" userId="" providerId="Windows Live" clId="Web-{6473874E-BB57-4884-5C66-EE1C81F1FB1F}" dt="2026-10-06T18:04:14.810" v="41" actId="20577"/>
          <ac:spMkLst>
            <pc:docMk/>
            <pc:sldMk cId="868487171" sldId="259"/>
            <ac:spMk id="76" creationId="{8F4057E1-F618-63B3-DF3A-8B3B4948305D}"/>
          </ac:spMkLst>
        </pc:spChg>
        <pc:spChg chg="mod">
          <ac:chgData name="Guest User" userId="" providerId="Windows Live" clId="Web-{6473874E-BB57-4884-5C66-EE1C81F1FB1F}" dt="2026-10-06T17:46:18.967" v="18" actId="20577"/>
          <ac:spMkLst>
            <pc:docMk/>
            <pc:sldMk cId="868487171" sldId="259"/>
            <ac:spMk id="79" creationId="{3DD5B540-2EC8-A5A1-200C-994C1D7C8BFD}"/>
          </ac:spMkLst>
        </pc:spChg>
      </pc:sldChg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09T00:15:05.241" v="2362"/>
      <pc:docMkLst>
        <pc:docMk/>
      </pc:docMkLst>
      <pc:sldChg chg="addSp delSp modSp del mod modClrScheme chgLayout">
        <pc:chgData name="Nicole Jiang" userId="09ef0fc0f6f473b5" providerId="LiveId" clId="{EB8F4A53-0964-5BF1-90AD-931457E28E1A}" dt="2026-10-08T23:56:41.890" v="2017" actId="2696"/>
        <pc:sldMkLst>
          <pc:docMk/>
          <pc:sldMk cId="0" sldId="258"/>
        </pc:sldMkLst>
      </pc:sldChg>
      <pc:sldChg chg="addSp delSp modSp add mod">
        <pc:chgData name="Nicole Jiang" userId="09ef0fc0f6f473b5" providerId="LiveId" clId="{EB8F4A53-0964-5BF1-90AD-931457E28E1A}" dt="2026-10-09T00:15:05.241" v="2362"/>
        <pc:sldMkLst>
          <pc:docMk/>
          <pc:sldMk cId="868487171" sldId="259"/>
        </pc:sldMkLst>
        <pc:spChg chg="mod">
          <ac:chgData name="Nicole Jiang" userId="09ef0fc0f6f473b5" providerId="LiveId" clId="{EB8F4A53-0964-5BF1-90AD-931457E28E1A}" dt="2026-10-09T00:09:16.450" v="2346" actId="1076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09T00:09:38.064" v="2351" actId="14100"/>
          <ac:spMkLst>
            <pc:docMk/>
            <pc:sldMk cId="868487171" sldId="259"/>
            <ac:spMk id="7" creationId="{3AC78928-AF13-E1B9-F802-F1FD39D07D33}"/>
          </ac:spMkLst>
        </pc:spChg>
        <pc:spChg chg="mod">
          <ac:chgData name="Nicole Jiang" userId="09ef0fc0f6f473b5" providerId="LiveId" clId="{EB8F4A53-0964-5BF1-90AD-931457E28E1A}" dt="2026-10-09T00:09:35.092" v="2350" actId="14100"/>
          <ac:spMkLst>
            <pc:docMk/>
            <pc:sldMk cId="868487171" sldId="259"/>
            <ac:spMk id="11" creationId="{AF7EDC07-606F-DD66-5973-0AE0D673B23B}"/>
          </ac:spMkLst>
        </pc:spChg>
        <pc:spChg chg="mod">
          <ac:chgData name="Nicole Jiang" userId="09ef0fc0f6f473b5" providerId="LiveId" clId="{EB8F4A53-0964-5BF1-90AD-931457E28E1A}" dt="2026-10-08T23:55:50.948" v="2002" actId="14100"/>
          <ac:spMkLst>
            <pc:docMk/>
            <pc:sldMk cId="868487171" sldId="259"/>
            <ac:spMk id="69" creationId="{D8B6836B-DAF1-F68F-D717-73D3A454BC2E}"/>
          </ac:spMkLst>
        </pc:spChg>
        <pc:spChg chg="mod">
          <ac:chgData name="Nicole Jiang" userId="09ef0fc0f6f473b5" providerId="LiveId" clId="{EB8F4A53-0964-5BF1-90AD-931457E28E1A}" dt="2026-10-08T23:59:45.832" v="2096" actId="1076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08T23:59:49.081" v="2097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Nicole Jiang" userId="09ef0fc0f6f473b5" providerId="LiveId" clId="{EB8F4A53-0964-5BF1-90AD-931457E28E1A}" dt="2026-10-08T23:59:53.849" v="2098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Nicole Jiang" userId="09ef0fc0f6f473b5" providerId="LiveId" clId="{EB8F4A53-0964-5BF1-90AD-931457E28E1A}" dt="2026-10-09T00:08:16.840" v="2330" actId="20577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09T00:09:27.727" v="2349" actId="14100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Nicole Jiang" userId="09ef0fc0f6f473b5" providerId="LiveId" clId="{EB8F4A53-0964-5BF1-90AD-931457E28E1A}" dt="2026-10-07T04:31:07.748" v="1961" actId="14100"/>
          <ac:spMkLst>
            <pc:docMk/>
            <pc:sldMk cId="868487171" sldId="259"/>
            <ac:spMk id="75" creationId="{1321580B-F01F-0657-4172-18EB0518DB94}"/>
          </ac:spMkLst>
        </pc:spChg>
        <pc:spChg chg="mod">
          <ac:chgData name="Nicole Jiang" userId="09ef0fc0f6f473b5" providerId="LiveId" clId="{EB8F4A53-0964-5BF1-90AD-931457E28E1A}" dt="2026-10-08T21:06:38.773" v="1965" actId="20577"/>
          <ac:spMkLst>
            <pc:docMk/>
            <pc:sldMk cId="868487171" sldId="259"/>
            <ac:spMk id="76" creationId="{8F4057E1-F618-63B3-DF3A-8B3B4948305D}"/>
          </ac:spMkLst>
        </pc:spChg>
        <pc:spChg chg="mod">
          <ac:chgData name="Nicole Jiang" userId="09ef0fc0f6f473b5" providerId="LiveId" clId="{EB8F4A53-0964-5BF1-90AD-931457E28E1A}" dt="2026-10-07T04:31:03.142" v="1960" actId="14100"/>
          <ac:spMkLst>
            <pc:docMk/>
            <pc:sldMk cId="868487171" sldId="259"/>
            <ac:spMk id="77" creationId="{7A1E6EC0-2FA9-D0FD-7275-799C6E89A662}"/>
          </ac:spMkLst>
        </pc:spChg>
        <pc:spChg chg="add del mod">
          <ac:chgData name="Nicole Jiang" userId="09ef0fc0f6f473b5" providerId="LiveId" clId="{EB8F4A53-0964-5BF1-90AD-931457E28E1A}" dt="2026-10-09T00:15:05.241" v="2362"/>
          <ac:spMkLst>
            <pc:docMk/>
            <pc:sldMk cId="868487171" sldId="259"/>
            <ac:spMk id="79" creationId="{3DD5B540-2EC8-A5A1-200C-994C1D7C8BFD}"/>
          </ac:spMkLst>
        </pc:spChg>
        <pc:spChg chg="del">
          <ac:chgData name="Nicole Jiang" userId="09ef0fc0f6f473b5" providerId="LiveId" clId="{EB8F4A53-0964-5BF1-90AD-931457E28E1A}" dt="2026-10-09T00:10:06.343" v="2352" actId="478"/>
          <ac:spMkLst>
            <pc:docMk/>
            <pc:sldMk cId="868487171" sldId="259"/>
            <ac:spMk id="110" creationId="{8F4057E1-F618-63B3-DF3A-8B3B4948305D}"/>
          </ac:spMkLst>
        </pc:spChg>
        <pc:picChg chg="mod">
          <ac:chgData name="Nicole Jiang" userId="09ef0fc0f6f473b5" providerId="LiveId" clId="{EB8F4A53-0964-5BF1-90AD-931457E28E1A}" dt="2026-10-07T04:27:46.876" v="1947" actId="1076"/>
          <ac:picMkLst>
            <pc:docMk/>
            <pc:sldMk cId="868487171" sldId="259"/>
            <ac:picMk id="3" creationId="{535E2EF0-72FB-E9D0-1E82-C65E26ED9E91}"/>
          </ac:picMkLst>
        </pc:picChg>
        <pc:picChg chg="mod">
          <ac:chgData name="Nicole Jiang" userId="09ef0fc0f6f473b5" providerId="LiveId" clId="{EB8F4A53-0964-5BF1-90AD-931457E28E1A}" dt="2026-10-07T04:29:45.955" v="1948" actId="14100"/>
          <ac:picMkLst>
            <pc:docMk/>
            <pc:sldMk cId="868487171" sldId="259"/>
            <ac:picMk id="4" creationId="{C4337658-2539-7C1B-497A-E1769149148E}"/>
          </ac:picMkLst>
        </pc:picChg>
        <pc:picChg chg="mod">
          <ac:chgData name="Nicole Jiang" userId="09ef0fc0f6f473b5" providerId="LiveId" clId="{EB8F4A53-0964-5BF1-90AD-931457E28E1A}" dt="2026-10-07T04:27:30.158" v="1944" actId="1076"/>
          <ac:picMkLst>
            <pc:docMk/>
            <pc:sldMk cId="868487171" sldId="259"/>
            <ac:picMk id="9" creationId="{B829416D-68E4-BCED-986B-F1DCA30F1BF3}"/>
          </ac:picMkLst>
        </pc:picChg>
        <pc:picChg chg="mod">
          <ac:chgData name="Nicole Jiang" userId="09ef0fc0f6f473b5" providerId="LiveId" clId="{EB8F4A53-0964-5BF1-90AD-931457E28E1A}" dt="2026-10-09T00:10:15.637" v="2356" actId="14100"/>
          <ac:picMkLst>
            <pc:docMk/>
            <pc:sldMk cId="868487171" sldId="259"/>
            <ac:picMk id="14" creationId="{C3CA3027-10C5-D39A-05B0-82DB2540F9D3}"/>
          </ac:picMkLst>
        </pc:pic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  <pc:sldChg chg="modSp">
        <pc:chgData name="Nicole Jiang" userId="09ef0fc0f6f473b5" providerId="Windows Live" clId="Web-{00000000-0000-0000-0000-000000000000}" dt="2026-10-06T17:56:42.980" v="36" actId="1076"/>
        <pc:sldMkLst>
          <pc:docMk/>
          <pc:sldMk cId="868487171" sldId="259"/>
        </pc:sldMkLst>
        <pc:spChg chg="mod">
          <ac:chgData name="Nicole Jiang" userId="09ef0fc0f6f473b5" providerId="Windows Live" clId="Web-{00000000-0000-0000-0000-000000000000}" dt="2026-10-06T17:56:42.980" v="36" actId="1076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Nicole Jiang" userId="09ef0fc0f6f473b5" providerId="Windows Live" clId="Web-{00000000-0000-0000-0000-000000000000}" dt="2026-10-06T17:41:48.569" v="20" actId="20577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Nicole Jiang" userId="09ef0fc0f6f473b5" providerId="Windows Live" clId="Web-{00000000-0000-0000-0000-000000000000}" dt="2026-10-06T17:39:25.110" v="6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Nicole Jiang" userId="09ef0fc0f6f473b5" providerId="Windows Live" clId="Web-{00000000-0000-0000-0000-000000000000}" dt="2026-10-06T17:55:28.537" v="27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Nicole Jiang" userId="09ef0fc0f6f473b5" providerId="Windows Live" clId="Web-{00000000-0000-0000-0000-000000000000}" dt="2026-10-06T17:56:31.917" v="35" actId="1076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Nicole Jiang" userId="09ef0fc0f6f473b5" providerId="Windows Live" clId="Web-{00000000-0000-0000-0000-000000000000}" dt="2026-10-06T17:55:47.304" v="29" actId="1076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Nicole Jiang" userId="09ef0fc0f6f473b5" providerId="Windows Live" clId="Web-{00000000-0000-0000-0000-000000000000}" dt="2026-10-06T17:55:59.289" v="31" actId="1076"/>
          <ac:spMkLst>
            <pc:docMk/>
            <pc:sldMk cId="868487171" sldId="259"/>
            <ac:spMk id="77" creationId="{7A1E6EC0-2FA9-D0FD-7275-799C6E89A662}"/>
          </ac:spMkLst>
        </pc:spChg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  <pc:sldChg chg="modSp">
        <pc:chgData name="Guest User" userId="" providerId="Windows Live" clId="Web-{00000000-0000-0000-0000-000000000000}" dt="2026-10-06T18:59:37.821" v="16" actId="14100"/>
        <pc:sldMkLst>
          <pc:docMk/>
          <pc:sldMk cId="868487171" sldId="259"/>
        </pc:sldMkLst>
        <pc:spChg chg="mod">
          <ac:chgData name="Guest User" userId="" providerId="Windows Live" clId="Web-{00000000-0000-0000-0000-000000000000}" dt="2026-10-06T18:58:54.023" v="14" actId="20577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Guest User" userId="" providerId="Windows Live" clId="Web-{00000000-0000-0000-0000-000000000000}" dt="2026-10-06T18:58:28.804" v="11" actId="20577"/>
          <ac:spMkLst>
            <pc:docMk/>
            <pc:sldMk cId="868487171" sldId="259"/>
            <ac:spMk id="76" creationId="{8F4057E1-F618-63B3-DF3A-8B3B4948305D}"/>
          </ac:spMkLst>
        </pc:spChg>
        <pc:picChg chg="mod">
          <ac:chgData name="Guest User" userId="" providerId="Windows Live" clId="Web-{00000000-0000-0000-0000-000000000000}" dt="2026-10-06T18:59:37.821" v="16" actId="14100"/>
          <ac:picMkLst>
            <pc:docMk/>
            <pc:sldMk cId="868487171" sldId="259"/>
            <ac:picMk id="3" creationId="{535E2EF0-72FB-E9D0-1E82-C65E26ED9E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800"/>
              </a:spcAft>
              <a:buNone/>
            </a:pPr>
            <a:r>
              <a:rPr lang="en-CA" sz="1200" b="0">
                <a:latin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landscape_current_image7.png"/><Relationship Id="rId3" Type="http://schemas.openxmlformats.org/officeDocument/2006/relationships/image" Target="../media/landscape_current_image2.png"/><Relationship Id="rId7" Type="http://schemas.openxmlformats.org/officeDocument/2006/relationships/image" Target="../media/landscape_current_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landscape_current_image5.png"/><Relationship Id="rId11" Type="http://schemas.openxmlformats.org/officeDocument/2006/relationships/image" Target="../media/landscape_current_image10.png"/><Relationship Id="rId5" Type="http://schemas.openxmlformats.org/officeDocument/2006/relationships/image" Target="../media/landscape_current_image4.png"/><Relationship Id="rId10" Type="http://schemas.openxmlformats.org/officeDocument/2006/relationships/image" Target="../media/landscape_current_image9.png"/><Relationship Id="rId4" Type="http://schemas.openxmlformats.org/officeDocument/2006/relationships/image" Target="../media/landscape_current_image3.png"/><Relationship Id="rId9" Type="http://schemas.openxmlformats.org/officeDocument/2006/relationships/image" Target="../media/landscape_current_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8184" y="5495859"/>
            <a:ext cx="12161520" cy="9121140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396240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>
            <a:normAutofit/>
          </a:bodyPr>
          <a:lstStyle/>
          <a:p>
            <a:pPr algn="ctr"/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7" y="384048"/>
            <a:ext cx="3135086" cy="3135086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02" t="38725" b="33824"/>
          <a:stretch>
            <a:fillRect/>
          </a:stretch>
        </p:blipFill>
        <p:spPr>
          <a:xfrm>
            <a:off x="2944884" y="914400"/>
            <a:ext cx="6527602" cy="23547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00990" y="384048"/>
            <a:ext cx="3135086" cy="3135086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1243517" y="4876800"/>
            <a:ext cx="11656526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733938" y="6146223"/>
            <a:ext cx="10814623" cy="4601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CA" sz="3500" b="1" dirty="0">
                <a:latin typeface="Aptos"/>
              </a:rPr>
              <a:t>How did early black holes grow so big, so fast?</a:t>
            </a:r>
            <a:endParaRPr lang="en-CA" sz="3500" dirty="0"/>
          </a:p>
          <a:p>
            <a:pPr>
              <a:spcAft>
                <a:spcPts val="600"/>
              </a:spcAft>
              <a:buNone/>
            </a:pPr>
            <a:r>
              <a:rPr lang="en-CA" sz="3500" dirty="0"/>
              <a:t>JWST has revealed massive black holes with little time to assemble. My research builds a </a:t>
            </a:r>
            <a:r>
              <a:rPr lang="en-CA" sz="3500" b="1" dirty="0"/>
              <a:t>standardized catalogue </a:t>
            </a:r>
            <a:r>
              <a:rPr lang="en-CA" sz="3500" dirty="0"/>
              <a:t>across published studies for consistent comparison, then </a:t>
            </a:r>
            <a:r>
              <a:rPr lang="en-CA" sz="3500" b="1" dirty="0"/>
              <a:t>tests objects against analytic growth models. </a:t>
            </a:r>
            <a:r>
              <a:rPr lang="en-CA" sz="3500" dirty="0"/>
              <a:t>I identify which objects most strongly constrain early black-hole growth, and how those constraints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1243517" y="4876800"/>
            <a:ext cx="11654220" cy="6231467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1243518" y="11652615"/>
            <a:ext cx="11654218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Catalogue: </a:t>
                </a:r>
                <a:r>
                  <a:rPr lang="en-CA" sz="3200" b="0">
                    <a:latin typeface="Aptos"/>
                  </a:rPr>
                  <a:t>Compiled 350 measurements from 32 source families at z ≥ 4, retaining provenance and alternatives. Primary sample: 220 Balmer-line virial masses [1]; expanded sample: 234 objects, including tentative candidates and GN-z11 [2].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Growth model: </a:t>
                </a:r>
                <a:r>
                  <a:rPr lang="en-CA" sz="3200" b="0">
                    <a:latin typeface="Aptos"/>
                  </a:rPr>
                  <a:t>Reference assumptions: a 100 M⊙ seed at z = 30, ε = 0.1, and no mergers. Required average Eddington ratio [3]: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Edd</m:t>
                          </m:r>
                          <m:r>
                            <a:rPr lang="en-US" sz="35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5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5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5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5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5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5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5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5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1100" b="1" dirty="0">
                  <a:latin typeface="Aptos"/>
                </a:endParaRP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Testing and comparison: </a:t>
                </a:r>
                <a:r>
                  <a:rPr lang="en-CA" sz="3200" b="0">
                    <a:latin typeface="Aptos"/>
                  </a:rPr>
                  <a:t>Rank objects by their required average Eddington ratio and compare with allowed average rates. Assess robustness using the fraction of Monte Carlo draws above unity, repeating across growth assumptions.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Uncertainty and sensitivity: </a:t>
                </a:r>
                <a:r>
                  <a:rPr lang="en-CA" sz="3200" b="0">
                    <a:latin typeface="Aptos"/>
                  </a:rPr>
                  <a:t>10,000 Monte Carlo draws per object; varied mass scale and growth assumptions separately. Reported errors may omit calibration scatter.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Earlier-onset test: </a:t>
                </a:r>
                <a:r>
                  <a:rPr lang="en-CA" sz="3200" b="0">
                    <a:latin typeface="Aptos"/>
                  </a:rPr>
                  <a:t>For the three leading primary targets and GN-z11, calculate minimum seed masses across onset redshifts 20 ≤ </a:t>
                </a:r>
                <a:r>
                  <a:rPr lang="en-CA" sz="3200" b="0">
                    <a:latin typeface="Aptos"/>
                  </a:rPr>
                  <a:t>z</a:t>
                </a:r>
                <a:r>
                  <a:rPr lang="en-CA" sz="2400" b="0" baseline="-25000">
                    <a:latin typeface="Aptos"/>
                  </a:rPr>
                  <a:t>acc</a:t>
                </a:r>
                <a:r>
                  <a:rPr lang="en-CA" sz="3200" b="0">
                    <a:latin typeface="Aptos"/>
                  </a:rPr>
                  <a:t> ≤ 3400, average-rate caps, and efficiencies, using radiation-inclusive cosmic ages.</a:t>
                </a: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blipFill>
                <a:blip r:embed="rId7"/>
                <a:stretch>
                  <a:fillRect l="-1606" t="-975" r="-2294" b="-1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1243517" y="11647223"/>
            <a:ext cx="11654220" cy="12425531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itle 18">
            <a:extLst>
              <a:ext uri="{FF2B5EF4-FFF2-40B4-BE49-F238E27FC236}">
                <a16:creationId xmlns:a16="http://schemas.microsoft.com/office/drawing/2014/main" id="{1321580B-F01F-0657-4172-18EB0518DB94}"/>
              </a:ext>
            </a:extLst>
          </p:cNvPr>
          <p:cNvSpPr txBox="1">
            <a:spLocks/>
          </p:cNvSpPr>
          <p:nvPr/>
        </p:nvSpPr>
        <p:spPr>
          <a:xfrm>
            <a:off x="13497904" y="4876800"/>
            <a:ext cx="17479372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 (continued)</a:t>
            </a:r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31480705" y="15352034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32001352" y="16775511"/>
            <a:ext cx="10574941" cy="1004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Conditional growth constraints: </a:t>
            </a:r>
            <a:r>
              <a:rPr lang="en-CA" sz="3200" b="0">
                <a:latin typeface="Aptos"/>
              </a:rPr>
              <a:t>Some objects challenge the reference stellar-seed model, but the tension depends strongly on growth assumptions. Lower efficiency permits 100 M⊙ seeds to reach all four selected targets’ central masses.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Independent mass estimates remain essential: </a:t>
            </a:r>
            <a:r>
              <a:rPr lang="en-CA" sz="3200" b="0">
                <a:latin typeface="Aptos"/>
              </a:rPr>
              <a:t>Calibration, lensing, and scattering uncertainties can affect which objects appear most challenging.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The catalogue enables consistent comparisons: </a:t>
            </a:r>
            <a:r>
              <a:rPr lang="en-CA" sz="3200" b="0">
                <a:latin typeface="Aptos"/>
              </a:rPr>
              <a:t>Traceable measurements identify targets for growth-model testing and follow-up as observations improve.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Earlier onset offers limited relief: </a:t>
            </a:r>
            <a:r>
              <a:rPr lang="en-CA" sz="3200" b="0">
                <a:latin typeface="Aptos"/>
              </a:rPr>
              <a:t>Even onset at matter–radiation equality requires 270–1,200 M⊙ seeds for the four targets at ε = 0.1, average Eddington ratio ≤1, and no mergers. Hypothetical PBH seeds shift the challenge toward explaining their formation and abundance, which this growth analysis does not establish.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31480704" y="15352035"/>
            <a:ext cx="11293742" cy="1147141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31480705" y="27340577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31915007" y="28709236"/>
            <a:ext cx="104366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600" dirty="0"/>
              <a:t>[1] Shen (2013), BASI, 41, 61.</a:t>
            </a:r>
            <a:endParaRPr lang="en-US" sz="3500" dirty="0"/>
          </a:p>
          <a:p>
            <a:r>
              <a:rPr lang="en-CA" sz="3600" dirty="0"/>
              <a:t>[2] </a:t>
            </a:r>
            <a:r>
              <a:rPr lang="en-CA" sz="3600" dirty="0" err="1"/>
              <a:t>Maiolino</a:t>
            </a:r>
            <a:r>
              <a:rPr lang="en-CA" sz="3600" dirty="0"/>
              <a:t> et al. (2024), Nature, 627, 59.</a:t>
            </a:r>
          </a:p>
          <a:p>
            <a:r>
              <a:rPr lang="en-CA" sz="3600" dirty="0"/>
              <a:t>[3] Dayal (2024), A&amp;A, 690, A182.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[4] Bardeen et al. (1972), </a:t>
            </a:r>
            <a:r>
              <a:rPr lang="en-CA" sz="3600" dirty="0" err="1"/>
              <a:t>ApJ</a:t>
            </a:r>
            <a:r>
              <a:rPr lang="en-CA" sz="3600" dirty="0"/>
              <a:t>, 178, 347.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Catalogue sources and code: QR link above.</a:t>
            </a:r>
            <a:endParaRPr lang="en-US" sz="35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31480710" y="27340577"/>
            <a:ext cx="11293742" cy="4663422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61834" y="21777505"/>
            <a:ext cx="17342567" cy="10405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154"/>
          <a:stretch>
            <a:fillRect/>
          </a:stretch>
        </p:blipFill>
        <p:spPr>
          <a:xfrm>
            <a:off x="13874625" y="8329906"/>
            <a:ext cx="16529776" cy="13682306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47430" y="1652471"/>
            <a:ext cx="5286065" cy="3962400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443004">
            <a:off x="30898293" y="2334785"/>
            <a:ext cx="2033427" cy="978809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13932201" y="6267803"/>
            <a:ext cx="1652977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CA" sz="3200" b="1" dirty="0">
                <a:latin typeface="Aptos"/>
              </a:rPr>
              <a:t>Earlier-onset test: </a:t>
            </a:r>
            <a:r>
              <a:rPr lang="en-CA" sz="3200" b="0" dirty="0">
                <a:latin typeface="Aptos"/>
              </a:rPr>
              <a:t>At matter–radiation equality (z = 3400), the three leading primary targets plus GN-z11 need 270–1,200 M⊙ seeds (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no mergers).</a:t>
            </a:r>
            <a:r>
              <a:rPr lang="en-CA" sz="3200" dirty="0"/>
              <a:t> </a:t>
            </a:r>
            <a:r>
              <a:rPr lang="en-CA" sz="3200" b="1" dirty="0">
                <a:latin typeface="Aptos"/>
              </a:rPr>
              <a:t>Independent mass check: </a:t>
            </a:r>
            <a:r>
              <a:rPr lang="en-CA" sz="3200" b="0" dirty="0">
                <a:latin typeface="Aptos"/>
              </a:rPr>
              <a:t>A2744-QSO1’s dynamical mass raises its required ratio from 0.929 to ≈1; uncertainty spans unity.</a:t>
            </a:r>
            <a:endParaRPr lang="en-CA" sz="32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1E6EC0-2FA9-D0FD-7275-799C6E89A662}"/>
              </a:ext>
            </a:extLst>
          </p:cNvPr>
          <p:cNvSpPr/>
          <p:nvPr/>
        </p:nvSpPr>
        <p:spPr>
          <a:xfrm>
            <a:off x="13497901" y="4876800"/>
            <a:ext cx="17479375" cy="2712720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29416D-68E4-BCED-986B-F1DCA30F1B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4699" r="47992" b="1602"/>
          <a:stretch>
            <a:fillRect/>
          </a:stretch>
        </p:blipFill>
        <p:spPr>
          <a:xfrm>
            <a:off x="22021595" y="21817450"/>
            <a:ext cx="8013403" cy="48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733938" y="25700720"/>
            <a:ext cx="10783726" cy="601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">
              <a:spcAft>
                <a:spcPts val="600"/>
              </a:spcAft>
            </a:pPr>
            <a:r>
              <a:rPr lang="en-CA" sz="3500" b="1" dirty="0">
                <a:latin typeface="Aptos"/>
              </a:rPr>
              <a:t>Reference: </a:t>
            </a:r>
            <a:r>
              <a:rPr lang="en-CA" sz="3500" b="0" dirty="0">
                <a:latin typeface="Aptos"/>
              </a:rPr>
              <a:t>8/220 primary objects require an average ratio above 1; five do so in ≥95% of reported-mass-error draws.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Mass sensitivity: </a:t>
            </a:r>
            <a:r>
              <a:rPr lang="en-CA" sz="3500" b="0" dirty="0">
                <a:latin typeface="Aptos"/>
              </a:rPr>
              <a:t>UNCOVER-20466, COSMOS3D-13852, and RUBIES-EGS-55604 retain this criterion after a 0.5 </a:t>
            </a:r>
            <a:r>
              <a:rPr lang="en-CA" sz="3500" b="0" dirty="0" err="1">
                <a:latin typeface="Aptos"/>
              </a:rPr>
              <a:t>dex</a:t>
            </a:r>
            <a:r>
              <a:rPr lang="en-CA" sz="3500" b="0" dirty="0">
                <a:latin typeface="Aptos"/>
              </a:rPr>
              <a:t> mass reduction [1].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Seed-mass sensitivity: </a:t>
            </a:r>
            <a:r>
              <a:rPr lang="en-CA" sz="3500" b="0" dirty="0">
                <a:latin typeface="Aptos"/>
              </a:rPr>
              <a:t>1,000 M⊙ seeds reduce the count to 3/220; 100,000 M⊙ seeds leave none in either sample.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Formation time: </a:t>
            </a:r>
            <a:r>
              <a:rPr lang="en-CA" sz="3500" b="0" dirty="0">
                <a:latin typeface="Aptos"/>
              </a:rPr>
              <a:t>Later seeding (z = 20) gives 18/220 and makes GN-z11 highest-ranked.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Efficiency: </a:t>
            </a:r>
            <a:r>
              <a:rPr lang="en-CA" sz="3500" b="0" dirty="0">
                <a:latin typeface="Aptos"/>
              </a:rPr>
              <a:t>At </a:t>
            </a:r>
            <a:r>
              <a:rPr lang="en-CA" sz="3500" b="0" dirty="0" err="1">
                <a:latin typeface="Aptos"/>
              </a:rPr>
              <a:t>ε</a:t>
            </a:r>
            <a:r>
              <a:rPr lang="en-CA" sz="3500" b="0" dirty="0">
                <a:latin typeface="Aptos"/>
              </a:rPr>
              <a:t> = 0.05719 [4], all 234 central masses are reachable from 100 M⊙ seeds at z = 30 with an average ratio below 1.</a:t>
            </a:r>
            <a:endParaRPr lang="en-CA" sz="3500" dirty="0"/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241211" y="24433540"/>
            <a:ext cx="11656525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241211" y="24433539"/>
            <a:ext cx="11656526" cy="7570459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22174200"/>
            <a:ext cx="13258800" cy="9240982"/>
          </a:xfrm>
          <a:prstGeom prst="rect">
            <a:avLst/>
          </a:prstGeom>
        </p:spPr>
      </p:pic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0" y="8595360"/>
            <a:ext cx="13533120" cy="9134856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438912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9418320" tIns="91440" rIns="1188720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640"/>
            <a:ext cx="2834640" cy="28346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02" t="38725" b="33824"/>
          <a:stretch>
            <a:fillRect/>
          </a:stretch>
        </p:blipFill>
        <p:spPr>
          <a:xfrm>
            <a:off x="3291840" y="1051560"/>
            <a:ext cx="6035040" cy="21770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0" y="457200"/>
            <a:ext cx="3108960" cy="310896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12064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400800"/>
            <a:ext cx="12573000" cy="32461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500" b="1" dirty="0">
                <a:latin typeface="Aptos"/>
              </a:rPr>
              <a:t>How did early black holes grow so big, so fast? </a:t>
            </a:r>
            <a:r>
              <a:rPr lang="en-CA" sz="3500" b="0" dirty="0">
                <a:latin typeface="Aptos"/>
              </a:rPr>
              <a:t>The James Webb Space Telescope (JWST) has revealed massive black holes with little time to assemble. My research builds a standardized catalogue across studies, then tests objects against analytic growth models to identify the strongest constraints and how they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120640"/>
            <a:ext cx="13487400" cy="466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28700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371600" y="11567160"/>
                <a:ext cx="12573000" cy="14356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Catalogue: </a:t>
                </a:r>
                <a:r>
                  <a:rPr lang="en-CA" sz="3500" b="0" dirty="0">
                    <a:latin typeface="Aptos"/>
                  </a:rPr>
                  <a:t>350 published measurements from 32 source families at z ≥ 4. Adopt one measurement per object and retain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Reference model: </a:t>
                </a:r>
                <a:r>
                  <a:rPr lang="en-CA" sz="3500" b="0" dirty="0">
                    <a:latin typeface="Aptos"/>
                  </a:rPr>
                  <a:t>100 M⊙ seeds at z = 30, radiative efficiency </a:t>
                </a:r>
                <a:r>
                  <a:rPr lang="en-CA" sz="3500" b="0" dirty="0" err="1">
                    <a:latin typeface="Aptos"/>
                  </a:rPr>
                  <a:t>ε</a:t>
                </a:r>
                <a:r>
                  <a:rPr lang="en-CA" sz="3500" b="0" dirty="0">
                    <a:latin typeface="Aptos"/>
                  </a:rPr>
                  <a:t> = 0.1, no mergers (</a:t>
                </a:r>
                <a:r>
                  <a:rPr lang="en-CA" sz="3500" b="0" dirty="0" err="1">
                    <a:latin typeface="Aptos"/>
                  </a:rPr>
                  <a:t>B</a:t>
                </a:r>
                <a:r>
                  <a:rPr lang="en-CA" sz="2450" b="0" baseline="-25000" dirty="0" err="1">
                    <a:latin typeface="Aptos"/>
                  </a:rPr>
                  <a:t>merge</a:t>
                </a:r>
                <a:r>
                  <a:rPr lang="en-CA" sz="3500" b="0" dirty="0">
                    <a:latin typeface="Aptos"/>
                  </a:rPr>
                  <a:t> = 1), and </a:t>
                </a:r>
                <a:r>
                  <a:rPr lang="en-CA" sz="3500" b="0" dirty="0" err="1">
                    <a:latin typeface="Aptos"/>
                  </a:rPr>
                  <a:t>t</a:t>
                </a:r>
                <a:r>
                  <a:rPr lang="en-CA" sz="2450" b="0" baseline="-25000" dirty="0" err="1">
                    <a:latin typeface="Aptos"/>
                  </a:rPr>
                  <a:t>Edd</a:t>
                </a:r>
                <a:r>
                  <a:rPr lang="en-CA" sz="3500" b="0" dirty="0">
                    <a:latin typeface="Aptos"/>
                  </a:rPr>
                  <a:t> ≈ 0.45 Gyr [3].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Edd</m:t>
                          </m:r>
                          <m:r>
                            <a:rPr lang="en-US" sz="35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5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5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5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5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5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5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5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5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3500" b="1" dirty="0">
                  <a:latin typeface="Aptos"/>
                </a:endParaRP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Symbols: </a:t>
                </a:r>
                <a:r>
                  <a:rPr lang="en-CA" sz="3500" b="0" dirty="0">
                    <a:latin typeface="Aptos"/>
                  </a:rPr>
                  <a:t>M⊙: solar mass; M</a:t>
                </a:r>
                <a:r>
                  <a:rPr lang="en-CA" sz="2450" b="0" baseline="-25000" dirty="0">
                    <a:latin typeface="Aptos"/>
                  </a:rPr>
                  <a:t>BH</a:t>
                </a:r>
                <a:r>
                  <a:rPr lang="en-CA" sz="3500" b="0" dirty="0">
                    <a:latin typeface="Aptos"/>
                  </a:rPr>
                  <a:t>: observed mass; </a:t>
                </a:r>
                <a:r>
                  <a:rPr lang="en-CA" sz="3500" b="0" dirty="0" err="1">
                    <a:latin typeface="Aptos"/>
                  </a:rPr>
                  <a:t>M</a:t>
                </a:r>
                <a:r>
                  <a:rPr lang="en-CA" sz="2450" b="0" baseline="-25000" dirty="0" err="1">
                    <a:latin typeface="Aptos"/>
                  </a:rPr>
                  <a:t>seed</a:t>
                </a:r>
                <a:r>
                  <a:rPr lang="en-CA" sz="3500" b="0" dirty="0">
                    <a:latin typeface="Aptos"/>
                  </a:rPr>
                  <a:t>: seed mass; </a:t>
                </a:r>
                <a:r>
                  <a:rPr lang="en-CA" sz="3500" b="0" dirty="0" err="1">
                    <a:latin typeface="Aptos"/>
                  </a:rPr>
                  <a:t>Δt</a:t>
                </a:r>
                <a:r>
                  <a:rPr lang="en-CA" sz="3500" b="0" dirty="0">
                    <a:latin typeface="Aptos"/>
                  </a:rPr>
                  <a:t>: growth time; </a:t>
                </a:r>
                <a:r>
                  <a:rPr lang="en-CA" sz="3500" b="0" dirty="0" err="1">
                    <a:latin typeface="Aptos"/>
                  </a:rPr>
                  <a:t>ε</a:t>
                </a:r>
                <a:r>
                  <a:rPr lang="en-CA" sz="3500" b="0" dirty="0">
                    <a:latin typeface="Aptos"/>
                  </a:rPr>
                  <a:t>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Eddington ratio: </a:t>
                </a:r>
                <a:r>
                  <a:rPr lang="en-CA" sz="3500" b="0" dirty="0">
                    <a:latin typeface="Aptos"/>
                  </a:rPr>
                  <a:t>Luminosity divided by the Eddington limit. The lifetime average includes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Uncertainty: </a:t>
                </a:r>
                <a:r>
                  <a:rPr lang="en-CA" sz="3500" b="0" dirty="0">
                    <a:latin typeface="Aptos"/>
                  </a:rPr>
                  <a:t>10,000 draws approximate reported asymmetric log-mass errors. Twelve objects without errors enter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Sensitivity: </a:t>
                </a:r>
                <a:r>
                  <a:rPr lang="en-CA" sz="3500" b="0" dirty="0">
                    <a:latin typeface="Aptos"/>
                  </a:rPr>
                  <a:t>Vary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Earlier onset: </a:t>
                </a:r>
                <a:r>
                  <a:rPr lang="en-CA" sz="3500" b="0" dirty="0">
                    <a:latin typeface="Aptos"/>
                  </a:rPr>
                  <a:t>For the three leading primary targets and GN-z11, solve minimum seed masses over 20 ≤ </a:t>
                </a:r>
                <a:r>
                  <a:rPr lang="en-CA" sz="3500" b="0" dirty="0" err="1">
                    <a:latin typeface="Aptos"/>
                  </a:rPr>
                  <a:t>z</a:t>
                </a:r>
                <a:r>
                  <a:rPr lang="en-CA" sz="2450" b="0" baseline="-25000" dirty="0" err="1">
                    <a:latin typeface="Aptos"/>
                  </a:rPr>
                  <a:t>acc</a:t>
                </a:r>
                <a:r>
                  <a:rPr lang="en-CA" sz="3500" b="0" dirty="0">
                    <a:latin typeface="Aptos"/>
                  </a:rPr>
                  <a:t> ≤ 3400 using radiation-inclusive ages. Access to fuel is assumed.</a:t>
                </a:r>
              </a:p>
            </p:txBody>
          </p:sp>
        </mc:Choice>
        <mc:Fallback xmlns="">
          <p:sp xmlns:a14="http://schemas.microsoft.com/office/drawing/2010/main"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371600" y="11567160"/>
                <a:ext cx="12573000" cy="14356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Catalogue: </a:t>
                </a:r>
                <a:r>
                  <a:rPr sz="3500" b="0" lang="en-CA">
                    <a:latin typeface="Aptos"/>
                  </a:rPr>
                  <a:t>350 published measurements from 32 source families at z ≥ 4. Adopt one measurement per object and retain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Reference model: </a:t>
                </a:r>
                <a:r>
                  <a:rPr sz="3500" b="0" lang="en-CA">
                    <a:latin typeface="Aptos"/>
                  </a:rPr>
                  <a:t>100 M⊙ seeds at z = 30, radiative efficiency ε = 0.1, no mergers (</a:t>
                </a:r>
                <a:r>
                  <a:rPr sz="3500" b="0" lang="en-CA">
                    <a:latin typeface="Aptos"/>
                  </a:rPr>
                  <a:t>B</a:t>
                </a:r>
                <a:r>
                  <a:rPr sz="2450" b="0" lang="en-CA" baseline="-25000">
                    <a:latin typeface="Aptos"/>
                  </a:rPr>
                  <a:t>merge</a:t>
                </a:r>
                <a:r>
                  <a:rPr sz="3500" b="0" lang="en-CA">
                    <a:latin typeface="Aptos"/>
                  </a:rPr>
                  <a:t> = 1), and </a:t>
                </a:r>
                <a:r>
                  <a:rPr sz="3500" b="0" lang="en-CA">
                    <a:latin typeface="Aptos"/>
                  </a:rPr>
                  <a:t>t</a:t>
                </a:r>
                <a:r>
                  <a:rPr sz="2450" b="0" lang="en-CA" baseline="-25000">
                    <a:latin typeface="Aptos"/>
                  </a:rPr>
                  <a:t>Edd</a:t>
                </a:r>
                <a:r>
                  <a:rPr sz="3500" b="0" lang="en-CA">
                    <a:latin typeface="Aptos"/>
                  </a:rPr>
                  <a:t> ≈ 0.45 Gyr [3].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2600" b="0" lang="en-CA">
                    <a:latin typeface="Aptos"/>
                  </a:rPr>
                  <a:t>f̄Edd,req = max[0, ε/(1−ε) × </a:t>
                </a:r>
                <a:r>
                  <a:rPr sz="2600" b="0" lang="en-CA">
                    <a:latin typeface="Aptos"/>
                  </a:rPr>
                  <a:t>t</a:t>
                </a:r>
                <a:r>
                  <a:rPr sz="1820" b="0" lang="en-CA" baseline="-25000">
                    <a:latin typeface="Aptos"/>
                  </a:rPr>
                  <a:t>Edd</a:t>
                </a:r>
                <a:r>
                  <a:rPr sz="2600" b="0" lang="en-CA">
                    <a:latin typeface="Aptos"/>
                  </a:rPr>
                  <a:t>/Δt × ln(</a:t>
                </a:r>
                <a:r>
                  <a:rPr sz="2600" b="0" lang="en-CA">
                    <a:latin typeface="Aptos"/>
                  </a:rPr>
                  <a:t>M</a:t>
                </a:r>
                <a:r>
                  <a:rPr sz="1820" b="0" lang="en-CA" baseline="-25000">
                    <a:latin typeface="Aptos"/>
                  </a:rPr>
                  <a:t>BH</a:t>
                </a:r>
                <a:r>
                  <a:rPr sz="2600" b="0" lang="en-CA">
                    <a:latin typeface="Aptos"/>
                  </a:rPr>
                  <a:t>/(</a:t>
                </a:r>
                <a:r>
                  <a:rPr sz="2600" b="0" lang="en-CA">
                    <a:latin typeface="Aptos"/>
                  </a:rPr>
                  <a:t>B</a:t>
                </a:r>
                <a:r>
                  <a:rPr sz="1820" b="0" lang="en-CA" baseline="-25000">
                    <a:latin typeface="Aptos"/>
                  </a:rPr>
                  <a:t>merge</a:t>
                </a:r>
                <a:r>
                  <a:rPr sz="2600" b="0" lang="en-CA">
                    <a:latin typeface="Aptos"/>
                  </a:rPr>
                  <a:t> </a:t>
                </a:r>
                <a:r>
                  <a:rPr sz="2600" b="0" lang="en-CA">
                    <a:latin typeface="Aptos"/>
                  </a:rPr>
                  <a:t>M</a:t>
                </a:r>
                <a:r>
                  <a:rPr sz="1820" b="0" lang="en-CA" baseline="-25000">
                    <a:latin typeface="Aptos"/>
                  </a:rPr>
                  <a:t>seed</a:t>
                </a:r>
                <a:r>
                  <a:rPr sz="2600" b="0" lang="en-CA">
                    <a:latin typeface="Aptos"/>
                  </a:rPr>
                  <a:t>))]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Symbols: </a:t>
                </a:r>
                <a:r>
                  <a:rPr sz="3500" b="0" lang="en-CA">
                    <a:latin typeface="Aptos"/>
                  </a:rPr>
                  <a:t>M⊙: solar mass; </a:t>
                </a:r>
                <a:r>
                  <a:rPr sz="3500" b="0" lang="en-CA">
                    <a:latin typeface="Aptos"/>
                  </a:rPr>
                  <a:t>M</a:t>
                </a:r>
                <a:r>
                  <a:rPr sz="2450" b="0" lang="en-CA" baseline="-25000">
                    <a:latin typeface="Aptos"/>
                  </a:rPr>
                  <a:t>BH</a:t>
                </a:r>
                <a:r>
                  <a:rPr sz="3500" b="0" lang="en-CA">
                    <a:latin typeface="Aptos"/>
                  </a:rPr>
                  <a:t>: observed mass; </a:t>
                </a:r>
                <a:r>
                  <a:rPr sz="3500" b="0" lang="en-CA">
                    <a:latin typeface="Aptos"/>
                  </a:rPr>
                  <a:t>M</a:t>
                </a:r>
                <a:r>
                  <a:rPr sz="2450" b="0" lang="en-CA" baseline="-25000">
                    <a:latin typeface="Aptos"/>
                  </a:rPr>
                  <a:t>seed</a:t>
                </a:r>
                <a:r>
                  <a:rPr sz="3500" b="0" lang="en-CA">
                    <a:latin typeface="Aptos"/>
                  </a:rPr>
                  <a:t>: seed mass; Δt: growth time; ε: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Eddington ratio: </a:t>
                </a:r>
                <a:r>
                  <a:rPr sz="3500" b="0" lang="en-CA">
                    <a:latin typeface="Aptos"/>
                  </a:rPr>
                  <a:t>Luminosity divided by the Eddington limit. The lifetime average includes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Uncertainty: </a:t>
                </a:r>
                <a:r>
                  <a:rPr sz="3500" b="0" lang="en-CA">
                    <a:latin typeface="Aptos"/>
                  </a:rPr>
                  <a:t>10,000 draws approximate reported asymmetric log-mass errors. Twelve objects without errors enter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Sensitivity: </a:t>
                </a:r>
                <a:r>
                  <a:rPr sz="3500" b="0" lang="en-CA">
                    <a:latin typeface="Aptos"/>
                  </a:rPr>
                  <a:t>Vary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Earlier onset: </a:t>
                </a:r>
                <a:r>
                  <a:rPr sz="3500" b="0" lang="en-CA">
                    <a:latin typeface="Aptos"/>
                  </a:rPr>
                  <a:t>For the three leading primary targets and GN-z11, solve minimum seed masses over 20 ≤ </a:t>
                </a:r>
                <a:r>
                  <a:rPr sz="3500" b="0" lang="en-CA">
                    <a:latin typeface="Aptos"/>
                  </a:rPr>
                  <a:t>z</a:t>
                </a:r>
                <a:r>
                  <a:rPr sz="2450" b="0" lang="en-CA" baseline="-25000">
                    <a:latin typeface="Aptos"/>
                  </a:rPr>
                  <a:t>acc</a:t>
                </a:r>
                <a:r>
                  <a:rPr sz="3500" b="0" lang="en-CA">
                    <a:latin typeface="Aptos"/>
                  </a:rPr>
                  <a:t> ≤ 3400 using radiation-inclusive ages. Access to fuel is assumed.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287000"/>
            <a:ext cx="13487400" cy="1609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29260800" y="21351240"/>
            <a:ext cx="137160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29718000" y="22631400"/>
            <a:ext cx="12801600" cy="9006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200" b="1">
                <a:latin typeface="Aptos"/>
              </a:rPr>
              <a:t>Efficiency drives the tension: </a:t>
            </a:r>
            <a:r>
              <a:rPr lang="en-CA" sz="3200" b="0">
                <a:latin typeface="Aptos"/>
              </a:rPr>
              <a:t>Some objects challenge the reference model. At ε = 0.05719, the ideal thin-disc efficiency for a non-spinning black hole, 100 M⊙ seeds at z = 30 reach all 234 central masses with an average ratio below 1.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Independent mass estimates: </a:t>
            </a:r>
            <a:r>
              <a:rPr lang="en-CA" sz="3200" b="0" dirty="0">
                <a:latin typeface="Aptos"/>
              </a:rPr>
              <a:t>Tests of calibration, lensing, and scattering are essential to establish which objects are most challenging.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Catalogue contribution: </a:t>
            </a:r>
            <a:r>
              <a:rPr lang="en-CA" sz="3200" b="0" dirty="0">
                <a:latin typeface="Aptos"/>
              </a:rPr>
              <a:t>Documented measurement choices and retained alternatives support consistent comparisons and follow-up. Sample counts describe the literature sample, not population fractions.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Earlier onset offers limited relief: </a:t>
            </a:r>
            <a:r>
              <a:rPr lang="en-CA" sz="3200" b="0" dirty="0">
                <a:latin typeface="Aptos"/>
              </a:rPr>
              <a:t>Earlier onset alone cannot rescue 100 M⊙ seeds for the four targets at 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and no mergers. Gains diminish at earlier onset. Growth compatibility does not establish primordial black hole (PBH) formation or abundance viability.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29260800" y="21351240"/>
            <a:ext cx="13716000" cy="1088136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2688336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371600" y="28163520"/>
            <a:ext cx="12573000" cy="370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200" dirty="0"/>
              <a:t>[1] Shen (2013), BASI, 41, 61.</a:t>
            </a:r>
            <a:endParaRPr lang="en-US" sz="3200" dirty="0"/>
          </a:p>
          <a:p>
            <a:r>
              <a:rPr lang="en-CA" sz="3200" dirty="0"/>
              <a:t>[2] </a:t>
            </a:r>
            <a:r>
              <a:rPr lang="en-CA" sz="3200" dirty="0" err="1"/>
              <a:t>Maiolino</a:t>
            </a:r>
            <a:r>
              <a:rPr lang="en-CA" sz="3200" dirty="0"/>
              <a:t> et al. (2024), Nature, 627, 59.</a:t>
            </a:r>
          </a:p>
          <a:p>
            <a:r>
              <a:rPr lang="en-CA" sz="3200" dirty="0"/>
              <a:t>[3] Dayal (2024), A&amp;A, 690, A182.</a:t>
            </a:r>
            <a:endParaRPr lang="en-US" sz="3200" dirty="0"/>
          </a:p>
          <a:p>
            <a:pPr>
              <a:spcBef>
                <a:spcPts val="600"/>
              </a:spcBef>
            </a:pPr>
            <a:r>
              <a:rPr lang="en-CA" sz="3200" dirty="0"/>
              <a:t>[4] Bardeen et al. (1972), </a:t>
            </a:r>
            <a:r>
              <a:rPr lang="en-CA" sz="3200" dirty="0" err="1"/>
              <a:t>ApJ</a:t>
            </a:r>
            <a:r>
              <a:rPr lang="en-CA" sz="3200" dirty="0"/>
              <a:t>, 178, 347.</a:t>
            </a:r>
            <a:endParaRPr lang="en-US" sz="3200" dirty="0"/>
          </a:p>
          <a:p>
            <a:pPr>
              <a:spcAft>
                <a:spcPts val="800"/>
              </a:spcAft>
              <a:buNone/>
            </a:pPr>
            <a:r>
              <a:rPr lang="en-CA" sz="3200" b="0" dirty="0">
                <a:latin typeface="Aptos"/>
              </a:rPr>
              <a:t>[5] </a:t>
            </a:r>
            <a:r>
              <a:rPr lang="en-CA" sz="3200" b="0" dirty="0" err="1">
                <a:latin typeface="Aptos"/>
              </a:rPr>
              <a:t>Juodzbalis</a:t>
            </a:r>
            <a:r>
              <a:rPr lang="en-CA" sz="3200" b="0" dirty="0">
                <a:latin typeface="Aptos"/>
              </a:rPr>
              <a:t> et al. (2025), arXiv:2508.21748.</a:t>
            </a:r>
          </a:p>
          <a:p>
            <a:pPr>
              <a:spcBef>
                <a:spcPts val="600"/>
              </a:spcBef>
            </a:pPr>
            <a:r>
              <a:rPr lang="en-CA" sz="3200" dirty="0"/>
              <a:t>Catalogue sources and code: QR link above.</a:t>
            </a:r>
            <a:endParaRPr lang="en-US" sz="3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26883360"/>
            <a:ext cx="13487400" cy="53492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0" y="12024360"/>
            <a:ext cx="13533120" cy="7781544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47430" y="920951"/>
            <a:ext cx="5286065" cy="3962400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443004">
            <a:off x="30898293" y="1603265"/>
            <a:ext cx="2033427" cy="978809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29718000" y="6400800"/>
            <a:ext cx="12801600" cy="2011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200" b="1" dirty="0">
                <a:latin typeface="Aptos"/>
              </a:rPr>
              <a:t>Earlier-onset test: </a:t>
            </a:r>
            <a:r>
              <a:rPr lang="en-CA" sz="3200" b="0" dirty="0">
                <a:latin typeface="Aptos"/>
              </a:rPr>
              <a:t>At matter–radiation equality (z = 3400), the three leading primary targets plus GN-z11 require minimum seed masses of 270–1,200 M⊙ (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no mergers).</a:t>
            </a:r>
            <a:r>
              <a:rPr lang="en-CA" sz="32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5407640" y="6400800"/>
            <a:ext cx="12801600" cy="5486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Reference: </a:t>
            </a:r>
            <a:r>
              <a:rPr lang="en-CA" sz="3200" b="0" dirty="0">
                <a:latin typeface="Aptos"/>
              </a:rPr>
              <a:t>8/220 primary objects require an average ratio above 1; five do so in ≥95% of reported-mass-error draws.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Mass sensitivity: </a:t>
            </a:r>
            <a:r>
              <a:rPr lang="en-CA" sz="3200" b="0" dirty="0">
                <a:latin typeface="Aptos"/>
              </a:rPr>
              <a:t>UNCOVER-20466, COSMOS3D-13852, and RUBIES-EGS-55604 retain ≥95% support after a 0.5 </a:t>
            </a:r>
            <a:r>
              <a:rPr lang="en-CA" sz="3200" b="0" dirty="0" err="1">
                <a:latin typeface="Aptos"/>
              </a:rPr>
              <a:t>dex</a:t>
            </a:r>
            <a:r>
              <a:rPr lang="en-CA" sz="3200" b="0" dirty="0">
                <a:latin typeface="Aptos"/>
              </a:rPr>
              <a:t> mass reduction (a factor of 3.2).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Seed mass: </a:t>
            </a:r>
            <a:r>
              <a:rPr lang="en-CA" sz="3200" b="0" dirty="0">
                <a:latin typeface="Aptos"/>
              </a:rPr>
              <a:t>1,000 M⊙ seeds leave 3/220 above unity; 100,000 M⊙ seeds leave none in either sample.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Formation time: </a:t>
            </a:r>
            <a:r>
              <a:rPr lang="en-CA" sz="3200" b="0" dirty="0">
                <a:latin typeface="Aptos"/>
              </a:rPr>
              <a:t>Later seeding (z = 20) gives 18/220 primary objects above unity; GN-z11 has the highest requirement in the expanded sample.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Efficiency: </a:t>
            </a:r>
            <a:r>
              <a:rPr lang="en-CA" sz="3200" b="0" dirty="0">
                <a:latin typeface="Aptos"/>
              </a:rPr>
              <a:t>At 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0.05719 (non-spinning thin disc) [4], all 234 central masses are reachable from 100 M⊙ seeds at z = 30 with an average ratio below 1.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4950440" y="5120640"/>
            <a:ext cx="28026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4950440" y="5120640"/>
            <a:ext cx="28026360" cy="1572768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5407640" y="19842480"/>
            <a:ext cx="1280160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Three targets retain ≥95% reported-error support for a required average ratio above unity after a −0.5 dex mass shift.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5224760" y="31455360"/>
            <a:ext cx="13121640" cy="777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29718000" y="17830800"/>
            <a:ext cx="12801600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reduce required seeds, with diminishing gains.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29718000" y="18516600"/>
            <a:ext cx="12801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200" b="1" dirty="0">
                <a:latin typeface="Aptos"/>
              </a:rPr>
              <a:t>Independent mass check: </a:t>
            </a:r>
            <a:r>
              <a:rPr lang="en-CA" sz="3200" b="0" dirty="0">
                <a:latin typeface="Aptos"/>
              </a:rPr>
              <a:t>A2744-QSO1’s dynamical mass raises its required ratio from 0.929 to ≈1; uncertainty spans unity [5].</a:t>
            </a:r>
            <a:endParaRPr lang="en-CA" sz="3200" dirty="0"/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5224760" y="21351240"/>
            <a:ext cx="1312164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sz="3600" b="1">
                <a:solidFill>
                  <a:srgbClr val="002A5C"/>
                </a:solidFill>
                <a:latin typeface="Aptos"/>
                <a:ea typeface="Aptos"/>
                <a:cs typeface="Aptos"/>
              </a:rPr>
              <a:t>Growth tension depends on efficiency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587</Words>
  <Application>Microsoft Macintosh PowerPoint</Application>
  <PresentationFormat>Custom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 Early Black-Hole Growth 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2026-10-09T00:15:17Z</dcterms:modified>
</cp:coreProperties>
</file>
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be205334ff4d13" /><Relationship Type="http://schemas.openxmlformats.org/officeDocument/2006/relationships/extended-properties" Target="/docProps/app.xml" Id="Rb642a02879d24d60" /><Relationship Type="http://schemas.openxmlformats.org/officeDocument/2006/relationships/officeDocument" Target="/ppt/presentation.xml" Id="Rb4fc639415b043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e850f212b49eb"/>
  </p:sldMasterIdLst>
  <p:notesMasterIdLst>
    <p:notesMasterId xmlns:r="http://schemas.openxmlformats.org/officeDocument/2006/relationships" r:id="R7034e541ffea453c"/>
  </p:notesMasterIdLst>
  <p:sldIdLst>
    <p:sldId xmlns:r="http://schemas.openxmlformats.org/officeDocument/2006/relationships" id="256" r:id="Reeee68c619c54f18"/>
    <p:sldId xmlns:r="http://schemas.openxmlformats.org/officeDocument/2006/relationships" id="257" r:id="R3b41f68a546245a2"/>
  </p:sldIdLst>
  <p:sldSz cx="43891200" cy="329184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001a10d5584eef" /><Relationship Type="http://schemas.openxmlformats.org/officeDocument/2006/relationships/slideMaster" Target="/ppt/slideMasters/slideMaster1.xml" Id="Rb2ce850f212b49eb" /><Relationship Type="http://schemas.openxmlformats.org/officeDocument/2006/relationships/notesMaster" Target="/ppt/notesMasters/notesMaster1.xml" Id="R7034e541ffea453c" /><Relationship Type="http://schemas.openxmlformats.org/officeDocument/2006/relationships/presProps" Target="/ppt/presProps.xml" Id="R7d5c122b4e7f40f3" /><Relationship Type="http://schemas.openxmlformats.org/officeDocument/2006/relationships/viewProps" Target="/ppt/viewProps.xml" Id="Rbe633bbcbe8c4c3d" /><Relationship Type="http://schemas.openxmlformats.org/officeDocument/2006/relationships/tableStyles" Target="/ppt/tableStyles.xml" Id="Raa38b78ccc25466a" /><Relationship Type="http://schemas.openxmlformats.org/officeDocument/2006/relationships/slide" Target="/ppt/slides/slide1.xml" Id="Reeee68c619c54f18" /><Relationship Type="http://schemas.openxmlformats.org/officeDocument/2006/relationships/slide" Target="/ppt/slides/slide2.xml" Id="R3b41f68a546245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d48ed99ec47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22f7d25734ffc" /><Relationship Type="http://schemas.openxmlformats.org/officeDocument/2006/relationships/notesMaster" Target="/ppt/notesMasters/notesMaster1.xml" Id="R834901ae3cf94f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8d95fa2af9473a" /><Relationship Type="http://schemas.openxmlformats.org/officeDocument/2006/relationships/notesMaster" Target="/ppt/notesMasters/notesMaster1.xml" Id="R7ae80bff0ba346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200" b="0">
                <a:latin typeface="Aptos"/>
                <a:ea typeface="Aptos"/>
                <a:cs typeface="Aptos"/>
              </a:rPr>
              <a:t>Poster figure inputs: results/manuscript/tables/publication_object_selection.csv; mass_offset_object_sensitivity.csv; results/v3/tables/v3_object_point_ranking.csv and v3_object_uncertainty_ranking.csv; results/v4/tables/v4_minimum_seed_mass.csv. Controlled growth comparison uses src.models.predicted_log_mbh with mean ratio 1, z_seed=30, B_merge=1 and efficiencies 0.1 and 1-sqrt(8/9). Independent dynamical mass: https://arxiv.org/abs/2508.21748.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9d0978a804c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c978b0bdb40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2bdcbe81443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d7a4cd86d4b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803119f6644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7832aa0df4e3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c004634d349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374ce12e247e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8f023049c4b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d609d788d44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6834914da42d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afd137c714372" /><Relationship Type="http://schemas.openxmlformats.org/officeDocument/2006/relationships/image" Target="/ppt/media/image.jpeg" Id="Rec856eaa3db34f4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C89301-545C-4DF2-BCA0-07C078E94E5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91840" y="5387342"/>
            <a:ext cx="37307520" cy="1146048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88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C2CC349-B9C3-4140-962C-652BD1FD0E2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86400" y="17289782"/>
            <a:ext cx="32918400" cy="7947658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C5369D-6601-4770-A7B3-FEAF42D8D1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EB161D-566F-4B01-9473-82A054BB9D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0FD2F3-02B0-4995-A0BA-D8FD98FB0B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5A71F3-0303-4B41-8A6A-647FB4238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AC987F3-AECA-4C0D-A976-B2DCEA166B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2ADA33-6AA4-4583-B09D-992229CFD5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706E92-CDF4-4DF5-A75A-B2E4A63CD7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65C4E8-E368-4F49-8089-73C944DDEC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26D1ACC-72E9-4E0C-9C19-EF63E08BC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94662" y="8206749"/>
            <a:ext cx="37856160" cy="13693138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88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E8DD0B-0713-45BA-A74D-C3BB939A7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94662" y="22029429"/>
            <a:ext cx="37856160" cy="720089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FCEB3E-C0A5-4682-A622-FF2E9AEA78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508F9B-3BF7-424E-9075-1BEB40DF10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152182-E181-4B3C-B798-DACAA30222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6D628A-30BE-4AF5-96AE-D7BFAFA55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03614B-FF21-428A-B761-C48034DDFC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17520" y="8763000"/>
            <a:ext cx="18653760" cy="208864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976FDBC-A3FC-4811-8119-D80663EE440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219920" y="8763000"/>
            <a:ext cx="18653760" cy="208864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A8BF5E-3C92-4328-A604-0C6E58008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FF5DAC3-E9EC-4AAB-AE3C-13A93B0637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D588CB-4F8E-460E-BF8C-AB69CDD1A9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B2CD53-21A0-408F-B2B6-7BDF68403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1752607"/>
            <a:ext cx="37856160" cy="636270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3FA767-1414-4272-A500-C52531343F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23242" y="8069582"/>
            <a:ext cx="18568032" cy="395477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227A4B2-FAB9-4788-A759-448CA350A3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023242" y="12024360"/>
            <a:ext cx="18568032" cy="176860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648CB4E-C65C-42B5-BED6-ADF00DDC824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2219922" y="8069582"/>
            <a:ext cx="18659477" cy="395477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7E94A9C-D320-4832-B77E-94CC410FDE7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22219922" y="12024360"/>
            <a:ext cx="18659477" cy="176860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EB7713C-7F5E-4293-AAD3-C76F4E1FAE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18FDAB5-15E1-443E-8E4C-0C7E272E18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8FCFBC-7BBD-490A-86E0-6E33B5721A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7D9E6F-9048-49FA-A9CE-88E6940080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5729CBA-B045-43A2-9107-1997CA12F7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343FFF3-16AF-44CB-A341-4BF33A4085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01A4422-B2A5-459B-B999-85DDC1A30C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8A2C2C0-F1D6-442E-AB4E-469EB551C2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B0F7442-11AA-4AC2-AE43-3915625F10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53C813C-F2F3-42CA-85B7-0086998E11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2B6C64-C857-42A9-95B0-DA4DCB21C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2194560"/>
            <a:ext cx="14156054" cy="768096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536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62B799-ED12-43C5-9951-F2414C6922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8659477" y="4739647"/>
            <a:ext cx="22219920" cy="23393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360"/>
            </a:lvl1pPr>
            <a:lvl2pPr>
              <a:buNone/>
              <a:defRPr sz="13440"/>
            </a:lvl2pPr>
            <a:lvl3pPr>
              <a:buNone/>
              <a:defRPr sz="11520"/>
            </a:lvl3pPr>
            <a:lvl4pPr>
              <a:buNone/>
              <a:defRPr sz="9600"/>
            </a:lvl4pPr>
            <a:lvl5pPr>
              <a:buNone/>
              <a:defRPr sz="9600"/>
            </a:lvl5pPr>
            <a:lvl6pPr>
              <a:buNone/>
              <a:defRPr sz="9600"/>
            </a:lvl6pPr>
            <a:lvl7pPr>
              <a:buNone/>
              <a:defRPr sz="9600"/>
            </a:lvl7pPr>
            <a:lvl8pPr>
              <a:buNone/>
              <a:defRPr sz="9600"/>
            </a:lvl8pPr>
            <a:lvl9pPr>
              <a:buNone/>
              <a:defRPr sz="9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03A4E93-EC35-4B60-8497-01208AC463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23237" y="9875520"/>
            <a:ext cx="14156054" cy="182956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A485012-CF33-4F05-95EA-CC3A422B62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A798FC7-330F-4617-9A2F-284CC2E4FA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23B9CE-2002-4CF1-B82A-D214F44168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DD6C28-9C12-4802-83C5-D473F0934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2194560"/>
            <a:ext cx="14156054" cy="768096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536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82D4B6D-C44F-45A8-802B-704114B9D2A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8659477" y="4739647"/>
            <a:ext cx="22219920" cy="23393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C1A55FD-E387-47C6-BC50-E07CD9ED13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23237" y="9875520"/>
            <a:ext cx="14156054" cy="182956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EA9D3F-69C7-434C-8031-C86D43014C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7CA1E94-CA04-4F14-B707-E2C8339DD9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71DD7E7-9C92-4541-9A38-3E86E2E4B7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AB050E-A8B1-498D-A83E-EE7AEB5EA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03C25D-6949-4A16-85E1-FF91D1B88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F1D41B-F9B4-4BEB-8346-320BAF7AC0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B8DF51-9BFF-4576-BDC5-8FF40A595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7147C2C-1303-4971-A96C-4E461C708E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1F371B9-5DAE-4E1A-85BB-9416593DB6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409642" y="1752600"/>
            <a:ext cx="9464040" cy="27896822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383121-7AD7-459D-A993-521F6E0F2C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17522" y="1752600"/>
            <a:ext cx="27843480" cy="27896822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A7D5A1-CDBB-4E79-87B9-9D8A5416BC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548DBDC-3637-45AE-9938-2F2AB5B119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26A646-49E3-440C-B58F-CEE82A2403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36&quot; x 48&quot; Po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 19">
            <a:extLst xmlns:a="http://schemas.openxmlformats.org/drawingml/2006/main">
              <a:ext uri="{FF2B5EF4-FFF2-40B4-BE49-F238E27FC236}">
                <a16:creationId xmlns:a16="http://schemas.microsoft.com/office/drawing/2014/main" id="{B701B4D4-9DDE-44AC-AE7A-24AE8C00E1E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96687" y="609600"/>
            <a:ext cx="4249783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172F"/>
          </a:solidFill>
          <a:ln xmlns:a="http://schemas.openxmlformats.org/drawingml/2006/main">
            <a:solidFill>
              <a:srgbClr val="C4172F"/>
            </a:solidFill>
          </a:ln>
        </p:spPr>
        <p:txBody>
          <a:bodyPr xmlns:a="http://schemas.openxmlformats.org/drawingml/2006/main" vert="horz" lIns="78373" tIns="39187" rIns="78373" bIns="39187" anchor="ctr"/>
          <a:lstStyle xmlns:a="http://schemas.openxmlformats.org/drawingml/2006/main">
            <a:lvl1pPr>
              <a:buNone/>
              <a:defRPr sz="6200" b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Poster Presentation Title</a:t>
            </a:r>
            <a:br/>
            <a:r>
              <a:rPr sz="4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List Author Name(s)</a:t>
            </a:r>
            <a:br>
              <a:rPr sz="4200" b="1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42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List Affiliated Institutions</a:t>
            </a:r>
            <a:endParaRPr/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ABFB6B4-3503-4CEF-B649-5F6AECAB9BF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96687" y="4267200"/>
            <a:ext cx="1358537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172F"/>
          </a:solidFill>
          <a:ln xmlns:a="http://schemas.openxmlformats.org/drawingml/2006/main">
            <a:solidFill>
              <a:srgbClr val="C4172F"/>
            </a:solidFill>
          </a:ln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rPr sz="4200"/>
              <a:t>Abstract or Introduction</a:t>
            </a:r>
            <a:endParaRPr/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33CA1006-571A-405A-9680-69EB4D8FDD4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96687" y="5638800"/>
            <a:ext cx="13585370" cy="868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2800" baseline="0"/>
            </a:lvl1pPr>
            <a:lvl2pPr marL="397308" indent="0">
              <a:buNone/>
              <a:defRPr sz="2800" baseline="0"/>
            </a:lvl2pPr>
            <a:lvl3pPr marL="772848" indent="0">
              <a:buNone/>
              <a:defRPr sz="2800" baseline="0"/>
            </a:lvl3pPr>
            <a:lvl4pPr>
              <a:buNone/>
              <a:defRPr sz="2800"/>
            </a:lvl4pPr>
            <a:lvl5pPr>
              <a:buNone/>
              <a:defRPr sz="2800"/>
            </a:lvl5pPr>
          </a:lstStyle>
          <a:p xmlns:a="http://schemas.openxmlformats.org/drawingml/2006/main">
            <a:pPr lvl="0">
              <a:buNone/>
            </a:pPr>
            <a:r>
              <a:t>Any element of this template (colors, fonts, layouts, etc.) can be edited to suit your needs. To change the color of a title bar: right click the text box, select format shape, edit the “Fill” and “Line” your desired specifications.</a:t>
            </a:r>
          </a:p>
        </p:txBody>
      </p:sp>
      <p:sp>
        <p:nvSpPr>
          <p:cNvPr id="25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2A6C097-B870-4B8B-9C9B-35FFBF34896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96687" y="14630400"/>
            <a:ext cx="1358537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172F"/>
          </a:solidFill>
          <a:ln xmlns:a="http://schemas.openxmlformats.org/drawingml/2006/main">
            <a:solidFill>
              <a:srgbClr val="C4172F"/>
            </a:solidFill>
          </a:ln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rPr sz="4200"/>
              <a:t>Objectives</a:t>
            </a:r>
            <a:endParaRPr/>
          </a:p>
        </p:txBody>
      </p:sp>
      <p:sp>
        <p:nvSpPr>
          <p:cNvPr id="26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9E0DBCFA-3D62-43B9-8BA4-91807C66983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6687" y="16002000"/>
            <a:ext cx="13585370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marR="0" indent="0" algn="l" defTabSz="3493094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defRPr sz="2800"/>
            </a:lvl1pPr>
            <a:lvl2pPr>
              <a:buNone/>
              <a:defRPr sz="2800"/>
            </a:lvl2pPr>
            <a:lvl3pPr>
              <a:buNone/>
              <a:defRPr sz="2800"/>
            </a:lvl3pPr>
            <a:lvl4pPr>
              <a:buNone/>
              <a:defRPr sz="2800"/>
            </a:lvl4pPr>
            <a:lvl5pPr>
              <a:buNone/>
              <a:defRPr sz="2800"/>
            </a:lvl5pPr>
          </a:lstStyle>
          <a:p xmlns:a="http://schemas.openxmlformats.org/drawingml/2006/main">
            <a:pPr marL="0" marR="0" lvl="0" indent="0" algn="l" defTabSz="3493094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To change the color of a title bar: right click the text box, select format shape, edit the “Fill” and “Line” your desired specifications.</a:t>
            </a:r>
          </a:p>
        </p:txBody>
      </p:sp>
      <p:sp>
        <p:nvSpPr>
          <p:cNvPr id="27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05D83E7A-3303-4FB4-982A-ABDCFDB767F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96687" y="23622000"/>
            <a:ext cx="1358537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172F"/>
          </a:solidFill>
          <a:ln xmlns:a="http://schemas.openxmlformats.org/drawingml/2006/main">
            <a:solidFill>
              <a:srgbClr val="C4172F"/>
            </a:solidFill>
          </a:ln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rPr sz="4200"/>
              <a:t>Methods</a:t>
            </a:r>
            <a:endParaRPr/>
          </a:p>
        </p:txBody>
      </p:sp>
      <p:sp>
        <p:nvSpPr>
          <p:cNvPr id="28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33A38E3A-328B-41AC-ADB9-BCF3EDD3987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96687" y="24993600"/>
            <a:ext cx="13585370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marR="0" indent="0" algn="l" defTabSz="3493094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defRPr sz="2800"/>
            </a:lvl1pPr>
            <a:lvl2pPr>
              <a:buNone/>
              <a:defRPr sz="2800"/>
            </a:lvl2pPr>
            <a:lvl3pPr>
              <a:buNone/>
              <a:defRPr sz="2800"/>
            </a:lvl3pPr>
            <a:lvl4pPr>
              <a:buNone/>
              <a:defRPr sz="2800"/>
            </a:lvl4pPr>
            <a:lvl5pPr>
              <a:buNone/>
              <a:defRPr sz="2800"/>
            </a:lvl5pPr>
          </a:lstStyle>
          <a:p xmlns:a="http://schemas.openxmlformats.org/drawingml/2006/main">
            <a:pPr marL="0" marR="0" lvl="0" indent="0" algn="l" defTabSz="3493094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Copy and paste title bars and text boxes to create additional sections.</a:t>
            </a:r>
          </a:p>
        </p:txBody>
      </p:sp>
      <p:sp>
        <p:nvSpPr>
          <p:cNvPr id="29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7330FD23-810D-4C86-9061-06A1602E164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152917" y="4267200"/>
            <a:ext cx="1358537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172F"/>
          </a:solidFill>
          <a:ln xmlns:a="http://schemas.openxmlformats.org/drawingml/2006/main">
            <a:solidFill>
              <a:srgbClr val="C4172F"/>
            </a:solidFill>
          </a:ln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rPr sz="4200"/>
              <a:t>Results</a:t>
            </a:r>
            <a:endParaRPr/>
          </a:p>
        </p:txBody>
      </p:sp>
      <p:sp>
        <p:nvSpPr>
          <p:cNvPr id="30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A686AE08-B671-484E-88E7-B602D098BF69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9609145" y="24993600"/>
            <a:ext cx="13585370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800"/>
            </a:lvl2pPr>
            <a:lvl3pPr>
              <a:buNone/>
              <a:defRPr sz="2800"/>
            </a:lvl3pPr>
            <a:lvl4pPr>
              <a:buNone/>
              <a:defRPr sz="2800"/>
            </a:lvl4pPr>
            <a:lvl5pPr>
              <a:buNone/>
              <a:defRPr sz="28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1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2D3B2788-AE48-40E9-BB8F-7C209F47DE81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29609145" y="4267200"/>
            <a:ext cx="1358537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172F"/>
          </a:solidFill>
          <a:ln xmlns:a="http://schemas.openxmlformats.org/drawingml/2006/main">
            <a:solidFill>
              <a:srgbClr val="C4172F"/>
            </a:solidFill>
          </a:ln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rPr sz="4200"/>
              <a:t>Conclusion</a:t>
            </a:r>
            <a:endParaRPr/>
          </a:p>
        </p:txBody>
      </p:sp>
      <p:sp>
        <p:nvSpPr>
          <p:cNvPr id="32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E674D0F0-05ED-45F1-8DEE-AEFE6A3151F8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29609145" y="5638800"/>
            <a:ext cx="13585370" cy="1767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800"/>
            </a:lvl2pPr>
            <a:lvl3pPr>
              <a:buNone/>
              <a:defRPr sz="2800"/>
            </a:lvl3pPr>
            <a:lvl4pPr>
              <a:buNone/>
              <a:defRPr sz="2800"/>
            </a:lvl4pPr>
            <a:lvl5pPr>
              <a:buNone/>
              <a:defRPr sz="28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3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79E5219A-D0FE-45EF-8262-2066B7A581C3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29609145" y="23622000"/>
            <a:ext cx="1358537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172F"/>
          </a:solidFill>
          <a:ln xmlns:a="http://schemas.openxmlformats.org/drawingml/2006/main">
            <a:solidFill>
              <a:srgbClr val="C4172F"/>
            </a:solidFill>
          </a:ln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4200" b="1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rPr sz="4200"/>
              <a:t>References</a:t>
            </a:r>
            <a:endParaRPr/>
          </a:p>
        </p:txBody>
      </p:sp>
      <p:sp>
        <p:nvSpPr>
          <p:cNvPr id="3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AD30C3C3-A7B5-42B9-8EA5-FF647D941FCF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5152917" y="5638800"/>
            <a:ext cx="13585370" cy="266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2800" baseline="0"/>
            </a:lvl1pPr>
            <a:lvl2pPr marL="397308" indent="0">
              <a:buNone/>
              <a:defRPr sz="2800"/>
            </a:lvl2pPr>
            <a:lvl3pPr>
              <a:buNone/>
              <a:defRPr sz="2800"/>
            </a:lvl3pPr>
            <a:lvl4pPr>
              <a:buNone/>
              <a:defRPr sz="2800"/>
            </a:lvl4pPr>
            <a:lvl5pPr>
              <a:buNone/>
              <a:defRPr sz="2800"/>
            </a:lvl5pPr>
          </a:lstStyle>
          <a:p xmlns:a="http://schemas.openxmlformats.org/drawingml/2006/main">
            <a:pPr lvl="0">
              <a:buNone/>
            </a:pPr>
            <a:r>
              <a:t>Remember to save all charts, graphs, and tables as 300DPI images prior to inserting them into your posters. Doing so will ensure the best results when printing your posters.</a:t>
            </a:r>
          </a:p>
        </p:txBody>
      </p:sp>
      <p:sp>
        <p:nvSpPr>
          <p:cNvPr id="36" name="Picture Placeholder 35">
            <a:extLst xmlns:a="http://schemas.openxmlformats.org/drawingml/2006/main">
              <a:ext uri="{FF2B5EF4-FFF2-40B4-BE49-F238E27FC236}">
                <a16:creationId xmlns:a16="http://schemas.microsoft.com/office/drawing/2014/main" id="{AD9C1B1C-B507-4621-A6D7-E61CFFE17978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1219205" y="914400"/>
            <a:ext cx="3135086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2000"/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37" name="Picture Placeholder 35">
            <a:extLst xmlns:a="http://schemas.openxmlformats.org/drawingml/2006/main">
              <a:ext uri="{FF2B5EF4-FFF2-40B4-BE49-F238E27FC236}">
                <a16:creationId xmlns:a16="http://schemas.microsoft.com/office/drawing/2014/main" id="{B7C59292-FB52-4236-9619-97D021C99021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39711091" y="914400"/>
            <a:ext cx="3135086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2000"/>
            </a:lvl1pPr>
          </a:lstStyle>
          <a:p xmlns:a="http://schemas.openxmlformats.org/drawingml/2006/main">
            <a:r>
              <a:t>LOGO</a:t>
            </a:r>
          </a:p>
        </p:txBody>
      </p:sp>
      <p:sp>
        <p:nvSpPr>
          <p:cNvPr id="39" name="Chart Placeholder 38">
            <a:extLst xmlns:a="http://schemas.openxmlformats.org/drawingml/2006/main">
              <a:ext uri="{FF2B5EF4-FFF2-40B4-BE49-F238E27FC236}">
                <a16:creationId xmlns:a16="http://schemas.microsoft.com/office/drawing/2014/main" id="{2B2CB6D2-7DDF-485B-BACF-9FC7C156CF51}"/>
              </a:ext>
            </a:extLst>
          </p:cNvPr>
          <p:cNvSpPr>
            <a:spLocks xmlns:a="http://schemas.openxmlformats.org/drawingml/2006/main" noGrp="1"/>
          </p:cNvSpPr>
          <p:nvPr>
            <p:ph type="chart" idx="24"/>
          </p:nvPr>
        </p:nvSpPr>
        <p:spPr>
          <a:xfrm xmlns:a="http://schemas.openxmlformats.org/drawingml/2006/main">
            <a:off x="16197949" y="16154400"/>
            <a:ext cx="11495314" cy="6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2800"/>
            </a:lvl1pPr>
          </a:lstStyle>
          <a:p xmlns:a="http://schemas.openxmlformats.org/drawingml/2006/main">
            <a:endParaRPr/>
          </a:p>
        </p:txBody>
      </p:sp>
      <p:sp>
        <p:nvSpPr>
          <p:cNvPr id="40" name="Chart Placeholder 38">
            <a:extLst xmlns:a="http://schemas.openxmlformats.org/drawingml/2006/main">
              <a:ext uri="{FF2B5EF4-FFF2-40B4-BE49-F238E27FC236}">
                <a16:creationId xmlns:a16="http://schemas.microsoft.com/office/drawing/2014/main" id="{FAC22B41-5155-486D-A90E-CDE5CFD54CBA}"/>
              </a:ext>
            </a:extLst>
          </p:cNvPr>
          <p:cNvSpPr>
            <a:spLocks xmlns:a="http://schemas.openxmlformats.org/drawingml/2006/main" noGrp="1"/>
          </p:cNvSpPr>
          <p:nvPr>
            <p:ph type="chart" idx="25"/>
          </p:nvPr>
        </p:nvSpPr>
        <p:spPr>
          <a:xfrm xmlns:a="http://schemas.openxmlformats.org/drawingml/2006/main">
            <a:off x="16197949" y="24536400"/>
            <a:ext cx="11495314" cy="6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78373" tIns="39187" rIns="78373" bIns="39187"/>
          <a:lstStyle xmlns:a="http://schemas.openxmlformats.org/drawingml/2006/main">
            <a:lvl1pPr marL="0" indent="0">
              <a:buNone/>
              <a:defRPr sz="2800"/>
            </a:lvl1pPr>
          </a:lstStyle>
          <a:p xmlns:a="http://schemas.openxmlformats.org/drawingml/2006/main">
            <a:endParaRPr/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ECA02FC-F220-47F0-878D-78331B6E1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56eaa3db34f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38400" y="32416772"/>
            <a:ext cx="2743200" cy="438912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abbc261a274530" /><Relationship Type="http://schemas.openxmlformats.org/officeDocument/2006/relationships/slideLayout" Target="/ppt/slideLayouts/slideLayout1.xml" Id="R740c2b11d3e54d31" /><Relationship Type="http://schemas.openxmlformats.org/officeDocument/2006/relationships/slideLayout" Target="/ppt/slideLayouts/slideLayout2.xml" Id="Rec1188b0e5b74919" /><Relationship Type="http://schemas.openxmlformats.org/officeDocument/2006/relationships/slideLayout" Target="/ppt/slideLayouts/slideLayout3.xml" Id="Rab05d8096e61492b" /><Relationship Type="http://schemas.openxmlformats.org/officeDocument/2006/relationships/slideLayout" Target="/ppt/slideLayouts/slideLayout4.xml" Id="R0eb0dd2154024b13" /><Relationship Type="http://schemas.openxmlformats.org/officeDocument/2006/relationships/slideLayout" Target="/ppt/slideLayouts/slideLayout5.xml" Id="R6bf73d338c344e39" /><Relationship Type="http://schemas.openxmlformats.org/officeDocument/2006/relationships/slideLayout" Target="/ppt/slideLayouts/slideLayout6.xml" Id="Rbab2fcf2063f4157" /><Relationship Type="http://schemas.openxmlformats.org/officeDocument/2006/relationships/slideLayout" Target="/ppt/slideLayouts/slideLayout7.xml" Id="R0a066891f57945dc" /><Relationship Type="http://schemas.openxmlformats.org/officeDocument/2006/relationships/slideLayout" Target="/ppt/slideLayouts/slideLayout8.xml" Id="Rd8b02c95316842c2" /><Relationship Type="http://schemas.openxmlformats.org/officeDocument/2006/relationships/slideLayout" Target="/ppt/slideLayouts/slideLayout9.xml" Id="Rf185b534cb2f429d" /><Relationship Type="http://schemas.openxmlformats.org/officeDocument/2006/relationships/slideLayout" Target="/ppt/slideLayouts/slideLayout10.xml" Id="R0918800c4a3d4b3f" /><Relationship Type="http://schemas.openxmlformats.org/officeDocument/2006/relationships/slideLayout" Target="/ppt/slideLayouts/slideLayout11.xml" Id="R925a277ac7a046d8" /><Relationship Type="http://schemas.openxmlformats.org/officeDocument/2006/relationships/slideLayout" Target="/ppt/slideLayouts/slideLayout12.xml" Id="R29c839d055154e4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E7372CD-7FEE-43E4-856C-260B0C7A2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7520" y="1752607"/>
            <a:ext cx="37856160" cy="63627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0EE5EE-F43B-42AE-A767-792779E0E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17520" y="8763000"/>
            <a:ext cx="37856160" cy="20886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47F857-11C8-4579-ADB3-80B64D94B9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17520" y="30510487"/>
            <a:ext cx="987552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9ED62D96-B761-444F-9627-07D69EF59102}" type="datetimeFigureOut">
              <a:t>10/8/26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8675CE-6A7D-4F3B-A33E-E4FA488803B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38960" y="30510487"/>
            <a:ext cx="1481328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B9FC32-8187-42CA-85EA-2D93443408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0998160" y="30510487"/>
            <a:ext cx="987552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98EB7A8-E57D-FE4E-97CB-A535FD5727D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0c2b11d3e54d31"/>
    <p:sldLayoutId xmlns:r="http://schemas.openxmlformats.org/officeDocument/2006/relationships" id="2147483650" r:id="Rec1188b0e5b74919"/>
    <p:sldLayoutId xmlns:r="http://schemas.openxmlformats.org/officeDocument/2006/relationships" id="2147483651" r:id="Rab05d8096e61492b"/>
    <p:sldLayoutId xmlns:r="http://schemas.openxmlformats.org/officeDocument/2006/relationships" id="2147483652" r:id="R0eb0dd2154024b13"/>
    <p:sldLayoutId xmlns:r="http://schemas.openxmlformats.org/officeDocument/2006/relationships" id="2147483653" r:id="R6bf73d338c344e39"/>
    <p:sldLayoutId xmlns:r="http://schemas.openxmlformats.org/officeDocument/2006/relationships" id="2147483654" r:id="Rbab2fcf2063f4157"/>
    <p:sldLayoutId xmlns:r="http://schemas.openxmlformats.org/officeDocument/2006/relationships" id="2147483655" r:id="R0a066891f57945dc"/>
    <p:sldLayoutId xmlns:r="http://schemas.openxmlformats.org/officeDocument/2006/relationships" id="2147483656" r:id="Rd8b02c95316842c2"/>
    <p:sldLayoutId xmlns:r="http://schemas.openxmlformats.org/officeDocument/2006/relationships" id="2147483657" r:id="Rf185b534cb2f429d"/>
    <p:sldLayoutId xmlns:r="http://schemas.openxmlformats.org/officeDocument/2006/relationships" id="2147483658" r:id="R0918800c4a3d4b3f"/>
    <p:sldLayoutId xmlns:r="http://schemas.openxmlformats.org/officeDocument/2006/relationships" id="2147483659" r:id="R925a277ac7a046d8"/>
    <p:sldLayoutId xmlns:r="http://schemas.openxmlformats.org/officeDocument/2006/relationships" id="2147483660" r:id="R29c839d055154e46"/>
  </p:sldLayoutIdLst>
  <p:txStyles>
    <p:titleStyle>
      <a:lvl1pPr xmlns:a="http://schemas.openxmlformats.org/drawingml/2006/main" algn="l" defTabSz="4389120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097280" indent="-1097280" algn="l" defTabSz="4389120">
        <a:lnSpc>
          <a:spcPct val="90000"/>
        </a:lnSpc>
        <a:spcBef>
          <a:spcPts val="4800"/>
        </a:spcBef>
        <a:buFont typeface="Arial"/>
        <a:buChar char="•"/>
        <a:defRPr sz="134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29184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1152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9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96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52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07008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426464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645920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8653760" indent="-1097280" algn="l" defTabSz="4389120">
        <a:lnSpc>
          <a:spcPct val="90000"/>
        </a:lnSpc>
        <a:spcBef>
          <a:spcPts val="24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19456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38912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658368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877824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97280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316736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536192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7556480" algn="l" defTabSz="4389120">
        <a:buNone/>
        <a:defRPr sz="86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4d10b186b24210" /><Relationship Type="http://schemas.openxmlformats.org/officeDocument/2006/relationships/image" Target="/ppt/media/image.png" Id="R6c60ff4a0f6741d3" /><Relationship Type="http://schemas.openxmlformats.org/officeDocument/2006/relationships/image" Target="/ppt/media/image2.png" Id="Rf20343a928d64ba4" /><Relationship Type="http://schemas.openxmlformats.org/officeDocument/2006/relationships/image" Target="/ppt/media/image3.png" Id="Rcd17735de30c44b8" /><Relationship Type="http://schemas.openxmlformats.org/officeDocument/2006/relationships/image" Target="/ppt/media/image4.png" Id="R88e0bb0c92f942d0" /><Relationship Type="http://schemas.openxmlformats.org/officeDocument/2006/relationships/image" Target="/ppt/media/image5.png" Id="R52aa6189ca044a12" /><Relationship Type="http://schemas.openxmlformats.org/officeDocument/2006/relationships/image" Target="/ppt/media/image6.png" Id="Rbe4318b356e34704" /><Relationship Type="http://schemas.openxmlformats.org/officeDocument/2006/relationships/image" Target="/ppt/media/image7.png" Id="R8a9080a28aa3427b" /><Relationship Type="http://schemas.openxmlformats.org/officeDocument/2006/relationships/image" Target="/ppt/media/image8.png" Id="R27ec25b3ffaa47fd" /><Relationship Type="http://schemas.openxmlformats.org/officeDocument/2006/relationships/image" Target="/ppt/media/image9.png" Id="Rfc1a9c98bcf34c3a" /><Relationship Type="http://schemas.openxmlformats.org/officeDocument/2006/relationships/notesSlide" Target="/ppt/notesSlides/notesSlide1.xml" Id="Rd8d4b33f65e5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fa43edc4624a6e" /><Relationship Type="http://schemas.openxmlformats.org/officeDocument/2006/relationships/image" Target="/ppt/media/image10.png" Id="R7afd9092a2264ac2" /><Relationship Type="http://schemas.openxmlformats.org/officeDocument/2006/relationships/image" Target="/ppt/media/image11.png" Id="R599b7e6365e04f96" /><Relationship Type="http://schemas.openxmlformats.org/officeDocument/2006/relationships/image" Target="/ppt/media/image12.png" Id="Rc264b06ccbf64ed4" /><Relationship Type="http://schemas.openxmlformats.org/officeDocument/2006/relationships/image" Target="/ppt/media/image13.png" Id="Rdcb583ff77324678" /><Relationship Type="http://schemas.openxmlformats.org/officeDocument/2006/relationships/image" Target="/ppt/media/image14.png" Id="R65851ca82c8242c4" /><Relationship Type="http://schemas.openxmlformats.org/officeDocument/2006/relationships/image" Target="/ppt/media/image15.png" Id="Rc2b96cd2a2964138" /><Relationship Type="http://schemas.openxmlformats.org/officeDocument/2006/relationships/image" Target="/ppt/media/image16.png" Id="Rf76cf4ac42904055" /><Relationship Type="http://schemas.openxmlformats.org/officeDocument/2006/relationships/image" Target="/ppt/media/image17.png" Id="Rbf863b97f350433f" /><Relationship Type="http://schemas.openxmlformats.org/officeDocument/2006/relationships/image" Target="/ppt/media/image18.png" Id="R52a828733dfe4268" /><Relationship Type="http://schemas.openxmlformats.org/officeDocument/2006/relationships/notesSlide" Target="/ppt/notesSlides/notesSlide2.xml" Id="R73c67c1930c047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Minimum seed mass versus accretion onset">
            <a:extLst xmlns:a="http://schemas.openxmlformats.org/drawingml/2006/main">
              <a:ext uri="{FF2B5EF4-FFF2-40B4-BE49-F238E27FC236}">
                <a16:creationId xmlns:a16="http://schemas.microsoft.com/office/drawing/2014/main" id="{59A6B654-DF09-44A1-A943-8627B1B5F2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0ff4a0f67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08184" y="5495859"/>
            <a:ext cx="12161520" cy="9121140"/>
          </a:xfrm>
          <a:prstGeom xmlns:a="http://schemas.openxmlformats.org/drawingml/2006/main" prst="rect">
            <a:avLst/>
          </a:prstGeom>
        </p:spPr>
      </p:pic>
      <p:sp>
        <p:nvSpPr>
          <p:cNvPr id="32" name="Title 18">
            <a:extLst xmlns:a="http://schemas.openxmlformats.org/drawingml/2006/main"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0" y="0"/>
            <a:ext cx="438912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br>
              <a:rPr sz="6800" b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6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Early Black-Hole Growth Constraints from JWST</a:t>
            </a:r>
            <a:br>
              <a:rPr sz="6800" b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68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Nicole Jiang; University of Toronto</a:t>
            </a:r>
            <a:br>
              <a:rPr sz="6800" b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endParaRPr sz="6800" b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B81D6B7B-2008-4167-B38B-CD1B3F225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343a928d6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757" y="384048"/>
            <a:ext cx="3135086" cy="3135086"/>
          </a:xfrm>
          <a:prstGeom xmlns:a="http://schemas.openxmlformats.org/drawingml/2006/main" prst="rect">
            <a:avLst/>
          </a:prstGeom>
        </p:spPr>
      </p:pic>
      <p:pic>
        <p:nvPicPr>
          <p:cNvPr id="36" name="Picture 35">
            <a:extLst xmlns:a="http://schemas.openxmlformats.org/drawingml/2006/main">
              <a:ext uri="{FF2B5EF4-FFF2-40B4-BE49-F238E27FC236}">
                <a16:creationId xmlns:a16="http://schemas.microsoft.com/office/drawing/2014/main" id="{0C2ABFE7-D384-4A90-9490-8B862EE38D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7735de30c44b8"/>
          <a:srcRect xmlns:a="http://schemas.openxmlformats.org/drawingml/2006/main" l="23902" t="38725" r="0" b="33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4884" y="914400"/>
            <a:ext cx="6527602" cy="2354714"/>
          </a:xfrm>
          <a:prstGeom xmlns:a="http://schemas.openxmlformats.org/drawingml/2006/main" prst="rect">
            <a:avLst/>
          </a:prstGeom>
        </p:spPr>
      </p:pic>
      <p:pic>
        <p:nvPicPr>
          <p:cNvPr id="37" name="Picture 36">
            <a:extLst xmlns:a="http://schemas.openxmlformats.org/drawingml/2006/main">
              <a:ext uri="{FF2B5EF4-FFF2-40B4-BE49-F238E27FC236}">
                <a16:creationId xmlns:a16="http://schemas.microsoft.com/office/drawing/2014/main" id="{03308F62-8667-4DF8-B5A7-07A4176804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0bb0c92f942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100990" y="384048"/>
            <a:ext cx="3135086" cy="3135086"/>
          </a:xfrm>
          <a:prstGeom xmlns:a="http://schemas.openxmlformats.org/drawingml/2006/main" prst="rect">
            <a:avLst/>
          </a:prstGeom>
        </p:spPr>
      </p:pic>
      <p:sp>
        <p:nvSpPr>
          <p:cNvPr id="69" name="Title 18">
            <a:extLst xmlns:a="http://schemas.openxmlformats.org/drawingml/2006/main"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17" y="4876800"/>
            <a:ext cx="11656526" cy="949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500"/>
              <a:t>Introduction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938" y="6146223"/>
            <a:ext cx="10814623" cy="4601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How did early black holes grow so big, so fast?</a:t>
            </a:r>
            <a:endParaRPr sz="3500"/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3500"/>
              <a:t>JWST has revealed massive black holes with little time to assemble. My research builds a </a:t>
            </a:r>
            <a:r>
              <a:rPr sz="3500" b="1"/>
              <a:t>standardized catalogue </a:t>
            </a:r>
            <a:r>
              <a:rPr sz="3500"/>
              <a:t>across published studies for consistent comparison, then </a:t>
            </a:r>
            <a:r>
              <a:rPr sz="3500" b="1"/>
              <a:t>tests objects against analytic growth models. </a:t>
            </a:r>
            <a:r>
              <a:rPr sz="3500"/>
              <a:t>I identify which objects most strongly constrain early black-hole growth, and how those constraints depend on the assumptions.</a:t>
            </a:r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17" y="4876800"/>
            <a:ext cx="11654220" cy="6231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Title 18">
            <a:extLst xmlns:a="http://schemas.openxmlformats.org/drawingml/2006/main"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18" y="11652615"/>
            <a:ext cx="11654218" cy="965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500"/>
              <a:t>Methods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88C51BF9-B81A-ECF4-F01D-305CA1CE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753" y="12961358"/>
            <a:ext cx="11054757" cy="1074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3200" b="1">
                <a:latin typeface="Aptos"/>
                <a:ea typeface="Aptos"/>
                <a:cs typeface="Aptos"/>
              </a:rPr>
              <a:t>Catalogue: </a:t>
            </a:r>
            <a:r>
              <a:rPr sz="3200" b="0">
                <a:latin typeface="Aptos"/>
                <a:ea typeface="Aptos"/>
                <a:cs typeface="Aptos"/>
              </a:rPr>
              <a:t>Compiled 350 measurements from 32 source families at z ≥ 4, retaining provenance and alternatives. Primary sample: 220 Balmer-line virial masses [1]; expanded sample: 234 objects, including tentative candidates and GN-z11 [2].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3200" b="1">
                <a:latin typeface="Aptos"/>
                <a:ea typeface="Aptos"/>
                <a:cs typeface="Aptos"/>
              </a:rPr>
              <a:t>Growth model: </a:t>
            </a:r>
            <a:r>
              <a:rPr sz="3200" b="0">
                <a:latin typeface="Aptos"/>
                <a:ea typeface="Aptos"/>
                <a:cs typeface="Aptos"/>
              </a:rPr>
              <a:t>Reference assumptions: a 100 M⊙ seed at z = 30, ε = 0.1, and no mergers. Required average Eddington ratio [3]: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bar>
                        <m:barPr>
                          <m:pos m:val="top"/>
                        </m:barPr>
                        <m:e>
                          <m:r>
                            <a:rPr xmlns:a="http://schemas.openxmlformats.org/drawingml/2006/main" lang="en-US" sz="3500" i="1">
                              <a:latin typeface="Cambria Math"/>
                              <a:ea typeface="Cambria Math"/>
                              <a:cs typeface="Cambria Math"/>
                            </a:rPr>
                            <m:t>𝑓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lang="en-US" sz="3500" i="0">
                          <a:latin typeface="Cambria Math"/>
                          <a:ea typeface="Cambria Math"/>
                          <a:cs typeface="Cambria Math"/>
                        </a:rPr>
                        <m:t>Edd</m:t>
                      </m:r>
                      <m:r>
                        <a:rPr xmlns:a="http://schemas.openxmlformats.org/drawingml/2006/main" lang="en-US" sz="3500" i="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xmlns:a="http://schemas.openxmlformats.org/drawingml/2006/main" lang="en-US" sz="3500" i="0">
                          <a:latin typeface="Cambria Math"/>
                          <a:ea typeface="Cambria Math"/>
                          <a:cs typeface="Cambria Math"/>
                        </a:rPr>
                        <m:t>req</m:t>
                      </m:r>
                    </m:sub>
                  </m:sSub>
                  <m:r>
                    <a:rPr xmlns:a="http://schemas.openxmlformats.org/drawingml/2006/main" lang="en-US" sz="350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func>
                    <m:fName>
                      <m:r>
                        <a:rPr xmlns:a="http://schemas.openxmlformats.org/drawingml/2006/main" lang="en-US" sz="3500" i="0">
                          <a:latin typeface="Cambria Math"/>
                          <a:ea typeface="Cambria Math"/>
                          <a:cs typeface="Cambria Math"/>
                        </a:rPr>
                        <m:t>max</m:t>
                      </m:r>
                    </m:fName>
                    <m:e>
                      <m:d>
                        <m:dPr>
                          <m:begChr m:val="["/>
                          <m:endChr m:val="]"/>
                          <m:grow m:val="off"/>
                        </m:dPr>
                        <m:e>
                          <m:r>
                            <a:rPr xmlns:a="http://schemas.openxmlformats.org/drawingml/2006/main" lang="en-US" sz="3500" i="1">
                              <a:latin typeface="Cambria Math"/>
                              <a:ea typeface="Cambria Math"/>
                              <a:cs typeface="Cambria Math"/>
                            </a:rPr>
                            <m:t>0,</m:t>
                          </m:r>
                          <m:f>
                            <m:num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𝜀</m:t>
                              </m:r>
                            </m:num>
                            <m:den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1−</m:t>
                              </m:r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𝜀</m:t>
                              </m:r>
                            </m:den>
                          </m:f>
                          <m:f>
                            <m:num>
                              <m:sSub>
                                <m:e>
                                  <m:r>
                                    <a:rPr xmlns:a="http://schemas.openxmlformats.org/drawingml/2006/main" lang="en-US" sz="35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xmlns:a="http://schemas.openxmlformats.org/drawingml/2006/main" lang="en-US" sz="3500" i="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Edd</m:t>
                                  </m:r>
                                </m:sub>
                              </m:sSub>
                            </m:num>
                            <m:den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𝛥</m:t>
                              </m:r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den>
                          </m:f>
                          <m:func>
                            <m:fName>
                              <m:r>
                                <a:rPr xmlns:a="http://schemas.openxmlformats.org/drawingml/2006/main" lang="en-US" sz="3500" i="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grow m:val="off"/>
                                </m:dPr>
                                <m:e>
                                  <m:f>
                                    <m:num>
                                      <m:sSub>
                                        <m:e>
                                          <m:r>
                                            <a:rPr xmlns:a="http://schemas.openxmlformats.org/drawingml/2006/main" lang="en-US" sz="35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xmlns:a="http://schemas.openxmlformats.org/drawingml/2006/main" lang="en-US" sz="3500" i="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e>
                                          <m:r>
                                            <a:rPr xmlns:a="http://schemas.openxmlformats.org/drawingml/2006/main" lang="en-US" sz="35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xmlns:a="http://schemas.openxmlformats.org/drawingml/2006/main" lang="en-US" sz="3500" i="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merge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a:rPr xmlns:a="http://schemas.openxmlformats.org/drawingml/2006/main" lang="en-US" sz="35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xmlns:a="http://schemas.openxmlformats.org/drawingml/2006/main" lang="en-US" sz="3500" i="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seed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e>
                  </m:func>
                </m:oMath>
              </m:oMathPara>
            </a14:m>
            <a:endParaRPr sz="1100" b="1"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3200" b="1">
                <a:latin typeface="Aptos"/>
                <a:ea typeface="Aptos"/>
                <a:cs typeface="Aptos"/>
              </a:rPr>
              <a:t>Testing and comparison: </a:t>
            </a:r>
            <a:r>
              <a:rPr sz="3200" b="0">
                <a:latin typeface="Aptos"/>
                <a:ea typeface="Aptos"/>
                <a:cs typeface="Aptos"/>
              </a:rPr>
              <a:t>Rank objects by their required average Eddington ratio and compare with allowed average rates. Assess robustness using the fraction of Monte Carlo draws above unity, repeating across growth assumptions.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3200" b="1">
                <a:latin typeface="Aptos"/>
                <a:ea typeface="Aptos"/>
                <a:cs typeface="Aptos"/>
              </a:rPr>
              <a:t>Uncertainty and sensitivity: </a:t>
            </a:r>
            <a:r>
              <a:rPr sz="3200" b="0">
                <a:latin typeface="Aptos"/>
                <a:ea typeface="Aptos"/>
                <a:cs typeface="Aptos"/>
              </a:rPr>
              <a:t>10,000 Monte Carlo draws per object; varied mass scale and growth assumptions separately. Reported errors may omit calibration scatter.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3200" b="1">
                <a:latin typeface="Aptos"/>
                <a:ea typeface="Aptos"/>
                <a:cs typeface="Aptos"/>
              </a:rPr>
              <a:t>Earlier-onset test: </a:t>
            </a:r>
            <a:r>
              <a:rPr sz="3200" b="0">
                <a:latin typeface="Aptos"/>
                <a:ea typeface="Aptos"/>
                <a:cs typeface="Aptos"/>
              </a:rPr>
              <a:t>For the three leading primary targets and GN-z11, calculate minimum seed masses across onset redshifts 20 ≤ </a:t>
            </a:r>
            <a:r>
              <a:rPr sz="3200" b="0">
                <a:latin typeface="Aptos"/>
                <a:ea typeface="Aptos"/>
                <a:cs typeface="Aptos"/>
              </a:rPr>
              <a:t>z</a:t>
            </a:r>
            <a:r>
              <a:rPr sz="2400" b="0" baseline="-25000">
                <a:latin typeface="Aptos"/>
                <a:ea typeface="Aptos"/>
                <a:cs typeface="Aptos"/>
              </a:rPr>
              <a:t>acc</a:t>
            </a:r>
            <a:r>
              <a:rPr sz="3200" b="0">
                <a:latin typeface="Aptos"/>
                <a:ea typeface="Aptos"/>
                <a:cs typeface="Aptos"/>
              </a:rPr>
              <a:t> ≤ 3400, average-rate caps, and efficiencies, using radiation-inclusive cosmic ages.</a:t>
            </a:r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17" y="11647223"/>
            <a:ext cx="11654220" cy="12425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5" name="Title 18">
            <a:extLst xmlns:a="http://schemas.openxmlformats.org/drawingml/2006/main">
              <a:ext uri="{FF2B5EF4-FFF2-40B4-BE49-F238E27FC236}">
                <a16:creationId xmlns:a16="http://schemas.microsoft.com/office/drawing/2014/main" id="{1321580B-F01F-0657-4172-18EB05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7904" y="4876800"/>
            <a:ext cx="17479372" cy="949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500"/>
              <a:t>Results (continued)</a:t>
            </a:r>
            <a:endParaRPr/>
          </a:p>
        </p:txBody>
      </p:sp>
      <p:sp>
        <p:nvSpPr>
          <p:cNvPr id="78" name="Title 18">
            <a:extLst xmlns:a="http://schemas.openxmlformats.org/drawingml/2006/main"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705" y="15352034"/>
            <a:ext cx="11293741" cy="949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500"/>
              <a:t>Conclusions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1352" y="16775511"/>
            <a:ext cx="10574941" cy="100489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342900" indent="-228600">
              <a:spcAft>
                <a:spcPts val="800"/>
              </a:spcAft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Conditional growth constraints: </a:t>
            </a:r>
            <a:r>
              <a:rPr sz="3200" b="0">
                <a:latin typeface="Aptos"/>
                <a:ea typeface="Aptos"/>
                <a:cs typeface="Aptos"/>
              </a:rPr>
              <a:t>Some objects challenge the reference stellar-seed model, but the tension depends strongly on growth assumptions. Lower efficiency permits 100 M⊙ seeds to reach all four selected targets’ central masses.</a:t>
            </a:r>
          </a:p>
          <a:p xmlns:a="http://schemas.openxmlformats.org/drawingml/2006/main">
            <a:pPr marL="342900" indent="-228600">
              <a:spcAft>
                <a:spcPts val="800"/>
              </a:spcAft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Independent mass estimates remain essential: </a:t>
            </a:r>
            <a:r>
              <a:rPr sz="3200" b="0">
                <a:latin typeface="Aptos"/>
                <a:ea typeface="Aptos"/>
                <a:cs typeface="Aptos"/>
              </a:rPr>
              <a:t>Calibration, lensing, and scattering uncertainties can affect which objects appear most challenging.</a:t>
            </a:r>
          </a:p>
          <a:p xmlns:a="http://schemas.openxmlformats.org/drawingml/2006/main">
            <a:pPr marL="342900" indent="-228600">
              <a:spcAft>
                <a:spcPts val="800"/>
              </a:spcAft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The catalogue enables consistent comparisons: </a:t>
            </a:r>
            <a:r>
              <a:rPr sz="3200" b="0">
                <a:latin typeface="Aptos"/>
                <a:ea typeface="Aptos"/>
                <a:cs typeface="Aptos"/>
              </a:rPr>
              <a:t>Traceable measurements identify targets for growth-model testing and follow-up as observations improve.</a:t>
            </a:r>
          </a:p>
          <a:p xmlns:a="http://schemas.openxmlformats.org/drawingml/2006/main">
            <a:pPr marL="342900" indent="-228600">
              <a:spcAft>
                <a:spcPts val="800"/>
              </a:spcAft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Earlier onset offers limited relief: </a:t>
            </a:r>
            <a:r>
              <a:rPr sz="3200" b="0">
                <a:latin typeface="Aptos"/>
                <a:ea typeface="Aptos"/>
                <a:cs typeface="Aptos"/>
              </a:rPr>
              <a:t>Even onset at matter–radiation equality requires 270–1,200 M⊙ seeds for the four targets at ε = 0.1, average Eddington ratio ≤1, and no mergers. Hypothetical PBH seeds shift the challenge toward explaining their formation and abundance, which this growth analysis does not establish.</a:t>
            </a:r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704" y="15352035"/>
            <a:ext cx="11293742" cy="1147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Title 18">
            <a:extLst xmlns:a="http://schemas.openxmlformats.org/drawingml/2006/main"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705" y="27340577"/>
            <a:ext cx="11293741" cy="949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500"/>
              <a:t>References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5007" y="28709236"/>
            <a:ext cx="10436665" cy="2462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3600"/>
              <a:t>[1] Shen (2013), BASI, 41, 61.</a:t>
            </a:r>
            <a:endParaRPr sz="3500"/>
          </a:p>
          <a:p xmlns:a="http://schemas.openxmlformats.org/drawingml/2006/main">
            <a:r>
              <a:rPr sz="3600"/>
              <a:t>[2] </a:t>
            </a:r>
            <a:r>
              <a:rPr sz="3600"/>
              <a:t>Maiolino</a:t>
            </a:r>
            <a:r>
              <a:rPr sz="3600"/>
              <a:t> et al. (2024), Nature, 627, 59.</a:t>
            </a:r>
          </a:p>
          <a:p xmlns:a="http://schemas.openxmlformats.org/drawingml/2006/main">
            <a:r>
              <a:rPr sz="3600"/>
              <a:t>[3] Dayal (2024), A&amp;A, 690, A182.</a:t>
            </a:r>
            <a:endParaRPr sz="3500"/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3600"/>
              <a:t>[4] Bardeen et al. (1972), </a:t>
            </a:r>
            <a:r>
              <a:rPr sz="3600"/>
              <a:t>ApJ</a:t>
            </a:r>
            <a:r>
              <a:rPr sz="3600"/>
              <a:t>, 178, 347.</a:t>
            </a:r>
            <a:endParaRPr sz="3500"/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3600"/>
              <a:t>Catalogue sources and code: QR link above.</a:t>
            </a:r>
            <a:endParaRPr sz="3500"/>
          </a:p>
        </p:txBody>
      </p:sp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710" y="27340577"/>
            <a:ext cx="11293742" cy="4663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F659DBC-DE3B-4CF4-8975-926D907E6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a6189ca044a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61834" y="21777505"/>
            <a:ext cx="17342567" cy="1040554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A6090A4-9EA6-436A-9155-6846F77DAB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318b356e34704"/>
          <a:srcRect xmlns:a="http://schemas.openxmlformats.org/drawingml/2006/main" l="0" t="0" r="0" b="5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74625" y="8329906"/>
            <a:ext cx="16529776" cy="13682306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0CBA89E-6720-41D8-A018-DC500A3EE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080a28aa342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947430" y="1652471"/>
            <a:ext cx="5286065" cy="39624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E8FECE31-6968-4459-B07B-BCA0DCF1E6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c25b3ffaa47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443004">
            <a:off x="30898293" y="2334785"/>
            <a:ext cx="2033427" cy="97880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A5B0A781-C7DD-4800-9F6F-07FDDB3BB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a9c98bcf34c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98715">
            <a:off x="32496336" y="-185399"/>
            <a:ext cx="8190834" cy="4608990"/>
          </a:xfrm>
          <a:prstGeom xmlns:a="http://schemas.openxmlformats.org/drawingml/2006/main" prst="rect">
            <a:avLst/>
          </a:prstGeom>
        </p:spPr>
      </p:pic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2201" y="6267803"/>
            <a:ext cx="16529776" cy="20621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400"/>
              </a:spcAft>
              <a:buNone/>
            </a:pPr>
            <a:r>
              <a:rPr sz="3200" b="1">
                <a:latin typeface="Aptos"/>
                <a:ea typeface="Aptos"/>
                <a:cs typeface="Aptos"/>
              </a:rPr>
              <a:t>Earlier-onset test: </a:t>
            </a:r>
            <a:r>
              <a:rPr sz="3200" b="0">
                <a:latin typeface="Aptos"/>
                <a:ea typeface="Aptos"/>
                <a:cs typeface="Aptos"/>
              </a:rPr>
              <a:t>At matter–radiation equality (z = 3400), the three leading primary targets plus GN-z11 need 270–1,200 M⊙ seeds (</a:t>
            </a:r>
            <a:r>
              <a:rPr sz="3200" b="0">
                <a:latin typeface="Aptos"/>
                <a:ea typeface="Aptos"/>
                <a:cs typeface="Aptos"/>
              </a:rPr>
              <a:t>ε</a:t>
            </a:r>
            <a:r>
              <a:rPr sz="3200" b="0">
                <a:latin typeface="Aptos"/>
                <a:ea typeface="Aptos"/>
                <a:cs typeface="Aptos"/>
              </a:rPr>
              <a:t> = 0.1, average ratio ≤1, no mergers).</a:t>
            </a:r>
            <a:r>
              <a:rPr sz="3200"/>
              <a:t> </a:t>
            </a:r>
            <a:r>
              <a:rPr sz="3200" b="1">
                <a:latin typeface="Aptos"/>
                <a:ea typeface="Aptos"/>
                <a:cs typeface="Aptos"/>
              </a:rPr>
              <a:t>Independent mass check: </a:t>
            </a:r>
            <a:r>
              <a:rPr sz="3200" b="0">
                <a:latin typeface="Aptos"/>
                <a:ea typeface="Aptos"/>
                <a:cs typeface="Aptos"/>
              </a:rPr>
              <a:t>A2744-QSO1’s dynamical mass raises its required ratio from 0.929 to ≈1; uncertainty spans unity.</a:t>
            </a:r>
            <a:endParaRPr sz="3200"/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7A1E6EC0-2FA9-D0FD-7275-799C6E89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7901" y="4876800"/>
            <a:ext cx="17479375" cy="2712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EE2BBC0C-3C57-496A-954C-31E077E0A5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318b356e34704"/>
          <a:srcRect xmlns:a="http://schemas.openxmlformats.org/drawingml/2006/main" l="0" t="94699" r="47992" b="16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21595" y="21817450"/>
            <a:ext cx="8013403" cy="482271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938" y="25700720"/>
            <a:ext cx="10783726" cy="6017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57150">
              <a:spcAft>
                <a:spcPts val="6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Reference: </a:t>
            </a:r>
            <a:r>
              <a:rPr sz="3500" b="0">
                <a:latin typeface="Aptos"/>
                <a:ea typeface="Aptos"/>
                <a:cs typeface="Aptos"/>
              </a:rPr>
              <a:t>8/220 primary objects require an average ratio above 1; five do so in ≥95% of reported-mass-error draws.</a:t>
            </a:r>
            <a:r>
              <a:rPr sz="3500"/>
              <a:t> </a:t>
            </a:r>
            <a:r>
              <a:rPr sz="3500" b="1">
                <a:latin typeface="Aptos"/>
                <a:ea typeface="Aptos"/>
                <a:cs typeface="Aptos"/>
              </a:rPr>
              <a:t>Mass sensitivity: </a:t>
            </a:r>
            <a:r>
              <a:rPr sz="3500" b="0">
                <a:latin typeface="Aptos"/>
                <a:ea typeface="Aptos"/>
                <a:cs typeface="Aptos"/>
              </a:rPr>
              <a:t>UNCOVER-20466, COSMOS3D-13852, and RUBIES-EGS-55604 retain this criterion after a 0.5 </a:t>
            </a:r>
            <a:r>
              <a:rPr sz="3500" b="0">
                <a:latin typeface="Aptos"/>
                <a:ea typeface="Aptos"/>
                <a:cs typeface="Aptos"/>
              </a:rPr>
              <a:t>dex</a:t>
            </a:r>
            <a:r>
              <a:rPr sz="3500" b="0">
                <a:latin typeface="Aptos"/>
                <a:ea typeface="Aptos"/>
                <a:cs typeface="Aptos"/>
              </a:rPr>
              <a:t> mass reduction [1].</a:t>
            </a:r>
            <a:r>
              <a:rPr sz="3500"/>
              <a:t> </a:t>
            </a:r>
            <a:r>
              <a:rPr sz="3500" b="1">
                <a:latin typeface="Aptos"/>
                <a:ea typeface="Aptos"/>
                <a:cs typeface="Aptos"/>
              </a:rPr>
              <a:t>Seed-mass sensitivity: </a:t>
            </a:r>
            <a:r>
              <a:rPr sz="3500" b="0">
                <a:latin typeface="Aptos"/>
                <a:ea typeface="Aptos"/>
                <a:cs typeface="Aptos"/>
              </a:rPr>
              <a:t>1,000 M⊙ seeds reduce the count to 3/220; 100,000 M⊙ seeds leave none in either sample.</a:t>
            </a:r>
            <a:r>
              <a:rPr sz="3500"/>
              <a:t> </a:t>
            </a:r>
            <a:r>
              <a:rPr sz="3500" b="1">
                <a:latin typeface="Aptos"/>
                <a:ea typeface="Aptos"/>
                <a:cs typeface="Aptos"/>
              </a:rPr>
              <a:t>Formation time: </a:t>
            </a:r>
            <a:r>
              <a:rPr sz="3500" b="0">
                <a:latin typeface="Aptos"/>
                <a:ea typeface="Aptos"/>
                <a:cs typeface="Aptos"/>
              </a:rPr>
              <a:t>Later seeding (z = 20) gives 18/220 and makes GN-z11 highest-ranked.</a:t>
            </a:r>
            <a:r>
              <a:rPr sz="3500"/>
              <a:t> </a:t>
            </a:r>
            <a:r>
              <a:rPr sz="3500" b="1">
                <a:latin typeface="Aptos"/>
                <a:ea typeface="Aptos"/>
                <a:cs typeface="Aptos"/>
              </a:rPr>
              <a:t>Efficiency: </a:t>
            </a:r>
            <a:r>
              <a:rPr sz="3500" b="0">
                <a:latin typeface="Aptos"/>
                <a:ea typeface="Aptos"/>
                <a:cs typeface="Aptos"/>
              </a:rPr>
              <a:t>At </a:t>
            </a:r>
            <a:r>
              <a:rPr sz="3500" b="0">
                <a:latin typeface="Aptos"/>
                <a:ea typeface="Aptos"/>
                <a:cs typeface="Aptos"/>
              </a:rPr>
              <a:t>ε</a:t>
            </a:r>
            <a:r>
              <a:rPr sz="3500" b="0">
                <a:latin typeface="Aptos"/>
                <a:ea typeface="Aptos"/>
                <a:cs typeface="Aptos"/>
              </a:rPr>
              <a:t> = 0.05719 [4], all 234 central masses are reachable from 100 M⊙ seeds at z = 30 with an average ratio below 1.</a:t>
            </a:r>
            <a:endParaRPr sz="3500"/>
          </a:p>
        </p:txBody>
      </p:sp>
      <p:sp>
        <p:nvSpPr>
          <p:cNvPr id="7" name="Title 18">
            <a:extLst xmlns:a="http://schemas.openxmlformats.org/drawingml/2006/main"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211" y="24433540"/>
            <a:ext cx="11656525" cy="9659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500"/>
              <a:t>Results</a:t>
            </a:r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211" y="24433539"/>
            <a:ext cx="11656526" cy="7570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687FC708-5356-4821-A443-3CD960929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d9092a226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79040" y="22174200"/>
            <a:ext cx="13258800" cy="9240982"/>
          </a:xfrm>
          <a:prstGeom xmlns:a="http://schemas.openxmlformats.org/drawingml/2006/main" prst="rect">
            <a:avLst/>
          </a:prstGeom>
        </p:spPr>
      </p:pic>
      <p:pic>
        <p:nvPicPr>
          <p:cNvPr id="14" name="Minimum seed mass versus accretion onset">
            <a:extLst xmlns:a="http://schemas.openxmlformats.org/drawingml/2006/main">
              <a:ext uri="{FF2B5EF4-FFF2-40B4-BE49-F238E27FC236}">
                <a16:creationId xmlns:a16="http://schemas.microsoft.com/office/drawing/2014/main" id="{7FFE3F90-44AB-4AFA-A559-B3EF8A4989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b7e6365e04f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352240" y="8595360"/>
            <a:ext cx="13533120" cy="9134856"/>
          </a:xfrm>
          <a:prstGeom xmlns:a="http://schemas.openxmlformats.org/drawingml/2006/main" prst="rect">
            <a:avLst/>
          </a:prstGeom>
        </p:spPr>
      </p:pic>
      <p:sp>
        <p:nvSpPr>
          <p:cNvPr id="32" name="Title 18">
            <a:extLst xmlns:a="http://schemas.openxmlformats.org/drawingml/2006/main">
              <a:ext uri="{FF2B5EF4-FFF2-40B4-BE49-F238E27FC236}">
                <a16:creationId xmlns:a16="http://schemas.microsoft.com/office/drawing/2014/main" id="{F8D50A2A-9B61-AD34-B9C2-8944BB27426C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0" y="0"/>
            <a:ext cx="43891200" cy="438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lIns="9418320" tIns="91440" rIns="11887200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br>
              <a:rPr sz="4200" b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6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Early Black-Hole Growth Constraints from JWST</a:t>
            </a:r>
            <a:br>
              <a:rPr sz="6800" b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sz="6800" b="0">
                <a:solidFill>
                  <a:schemeClr val="bg1"/>
                </a:solidFill>
                <a:latin typeface="Arial"/>
                <a:ea typeface="Arial"/>
                <a:cs typeface="Arial"/>
              </a:rPr>
              <a:t>Nicole Jiang; University of Toronto</a:t>
            </a:r>
            <a:br>
              <a:rPr sz="4200" b="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endParaRPr sz="6800" b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FD6290F0-5593-4091-B0A7-5083DE0273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4b06ccbf64e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548640"/>
            <a:ext cx="2834640" cy="2834640"/>
          </a:xfrm>
          <a:prstGeom xmlns:a="http://schemas.openxmlformats.org/drawingml/2006/main" prst="rect">
            <a:avLst/>
          </a:prstGeom>
        </p:spPr>
      </p:pic>
      <p:pic>
        <p:nvPicPr>
          <p:cNvPr id="36" name="Picture 35">
            <a:extLst xmlns:a="http://schemas.openxmlformats.org/drawingml/2006/main">
              <a:ext uri="{FF2B5EF4-FFF2-40B4-BE49-F238E27FC236}">
                <a16:creationId xmlns:a16="http://schemas.microsoft.com/office/drawing/2014/main" id="{A5877723-5455-40C3-BCE8-34B0159DB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583ff77324678"/>
          <a:srcRect xmlns:a="http://schemas.openxmlformats.org/drawingml/2006/main" l="23902" t="38725" r="0" b="33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91840" y="1051560"/>
            <a:ext cx="6035040" cy="2177031"/>
          </a:xfrm>
          <a:prstGeom xmlns:a="http://schemas.openxmlformats.org/drawingml/2006/main" prst="rect">
            <a:avLst/>
          </a:prstGeom>
        </p:spPr>
      </p:pic>
      <p:pic>
        <p:nvPicPr>
          <p:cNvPr id="37" name="Picture 36">
            <a:extLst xmlns:a="http://schemas.openxmlformats.org/drawingml/2006/main">
              <a:ext uri="{FF2B5EF4-FFF2-40B4-BE49-F238E27FC236}">
                <a16:creationId xmlns:a16="http://schemas.microsoft.com/office/drawing/2014/main" id="{3C68713F-90F2-4A0C-9093-63D30498A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51ca82c82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67840" y="457200"/>
            <a:ext cx="3108960" cy="3108960"/>
          </a:xfrm>
          <a:prstGeom xmlns:a="http://schemas.openxmlformats.org/drawingml/2006/main" prst="rect">
            <a:avLst/>
          </a:prstGeom>
        </p:spPr>
      </p:pic>
      <p:sp>
        <p:nvSpPr>
          <p:cNvPr id="69" name="Title 18">
            <a:extLst xmlns:a="http://schemas.openxmlformats.org/drawingml/2006/main">
              <a:ext uri="{FF2B5EF4-FFF2-40B4-BE49-F238E27FC236}">
                <a16:creationId xmlns:a16="http://schemas.microsoft.com/office/drawing/2014/main" id="{D8B6836B-DAF1-F68F-D717-73D3A454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3487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000"/>
              <a:t>Introduction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7842EAEC-0FF9-516A-6712-19E0D19D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00800"/>
            <a:ext cx="1257300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500" b="1">
                <a:latin typeface="Aptos"/>
                <a:ea typeface="Aptos"/>
                <a:cs typeface="Aptos"/>
              </a:rPr>
              <a:t>How did early black holes grow so big, so fast? </a:t>
            </a:r>
            <a:r>
              <a:rPr sz="3500" b="0">
                <a:latin typeface="Aptos"/>
                <a:ea typeface="Aptos"/>
                <a:cs typeface="Aptos"/>
              </a:rPr>
              <a:t>The James Webb Space Telescope (JWST) has revealed massive black holes with little time to assemble. My research builds a standardized catalogue across studies, then tests objects against analytic growth models to identify the strongest constraints and how they depend on the assumptions.</a:t>
            </a:r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ABB03D82-A209-1440-3180-9DD4419E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3487400" cy="466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Title 18">
            <a:extLst xmlns:a="http://schemas.openxmlformats.org/drawingml/2006/main">
              <a:ext uri="{FF2B5EF4-FFF2-40B4-BE49-F238E27FC236}">
                <a16:creationId xmlns:a16="http://schemas.microsoft.com/office/drawing/2014/main" id="{6D9DC137-E8CF-8FC7-F26F-A7759AD2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0"/>
            <a:ext cx="13487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000"/>
              <a:t>Methods</a:t>
            </a: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88C51BF9-B81A-ECF4-F01D-305CA1CE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567160"/>
            <a:ext cx="12573000" cy="1435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Catalogue: </a:t>
            </a:r>
            <a:r>
              <a:rPr sz="3500" b="0">
                <a:latin typeface="Aptos"/>
                <a:ea typeface="Aptos"/>
                <a:cs typeface="Aptos"/>
              </a:rPr>
              <a:t>350 published measurements from 32 source families at z ≥ 4. Adopt one measurement per object and retain sources, methods, and alternatives. Primary: 220 objects with Balmer-line virial masses [1]; expanded: 234, including tentative candidates and GN-z11 [2].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Reference model: </a:t>
            </a:r>
            <a:r>
              <a:rPr sz="3500" b="0">
                <a:latin typeface="Aptos"/>
                <a:ea typeface="Aptos"/>
                <a:cs typeface="Aptos"/>
              </a:rPr>
              <a:t>100 M⊙ seeds at z = 30, radiative efficiency </a:t>
            </a:r>
            <a:r>
              <a:rPr sz="3500" b="0">
                <a:latin typeface="Aptos"/>
                <a:ea typeface="Aptos"/>
                <a:cs typeface="Aptos"/>
              </a:rPr>
              <a:t>ε</a:t>
            </a:r>
            <a:r>
              <a:rPr sz="3500" b="0">
                <a:latin typeface="Aptos"/>
                <a:ea typeface="Aptos"/>
                <a:cs typeface="Aptos"/>
              </a:rPr>
              <a:t> = 0.1, no mergers (</a:t>
            </a:r>
            <a:r>
              <a:rPr sz="3500" b="0">
                <a:latin typeface="Aptos"/>
                <a:ea typeface="Aptos"/>
                <a:cs typeface="Aptos"/>
              </a:rPr>
              <a:t>B</a:t>
            </a:r>
            <a:r>
              <a:rPr sz="2450" b="0" baseline="-25000">
                <a:latin typeface="Aptos"/>
                <a:ea typeface="Aptos"/>
                <a:cs typeface="Aptos"/>
              </a:rPr>
              <a:t>merge</a:t>
            </a:r>
            <a:r>
              <a:rPr sz="3500" b="0">
                <a:latin typeface="Aptos"/>
                <a:ea typeface="Aptos"/>
                <a:cs typeface="Aptos"/>
              </a:rPr>
              <a:t> = 1), and </a:t>
            </a:r>
            <a:r>
              <a:rPr sz="3500" b="0">
                <a:latin typeface="Aptos"/>
                <a:ea typeface="Aptos"/>
                <a:cs typeface="Aptos"/>
              </a:rPr>
              <a:t>t</a:t>
            </a:r>
            <a:r>
              <a:rPr sz="2450" b="0" baseline="-25000">
                <a:latin typeface="Aptos"/>
                <a:ea typeface="Aptos"/>
                <a:cs typeface="Aptos"/>
              </a:rPr>
              <a:t>Edd</a:t>
            </a:r>
            <a:r>
              <a:rPr sz="3500" b="0">
                <a:latin typeface="Aptos"/>
                <a:ea typeface="Aptos"/>
                <a:cs typeface="Aptos"/>
              </a:rPr>
              <a:t> ≈ 0.45 Gyr [3].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bar>
                        <m:barPr>
                          <m:pos m:val="top"/>
                        </m:barPr>
                        <m:e>
                          <m:r>
                            <a:rPr xmlns:a="http://schemas.openxmlformats.org/drawingml/2006/main" lang="en-US" sz="3500" i="1">
                              <a:latin typeface="Cambria Math"/>
                              <a:ea typeface="Cambria Math"/>
                              <a:cs typeface="Cambria Math"/>
                            </a:rPr>
                            <m:t>𝑓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lang="en-US" sz="3500" i="0">
                          <a:latin typeface="Cambria Math"/>
                          <a:ea typeface="Cambria Math"/>
                          <a:cs typeface="Cambria Math"/>
                        </a:rPr>
                        <m:t>Edd</m:t>
                      </m:r>
                      <m:r>
                        <a:rPr xmlns:a="http://schemas.openxmlformats.org/drawingml/2006/main" lang="en-US" sz="3500" i="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xmlns:a="http://schemas.openxmlformats.org/drawingml/2006/main" lang="en-US" sz="3500" i="0">
                          <a:latin typeface="Cambria Math"/>
                          <a:ea typeface="Cambria Math"/>
                          <a:cs typeface="Cambria Math"/>
                        </a:rPr>
                        <m:t>req</m:t>
                      </m:r>
                    </m:sub>
                  </m:sSub>
                  <m:r>
                    <a:rPr xmlns:a="http://schemas.openxmlformats.org/drawingml/2006/main" lang="en-US" sz="3500" i="1">
                      <a:latin typeface="Cambria Math"/>
                      <a:ea typeface="Cambria Math"/>
                      <a:cs typeface="Cambria Math"/>
                    </a:rPr>
                    <m:t>=</m:t>
                  </m:r>
                  <m:func>
                    <m:fName>
                      <m:r>
                        <a:rPr xmlns:a="http://schemas.openxmlformats.org/drawingml/2006/main" lang="en-US" sz="3500" i="0">
                          <a:latin typeface="Cambria Math"/>
                          <a:ea typeface="Cambria Math"/>
                          <a:cs typeface="Cambria Math"/>
                        </a:rPr>
                        <m:t>max</m:t>
                      </m:r>
                    </m:fName>
                    <m:e>
                      <m:d>
                        <m:dPr>
                          <m:begChr m:val="["/>
                          <m:endChr m:val="]"/>
                          <m:grow m:val="off"/>
                        </m:dPr>
                        <m:e>
                          <m:r>
                            <a:rPr xmlns:a="http://schemas.openxmlformats.org/drawingml/2006/main" lang="en-US" sz="3500" i="1">
                              <a:latin typeface="Cambria Math"/>
                              <a:ea typeface="Cambria Math"/>
                              <a:cs typeface="Cambria Math"/>
                            </a:rPr>
                            <m:t>0,</m:t>
                          </m:r>
                          <m:f>
                            <m:num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𝜀</m:t>
                              </m:r>
                            </m:num>
                            <m:den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1−</m:t>
                              </m:r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𝜀</m:t>
                              </m:r>
                            </m:den>
                          </m:f>
                          <m:f>
                            <m:num>
                              <m:sSub>
                                <m:e>
                                  <m:r>
                                    <a:rPr xmlns:a="http://schemas.openxmlformats.org/drawingml/2006/main" lang="en-US" sz="35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xmlns:a="http://schemas.openxmlformats.org/drawingml/2006/main" lang="en-US" sz="3500" i="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Edd</m:t>
                                  </m:r>
                                </m:sub>
                              </m:sSub>
                            </m:num>
                            <m:den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𝛥</m:t>
                              </m:r>
                              <m:r>
                                <a:rPr xmlns:a="http://schemas.openxmlformats.org/drawingml/2006/main" lang="en-US" sz="35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den>
                          </m:f>
                          <m:func>
                            <m:fName>
                              <m:r>
                                <a:rPr xmlns:a="http://schemas.openxmlformats.org/drawingml/2006/main" lang="en-US" sz="3500" i="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grow m:val="off"/>
                                </m:dPr>
                                <m:e>
                                  <m:f>
                                    <m:num>
                                      <m:sSub>
                                        <m:e>
                                          <m:r>
                                            <a:rPr xmlns:a="http://schemas.openxmlformats.org/drawingml/2006/main" lang="en-US" sz="35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xmlns:a="http://schemas.openxmlformats.org/drawingml/2006/main" lang="en-US" sz="3500" i="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BH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e>
                                          <m:r>
                                            <a:rPr xmlns:a="http://schemas.openxmlformats.org/drawingml/2006/main" lang="en-US" sz="35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xmlns:a="http://schemas.openxmlformats.org/drawingml/2006/main" lang="en-US" sz="3500" i="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merge</m:t>
                                          </m:r>
                                        </m:sub>
                                      </m:sSub>
                                      <m:sSub>
                                        <m:e>
                                          <m:r>
                                            <a:rPr xmlns:a="http://schemas.openxmlformats.org/drawingml/2006/main" lang="en-US" sz="35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xmlns:a="http://schemas.openxmlformats.org/drawingml/2006/main" lang="en-US" sz="3500" i="0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seed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e>
                  </m:func>
                </m:oMath>
              </m:oMathPara>
            </a14:m>
            <a:endParaRPr sz="3500" b="1"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Symbols: </a:t>
            </a:r>
            <a:r>
              <a:rPr sz="3500" b="0">
                <a:latin typeface="Aptos"/>
                <a:ea typeface="Aptos"/>
                <a:cs typeface="Aptos"/>
              </a:rPr>
              <a:t>M⊙: solar mass; M</a:t>
            </a:r>
            <a:r>
              <a:rPr sz="2450" b="0" baseline="-25000">
                <a:latin typeface="Aptos"/>
                <a:ea typeface="Aptos"/>
                <a:cs typeface="Aptos"/>
              </a:rPr>
              <a:t>BH</a:t>
            </a:r>
            <a:r>
              <a:rPr sz="3500" b="0">
                <a:latin typeface="Aptos"/>
                <a:ea typeface="Aptos"/>
                <a:cs typeface="Aptos"/>
              </a:rPr>
              <a:t>: observed mass; </a:t>
            </a:r>
            <a:r>
              <a:rPr sz="3500" b="0">
                <a:latin typeface="Aptos"/>
                <a:ea typeface="Aptos"/>
                <a:cs typeface="Aptos"/>
              </a:rPr>
              <a:t>M</a:t>
            </a:r>
            <a:r>
              <a:rPr sz="2450" b="0" baseline="-25000">
                <a:latin typeface="Aptos"/>
                <a:ea typeface="Aptos"/>
                <a:cs typeface="Aptos"/>
              </a:rPr>
              <a:t>seed</a:t>
            </a:r>
            <a:r>
              <a:rPr sz="3500" b="0">
                <a:latin typeface="Aptos"/>
                <a:ea typeface="Aptos"/>
                <a:cs typeface="Aptos"/>
              </a:rPr>
              <a:t>: seed mass; </a:t>
            </a:r>
            <a:r>
              <a:rPr sz="3500" b="0">
                <a:latin typeface="Aptos"/>
                <a:ea typeface="Aptos"/>
                <a:cs typeface="Aptos"/>
              </a:rPr>
              <a:t>Δt</a:t>
            </a:r>
            <a:r>
              <a:rPr sz="3500" b="0">
                <a:latin typeface="Aptos"/>
                <a:ea typeface="Aptos"/>
                <a:cs typeface="Aptos"/>
              </a:rPr>
              <a:t>: growth time; </a:t>
            </a:r>
            <a:r>
              <a:rPr sz="3500" b="0">
                <a:latin typeface="Aptos"/>
                <a:ea typeface="Aptos"/>
                <a:cs typeface="Aptos"/>
              </a:rPr>
              <a:t>ε</a:t>
            </a:r>
            <a:r>
              <a:rPr sz="3500" b="0">
                <a:latin typeface="Aptos"/>
                <a:ea typeface="Aptos"/>
                <a:cs typeface="Aptos"/>
              </a:rPr>
              <a:t>: radiated fraction of inflowing rest-mass energy. Larger z means earlier time.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Eddington ratio: </a:t>
            </a:r>
            <a:r>
              <a:rPr sz="3500" b="0">
                <a:latin typeface="Aptos"/>
                <a:ea typeface="Aptos"/>
                <a:cs typeface="Aptos"/>
              </a:rPr>
              <a:t>Luminosity divided by the Eddington limit. The lifetime average includes inactive periods. Values above 1 require super-Eddington episodes under this model.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Uncertainty: </a:t>
            </a:r>
            <a:r>
              <a:rPr sz="3500" b="0">
                <a:latin typeface="Aptos"/>
                <a:ea typeface="Aptos"/>
                <a:cs typeface="Aptos"/>
              </a:rPr>
              <a:t>10,000 draws approximate reported asymmetric log-mass errors. Twelve objects without errors enter central-mass calculations only.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Sensitivity: </a:t>
            </a:r>
            <a:r>
              <a:rPr sz="3500" b="0">
                <a:latin typeface="Aptos"/>
                <a:ea typeface="Aptos"/>
                <a:cs typeface="Aptos"/>
              </a:rPr>
              <a:t>Vary mass scale, seed mass, onset, and efficiency separately. Reported errors may omit calibration scatter.</a:t>
            </a:r>
          </a:p>
          <a:p xmlns:a="http://schemas.openxmlformats.org/drawingml/2006/main">
            <a:pPr>
              <a:spcAft>
                <a:spcPts val="500"/>
              </a:spcAft>
              <a:buNone/>
            </a:pPr>
            <a:r>
              <a:rPr sz="3500" b="1">
                <a:latin typeface="Aptos"/>
                <a:ea typeface="Aptos"/>
                <a:cs typeface="Aptos"/>
              </a:rPr>
              <a:t>Earlier onset: </a:t>
            </a:r>
            <a:r>
              <a:rPr sz="3500" b="0">
                <a:latin typeface="Aptos"/>
                <a:ea typeface="Aptos"/>
                <a:cs typeface="Aptos"/>
              </a:rPr>
              <a:t>For the three leading primary targets and GN-z11, solve minimum seed masses over 20 ≤ </a:t>
            </a:r>
            <a:r>
              <a:rPr sz="3500" b="0">
                <a:latin typeface="Aptos"/>
                <a:ea typeface="Aptos"/>
                <a:cs typeface="Aptos"/>
              </a:rPr>
              <a:t>z</a:t>
            </a:r>
            <a:r>
              <a:rPr sz="2450" b="0" baseline="-25000">
                <a:latin typeface="Aptos"/>
                <a:ea typeface="Aptos"/>
                <a:cs typeface="Aptos"/>
              </a:rPr>
              <a:t>acc</a:t>
            </a:r>
            <a:r>
              <a:rPr sz="3500" b="0">
                <a:latin typeface="Aptos"/>
                <a:ea typeface="Aptos"/>
                <a:cs typeface="Aptos"/>
              </a:rPr>
              <a:t> ≤ 3400 using radiation-inclusive ages. Access to fuel is assumed.</a:t>
            </a:r>
          </a:p>
        </p:txBody>
      </p:sp>
      <p:sp>
        <p:nvSpPr>
          <p:cNvPr id="74" name="Rectangle 73">
            <a:extLst xmlns:a="http://schemas.openxmlformats.org/drawingml/2006/main">
              <a:ext uri="{FF2B5EF4-FFF2-40B4-BE49-F238E27FC236}">
                <a16:creationId xmlns:a16="http://schemas.microsoft.com/office/drawing/2014/main" id="{F5F0E6D1-7308-2846-C555-5A8981E8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287000"/>
            <a:ext cx="13487400" cy="1609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8" name="Title 18">
            <a:extLst xmlns:a="http://schemas.openxmlformats.org/drawingml/2006/main">
              <a:ext uri="{FF2B5EF4-FFF2-40B4-BE49-F238E27FC236}">
                <a16:creationId xmlns:a16="http://schemas.microsoft.com/office/drawing/2014/main" id="{D50205E6-BF86-6F08-991C-43F597F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0" y="21351240"/>
            <a:ext cx="137160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000"/>
              <a:t>Conclusions</a:t>
            </a: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3DD5B540-2EC8-A5A1-200C-994C1D7C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2631400"/>
            <a:ext cx="12801600" cy="9006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285750" indent="-228600">
              <a:spcAft>
                <a:spcPts val="800"/>
              </a:spcAft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Efficiency drives the tension: </a:t>
            </a:r>
            <a:r>
              <a:rPr sz="3200" b="0">
                <a:latin typeface="Aptos"/>
                <a:ea typeface="Aptos"/>
                <a:cs typeface="Aptos"/>
              </a:rPr>
              <a:t>Some objects challenge the reference model. At ε = 0.05719, the ideal thin-disc efficiency for a non-spinning black hole, 100 M⊙ seeds at z = 30 reach all 234 central masses with an average ratio below 1.</a:t>
            </a:r>
          </a:p>
          <a:p xmlns:a="http://schemas.openxmlformats.org/drawingml/2006/main">
            <a:pPr marL="285750" indent="-228600"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Independent mass estimates: </a:t>
            </a:r>
            <a:r>
              <a:rPr sz="3200" b="0">
                <a:latin typeface="Aptos"/>
                <a:ea typeface="Aptos"/>
                <a:cs typeface="Aptos"/>
              </a:rPr>
              <a:t>Tests of calibration, lensing, and scattering are essential to establish which objects are most challenging.</a:t>
            </a:r>
          </a:p>
          <a:p xmlns:a="http://schemas.openxmlformats.org/drawingml/2006/main">
            <a:pPr marL="285750" indent="-228600"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Catalogue contribution: </a:t>
            </a:r>
            <a:r>
              <a:rPr sz="3200" b="0">
                <a:latin typeface="Aptos"/>
                <a:ea typeface="Aptos"/>
                <a:cs typeface="Aptos"/>
              </a:rPr>
              <a:t>Documented measurement choices and retained alternatives support consistent comparisons and follow-up. Sample counts describe the literature sample, not population fractions.</a:t>
            </a:r>
          </a:p>
          <a:p xmlns:a="http://schemas.openxmlformats.org/drawingml/2006/main">
            <a:pPr marL="285750" indent="-228600"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Earlier onset offers limited relief: </a:t>
            </a:r>
            <a:r>
              <a:rPr sz="3200" b="0">
                <a:latin typeface="Aptos"/>
                <a:ea typeface="Aptos"/>
                <a:cs typeface="Aptos"/>
              </a:rPr>
              <a:t>Earlier onset alone cannot rescue 100 M⊙ seeds for the four targets at </a:t>
            </a:r>
            <a:r>
              <a:rPr sz="3200" b="0">
                <a:latin typeface="Aptos"/>
                <a:ea typeface="Aptos"/>
                <a:cs typeface="Aptos"/>
              </a:rPr>
              <a:t>ε</a:t>
            </a:r>
            <a:r>
              <a:rPr sz="3200" b="0">
                <a:latin typeface="Aptos"/>
                <a:ea typeface="Aptos"/>
                <a:cs typeface="Aptos"/>
              </a:rPr>
              <a:t> = 0.1, average ratio ≤1, and no mergers. Gains diminish at earlier onset. Growth compatibility does not establish primordial black hole (PBH) formation or abundance viability.</a:t>
            </a:r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BBD5C8AB-335C-2E4D-00F6-4B0BF74B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0" y="21351240"/>
            <a:ext cx="13716000" cy="1088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1" name="Title 18">
            <a:extLst xmlns:a="http://schemas.openxmlformats.org/drawingml/2006/main">
              <a:ext uri="{FF2B5EF4-FFF2-40B4-BE49-F238E27FC236}">
                <a16:creationId xmlns:a16="http://schemas.microsoft.com/office/drawing/2014/main" id="{8E773A53-2851-D565-B46F-D419BA57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83360"/>
            <a:ext cx="13487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000"/>
              <a:t>References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2B57F9D-B4AF-1E4D-7FBC-B8680CB4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163520"/>
            <a:ext cx="12573000" cy="3703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3200"/>
              <a:t>[1] Shen (2013), BASI, 41, 61.</a:t>
            </a:r>
            <a:endParaRPr sz="3200"/>
          </a:p>
          <a:p xmlns:a="http://schemas.openxmlformats.org/drawingml/2006/main">
            <a:r>
              <a:rPr sz="3200"/>
              <a:t>[2] </a:t>
            </a:r>
            <a:r>
              <a:rPr sz="3200"/>
              <a:t>Maiolino</a:t>
            </a:r>
            <a:r>
              <a:rPr sz="3200"/>
              <a:t> et al. (2024), Nature, 627, 59.</a:t>
            </a:r>
          </a:p>
          <a:p xmlns:a="http://schemas.openxmlformats.org/drawingml/2006/main">
            <a:r>
              <a:rPr sz="3200"/>
              <a:t>[3] Dayal (2024), A&amp;A, 690, A182.</a:t>
            </a:r>
            <a:endParaRPr sz="3200"/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3200"/>
              <a:t>[4] Bardeen et al. (1972), </a:t>
            </a:r>
            <a:r>
              <a:rPr sz="3200"/>
              <a:t>ApJ</a:t>
            </a:r>
            <a:r>
              <a:rPr sz="3200"/>
              <a:t>, 178, 347.</a:t>
            </a:r>
            <a:endParaRPr sz="3200"/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3200" b="0">
                <a:latin typeface="Aptos"/>
                <a:ea typeface="Aptos"/>
                <a:cs typeface="Aptos"/>
              </a:rPr>
              <a:t>[5] </a:t>
            </a:r>
            <a:r>
              <a:rPr sz="3200" b="0">
                <a:latin typeface="Aptos"/>
                <a:ea typeface="Aptos"/>
                <a:cs typeface="Aptos"/>
              </a:rPr>
              <a:t>Juodzbalis</a:t>
            </a:r>
            <a:r>
              <a:rPr sz="3200" b="0">
                <a:latin typeface="Aptos"/>
                <a:ea typeface="Aptos"/>
                <a:cs typeface="Aptos"/>
              </a:rPr>
              <a:t> et al. (2025), arXiv:2508.21748.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3200"/>
              <a:t>Catalogue sources and code: QR link above.</a:t>
            </a:r>
            <a:endParaRPr sz="3200"/>
          </a:p>
        </p:txBody>
      </p:sp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7156AF1B-4C0F-9637-8495-BA594174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83360"/>
            <a:ext cx="13487400" cy="534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673EB8C-55C8-400C-9141-E8CD92C9AB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96cd2a296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087600" y="12024360"/>
            <a:ext cx="13533120" cy="7781544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FFF2FBA2-F02F-47E0-ACC4-E7A900E606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cf4ac42904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947430" y="920951"/>
            <a:ext cx="5286065" cy="39624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8479208A-09E8-49F1-8A9E-F72E4FBFE0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63b97f350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443004">
            <a:off x="30898293" y="1603265"/>
            <a:ext cx="2033427" cy="97880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D497943A-C4D1-4DF9-AD1C-44AA2DC996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828733dfe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98715">
            <a:off x="32496336" y="-185399"/>
            <a:ext cx="8190834" cy="4608990"/>
          </a:xfrm>
          <a:prstGeom xmlns:a="http://schemas.openxmlformats.org/drawingml/2006/main" prst="rect">
            <a:avLst/>
          </a:prstGeom>
        </p:spPr>
      </p:pic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8F4057E1-F618-63B3-DF3A-8B3B4948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6400800"/>
            <a:ext cx="1280160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spcAft>
                <a:spcPts val="400"/>
              </a:spcAft>
              <a:buFont typeface="Arial"/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Earlier-onset test: </a:t>
            </a:r>
            <a:r>
              <a:rPr sz="3200" b="0">
                <a:latin typeface="Aptos"/>
                <a:ea typeface="Aptos"/>
                <a:cs typeface="Aptos"/>
              </a:rPr>
              <a:t>At matter–radiation equality (z = 3400), the three leading primary targets plus GN-z11 require minimum seed masses of 270–1,200 M⊙ (</a:t>
            </a:r>
            <a:r>
              <a:rPr sz="3200" b="0">
                <a:latin typeface="Aptos"/>
                <a:ea typeface="Aptos"/>
                <a:cs typeface="Aptos"/>
              </a:rPr>
              <a:t>ε</a:t>
            </a:r>
            <a:r>
              <a:rPr sz="3200" b="0">
                <a:latin typeface="Aptos"/>
                <a:ea typeface="Aptos"/>
                <a:cs typeface="Aptos"/>
              </a:rPr>
              <a:t> = 0.1, average ratio ≤1, no mergers).</a:t>
            </a:r>
            <a:r>
              <a:rPr sz="3200"/>
              <a:t> 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F669F8B-BE33-0C82-515C-AF8D3B7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7640" y="6400800"/>
            <a:ext cx="12801600" cy="548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marL="285750" indent="-228600"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Reference: </a:t>
            </a:r>
            <a:r>
              <a:rPr sz="3200" b="0">
                <a:latin typeface="Aptos"/>
                <a:ea typeface="Aptos"/>
                <a:cs typeface="Aptos"/>
              </a:rPr>
              <a:t>8/220 primary objects require an average ratio above 1; five do so in ≥95% of reported-mass-error draws.</a:t>
            </a:r>
          </a:p>
          <a:p xmlns:a="http://schemas.openxmlformats.org/drawingml/2006/main">
            <a:pPr marL="285750" indent="-228600"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Mass sensitivity: </a:t>
            </a:r>
            <a:r>
              <a:rPr sz="3200" b="0">
                <a:latin typeface="Aptos"/>
                <a:ea typeface="Aptos"/>
                <a:cs typeface="Aptos"/>
              </a:rPr>
              <a:t>UNCOVER-20466, COSMOS3D-13852, and RUBIES-EGS-55604 retain ≥95% support after a 0.5 </a:t>
            </a:r>
            <a:r>
              <a:rPr sz="3200" b="0">
                <a:latin typeface="Aptos"/>
                <a:ea typeface="Aptos"/>
                <a:cs typeface="Aptos"/>
              </a:rPr>
              <a:t>dex</a:t>
            </a:r>
            <a:r>
              <a:rPr sz="3200" b="0">
                <a:latin typeface="Aptos"/>
                <a:ea typeface="Aptos"/>
                <a:cs typeface="Aptos"/>
              </a:rPr>
              <a:t> mass reduction (a factor of 3.2).</a:t>
            </a:r>
          </a:p>
          <a:p xmlns:a="http://schemas.openxmlformats.org/drawingml/2006/main">
            <a:pPr marL="285750" indent="-228600"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Seed mass: </a:t>
            </a:r>
            <a:r>
              <a:rPr sz="3200" b="0">
                <a:latin typeface="Aptos"/>
                <a:ea typeface="Aptos"/>
                <a:cs typeface="Aptos"/>
              </a:rPr>
              <a:t>1,000 M⊙ seeds leave 3/220 above unity; 100,000 M⊙ seeds leave none in either sample.</a:t>
            </a:r>
          </a:p>
          <a:p xmlns:a="http://schemas.openxmlformats.org/drawingml/2006/main">
            <a:pPr marL="285750" indent="-228600"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Formation time: </a:t>
            </a:r>
            <a:r>
              <a:rPr sz="3200" b="0">
                <a:latin typeface="Aptos"/>
                <a:ea typeface="Aptos"/>
                <a:cs typeface="Aptos"/>
              </a:rPr>
              <a:t>Later seeding (z = 20) gives 18/220 primary objects above unity; GN-z11 has the highest requirement in the expanded sample.</a:t>
            </a:r>
          </a:p>
          <a:p xmlns:a="http://schemas.openxmlformats.org/drawingml/2006/main">
            <a:pPr marL="285750" indent="-228600"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Efficiency: </a:t>
            </a:r>
            <a:r>
              <a:rPr sz="3200" b="0">
                <a:latin typeface="Aptos"/>
                <a:ea typeface="Aptos"/>
                <a:cs typeface="Aptos"/>
              </a:rPr>
              <a:t>At </a:t>
            </a:r>
            <a:r>
              <a:rPr sz="3200" b="0">
                <a:latin typeface="Aptos"/>
                <a:ea typeface="Aptos"/>
                <a:cs typeface="Aptos"/>
              </a:rPr>
              <a:t>ε</a:t>
            </a:r>
            <a:r>
              <a:rPr sz="3200" b="0">
                <a:latin typeface="Aptos"/>
                <a:ea typeface="Aptos"/>
                <a:cs typeface="Aptos"/>
              </a:rPr>
              <a:t> = 0.05719 (non-spinning thin disc) [4], all 234 central masses are reachable from 100 M⊙ seeds at z = 30 with an average ratio below 1.</a:t>
            </a:r>
          </a:p>
        </p:txBody>
      </p:sp>
      <p:sp>
        <p:nvSpPr>
          <p:cNvPr id="7" name="Title 18">
            <a:extLst xmlns:a="http://schemas.openxmlformats.org/drawingml/2006/main">
              <a:ext uri="{FF2B5EF4-FFF2-40B4-BE49-F238E27FC236}">
                <a16:creationId xmlns:a16="http://schemas.microsoft.com/office/drawing/2014/main" id="{3AC78928-AF13-E1B9-F802-F1FD39D0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440" y="5120640"/>
            <a:ext cx="28026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5C"/>
          </a:solidFill>
          <a:ln xmlns:a="http://schemas.openxmlformats.org/drawingml/2006/main">
            <a:solidFill>
              <a:srgbClr val="09306B"/>
            </a:solidFill>
          </a:ln>
        </p:spPr>
        <p:txBody>
          <a:bodyPr xmlns:a="http://schemas.openxmlformats.org/drawingml/2006/main" vert="horz" lIns="78373" tIns="39187" rIns="78373" bIns="39187" anchor="ctr">
            <a:normAutofit/>
          </a:bodyPr>
          <a:lstStyle xmlns:a="http://schemas.openxmlformats.org/drawingml/2006/main">
            <a:lvl1pPr algn="l" defTabSz="4389120">
              <a:lnSpc>
                <a:spcPct val="90000"/>
              </a:lnSpc>
              <a:spcBef>
                <a:spcPct val="0"/>
              </a:spcBef>
              <a:buNone/>
              <a:defRPr sz="6200" b="1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5000"/>
              <a:t>Results</a:t>
            </a:r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F7EDC07-606F-DD66-5973-0AE0D673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0440" y="5120640"/>
            <a:ext cx="28026360" cy="1572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2A5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0" name="Figure takeaway 110">
            <a:extLst xmlns:a="http://schemas.openxmlformats.org/drawingml/2006/main">
              <a:ext uri="{FF2B5EF4-FFF2-40B4-BE49-F238E27FC236}">
                <a16:creationId xmlns:a16="http://schemas.microsoft.com/office/drawing/2014/main" id="{21EBA217-35A6-4E21-AE5F-3324829F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7640" y="19842480"/>
            <a:ext cx="1280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400" b="0">
                <a:latin typeface="Aptos"/>
                <a:ea typeface="Aptos"/>
                <a:cs typeface="Aptos"/>
              </a:rPr>
              <a:t>Three targets retain ≥95% reported-error support for a required average ratio above unity after a −0.5 dex mass shift.</a:t>
            </a:r>
          </a:p>
        </p:txBody>
      </p:sp>
      <p:sp>
        <p:nvSpPr>
          <p:cNvPr id="111" name="Figure takeaway 111">
            <a:extLst xmlns:a="http://schemas.openxmlformats.org/drawingml/2006/main">
              <a:ext uri="{FF2B5EF4-FFF2-40B4-BE49-F238E27FC236}">
                <a16:creationId xmlns:a16="http://schemas.microsoft.com/office/drawing/2014/main" id="{8CA67826-B883-4E03-8734-4D1A607E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4760" y="31455360"/>
            <a:ext cx="131216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2400" b="0">
                <a:latin typeface="Aptos"/>
                <a:ea typeface="Aptos"/>
                <a:cs typeface="Aptos"/>
              </a:rPr>
              <a:t>Only efficiency changes between panels. Points below a curve can be reached with a lower average Eddington ratio.</a:t>
            </a:r>
          </a:p>
        </p:txBody>
      </p:sp>
      <p:sp>
        <p:nvSpPr>
          <p:cNvPr id="112" name="Figure takeaway 112">
            <a:extLst xmlns:a="http://schemas.openxmlformats.org/drawingml/2006/main">
              <a:ext uri="{FF2B5EF4-FFF2-40B4-BE49-F238E27FC236}">
                <a16:creationId xmlns:a16="http://schemas.microsoft.com/office/drawing/2014/main" id="{A2E0505B-D4AD-4067-8115-98402E70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17830800"/>
            <a:ext cx="1280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 b="0">
                <a:latin typeface="Aptos"/>
                <a:ea typeface="Aptos"/>
                <a:cs typeface="Aptos"/>
              </a:rPr>
              <a:t>Earlier starts reduce required seeds, with diminishing gains.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71483CE-2A7E-6438-7E3B-E605C17C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18516600"/>
            <a:ext cx="128016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spcAft>
                <a:spcPts val="400"/>
              </a:spcAft>
              <a:buFont typeface="Arial"/>
              <a:buChar char="•"/>
            </a:pPr>
            <a:r>
              <a:rPr sz="3200" b="1">
                <a:latin typeface="Aptos"/>
                <a:ea typeface="Aptos"/>
                <a:cs typeface="Aptos"/>
              </a:rPr>
              <a:t>Independent mass check: </a:t>
            </a:r>
            <a:r>
              <a:rPr sz="3200" b="0">
                <a:latin typeface="Aptos"/>
                <a:ea typeface="Aptos"/>
                <a:cs typeface="Aptos"/>
              </a:rPr>
              <a:t>A2744-QSO1’s dynamical mass raises its required ratio from 0.929 to ≈1; uncertainty spans unity [5].</a:t>
            </a:r>
            <a:endParaRPr sz="3200"/>
          </a:p>
        </p:txBody>
      </p:sp>
      <p:sp>
        <p:nvSpPr>
          <p:cNvPr id="120" name="Efficiency comparison heading">
            <a:extLst xmlns:a="http://schemas.openxmlformats.org/drawingml/2006/main">
              <a:ext uri="{FF2B5EF4-FFF2-40B4-BE49-F238E27FC236}">
                <a16:creationId xmlns:a16="http://schemas.microsoft.com/office/drawing/2014/main" id="{3A05E1FE-512D-49F3-9C39-22D275F0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4760" y="21351240"/>
            <a:ext cx="13121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>
            <a:defPPr>
              <a:defRPr b="1">
                <a:solidFill>
                  <a:srgbClr val="002A5C"/>
                </a:solidFill>
              </a:defRPr>
            </a:defPPr>
          </a:lstStyle>
          <a:p xmlns:a="http://schemas.openxmlformats.org/drawingml/2006/main">
            <a:pPr>
              <a:spcAft>
                <a:spcPts val="800"/>
              </a:spcAft>
              <a:buNone/>
              <a:defRPr b="1">
                <a:solidFill>
                  <a:srgbClr val="002A5C"/>
                </a:solidFill>
              </a:defRPr>
            </a:pPr>
            <a:r>
              <a:rPr sz="3600" b="1">
                <a:solidFill>
                  <a:srgbClr val="002A5C"/>
                </a:solidFill>
                <a:latin typeface="Aptos"/>
                <a:ea typeface="Aptos"/>
                <a:cs typeface="Aptos"/>
              </a:rPr>
              <a:t>Growth tension depends on efficiency</a:t>
            </a:r>
          </a:p>
        </p:txBody>
      </p:sp>
    </p:spTree>
    <p:extLst>
      <p:ext uri="{BB962C8B-B14F-4D97-AF65-F5344CB8AC3E}">
        <p14:creationId xmlns:p14="http://schemas.microsoft.com/office/powerpoint/2010/main" val="8684871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2026-10-13T18:09:42.2570000Z</dcterms:created>
  <dcterms:modified xsi:type="dcterms:W3CDTF">2026-10-13T18:09:42.2570000Z</dcterms:modified>
</coreProperties>
</file>
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9" r:id="rId2"/>
    <p:sldId id="260" r:id="rId9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A5C"/>
    <a:srgbClr val="002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43"/>
    <p:restoredTop sz="94692"/>
  </p:normalViewPr>
  <p:slideViewPr>
    <p:cSldViewPr snapToGrid="0">
      <p:cViewPr>
        <p:scale>
          <a:sx n="33" d="100"/>
          <a:sy n="33" d="100"/>
        </p:scale>
        <p:origin x="-24" y="-1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6473874E-BB57-4884-5C66-EE1C81F1FB1F}"/>
    <pc:docChg chg="modSld">
      <pc:chgData name="Guest User" userId="" providerId="Windows Live" clId="Web-{6473874E-BB57-4884-5C66-EE1C81F1FB1F}" dt="2026-10-06T18:07:50.156" v="49" actId="14100"/>
      <pc:docMkLst>
        <pc:docMk/>
      </pc:docMkLst>
      <pc:sldChg chg="addSp modSp">
        <pc:chgData name="Guest User" userId="" providerId="Windows Live" clId="Web-{6473874E-BB57-4884-5C66-EE1C81F1FB1F}" dt="2026-10-06T18:07:50.156" v="49" actId="14100"/>
        <pc:sldMkLst>
          <pc:docMk/>
          <pc:sldMk cId="868487171" sldId="259"/>
        </pc:sldMkLst>
        <pc:spChg chg="add mod">
          <ac:chgData name="Guest User" userId="" providerId="Windows Live" clId="Web-{6473874E-BB57-4884-5C66-EE1C81F1FB1F}" dt="2026-10-06T18:05:06.482" v="43" actId="1076"/>
          <ac:spMkLst>
            <pc:docMk/>
            <pc:sldMk cId="868487171" sldId="259"/>
            <ac:spMk id="2" creationId="{6F669F8B-BE33-0C82-515C-AF8D3B759FB3}"/>
          </ac:spMkLst>
        </pc:spChg>
        <pc:spChg chg="add mod">
          <ac:chgData name="Guest User" userId="" providerId="Windows Live" clId="Web-{6473874E-BB57-4884-5C66-EE1C81F1FB1F}" dt="2026-10-06T18:04:32.935" v="42" actId="20577"/>
          <ac:spMkLst>
            <pc:docMk/>
            <pc:sldMk cId="868487171" sldId="259"/>
            <ac:spMk id="7" creationId="{3AC78928-AF13-E1B9-F802-F1FD39D07D33}"/>
          </ac:spMkLst>
        </pc:spChg>
        <pc:spChg chg="add mod">
          <ac:chgData name="Guest User" userId="" providerId="Windows Live" clId="Web-{6473874E-BB57-4884-5C66-EE1C81F1FB1F}" dt="2026-10-06T18:05:37.561" v="46" actId="1076"/>
          <ac:spMkLst>
            <pc:docMk/>
            <pc:sldMk cId="868487171" sldId="259"/>
            <ac:spMk id="11" creationId="{AF7EDC07-606F-DD66-5973-0AE0D673B23B}"/>
          </ac:spMkLst>
        </pc:spChg>
        <pc:spChg chg="mod">
          <ac:chgData name="Guest User" userId="" providerId="Windows Live" clId="Web-{6473874E-BB57-4884-5C66-EE1C81F1FB1F}" dt="2026-10-06T17:45:22.514" v="13" actId="20577"/>
          <ac:spMkLst>
            <pc:docMk/>
            <pc:sldMk cId="868487171" sldId="259"/>
            <ac:spMk id="70" creationId="{7842EAEC-0FF9-516A-6712-19E0D19D0354}"/>
          </ac:spMkLst>
        </pc:spChg>
        <pc:spChg chg="mod">
          <ac:chgData name="Guest User" userId="" providerId="Windows Live" clId="Web-{6473874E-BB57-4884-5C66-EE1C81F1FB1F}" dt="2026-10-06T18:07:50.156" v="49" actId="14100"/>
          <ac:spMkLst>
            <pc:docMk/>
            <pc:sldMk cId="868487171" sldId="259"/>
            <ac:spMk id="71" creationId="{ABB03D82-A209-1440-3180-9DD4419EFCBF}"/>
          </ac:spMkLst>
        </pc:spChg>
        <pc:spChg chg="mod">
          <ac:chgData name="Guest User" userId="" providerId="Windows Live" clId="Web-{6473874E-BB57-4884-5C66-EE1C81F1FB1F}" dt="2026-10-06T18:03:08.387" v="34" actId="1076"/>
          <ac:spMkLst>
            <pc:docMk/>
            <pc:sldMk cId="868487171" sldId="259"/>
            <ac:spMk id="72" creationId="{6D9DC137-E8CF-8FC7-F26F-A7759AD2C396}"/>
          </ac:spMkLst>
        </pc:spChg>
        <pc:spChg chg="mod">
          <ac:chgData name="Guest User" userId="" providerId="Windows Live" clId="Web-{6473874E-BB57-4884-5C66-EE1C81F1FB1F}" dt="2026-10-06T18:00:42.510" v="28" actId="1076"/>
          <ac:spMkLst>
            <pc:docMk/>
            <pc:sldMk cId="868487171" sldId="259"/>
            <ac:spMk id="73" creationId="{88C51BF9-B81A-ECF4-F01D-305CA1CE9DD1}"/>
          </ac:spMkLst>
        </pc:spChg>
        <pc:spChg chg="mod">
          <ac:chgData name="Guest User" userId="" providerId="Windows Live" clId="Web-{6473874E-BB57-4884-5C66-EE1C81F1FB1F}" dt="2026-10-06T18:02:35.371" v="33" actId="1076"/>
          <ac:spMkLst>
            <pc:docMk/>
            <pc:sldMk cId="868487171" sldId="259"/>
            <ac:spMk id="74" creationId="{F5F0E6D1-7308-2846-C555-5A8981E84E43}"/>
          </ac:spMkLst>
        </pc:spChg>
        <pc:spChg chg="mod">
          <ac:chgData name="Guest User" userId="" providerId="Windows Live" clId="Web-{6473874E-BB57-4884-5C66-EE1C81F1FB1F}" dt="2026-10-06T18:07:15.078" v="48" actId="20577"/>
          <ac:spMkLst>
            <pc:docMk/>
            <pc:sldMk cId="868487171" sldId="259"/>
            <ac:spMk id="75" creationId="{1321580B-F01F-0657-4172-18EB0518DB94}"/>
          </ac:spMkLst>
        </pc:spChg>
        <pc:spChg chg="mod">
          <ac:chgData name="Guest User" userId="" providerId="Windows Live" clId="Web-{6473874E-BB57-4884-5C66-EE1C81F1FB1F}" dt="2026-10-06T18:04:14.810" v="41" actId="20577"/>
          <ac:spMkLst>
            <pc:docMk/>
            <pc:sldMk cId="868487171" sldId="259"/>
            <ac:spMk id="76" creationId="{8F4057E1-F618-63B3-DF3A-8B3B4948305D}"/>
          </ac:spMkLst>
        </pc:spChg>
        <pc:spChg chg="mod">
          <ac:chgData name="Guest User" userId="" providerId="Windows Live" clId="Web-{6473874E-BB57-4884-5C66-EE1C81F1FB1F}" dt="2026-10-06T17:46:18.967" v="18" actId="20577"/>
          <ac:spMkLst>
            <pc:docMk/>
            <pc:sldMk cId="868487171" sldId="259"/>
            <ac:spMk id="79" creationId="{3DD5B540-2EC8-A5A1-200C-994C1D7C8BFD}"/>
          </ac:spMkLst>
        </pc:spChg>
      </pc:sldChg>
    </pc:docChg>
  </pc:docChgLst>
  <pc:docChgLst>
    <pc:chgData name="Nicole Jiang" userId="09ef0fc0f6f473b5" providerId="LiveId" clId="{EB8F4A53-0964-5BF1-90AD-931457E28E1A}"/>
    <pc:docChg chg="undo redo custSel addSld delSld modSld">
      <pc:chgData name="Nicole Jiang" userId="09ef0fc0f6f473b5" providerId="LiveId" clId="{EB8F4A53-0964-5BF1-90AD-931457E28E1A}" dt="2026-10-09T00:15:05.241" v="2362"/>
      <pc:docMkLst>
        <pc:docMk/>
      </pc:docMkLst>
      <pc:sldChg chg="addSp delSp modSp del mod modClrScheme chgLayout">
        <pc:chgData name="Nicole Jiang" userId="09ef0fc0f6f473b5" providerId="LiveId" clId="{EB8F4A53-0964-5BF1-90AD-931457E28E1A}" dt="2026-10-08T23:56:41.890" v="2017" actId="2696"/>
        <pc:sldMkLst>
          <pc:docMk/>
          <pc:sldMk cId="0" sldId="258"/>
        </pc:sldMkLst>
      </pc:sldChg>
      <pc:sldChg chg="addSp delSp modSp add mod">
        <pc:chgData name="Nicole Jiang" userId="09ef0fc0f6f473b5" providerId="LiveId" clId="{EB8F4A53-0964-5BF1-90AD-931457E28E1A}" dt="2026-10-09T00:15:05.241" v="2362"/>
        <pc:sldMkLst>
          <pc:docMk/>
          <pc:sldMk cId="868487171" sldId="259"/>
        </pc:sldMkLst>
        <pc:spChg chg="mod">
          <ac:chgData name="Nicole Jiang" userId="09ef0fc0f6f473b5" providerId="LiveId" clId="{EB8F4A53-0964-5BF1-90AD-931457E28E1A}" dt="2026-10-09T00:09:16.450" v="2346" actId="1076"/>
          <ac:spMkLst>
            <pc:docMk/>
            <pc:sldMk cId="868487171" sldId="259"/>
            <ac:spMk id="2" creationId="{6F669F8B-BE33-0C82-515C-AF8D3B759FB3}"/>
          </ac:spMkLst>
        </pc:spChg>
        <pc:spChg chg="mod">
          <ac:chgData name="Nicole Jiang" userId="09ef0fc0f6f473b5" providerId="LiveId" clId="{EB8F4A53-0964-5BF1-90AD-931457E28E1A}" dt="2026-10-09T00:09:38.064" v="2351" actId="14100"/>
          <ac:spMkLst>
            <pc:docMk/>
            <pc:sldMk cId="868487171" sldId="259"/>
            <ac:spMk id="7" creationId="{3AC78928-AF13-E1B9-F802-F1FD39D07D33}"/>
          </ac:spMkLst>
        </pc:spChg>
        <pc:spChg chg="mod">
          <ac:chgData name="Nicole Jiang" userId="09ef0fc0f6f473b5" providerId="LiveId" clId="{EB8F4A53-0964-5BF1-90AD-931457E28E1A}" dt="2026-10-09T00:09:35.092" v="2350" actId="14100"/>
          <ac:spMkLst>
            <pc:docMk/>
            <pc:sldMk cId="868487171" sldId="259"/>
            <ac:spMk id="11" creationId="{AF7EDC07-606F-DD66-5973-0AE0D673B23B}"/>
          </ac:spMkLst>
        </pc:spChg>
        <pc:spChg chg="mod">
          <ac:chgData name="Nicole Jiang" userId="09ef0fc0f6f473b5" providerId="LiveId" clId="{EB8F4A53-0964-5BF1-90AD-931457E28E1A}" dt="2026-10-08T23:55:50.948" v="2002" actId="14100"/>
          <ac:spMkLst>
            <pc:docMk/>
            <pc:sldMk cId="868487171" sldId="259"/>
            <ac:spMk id="69" creationId="{D8B6836B-DAF1-F68F-D717-73D3A454BC2E}"/>
          </ac:spMkLst>
        </pc:spChg>
        <pc:spChg chg="mod">
          <ac:chgData name="Nicole Jiang" userId="09ef0fc0f6f473b5" providerId="LiveId" clId="{EB8F4A53-0964-5BF1-90AD-931457E28E1A}" dt="2026-10-08T23:59:45.832" v="2096" actId="1076"/>
          <ac:spMkLst>
            <pc:docMk/>
            <pc:sldMk cId="868487171" sldId="259"/>
            <ac:spMk id="70" creationId="{7842EAEC-0FF9-516A-6712-19E0D19D0354}"/>
          </ac:spMkLst>
        </pc:spChg>
        <pc:spChg chg="mod">
          <ac:chgData name="Nicole Jiang" userId="09ef0fc0f6f473b5" providerId="LiveId" clId="{EB8F4A53-0964-5BF1-90AD-931457E28E1A}" dt="2026-10-08T23:59:49.081" v="2097" actId="14100"/>
          <ac:spMkLst>
            <pc:docMk/>
            <pc:sldMk cId="868487171" sldId="259"/>
            <ac:spMk id="71" creationId="{ABB03D82-A209-1440-3180-9DD4419EFCBF}"/>
          </ac:spMkLst>
        </pc:spChg>
        <pc:spChg chg="mod">
          <ac:chgData name="Nicole Jiang" userId="09ef0fc0f6f473b5" providerId="LiveId" clId="{EB8F4A53-0964-5BF1-90AD-931457E28E1A}" dt="2026-10-08T23:59:53.849" v="2098" actId="1076"/>
          <ac:spMkLst>
            <pc:docMk/>
            <pc:sldMk cId="868487171" sldId="259"/>
            <ac:spMk id="72" creationId="{6D9DC137-E8CF-8FC7-F26F-A7759AD2C396}"/>
          </ac:spMkLst>
        </pc:spChg>
        <pc:spChg chg="mod">
          <ac:chgData name="Nicole Jiang" userId="09ef0fc0f6f473b5" providerId="LiveId" clId="{EB8F4A53-0964-5BF1-90AD-931457E28E1A}" dt="2026-10-09T00:08:16.840" v="2330" actId="20577"/>
          <ac:spMkLst>
            <pc:docMk/>
            <pc:sldMk cId="868487171" sldId="259"/>
            <ac:spMk id="73" creationId="{88C51BF9-B81A-ECF4-F01D-305CA1CE9DD1}"/>
          </ac:spMkLst>
        </pc:spChg>
        <pc:spChg chg="mod">
          <ac:chgData name="Nicole Jiang" userId="09ef0fc0f6f473b5" providerId="LiveId" clId="{EB8F4A53-0964-5BF1-90AD-931457E28E1A}" dt="2026-10-09T00:09:27.727" v="2349" actId="14100"/>
          <ac:spMkLst>
            <pc:docMk/>
            <pc:sldMk cId="868487171" sldId="259"/>
            <ac:spMk id="74" creationId="{F5F0E6D1-7308-2846-C555-5A8981E84E43}"/>
          </ac:spMkLst>
        </pc:spChg>
        <pc:spChg chg="mod">
          <ac:chgData name="Nicole Jiang" userId="09ef0fc0f6f473b5" providerId="LiveId" clId="{EB8F4A53-0964-5BF1-90AD-931457E28E1A}" dt="2026-10-07T04:31:07.748" v="1961" actId="14100"/>
          <ac:spMkLst>
            <pc:docMk/>
            <pc:sldMk cId="868487171" sldId="259"/>
            <ac:spMk id="75" creationId="{1321580B-F01F-0657-4172-18EB0518DB94}"/>
          </ac:spMkLst>
        </pc:spChg>
        <pc:spChg chg="mod">
          <ac:chgData name="Nicole Jiang" userId="09ef0fc0f6f473b5" providerId="LiveId" clId="{EB8F4A53-0964-5BF1-90AD-931457E28E1A}" dt="2026-10-08T21:06:38.773" v="1965" actId="20577"/>
          <ac:spMkLst>
            <pc:docMk/>
            <pc:sldMk cId="868487171" sldId="259"/>
            <ac:spMk id="76" creationId="{8F4057E1-F618-63B3-DF3A-8B3B4948305D}"/>
          </ac:spMkLst>
        </pc:spChg>
        <pc:spChg chg="mod">
          <ac:chgData name="Nicole Jiang" userId="09ef0fc0f6f473b5" providerId="LiveId" clId="{EB8F4A53-0964-5BF1-90AD-931457E28E1A}" dt="2026-10-07T04:31:03.142" v="1960" actId="14100"/>
          <ac:spMkLst>
            <pc:docMk/>
            <pc:sldMk cId="868487171" sldId="259"/>
            <ac:spMk id="77" creationId="{7A1E6EC0-2FA9-D0FD-7275-799C6E89A662}"/>
          </ac:spMkLst>
        </pc:spChg>
        <pc:spChg chg="add del mod">
          <ac:chgData name="Nicole Jiang" userId="09ef0fc0f6f473b5" providerId="LiveId" clId="{EB8F4A53-0964-5BF1-90AD-931457E28E1A}" dt="2026-10-09T00:15:05.241" v="2362"/>
          <ac:spMkLst>
            <pc:docMk/>
            <pc:sldMk cId="868487171" sldId="259"/>
            <ac:spMk id="79" creationId="{3DD5B540-2EC8-A5A1-200C-994C1D7C8BFD}"/>
          </ac:spMkLst>
        </pc:spChg>
        <pc:spChg chg="del">
          <ac:chgData name="Nicole Jiang" userId="09ef0fc0f6f473b5" providerId="LiveId" clId="{EB8F4A53-0964-5BF1-90AD-931457E28E1A}" dt="2026-10-09T00:10:06.343" v="2352" actId="478"/>
          <ac:spMkLst>
            <pc:docMk/>
            <pc:sldMk cId="868487171" sldId="259"/>
            <ac:spMk id="110" creationId="{8F4057E1-F618-63B3-DF3A-8B3B4948305D}"/>
          </ac:spMkLst>
        </pc:spChg>
        <pc:picChg chg="mod">
          <ac:chgData name="Nicole Jiang" userId="09ef0fc0f6f473b5" providerId="LiveId" clId="{EB8F4A53-0964-5BF1-90AD-931457E28E1A}" dt="2026-10-07T04:27:46.876" v="1947" actId="1076"/>
          <ac:picMkLst>
            <pc:docMk/>
            <pc:sldMk cId="868487171" sldId="259"/>
            <ac:picMk id="3" creationId="{535E2EF0-72FB-E9D0-1E82-C65E26ED9E91}"/>
          </ac:picMkLst>
        </pc:picChg>
        <pc:picChg chg="mod">
          <ac:chgData name="Nicole Jiang" userId="09ef0fc0f6f473b5" providerId="LiveId" clId="{EB8F4A53-0964-5BF1-90AD-931457E28E1A}" dt="2026-10-07T04:29:45.955" v="1948" actId="14100"/>
          <ac:picMkLst>
            <pc:docMk/>
            <pc:sldMk cId="868487171" sldId="259"/>
            <ac:picMk id="4" creationId="{C4337658-2539-7C1B-497A-E1769149148E}"/>
          </ac:picMkLst>
        </pc:picChg>
        <pc:picChg chg="mod">
          <ac:chgData name="Nicole Jiang" userId="09ef0fc0f6f473b5" providerId="LiveId" clId="{EB8F4A53-0964-5BF1-90AD-931457E28E1A}" dt="2026-10-07T04:27:30.158" v="1944" actId="1076"/>
          <ac:picMkLst>
            <pc:docMk/>
            <pc:sldMk cId="868487171" sldId="259"/>
            <ac:picMk id="9" creationId="{B829416D-68E4-BCED-986B-F1DCA30F1BF3}"/>
          </ac:picMkLst>
        </pc:picChg>
        <pc:picChg chg="mod">
          <ac:chgData name="Nicole Jiang" userId="09ef0fc0f6f473b5" providerId="LiveId" clId="{EB8F4A53-0964-5BF1-90AD-931457E28E1A}" dt="2026-10-09T00:10:15.637" v="2356" actId="14100"/>
          <ac:picMkLst>
            <pc:docMk/>
            <pc:sldMk cId="868487171" sldId="259"/>
            <ac:picMk id="14" creationId="{C3CA3027-10C5-D39A-05B0-82DB2540F9D3}"/>
          </ac:picMkLst>
        </pc:picChg>
      </pc:sldChg>
    </pc:docChg>
  </pc:docChgLst>
  <pc:docChgLst>
    <pc:chgData name="Nicole Jiang" userId="09ef0fc0f6f473b5" providerId="Windows Live" clId="Web-{00000000-0000-0000-0000-000000000000}"/>
    <pc:docChg chg="modSld">
      <pc:chgData name="Nicole Jiang" userId="09ef0fc0f6f473b5" providerId="Windows Live" clId="Web-{00000000-0000-0000-0000-000000000000}" dt="2026-10-06T17:56:42.980" v="36" actId="1076"/>
      <pc:docMkLst>
        <pc:docMk/>
      </pc:docMkLst>
      <pc:sldChg chg="modSp">
        <pc:chgData name="Nicole Jiang" userId="09ef0fc0f6f473b5" providerId="Windows Live" clId="Web-{00000000-0000-0000-0000-000000000000}" dt="2026-10-06T17:56:42.980" v="36" actId="1076"/>
        <pc:sldMkLst>
          <pc:docMk/>
          <pc:sldMk cId="868487171" sldId="259"/>
        </pc:sldMkLst>
        <pc:spChg chg="mod">
          <ac:chgData name="Nicole Jiang" userId="09ef0fc0f6f473b5" providerId="Windows Live" clId="Web-{00000000-0000-0000-0000-000000000000}" dt="2026-10-06T17:56:42.980" v="36" actId="1076"/>
          <ac:spMkLst>
            <pc:docMk/>
            <pc:sldMk cId="868487171" sldId="259"/>
            <ac:spMk id="2" creationId="{6F669F8B-BE33-0C82-515C-AF8D3B759FB3}"/>
          </ac:spMkLst>
        </pc:spChg>
        <pc:spChg chg="mod">
          <ac:chgData name="Nicole Jiang" userId="09ef0fc0f6f473b5" providerId="Windows Live" clId="Web-{00000000-0000-0000-0000-000000000000}" dt="2026-10-06T17:41:48.569" v="20" actId="20577"/>
          <ac:spMkLst>
            <pc:docMk/>
            <pc:sldMk cId="868487171" sldId="259"/>
            <ac:spMk id="70" creationId="{7842EAEC-0FF9-516A-6712-19E0D19D0354}"/>
          </ac:spMkLst>
        </pc:spChg>
        <pc:spChg chg="mod">
          <ac:chgData name="Nicole Jiang" userId="09ef0fc0f6f473b5" providerId="Windows Live" clId="Web-{00000000-0000-0000-0000-000000000000}" dt="2026-10-06T17:39:25.110" v="6" actId="14100"/>
          <ac:spMkLst>
            <pc:docMk/>
            <pc:sldMk cId="868487171" sldId="259"/>
            <ac:spMk id="71" creationId="{ABB03D82-A209-1440-3180-9DD4419EFCBF}"/>
          </ac:spMkLst>
        </pc:spChg>
        <pc:spChg chg="mod">
          <ac:chgData name="Nicole Jiang" userId="09ef0fc0f6f473b5" providerId="Windows Live" clId="Web-{00000000-0000-0000-0000-000000000000}" dt="2026-10-06T17:55:28.537" v="27" actId="1076"/>
          <ac:spMkLst>
            <pc:docMk/>
            <pc:sldMk cId="868487171" sldId="259"/>
            <ac:spMk id="72" creationId="{6D9DC137-E8CF-8FC7-F26F-A7759AD2C396}"/>
          </ac:spMkLst>
        </pc:spChg>
        <pc:spChg chg="mod">
          <ac:chgData name="Nicole Jiang" userId="09ef0fc0f6f473b5" providerId="Windows Live" clId="Web-{00000000-0000-0000-0000-000000000000}" dt="2026-10-06T17:56:31.917" v="35" actId="1076"/>
          <ac:spMkLst>
            <pc:docMk/>
            <pc:sldMk cId="868487171" sldId="259"/>
            <ac:spMk id="73" creationId="{88C51BF9-B81A-ECF4-F01D-305CA1CE9DD1}"/>
          </ac:spMkLst>
        </pc:spChg>
        <pc:spChg chg="mod">
          <ac:chgData name="Nicole Jiang" userId="09ef0fc0f6f473b5" providerId="Windows Live" clId="Web-{00000000-0000-0000-0000-000000000000}" dt="2026-10-06T17:55:47.304" v="29" actId="1076"/>
          <ac:spMkLst>
            <pc:docMk/>
            <pc:sldMk cId="868487171" sldId="259"/>
            <ac:spMk id="74" creationId="{F5F0E6D1-7308-2846-C555-5A8981E84E43}"/>
          </ac:spMkLst>
        </pc:spChg>
        <pc:spChg chg="mod">
          <ac:chgData name="Nicole Jiang" userId="09ef0fc0f6f473b5" providerId="Windows Live" clId="Web-{00000000-0000-0000-0000-000000000000}" dt="2026-10-06T17:55:59.289" v="31" actId="1076"/>
          <ac:spMkLst>
            <pc:docMk/>
            <pc:sldMk cId="868487171" sldId="259"/>
            <ac:spMk id="77" creationId="{7A1E6EC0-2FA9-D0FD-7275-799C6E89A662}"/>
          </ac:spMkLst>
        </pc:spChg>
      </pc:sldChg>
    </pc:docChg>
  </pc:docChgLst>
  <pc:docChgLst>
    <pc:chgData name="Guest User" providerId="Windows Live" clId="Web-{00000000-0000-0000-0000-000000000000}"/>
    <pc:docChg chg="modSld">
      <pc:chgData name="Guest User" userId="" providerId="Windows Live" clId="Web-{00000000-0000-0000-0000-000000000000}" dt="2026-10-06T18:59:37.821" v="16" actId="14100"/>
      <pc:docMkLst>
        <pc:docMk/>
      </pc:docMkLst>
      <pc:sldChg chg="modSp">
        <pc:chgData name="Guest User" userId="" providerId="Windows Live" clId="Web-{00000000-0000-0000-0000-000000000000}" dt="2026-10-06T18:59:37.821" v="16" actId="14100"/>
        <pc:sldMkLst>
          <pc:docMk/>
          <pc:sldMk cId="868487171" sldId="259"/>
        </pc:sldMkLst>
        <pc:spChg chg="mod">
          <ac:chgData name="Guest User" userId="" providerId="Windows Live" clId="Web-{00000000-0000-0000-0000-000000000000}" dt="2026-10-06T18:58:54.023" v="14" actId="20577"/>
          <ac:spMkLst>
            <pc:docMk/>
            <pc:sldMk cId="868487171" sldId="259"/>
            <ac:spMk id="2" creationId="{6F669F8B-BE33-0C82-515C-AF8D3B759FB3}"/>
          </ac:spMkLst>
        </pc:spChg>
        <pc:spChg chg="mod">
          <ac:chgData name="Guest User" userId="" providerId="Windows Live" clId="Web-{00000000-0000-0000-0000-000000000000}" dt="2026-10-06T18:58:28.804" v="11" actId="20577"/>
          <ac:spMkLst>
            <pc:docMk/>
            <pc:sldMk cId="868487171" sldId="259"/>
            <ac:spMk id="76" creationId="{8F4057E1-F618-63B3-DF3A-8B3B4948305D}"/>
          </ac:spMkLst>
        </pc:spChg>
        <pc:picChg chg="mod">
          <ac:chgData name="Guest User" userId="" providerId="Windows Live" clId="Web-{00000000-0000-0000-0000-000000000000}" dt="2026-10-06T18:59:37.821" v="16" actId="14100"/>
          <ac:picMkLst>
            <pc:docMk/>
            <pc:sldMk cId="868487171" sldId="259"/>
            <ac:picMk id="3" creationId="{535E2EF0-72FB-E9D0-1E82-C65E26ED9E9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8F461-2A77-BA43-9B12-25195C3EB239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DA246-DE01-5046-81A0-D7E93C874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5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C11B-3281-61F5-AEEC-E5F2B2984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5FC8B-F564-04EA-26FD-6F8FBA438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CB9E4-9956-85CD-1D61-2F397B472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3E2F2-BDDF-9490-DE7B-11CDCE910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DA246-DE01-5046-81A0-D7E93C8740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52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C11B-3281-61F5-AEEC-E5F2B2984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5FC8B-F564-04EA-26FD-6F8FBA438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CB9E4-9956-85CD-1D61-2F397B472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3E2F2-BDDF-9490-DE7B-11CDCE910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DA246-DE01-5046-81A0-D7E93C8740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52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7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3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1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0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2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54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3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84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88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34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&quot; x 48&quot; 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696687" y="609600"/>
            <a:ext cx="42497830" cy="3352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 anchor="ctr" anchorCtr="1"/>
          <a:lstStyle>
            <a:lvl1pPr>
              <a:defRPr sz="62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Poster Presentation Title</a:t>
            </a:r>
            <a:br>
              <a:rPr lang="en-US"/>
            </a:br>
            <a: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List Author Name(s)</a:t>
            </a:r>
            <a:b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List Affiliated Institutions</a:t>
            </a:r>
            <a:endParaRPr lang="en-US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0" hasCustomPrompt="1"/>
          </p:nvPr>
        </p:nvSpPr>
        <p:spPr>
          <a:xfrm>
            <a:off x="696687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Abstract or Introduction</a:t>
            </a:r>
            <a:endParaRPr lang="en-US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696687" y="5638800"/>
            <a:ext cx="13585370" cy="86868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 baseline="0"/>
            </a:lvl1pPr>
            <a:lvl2pPr marL="397308" indent="0">
              <a:buNone/>
              <a:defRPr sz="2800" baseline="0"/>
            </a:lvl2pPr>
            <a:lvl3pPr marL="772848" indent="0">
              <a:buNone/>
              <a:defRPr sz="2800" baseline="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Any element of this template (colors, fonts, layouts, etc.) can be edited to suit your needs. To change the color of a title bar: right click the text box, select format shape, edit the “Fill” and “Line” your desired specifications.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96687" y="146304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Objectives</a:t>
            </a:r>
            <a:endParaRPr lang="en-US"/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696687" y="160020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marR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0" marR="0" lvl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To change the color of a title bar: right click the text box, select format shape, edit the “Fill” and “Line” your desired specifications.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4" hasCustomPrompt="1"/>
          </p:nvPr>
        </p:nvSpPr>
        <p:spPr>
          <a:xfrm>
            <a:off x="696687" y="236220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Methods</a:t>
            </a:r>
            <a:endParaRPr lang="en-US"/>
          </a:p>
        </p:txBody>
      </p:sp>
      <p:sp>
        <p:nvSpPr>
          <p:cNvPr id="28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696687" y="249936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marR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0" marR="0" lvl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Copy and paste title bars and text boxes to create additional sections.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15152917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Results</a:t>
            </a:r>
            <a:endParaRPr lang="en-US"/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17"/>
          </p:nvPr>
        </p:nvSpPr>
        <p:spPr>
          <a:xfrm>
            <a:off x="29609145" y="249936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29609145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Conclusion</a:t>
            </a:r>
            <a:endParaRPr lang="en-US"/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19"/>
          </p:nvPr>
        </p:nvSpPr>
        <p:spPr>
          <a:xfrm>
            <a:off x="29609145" y="5638800"/>
            <a:ext cx="13585370" cy="17678400"/>
          </a:xfrm>
          <a:prstGeom prst="rect">
            <a:avLst/>
          </a:prstGeom>
        </p:spPr>
        <p:txBody>
          <a:bodyPr vert="horz" lIns="78373" tIns="39187" rIns="78373" bIns="39187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29609145" y="236220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References</a:t>
            </a:r>
            <a:endParaRPr lang="en-US"/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15152917" y="5638800"/>
            <a:ext cx="13585370" cy="266700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 baseline="0"/>
            </a:lvl1pPr>
            <a:lvl2pPr marL="397308" indent="0"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Remember to save all charts, graphs, and tables as 300DPI images prior to inserting them into your posters. Doing so will ensure the best results when printing your posters.</a:t>
            </a:r>
          </a:p>
        </p:txBody>
      </p:sp>
      <p:sp>
        <p:nvSpPr>
          <p:cNvPr id="36" name="Picture Placeholder 35"/>
          <p:cNvSpPr>
            <a:spLocks noGrp="1"/>
          </p:cNvSpPr>
          <p:nvPr>
            <p:ph type="pic" sz="quarter" idx="22" hasCustomPrompt="1"/>
          </p:nvPr>
        </p:nvSpPr>
        <p:spPr>
          <a:xfrm>
            <a:off x="1219205" y="914400"/>
            <a:ext cx="3135086" cy="2743200"/>
          </a:xfrm>
          <a:prstGeom prst="rect">
            <a:avLst/>
          </a:prstGeom>
          <a:solidFill>
            <a:schemeClr val="bg1"/>
          </a:solidFill>
        </p:spPr>
        <p:txBody>
          <a:bodyPr vert="horz" lIns="78373" tIns="39187" rIns="78373" bIns="39187"/>
          <a:lstStyle>
            <a:lvl1pPr marL="0" indent="0">
              <a:buNone/>
              <a:defRPr sz="2000"/>
            </a:lvl1pPr>
          </a:lstStyle>
          <a:p>
            <a:r>
              <a:rPr lang="en-US"/>
              <a:t>LOGO</a:t>
            </a:r>
          </a:p>
        </p:txBody>
      </p:sp>
      <p:sp>
        <p:nvSpPr>
          <p:cNvPr id="37" name="Picture Placeholder 35"/>
          <p:cNvSpPr>
            <a:spLocks noGrp="1"/>
          </p:cNvSpPr>
          <p:nvPr>
            <p:ph type="pic" sz="quarter" idx="23" hasCustomPrompt="1"/>
          </p:nvPr>
        </p:nvSpPr>
        <p:spPr>
          <a:xfrm>
            <a:off x="39711091" y="914400"/>
            <a:ext cx="3135086" cy="2743200"/>
          </a:xfrm>
          <a:prstGeom prst="rect">
            <a:avLst/>
          </a:prstGeom>
          <a:solidFill>
            <a:schemeClr val="bg1"/>
          </a:solidFill>
        </p:spPr>
        <p:txBody>
          <a:bodyPr vert="horz" lIns="78373" tIns="39187" rIns="78373" bIns="39187"/>
          <a:lstStyle>
            <a:lvl1pPr marL="0" indent="0">
              <a:buNone/>
              <a:defRPr sz="2000"/>
            </a:lvl1pPr>
          </a:lstStyle>
          <a:p>
            <a:r>
              <a:rPr lang="en-US"/>
              <a:t>LOGO</a:t>
            </a:r>
          </a:p>
        </p:txBody>
      </p:sp>
      <p:sp>
        <p:nvSpPr>
          <p:cNvPr id="39" name="Chart Placeholder 38"/>
          <p:cNvSpPr>
            <a:spLocks noGrp="1"/>
          </p:cNvSpPr>
          <p:nvPr>
            <p:ph type="chart" sz="quarter" idx="24"/>
          </p:nvPr>
        </p:nvSpPr>
        <p:spPr>
          <a:xfrm>
            <a:off x="16197949" y="16154400"/>
            <a:ext cx="11495314" cy="67056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40" name="Chart Placeholder 38"/>
          <p:cNvSpPr>
            <a:spLocks noGrp="1"/>
          </p:cNvSpPr>
          <p:nvPr>
            <p:ph type="chart" sz="quarter" idx="25"/>
          </p:nvPr>
        </p:nvSpPr>
        <p:spPr>
          <a:xfrm>
            <a:off x="16197949" y="24536400"/>
            <a:ext cx="11495314" cy="67056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pic>
        <p:nvPicPr>
          <p:cNvPr id="4" name="Picture 3" descr="Logo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8400" y="32416772"/>
            <a:ext cx="2743200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7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2D96-B761-444F-9627-07D69EF5910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0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8" Type="http://schemas.openxmlformats.org/officeDocument/2006/relationships/image" Target="../media/cupc_uncertainty_poster.png"/><Relationship Id="rId3" Type="http://schemas.openxmlformats.org/officeDocument/2006/relationships/image" Target="../media/cupc_seed_poster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cupc_growth_poster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17601-38BA-EEC6-B535-6199F2F2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Minimum seed mass versus accretion onset" descr="Manuscript minimum seed masses under fixed growth caps for UNCOVER-20466, COSMOS3D-13852, RUBIES-EGS-55604, and GN-z11.">
            <a:extLst>
              <a:ext uri="{FF2B5EF4-FFF2-40B4-BE49-F238E27FC236}">
                <a16:creationId xmlns:a16="http://schemas.microsoft.com/office/drawing/2014/main" id="{C3CA3027-10C5-D39A-05B0-82DB2540F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8184" y="5495859"/>
            <a:ext cx="12161520" cy="9121140"/>
          </a:xfrm>
          <a:prstGeom prst="rect">
            <a:avLst/>
          </a:prstGeom>
        </p:spPr>
      </p:pic>
      <p:sp>
        <p:nvSpPr>
          <p:cNvPr id="32" name="Title 18">
            <a:extLst>
              <a:ext uri="{FF2B5EF4-FFF2-40B4-BE49-F238E27FC236}">
                <a16:creationId xmlns:a16="http://schemas.microsoft.com/office/drawing/2014/main" id="{F8D50A2A-9B61-AD34-B9C2-8944BB2742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43891200" cy="3962400"/>
          </a:xfrm>
          <a:solidFill>
            <a:srgbClr val="002A5C"/>
          </a:solidFill>
          <a:ln>
            <a:solidFill>
              <a:srgbClr val="09306B"/>
            </a:solidFill>
          </a:ln>
        </p:spPr>
        <p:txBody>
          <a:bodyPr>
            <a:normAutofit/>
          </a:bodyPr>
          <a:lstStyle/>
          <a:p>
            <a:pPr algn="ctr"/>
            <a:br>
              <a:rPr lang="en-US" sz="6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Black-Hole Growth Constraints from JWST</a:t>
            </a:r>
            <a:br>
              <a:rPr lang="en-US" sz="6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Nicole Jiang; University of Toronto</a:t>
            </a:r>
            <a:br>
              <a:rPr lang="en-US" sz="6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6800" b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32" descr="University of Toronto - Wikipedia">
            <a:extLst>
              <a:ext uri="{FF2B5EF4-FFF2-40B4-BE49-F238E27FC236}">
                <a16:creationId xmlns:a16="http://schemas.microsoft.com/office/drawing/2014/main" id="{42BD33B9-86B6-8B04-8AA1-E72E85543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57" y="384048"/>
            <a:ext cx="3135086" cy="3135086"/>
          </a:xfrm>
          <a:prstGeom prst="rect">
            <a:avLst/>
          </a:prstGeom>
        </p:spPr>
      </p:pic>
      <p:pic>
        <p:nvPicPr>
          <p:cNvPr id="36" name="Picture 35" descr="University of Toronto profile | Powered by Inpart">
            <a:extLst>
              <a:ext uri="{FF2B5EF4-FFF2-40B4-BE49-F238E27FC236}">
                <a16:creationId xmlns:a16="http://schemas.microsoft.com/office/drawing/2014/main" id="{8C2E503F-9CF2-EBE6-29B0-458691A7DF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902" t="38725" b="33824"/>
          <a:stretch>
            <a:fillRect/>
          </a:stretch>
        </p:blipFill>
        <p:spPr>
          <a:xfrm>
            <a:off x="2944884" y="914400"/>
            <a:ext cx="6527602" cy="235471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C65ED58-816C-A2B5-F6CB-4326B0858D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00990" y="384048"/>
            <a:ext cx="3135086" cy="3135086"/>
          </a:xfrm>
          <a:prstGeom prst="rect">
            <a:avLst/>
          </a:prstGeom>
        </p:spPr>
      </p:pic>
      <p:sp>
        <p:nvSpPr>
          <p:cNvPr id="69" name="Title 18">
            <a:extLst>
              <a:ext uri="{FF2B5EF4-FFF2-40B4-BE49-F238E27FC236}">
                <a16:creationId xmlns:a16="http://schemas.microsoft.com/office/drawing/2014/main" id="{D8B6836B-DAF1-F68F-D717-73D3A454BC2E}"/>
              </a:ext>
            </a:extLst>
          </p:cNvPr>
          <p:cNvSpPr txBox="1">
            <a:spLocks/>
          </p:cNvSpPr>
          <p:nvPr/>
        </p:nvSpPr>
        <p:spPr>
          <a:xfrm>
            <a:off x="1243517" y="4876800"/>
            <a:ext cx="11656526" cy="949568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 dirty="0"/>
              <a:t>Introduction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842EAEC-0FF9-516A-6712-19E0D19D0354}"/>
              </a:ext>
            </a:extLst>
          </p:cNvPr>
          <p:cNvSpPr txBox="1"/>
          <p:nvPr/>
        </p:nvSpPr>
        <p:spPr>
          <a:xfrm>
            <a:off x="1733938" y="6146223"/>
            <a:ext cx="10814623" cy="4601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CA" sz="3500" b="1" dirty="0">
                <a:latin typeface="Aptos"/>
              </a:rPr>
              <a:t>How did early black holes grow so big, so fast?</a:t>
            </a:r>
            <a:endParaRPr lang="en-CA" sz="3500" dirty="0"/>
          </a:p>
          <a:p>
            <a:pPr>
              <a:spcAft>
                <a:spcPts val="600"/>
              </a:spcAft>
              <a:buNone/>
            </a:pPr>
            <a:r>
              <a:rPr lang="en-CA" sz="3500" dirty="0"/>
              <a:t>JWST has revealed massive black holes with little time to assemble. My research builds a </a:t>
            </a:r>
            <a:r>
              <a:rPr lang="en-CA" sz="3500" b="1" dirty="0"/>
              <a:t>standardized catalogue </a:t>
            </a:r>
            <a:r>
              <a:rPr lang="en-CA" sz="3500" dirty="0"/>
              <a:t>across published studies for consistent comparison, then </a:t>
            </a:r>
            <a:r>
              <a:rPr lang="en-CA" sz="3500" b="1" dirty="0"/>
              <a:t>tests objects against analytic growth models. </a:t>
            </a:r>
            <a:r>
              <a:rPr lang="en-CA" sz="3500" dirty="0"/>
              <a:t>I identify which objects most strongly constrain early black-hole growth, and how those constraints depend on the assumptions.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B03D82-A209-1440-3180-9DD4419EFCBF}"/>
              </a:ext>
            </a:extLst>
          </p:cNvPr>
          <p:cNvSpPr/>
          <p:nvPr/>
        </p:nvSpPr>
        <p:spPr>
          <a:xfrm>
            <a:off x="1243517" y="4876800"/>
            <a:ext cx="11654220" cy="6231467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itle 18">
            <a:extLst>
              <a:ext uri="{FF2B5EF4-FFF2-40B4-BE49-F238E27FC236}">
                <a16:creationId xmlns:a16="http://schemas.microsoft.com/office/drawing/2014/main" id="{6D9DC137-E8CF-8FC7-F26F-A7759AD2C396}"/>
              </a:ext>
            </a:extLst>
          </p:cNvPr>
          <p:cNvSpPr txBox="1">
            <a:spLocks/>
          </p:cNvSpPr>
          <p:nvPr/>
        </p:nvSpPr>
        <p:spPr>
          <a:xfrm>
            <a:off x="1243518" y="11652615"/>
            <a:ext cx="11654218" cy="965903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/>
              <a:t>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8C51BF9-B81A-ECF4-F01D-305CA1CE9DD1}"/>
                  </a:ext>
                </a:extLst>
              </p:cNvPr>
              <p:cNvSpPr txBox="1"/>
              <p:nvPr/>
            </p:nvSpPr>
            <p:spPr>
              <a:xfrm>
                <a:off x="1746753" y="12961358"/>
                <a:ext cx="11054757" cy="10744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None/>
                  <a:spcAft>
                    <a:spcPts val="800"/>
                  </a:spcAft>
                </a:pPr>
                <a:r>
                  <a:rPr lang="en-CA" sz="3200" b="1">
                    <a:latin typeface="Aptos"/>
                  </a:rPr>
                  <a:t>Catalogue: </a:t>
                </a:r>
                <a:r>
                  <a:rPr lang="en-CA" sz="3200" b="0">
                    <a:latin typeface="Aptos"/>
                  </a:rPr>
                  <a:t>Compiled 350 measurements from 32 source families at z ≥ 4, retaining provenance and alternatives. Primary sample: 220 Balmer-line virial masses [1]; expanded sample: 234 objects, including tentative candidates and GN-z11 [2].</a:t>
                </a:r>
              </a:p>
              <a:p>
                <a:pPr>
                  <a:buNone/>
                  <a:spcAft>
                    <a:spcPts val="800"/>
                  </a:spcAft>
                </a:pPr>
                <a:r>
                  <a:rPr lang="en-CA" sz="3200" b="1">
                    <a:latin typeface="Aptos"/>
                  </a:rPr>
                  <a:t>Growth model: </a:t>
                </a:r>
                <a:r>
                  <a:rPr lang="en-CA" sz="3200" b="0">
                    <a:latin typeface="Aptos"/>
                  </a:rPr>
                  <a:t>Reference assumptions: a 100 M⊙ seed at z = 30, ε = 0.1, and no mergers. Required average Eddington ratio [3]:</a:t>
                </a: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3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sz="3500" i="1">
                                  <a:latin typeface="Cambria Math"/>
                                </a:rPr>
                              </m:ctrlPr>
                            </m:barPr>
                            <m:e>
                              <m:r>
                                <a:rPr lang="en-US" sz="3500" i="1">
                                  <a:latin typeface="Cambria Math"/>
                                </a:rPr>
                                <m:t>𝑓</m:t>
                              </m:r>
                            </m:e>
                          </m:bar>
                        </m:e>
                        <m:sub>
                          <m:r>
                            <m:rPr>
                              <m:sty m:val="p"/>
                            </m:rPr>
                            <a:rPr lang="en-US" sz="3500" i="0">
                              <a:latin typeface="Cambria Math"/>
                            </a:rPr>
                            <m:t>Edd</m:t>
                          </m:r>
                          <m:r>
                            <a:rPr lang="en-US" sz="3500" i="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3500" i="0">
                              <a:latin typeface="Cambria Math"/>
                            </a:rPr>
                            <m:t>req</m:t>
                          </m:r>
                        </m:sub>
                      </m:sSub>
                      <m:r>
                        <a:rPr lang="en-US" sz="35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3500" i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500" i="0">
                              <a:latin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5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3500" i="1">
                                  <a:latin typeface="Cambria Math"/>
                                </a:rPr>
                                <m:t>0,</m:t>
                              </m:r>
                              <m:f>
                                <m:fPr>
                                  <m:ctrlPr>
                                    <a:rPr lang="en-US" sz="35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3500" i="1">
                                      <a:latin typeface="Cambria Math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sz="3500" i="1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a:rPr lang="en-US" sz="3500" i="1">
                                      <a:latin typeface="Cambria Math"/>
                                    </a:rPr>
                                    <m:t>𝜀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35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5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500" i="1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3500" i="0">
                                          <a:latin typeface="Cambria Math"/>
                                        </a:rPr>
                                        <m:t>Edd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3500" i="1">
                                      <a:latin typeface="Cambria Math"/>
                                    </a:rPr>
                                    <m:t>𝛥</m:t>
                                  </m:r>
                                  <m:r>
                                    <a:rPr lang="en-US" sz="3500" i="1">
                                      <a:latin typeface="Cambria Math"/>
                                    </a:rPr>
                                    <m:t>𝑡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sz="3500" i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3500" i="0">
                                      <a:latin typeface="Cambria Math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3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3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35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500" i="1">
                                                  <a:latin typeface="Cambria Math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500" i="0">
                                                  <a:latin typeface="Cambria Math"/>
                                                </a:rPr>
                                                <m:t>BH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35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500" i="1">
                                                  <a:latin typeface="Cambria Math"/>
                                                </a:rPr>
                                                <m:t>𝐵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500" i="0">
                                                  <a:latin typeface="Cambria Math"/>
                                                </a:rPr>
                                                <m:t>merge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35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500" i="1">
                                                  <a:latin typeface="Cambria Math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500" i="0">
                                                  <a:latin typeface="Cambria Math"/>
                                                </a:rPr>
                                                <m:t>seed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CA" sz="1100" b="1" dirty="0">
                  <a:latin typeface="Aptos"/>
                </a:endParaRPr>
              </a:p>
              <a:p>
                <a:pPr>
                  <a:buNone/>
                  <a:spcAft>
                    <a:spcPts val="800"/>
                  </a:spcAft>
                </a:pPr>
                <a:r>
                  <a:rPr lang="en-CA" sz="3200" b="1">
                    <a:latin typeface="Aptos"/>
                  </a:rPr>
                  <a:t>Testing and comparison: </a:t>
                </a:r>
                <a:r>
                  <a:rPr lang="en-CA" sz="3200" b="0">
                    <a:latin typeface="Aptos"/>
                  </a:rPr>
                  <a:t>Rank objects by their required average Eddington ratio and compare with allowed average rates. Assess robustness using the fraction of Monte Carlo draws above unity, repeating across growth assumptions.</a:t>
                </a:r>
              </a:p>
              <a:p>
                <a:pPr>
                  <a:buNone/>
                  <a:spcAft>
                    <a:spcPts val="800"/>
                  </a:spcAft>
                </a:pPr>
                <a:r>
                  <a:rPr lang="en-CA" sz="3200" b="1">
                    <a:latin typeface="Aptos"/>
                  </a:rPr>
                  <a:t>Uncertainty and sensitivity: </a:t>
                </a:r>
                <a:r>
                  <a:rPr lang="en-CA" sz="3200" b="0">
                    <a:latin typeface="Aptos"/>
                  </a:rPr>
                  <a:t>10,000 Monte Carlo draws per object; varied mass scale and growth assumptions separately. Reported errors may omit calibration scatter.</a:t>
                </a:r>
              </a:p>
              <a:p>
                <a:pPr>
                  <a:buNone/>
                  <a:spcAft>
                    <a:spcPts val="800"/>
                  </a:spcAft>
                </a:pPr>
                <a:r>
                  <a:rPr lang="en-CA" sz="3200" b="1">
                    <a:latin typeface="Aptos"/>
                  </a:rPr>
                  <a:t>Earlier-onset test: </a:t>
                </a:r>
                <a:r>
                  <a:rPr lang="en-CA" sz="3200" b="0">
                    <a:latin typeface="Aptos"/>
                  </a:rPr>
                  <a:t>For the three leading primary targets and GN-z11, calculate minimum seed masses across onset redshifts 20 ≤ </a:t>
                </a:r>
                <a:r>
                  <a:rPr lang="en-CA" sz="3200" b="0">
                    <a:latin typeface="Aptos"/>
                  </a:rPr>
                  <a:t>z</a:t>
                </a:r>
                <a:r>
                  <a:rPr lang="en-CA" sz="2400" b="0" baseline="-25000">
                    <a:latin typeface="Aptos"/>
                  </a:rPr>
                  <a:t>acc</a:t>
                </a:r>
                <a:r>
                  <a:rPr lang="en-CA" sz="3200" b="0">
                    <a:latin typeface="Aptos"/>
                  </a:rPr>
                  <a:t> ≤ 3400, average-rate caps, and efficiencies, using radiation-inclusive cosmic ages.</a:t>
                </a:r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8C51BF9-B81A-ECF4-F01D-305CA1CE9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753" y="12961358"/>
                <a:ext cx="11054757" cy="10744200"/>
              </a:xfrm>
              <a:prstGeom prst="rect">
                <a:avLst/>
              </a:prstGeom>
              <a:blipFill>
                <a:blip r:embed="rId7"/>
                <a:stretch>
                  <a:fillRect l="-1606" t="-975" r="-2294" b="-1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F5F0E6D1-7308-2846-C555-5A8981E84E43}"/>
              </a:ext>
            </a:extLst>
          </p:cNvPr>
          <p:cNvSpPr/>
          <p:nvPr/>
        </p:nvSpPr>
        <p:spPr>
          <a:xfrm>
            <a:off x="1243517" y="11647223"/>
            <a:ext cx="11654220" cy="12425531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itle 18">
            <a:extLst>
              <a:ext uri="{FF2B5EF4-FFF2-40B4-BE49-F238E27FC236}">
                <a16:creationId xmlns:a16="http://schemas.microsoft.com/office/drawing/2014/main" id="{1321580B-F01F-0657-4172-18EB0518DB94}"/>
              </a:ext>
            </a:extLst>
          </p:cNvPr>
          <p:cNvSpPr txBox="1">
            <a:spLocks/>
          </p:cNvSpPr>
          <p:nvPr/>
        </p:nvSpPr>
        <p:spPr>
          <a:xfrm>
            <a:off x="13497904" y="4876800"/>
            <a:ext cx="17479372" cy="949568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/>
              <a:t>Results (continued)</a:t>
            </a:r>
            <a:endParaRPr lang="en-US"/>
          </a:p>
        </p:txBody>
      </p:sp>
      <p:sp>
        <p:nvSpPr>
          <p:cNvPr id="78" name="Title 18">
            <a:extLst>
              <a:ext uri="{FF2B5EF4-FFF2-40B4-BE49-F238E27FC236}">
                <a16:creationId xmlns:a16="http://schemas.microsoft.com/office/drawing/2014/main" id="{D50205E6-BF86-6F08-991C-43F597FDF8DD}"/>
              </a:ext>
            </a:extLst>
          </p:cNvPr>
          <p:cNvSpPr txBox="1">
            <a:spLocks/>
          </p:cNvSpPr>
          <p:nvPr/>
        </p:nvSpPr>
        <p:spPr>
          <a:xfrm>
            <a:off x="31480705" y="15352034"/>
            <a:ext cx="11293741" cy="949568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/>
              <a:t>Conclusions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D5B540-2EC8-A5A1-200C-994C1D7C8BFD}"/>
              </a:ext>
            </a:extLst>
          </p:cNvPr>
          <p:cNvSpPr txBox="1"/>
          <p:nvPr/>
        </p:nvSpPr>
        <p:spPr>
          <a:xfrm>
            <a:off x="32001352" y="16775511"/>
            <a:ext cx="10574941" cy="1004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228600">
              <a:buChar char="•"/>
              <a:spcAft>
                <a:spcPts val="800"/>
              </a:spcAft>
            </a:pPr>
            <a:r>
              <a:rPr lang="en-CA" sz="3200" b="1">
                <a:latin typeface="Aptos"/>
              </a:rPr>
              <a:t>Conditional growth constraints: </a:t>
            </a:r>
            <a:r>
              <a:rPr lang="en-CA" sz="3200" b="0">
                <a:latin typeface="Aptos"/>
              </a:rPr>
              <a:t>Some objects challenge the reference stellar-seed model, but the tension depends strongly on growth assumptions. Lower efficiency permits 100 M⊙ seeds to reach all four selected targets’ central masses.</a:t>
            </a:r>
          </a:p>
          <a:p>
            <a:pPr marL="342900" indent="-228600">
              <a:buChar char="•"/>
              <a:spcAft>
                <a:spcPts val="800"/>
              </a:spcAft>
            </a:pPr>
            <a:r>
              <a:rPr lang="en-CA" sz="3200" b="1">
                <a:latin typeface="Aptos"/>
              </a:rPr>
              <a:t>Independent mass estimates remain essential: </a:t>
            </a:r>
            <a:r>
              <a:rPr lang="en-CA" sz="3200" b="0">
                <a:latin typeface="Aptos"/>
              </a:rPr>
              <a:t>Calibration, lensing, and scattering uncertainties can affect which objects appear most challenging.</a:t>
            </a:r>
          </a:p>
          <a:p>
            <a:pPr marL="342900" indent="-228600">
              <a:buChar char="•"/>
              <a:spcAft>
                <a:spcPts val="800"/>
              </a:spcAft>
            </a:pPr>
            <a:r>
              <a:rPr lang="en-CA" sz="3200" b="1">
                <a:latin typeface="Aptos"/>
              </a:rPr>
              <a:t>The catalogue enables consistent comparisons: </a:t>
            </a:r>
            <a:r>
              <a:rPr lang="en-CA" sz="3200" b="0">
                <a:latin typeface="Aptos"/>
              </a:rPr>
              <a:t>Traceable measurements identify targets for growth-model testing and follow-up as observations improve.</a:t>
            </a:r>
          </a:p>
          <a:p>
            <a:pPr marL="342900" indent="-228600">
              <a:buChar char="•"/>
              <a:spcAft>
                <a:spcPts val="800"/>
              </a:spcAft>
            </a:pPr>
            <a:r>
              <a:rPr lang="en-CA" sz="3200" b="1">
                <a:latin typeface="Aptos"/>
              </a:rPr>
              <a:t>Earlier onset offers limited relief: </a:t>
            </a:r>
            <a:r>
              <a:rPr lang="en-CA" sz="3200" b="0">
                <a:latin typeface="Aptos"/>
              </a:rPr>
              <a:t>Even onset at matter–radiation equality requires 270–1,200 M⊙ seeds for the four targets at ε = 0.1, average Eddington ratio ≤1, and no mergers. Hypothetical PBH seeds shift the challenge toward explaining their formation and abundance, which this growth analysis does not establish.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BD5C8AB-335C-2E4D-00F6-4B0BF74BB013}"/>
              </a:ext>
            </a:extLst>
          </p:cNvPr>
          <p:cNvSpPr/>
          <p:nvPr/>
        </p:nvSpPr>
        <p:spPr>
          <a:xfrm>
            <a:off x="31480704" y="15352035"/>
            <a:ext cx="11293742" cy="1147141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18">
            <a:extLst>
              <a:ext uri="{FF2B5EF4-FFF2-40B4-BE49-F238E27FC236}">
                <a16:creationId xmlns:a16="http://schemas.microsoft.com/office/drawing/2014/main" id="{8E773A53-2851-D565-B46F-D419BA57021E}"/>
              </a:ext>
            </a:extLst>
          </p:cNvPr>
          <p:cNvSpPr txBox="1">
            <a:spLocks/>
          </p:cNvSpPr>
          <p:nvPr/>
        </p:nvSpPr>
        <p:spPr>
          <a:xfrm>
            <a:off x="31480705" y="27340577"/>
            <a:ext cx="11293741" cy="949568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/>
              <a:t>References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2B57F9D-B4AF-1E4D-7FBC-B8680CB4CAB8}"/>
              </a:ext>
            </a:extLst>
          </p:cNvPr>
          <p:cNvSpPr txBox="1"/>
          <p:nvPr/>
        </p:nvSpPr>
        <p:spPr>
          <a:xfrm>
            <a:off x="31915007" y="28709236"/>
            <a:ext cx="1043666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CA" sz="3600" dirty="0"/>
              <a:t>[1] Shen (2013), BASI, 41, 61.</a:t>
            </a:r>
            <a:endParaRPr lang="en-US" sz="3500" dirty="0"/>
          </a:p>
          <a:p>
            <a:r>
              <a:rPr lang="en-CA" sz="3600" dirty="0"/>
              <a:t>[2] </a:t>
            </a:r>
            <a:r>
              <a:rPr lang="en-CA" sz="3600" dirty="0" err="1"/>
              <a:t>Maiolino</a:t>
            </a:r>
            <a:r>
              <a:rPr lang="en-CA" sz="3600" dirty="0"/>
              <a:t> et al. (2024), Nature, 627, 59.</a:t>
            </a:r>
          </a:p>
          <a:p>
            <a:r>
              <a:rPr lang="en-CA" sz="3600" dirty="0"/>
              <a:t>[3] Dayal (2024), A&amp;A, 690, A182.</a:t>
            </a:r>
            <a:endParaRPr lang="en-US" sz="3500" dirty="0"/>
          </a:p>
          <a:p>
            <a:pPr>
              <a:spcBef>
                <a:spcPts val="600"/>
              </a:spcBef>
            </a:pPr>
            <a:r>
              <a:rPr lang="en-CA" sz="3600" dirty="0"/>
              <a:t>[4] Bardeen et al. (1972), </a:t>
            </a:r>
            <a:r>
              <a:rPr lang="en-CA" sz="3600" dirty="0" err="1"/>
              <a:t>ApJ</a:t>
            </a:r>
            <a:r>
              <a:rPr lang="en-CA" sz="3600" dirty="0"/>
              <a:t>, 178, 347.</a:t>
            </a:r>
            <a:endParaRPr lang="en-US" sz="3500" dirty="0"/>
          </a:p>
          <a:p>
            <a:pPr>
              <a:spcBef>
                <a:spcPts val="600"/>
              </a:spcBef>
            </a:pPr>
            <a:r>
              <a:rPr lang="en-CA" sz="3600" dirty="0"/>
              <a:t>Catalogue sources and code: QR link above.</a:t>
            </a:r>
            <a:endParaRPr lang="en-US" sz="35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156AF1B-4C0F-9637-8495-BA5941742B85}"/>
              </a:ext>
            </a:extLst>
          </p:cNvPr>
          <p:cNvSpPr/>
          <p:nvPr/>
        </p:nvSpPr>
        <p:spPr>
          <a:xfrm>
            <a:off x="31480710" y="27340577"/>
            <a:ext cx="11293742" cy="4663422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37658-2539-7C1B-497A-E176914914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61834" y="21777505"/>
            <a:ext cx="17342567" cy="104055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5E2EF0-72FB-E9D0-1E82-C65E26ED9E9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5154"/>
          <a:stretch>
            <a:fillRect/>
          </a:stretch>
        </p:blipFill>
        <p:spPr>
          <a:xfrm>
            <a:off x="13874625" y="8329906"/>
            <a:ext cx="16529776" cy="13682306"/>
          </a:xfrm>
          <a:prstGeom prst="rect">
            <a:avLst/>
          </a:prstGeom>
        </p:spPr>
      </p:pic>
      <p:pic>
        <p:nvPicPr>
          <p:cNvPr id="5" name="Picture 4" descr="File:JWST spacecraft model 1.png - Wikimedia Commons">
            <a:extLst>
              <a:ext uri="{FF2B5EF4-FFF2-40B4-BE49-F238E27FC236}">
                <a16:creationId xmlns:a16="http://schemas.microsoft.com/office/drawing/2014/main" id="{0BD845B3-DC16-6DC6-BFC8-2D65D24767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47430" y="1652471"/>
            <a:ext cx="5286065" cy="3962400"/>
          </a:xfrm>
          <a:prstGeom prst="rect">
            <a:avLst/>
          </a:prstGeom>
        </p:spPr>
      </p:pic>
      <p:pic>
        <p:nvPicPr>
          <p:cNvPr id="6" name="Picture 5" descr="Eyes open clipart clipground #31495 - Free Transparent PNG Logos">
            <a:extLst>
              <a:ext uri="{FF2B5EF4-FFF2-40B4-BE49-F238E27FC236}">
                <a16:creationId xmlns:a16="http://schemas.microsoft.com/office/drawing/2014/main" id="{9D3E6E2E-04C2-513B-0EE5-8C40F5B8F4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443004">
            <a:off x="30898293" y="2334785"/>
            <a:ext cx="2033427" cy="978809"/>
          </a:xfrm>
          <a:prstGeom prst="rect">
            <a:avLst/>
          </a:prstGeom>
        </p:spPr>
      </p:pic>
      <p:pic>
        <p:nvPicPr>
          <p:cNvPr id="10" name="Picture 9" descr="Nebula overlay color 26548388 PNG">
            <a:extLst>
              <a:ext uri="{FF2B5EF4-FFF2-40B4-BE49-F238E27FC236}">
                <a16:creationId xmlns:a16="http://schemas.microsoft.com/office/drawing/2014/main" id="{FB4EBB94-758E-75A7-659C-BF66DBB0AE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098715">
            <a:off x="32496336" y="-185399"/>
            <a:ext cx="8190834" cy="460899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8F4057E1-F618-63B3-DF3A-8B3B4948305D}"/>
              </a:ext>
            </a:extLst>
          </p:cNvPr>
          <p:cNvSpPr txBox="1"/>
          <p:nvPr/>
        </p:nvSpPr>
        <p:spPr>
          <a:xfrm>
            <a:off x="13932201" y="6267803"/>
            <a:ext cx="16529776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CA" sz="3200" b="1" dirty="0">
                <a:latin typeface="Aptos"/>
              </a:rPr>
              <a:t>Earlier-onset test: </a:t>
            </a:r>
            <a:r>
              <a:rPr lang="en-CA" sz="3200" b="0" dirty="0">
                <a:latin typeface="Aptos"/>
              </a:rPr>
              <a:t>At matter–radiation equality (z = 3400), the three leading primary targets plus GN-z11 need 270–1,200 M⊙ seeds (</a:t>
            </a:r>
            <a:r>
              <a:rPr lang="en-CA" sz="3200" b="0" dirty="0" err="1">
                <a:latin typeface="Aptos"/>
              </a:rPr>
              <a:t>ε</a:t>
            </a:r>
            <a:r>
              <a:rPr lang="en-CA" sz="3200" b="0" dirty="0">
                <a:latin typeface="Aptos"/>
              </a:rPr>
              <a:t> = 0.1, average ratio ≤1, no mergers).</a:t>
            </a:r>
            <a:r>
              <a:rPr lang="en-CA" sz="3200" dirty="0"/>
              <a:t> </a:t>
            </a:r>
            <a:r>
              <a:rPr lang="en-CA" sz="3200" b="1" dirty="0">
                <a:latin typeface="Aptos"/>
              </a:rPr>
              <a:t>Independent mass check: </a:t>
            </a:r>
            <a:r>
              <a:rPr lang="en-CA" sz="3200" b="0" dirty="0">
                <a:latin typeface="Aptos"/>
              </a:rPr>
              <a:t>A2744-QSO1’s dynamical mass raises its required ratio from 0.929 to ≈1; uncertainty spans unity.</a:t>
            </a:r>
            <a:endParaRPr lang="en-CA" sz="32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1E6EC0-2FA9-D0FD-7275-799C6E89A662}"/>
              </a:ext>
            </a:extLst>
          </p:cNvPr>
          <p:cNvSpPr/>
          <p:nvPr/>
        </p:nvSpPr>
        <p:spPr>
          <a:xfrm>
            <a:off x="13497901" y="4876800"/>
            <a:ext cx="17479375" cy="2712720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29416D-68E4-BCED-986B-F1DCA30F1BF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94699" r="47992" b="1602"/>
          <a:stretch>
            <a:fillRect/>
          </a:stretch>
        </p:blipFill>
        <p:spPr>
          <a:xfrm>
            <a:off x="22021595" y="21817450"/>
            <a:ext cx="8013403" cy="4822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669F8B-BE33-0C82-515C-AF8D3B759FB3}"/>
              </a:ext>
            </a:extLst>
          </p:cNvPr>
          <p:cNvSpPr txBox="1"/>
          <p:nvPr/>
        </p:nvSpPr>
        <p:spPr>
          <a:xfrm>
            <a:off x="1733938" y="25700720"/>
            <a:ext cx="10783726" cy="60170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">
              <a:spcAft>
                <a:spcPts val="600"/>
              </a:spcAft>
            </a:pPr>
            <a:r>
              <a:rPr lang="en-CA" sz="3500" b="1" dirty="0">
                <a:latin typeface="Aptos"/>
              </a:rPr>
              <a:t>Reference: </a:t>
            </a:r>
            <a:r>
              <a:rPr lang="en-CA" sz="3500" b="0" dirty="0">
                <a:latin typeface="Aptos"/>
              </a:rPr>
              <a:t>8/220 primary objects require an average ratio above 1; five do so in ≥95% of reported-mass-error draws.</a:t>
            </a:r>
            <a:r>
              <a:rPr lang="en-CA" sz="3500" dirty="0"/>
              <a:t> </a:t>
            </a:r>
            <a:r>
              <a:rPr lang="en-CA" sz="3500" b="1" dirty="0">
                <a:latin typeface="Aptos"/>
              </a:rPr>
              <a:t>Mass sensitivity: </a:t>
            </a:r>
            <a:r>
              <a:rPr lang="en-CA" sz="3500" b="0" dirty="0">
                <a:latin typeface="Aptos"/>
              </a:rPr>
              <a:t>UNCOVER-20466, COSMOS3D-13852, and RUBIES-EGS-55604 retain this criterion after a 0.5 </a:t>
            </a:r>
            <a:r>
              <a:rPr lang="en-CA" sz="3500" b="0" dirty="0" err="1">
                <a:latin typeface="Aptos"/>
              </a:rPr>
              <a:t>dex</a:t>
            </a:r>
            <a:r>
              <a:rPr lang="en-CA" sz="3500" b="0" dirty="0">
                <a:latin typeface="Aptos"/>
              </a:rPr>
              <a:t> mass reduction [1].</a:t>
            </a:r>
            <a:r>
              <a:rPr lang="en-CA" sz="3500" dirty="0"/>
              <a:t> </a:t>
            </a:r>
            <a:r>
              <a:rPr lang="en-CA" sz="3500" b="1" dirty="0">
                <a:latin typeface="Aptos"/>
              </a:rPr>
              <a:t>Seed-mass sensitivity: </a:t>
            </a:r>
            <a:r>
              <a:rPr lang="en-CA" sz="3500" b="0" dirty="0">
                <a:latin typeface="Aptos"/>
              </a:rPr>
              <a:t>1,000 M⊙ seeds reduce the count to 3/220; 100,000 M⊙ seeds leave none in either sample.</a:t>
            </a:r>
            <a:r>
              <a:rPr lang="en-CA" sz="3500" dirty="0"/>
              <a:t> </a:t>
            </a:r>
            <a:r>
              <a:rPr lang="en-CA" sz="3500" b="1" dirty="0">
                <a:latin typeface="Aptos"/>
              </a:rPr>
              <a:t>Formation time: </a:t>
            </a:r>
            <a:r>
              <a:rPr lang="en-CA" sz="3500" b="0" dirty="0">
                <a:latin typeface="Aptos"/>
              </a:rPr>
              <a:t>Later seeding (z = 20) gives 18/220 and makes GN-z11 highest-ranked.</a:t>
            </a:r>
            <a:r>
              <a:rPr lang="en-CA" sz="3500" dirty="0"/>
              <a:t> </a:t>
            </a:r>
            <a:r>
              <a:rPr lang="en-CA" sz="3500" b="1" dirty="0">
                <a:latin typeface="Aptos"/>
              </a:rPr>
              <a:t>Efficiency: </a:t>
            </a:r>
            <a:r>
              <a:rPr lang="en-CA" sz="3500" b="0" dirty="0">
                <a:latin typeface="Aptos"/>
              </a:rPr>
              <a:t>At </a:t>
            </a:r>
            <a:r>
              <a:rPr lang="en-CA" sz="3500" b="0" dirty="0" err="1">
                <a:latin typeface="Aptos"/>
              </a:rPr>
              <a:t>ε</a:t>
            </a:r>
            <a:r>
              <a:rPr lang="en-CA" sz="3500" b="0" dirty="0">
                <a:latin typeface="Aptos"/>
              </a:rPr>
              <a:t> = 0.05719 [4], all 234 central masses are reachable from 100 M⊙ seeds at z = 30 with an average ratio below 1.</a:t>
            </a:r>
            <a:endParaRPr lang="en-CA" sz="3500" dirty="0"/>
          </a:p>
        </p:txBody>
      </p:sp>
      <p:sp>
        <p:nvSpPr>
          <p:cNvPr id="7" name="Title 18">
            <a:extLst>
              <a:ext uri="{FF2B5EF4-FFF2-40B4-BE49-F238E27FC236}">
                <a16:creationId xmlns:a16="http://schemas.microsoft.com/office/drawing/2014/main" id="{3AC78928-AF13-E1B9-F802-F1FD39D07D33}"/>
              </a:ext>
            </a:extLst>
          </p:cNvPr>
          <p:cNvSpPr txBox="1">
            <a:spLocks/>
          </p:cNvSpPr>
          <p:nvPr/>
        </p:nvSpPr>
        <p:spPr>
          <a:xfrm>
            <a:off x="1241211" y="24433540"/>
            <a:ext cx="11656525" cy="965903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/>
              <a:t>Results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EDC07-606F-DD66-5973-0AE0D673B23B}"/>
              </a:ext>
            </a:extLst>
          </p:cNvPr>
          <p:cNvSpPr/>
          <p:nvPr/>
        </p:nvSpPr>
        <p:spPr>
          <a:xfrm>
            <a:off x="1241211" y="24433539"/>
            <a:ext cx="11656526" cy="7570459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487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17601-38BA-EEC6-B535-6199F2F2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Minimum seed mass versus accretion onset" descr="Manuscript minimum seed masses under fixed growth caps for UNCOVER-20466, COSMOS3D-13852, RUBIES-EGS-55604, and GN-z11.">
            <a:extLst>
              <a:ext uri="{FF2B5EF4-FFF2-40B4-BE49-F238E27FC236}">
                <a16:creationId xmlns:a16="http://schemas.microsoft.com/office/drawing/2014/main" id="{C3CA3027-10C5-D39A-05B0-82DB2540F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8184" y="5495859"/>
            <a:ext cx="12161520" cy="9121140"/>
          </a:xfrm>
          <a:prstGeom prst="rect">
            <a:avLst/>
          </a:prstGeom>
        </p:spPr>
      </p:pic>
      <p:sp>
        <p:nvSpPr>
          <p:cNvPr id="32" name="Title 18">
            <a:extLst>
              <a:ext uri="{FF2B5EF4-FFF2-40B4-BE49-F238E27FC236}">
                <a16:creationId xmlns:a16="http://schemas.microsoft.com/office/drawing/2014/main" id="{F8D50A2A-9B61-AD34-B9C2-8944BB2742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43891200" cy="3962400"/>
          </a:xfrm>
          <a:solidFill>
            <a:srgbClr val="002A5C"/>
          </a:solidFill>
          <a:ln>
            <a:solidFill>
              <a:srgbClr val="09306B"/>
            </a:solidFill>
          </a:ln>
        </p:spPr>
        <p:txBody>
          <a:bodyPr>
            <a:normAutofit/>
          </a:bodyPr>
          <a:lstStyle/>
          <a:p>
            <a:pPr algn="ctr"/>
            <a:br>
              <a:rPr lang="en-US" sz="6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Black-Hole Growth Constraints from JWST</a:t>
            </a:r>
            <a:br>
              <a:rPr lang="en-US" sz="6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Nicole Jiang; University of Toronto</a:t>
            </a:r>
            <a:br>
              <a:rPr lang="en-US" sz="6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6800" b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32" descr="University of Toronto - Wikipedia">
            <a:extLst>
              <a:ext uri="{FF2B5EF4-FFF2-40B4-BE49-F238E27FC236}">
                <a16:creationId xmlns:a16="http://schemas.microsoft.com/office/drawing/2014/main" id="{42BD33B9-86B6-8B04-8AA1-E72E85543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57" y="384048"/>
            <a:ext cx="3135086" cy="3135086"/>
          </a:xfrm>
          <a:prstGeom prst="rect">
            <a:avLst/>
          </a:prstGeom>
        </p:spPr>
      </p:pic>
      <p:pic>
        <p:nvPicPr>
          <p:cNvPr id="36" name="Picture 35" descr="University of Toronto profile | Powered by Inpart">
            <a:extLst>
              <a:ext uri="{FF2B5EF4-FFF2-40B4-BE49-F238E27FC236}">
                <a16:creationId xmlns:a16="http://schemas.microsoft.com/office/drawing/2014/main" id="{8C2E503F-9CF2-EBE6-29B0-458691A7DF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902" t="38725" b="33824"/>
          <a:stretch>
            <a:fillRect/>
          </a:stretch>
        </p:blipFill>
        <p:spPr>
          <a:xfrm>
            <a:off x="2944884" y="914400"/>
            <a:ext cx="6527602" cy="235471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C65ED58-816C-A2B5-F6CB-4326B0858D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00990" y="384048"/>
            <a:ext cx="3135086" cy="3135086"/>
          </a:xfrm>
          <a:prstGeom prst="rect">
            <a:avLst/>
          </a:prstGeom>
        </p:spPr>
      </p:pic>
      <p:sp>
        <p:nvSpPr>
          <p:cNvPr id="69" name="Title 18">
            <a:extLst>
              <a:ext uri="{FF2B5EF4-FFF2-40B4-BE49-F238E27FC236}">
                <a16:creationId xmlns:a16="http://schemas.microsoft.com/office/drawing/2014/main" id="{D8B6836B-DAF1-F68F-D717-73D3A454BC2E}"/>
              </a:ext>
            </a:extLst>
          </p:cNvPr>
          <p:cNvSpPr txBox="1">
            <a:spLocks/>
          </p:cNvSpPr>
          <p:nvPr/>
        </p:nvSpPr>
        <p:spPr>
          <a:xfrm>
            <a:off x="1243517" y="4876800"/>
            <a:ext cx="11656526" cy="949568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 dirty="0"/>
              <a:t>Introduction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842EAEC-0FF9-516A-6712-19E0D19D0354}"/>
              </a:ext>
            </a:extLst>
          </p:cNvPr>
          <p:cNvSpPr txBox="1"/>
          <p:nvPr/>
        </p:nvSpPr>
        <p:spPr>
          <a:xfrm>
            <a:off x="1733938" y="6146223"/>
            <a:ext cx="10814623" cy="4601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  <a:spcAft>
                <a:spcPts val="650"/>
              </a:spcAft>
            </a:pPr>
            <a:r>
              <a:rPr lang="en-CA" sz="3500" b="1">
                <a:latin typeface="Aptos"/>
              </a:rPr>
              <a:t>How did early black holes grow so big, so fast?</a:t>
            </a:r>
          </a:p>
          <a:p>
            <a:pPr>
              <a:buNone/>
              <a:spcAft>
                <a:spcPts val="650"/>
              </a:spcAft>
            </a:pPr>
            <a:r>
              <a:rPr lang="en-CA" sz="3500" b="0">
                <a:latin typeface="Aptos"/>
              </a:rPr>
              <a:t>The James Webb Space Telescope (JWST) has revealed massive black holes with little time to assemble. My research builds a standardized catalogue across studies, then tests objects against analytic growth models to identify the strongest constraints and how they depend on the assumptions.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B03D82-A209-1440-3180-9DD4419EFCBF}"/>
              </a:ext>
            </a:extLst>
          </p:cNvPr>
          <p:cNvSpPr/>
          <p:nvPr/>
        </p:nvSpPr>
        <p:spPr>
          <a:xfrm>
            <a:off x="1243517" y="4876800"/>
            <a:ext cx="11654220" cy="6231467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itle 18">
            <a:extLst>
              <a:ext uri="{FF2B5EF4-FFF2-40B4-BE49-F238E27FC236}">
                <a16:creationId xmlns:a16="http://schemas.microsoft.com/office/drawing/2014/main" id="{6D9DC137-E8CF-8FC7-F26F-A7759AD2C396}"/>
              </a:ext>
            </a:extLst>
          </p:cNvPr>
          <p:cNvSpPr txBox="1">
            <a:spLocks/>
          </p:cNvSpPr>
          <p:nvPr/>
        </p:nvSpPr>
        <p:spPr>
          <a:xfrm>
            <a:off x="1243518" y="11652615"/>
            <a:ext cx="11654218" cy="965903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/>
              <a:t>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8C51BF9-B81A-ECF4-F01D-305CA1CE9DD1}"/>
                  </a:ext>
                </a:extLst>
              </p:cNvPr>
              <p:cNvSpPr txBox="1"/>
              <p:nvPr/>
            </p:nvSpPr>
            <p:spPr>
              <a:xfrm>
                <a:off x="1746753" y="12961358"/>
                <a:ext cx="11054757" cy="10744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None/>
                  <a:spcAft>
                    <a:spcPts val="650"/>
                  </a:spcAft>
                </a:pPr>
                <a:r>
                  <a:rPr lang="en-CA" sz="3000" b="1">
                    <a:latin typeface="Aptos"/>
                  </a:rPr>
                  <a:t>Catalogue: </a:t>
                </a:r>
                <a:r>
                  <a:rPr lang="en-CA" sz="3000" b="0">
                    <a:latin typeface="Aptos"/>
                  </a:rPr>
                  <a:t>350 measurements from 32 source families at z ≥ 4. Documented adopted values, methods, provenance, and alternatives. Primary: 220 Balmer-line virial masses [1]; expanded: 234 objects, including tentative candidates and GN-z11 [2].</a:t>
                </a:r>
              </a:p>
              <a:p>
                <a:pPr>
                  <a:buNone/>
                  <a:spcAft>
                    <a:spcPts val="650"/>
                  </a:spcAft>
                </a:pPr>
                <a:r>
                  <a:rPr lang="en-CA" sz="3000" b="1">
                    <a:latin typeface="Aptos"/>
                  </a:rPr>
                  <a:t>Reference model: </a:t>
                </a:r>
                <a:r>
                  <a:rPr lang="en-CA" sz="3000" b="0">
                    <a:latin typeface="Aptos"/>
                  </a:rPr>
                  <a:t>100 M⊙ seeds (initial black holes) at z = 30, constant radiative efficiency ε = 0.1, no merger boost (</a:t>
                </a:r>
                <a:r>
                  <a:rPr lang="en-CA" sz="3000" b="0">
                    <a:latin typeface="Aptos"/>
                  </a:rPr>
                  <a:t>B</a:t>
                </a:r>
                <a:r>
                  <a:rPr lang="en-CA" sz="2250" b="0" baseline="-25000">
                    <a:latin typeface="Aptos"/>
                  </a:rPr>
                  <a:t>merge</a:t>
                </a:r>
                <a:r>
                  <a:rPr lang="en-CA" sz="3000" b="0">
                    <a:latin typeface="Aptos"/>
                  </a:rPr>
                  <a:t> = 1), and </a:t>
                </a:r>
                <a:r>
                  <a:rPr lang="en-CA" sz="3000" b="0">
                    <a:latin typeface="Aptos"/>
                  </a:rPr>
                  <a:t>t</a:t>
                </a:r>
                <a:r>
                  <a:rPr lang="en-CA" sz="2250" b="0" baseline="-25000">
                    <a:latin typeface="Aptos"/>
                  </a:rPr>
                  <a:t>Edd</a:t>
                </a:r>
                <a:r>
                  <a:rPr lang="en-CA" sz="3000" b="0">
                    <a:latin typeface="Aptos"/>
                  </a:rPr>
                  <a:t> ≈ 0.45 Gyr. Required average Eddington ratio [3]:</a:t>
                </a: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3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sz="3500" i="1">
                                  <a:latin typeface="Cambria Math"/>
                                </a:rPr>
                              </m:ctrlPr>
                            </m:barPr>
                            <m:e>
                              <m:r>
                                <a:rPr lang="en-US" sz="3500" i="1">
                                  <a:latin typeface="Cambria Math"/>
                                </a:rPr>
                                <m:t>𝑓</m:t>
                              </m:r>
                            </m:e>
                          </m:bar>
                        </m:e>
                        <m:sub>
                          <m:r>
                            <m:rPr>
                              <m:sty m:val="p"/>
                            </m:rPr>
                            <a:rPr lang="en-US" sz="3500" i="0">
                              <a:latin typeface="Cambria Math"/>
                            </a:rPr>
                            <m:t>Edd</m:t>
                          </m:r>
                          <m:r>
                            <a:rPr lang="en-US" sz="3500" i="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3500" i="0">
                              <a:latin typeface="Cambria Math"/>
                            </a:rPr>
                            <m:t>req</m:t>
                          </m:r>
                        </m:sub>
                      </m:sSub>
                      <m:r>
                        <a:rPr lang="en-US" sz="35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3500" i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500" i="0">
                              <a:latin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5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3500" i="1">
                                  <a:latin typeface="Cambria Math"/>
                                </a:rPr>
                                <m:t>0,</m:t>
                              </m:r>
                              <m:f>
                                <m:fPr>
                                  <m:ctrlPr>
                                    <a:rPr lang="en-US" sz="35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3500" i="1">
                                      <a:latin typeface="Cambria Math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sz="3500" i="1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a:rPr lang="en-US" sz="3500" i="1">
                                      <a:latin typeface="Cambria Math"/>
                                    </a:rPr>
                                    <m:t>𝜀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35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5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500" i="1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3500" i="0">
                                          <a:latin typeface="Cambria Math"/>
                                        </a:rPr>
                                        <m:t>Edd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3500" i="1">
                                      <a:latin typeface="Cambria Math"/>
                                    </a:rPr>
                                    <m:t>𝛥</m:t>
                                  </m:r>
                                  <m:r>
                                    <a:rPr lang="en-US" sz="3500" i="1">
                                      <a:latin typeface="Cambria Math"/>
                                    </a:rPr>
                                    <m:t>𝑡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sz="3500" i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3500" i="0">
                                      <a:latin typeface="Cambria Math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3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3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35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500" i="1">
                                                  <a:latin typeface="Cambria Math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500" i="0">
                                                  <a:latin typeface="Cambria Math"/>
                                                </a:rPr>
                                                <m:t>BH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35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500" i="1">
                                                  <a:latin typeface="Cambria Math"/>
                                                </a:rPr>
                                                <m:t>𝐵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500" i="0">
                                                  <a:latin typeface="Cambria Math"/>
                                                </a:rPr>
                                                <m:t>merge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35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500" i="1">
                                                  <a:latin typeface="Cambria Math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500" i="0">
                                                  <a:latin typeface="Cambria Math"/>
                                                </a:rPr>
                                                <m:t>seed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CA" sz="1100" b="1" dirty="0">
                  <a:latin typeface="Aptos"/>
                </a:endParaRPr>
              </a:p>
              <a:p>
                <a:pPr>
                  <a:buNone/>
                  <a:spcAft>
                    <a:spcPts val="650"/>
                  </a:spcAft>
                </a:pPr>
                <a:r>
                  <a:rPr lang="en-CA" sz="2800" b="1">
                    <a:latin typeface="Aptos"/>
                  </a:rPr>
                  <a:t>Symbols: </a:t>
                </a:r>
                <a:r>
                  <a:rPr lang="en-CA" sz="2800" b="0">
                    <a:latin typeface="Aptos"/>
                  </a:rPr>
                  <a:t>M⊙: solar mass; </a:t>
                </a:r>
                <a:r>
                  <a:rPr lang="en-CA" sz="2800" b="0">
                    <a:latin typeface="Aptos"/>
                  </a:rPr>
                  <a:t>M</a:t>
                </a:r>
                <a:r>
                  <a:rPr lang="en-CA" sz="2100" b="0" baseline="-25000">
                    <a:latin typeface="Aptos"/>
                  </a:rPr>
                  <a:t>BH</a:t>
                </a:r>
                <a:r>
                  <a:rPr lang="en-CA" sz="2800" b="0">
                    <a:latin typeface="Aptos"/>
                  </a:rPr>
                  <a:t>: observed mass; </a:t>
                </a:r>
                <a:r>
                  <a:rPr lang="en-CA" sz="2800" b="0">
                    <a:latin typeface="Aptos"/>
                  </a:rPr>
                  <a:t>M</a:t>
                </a:r>
                <a:r>
                  <a:rPr lang="en-CA" sz="2100" b="0" baseline="-25000">
                    <a:latin typeface="Aptos"/>
                  </a:rPr>
                  <a:t>seed</a:t>
                </a:r>
                <a:r>
                  <a:rPr lang="en-CA" sz="2800" b="0">
                    <a:latin typeface="Aptos"/>
                  </a:rPr>
                  <a:t>: initial mass; Δt: growth time; ε: fraction of inflowing rest-mass energy radiated. Larger z means earlier cosmic time.</a:t>
                </a:r>
              </a:p>
              <a:p>
                <a:pPr>
                  <a:buNone/>
                  <a:spcAft>
                    <a:spcPts val="650"/>
                  </a:spcAft>
                </a:pPr>
                <a:r>
                  <a:rPr lang="en-CA" sz="3000" b="1">
                    <a:latin typeface="Aptos"/>
                  </a:rPr>
                  <a:t>Testing and uncertainty: </a:t>
                </a:r>
                <a:r>
                  <a:rPr lang="en-CA" sz="3000" b="0">
                    <a:latin typeface="Aptos"/>
                  </a:rPr>
                  <a:t>Rank required lifetime-average ratios; values above 1 require super-Eddington episodes under the model. The Eddington ratio is luminosity relative to the Eddington limit. Sample asymmetric log-mass errors with 10,000 Monte Carlo draws per object.</a:t>
                </a:r>
              </a:p>
              <a:p>
                <a:pPr>
                  <a:buNone/>
                  <a:spcAft>
                    <a:spcPts val="650"/>
                  </a:spcAft>
                </a:pPr>
                <a:r>
                  <a:rPr lang="en-CA" sz="3000" b="1">
                    <a:latin typeface="Aptos"/>
                  </a:rPr>
                  <a:t>Sensitivity: </a:t>
                </a:r>
                <a:r>
                  <a:rPr lang="en-CA" sz="3000" b="0">
                    <a:latin typeface="Aptos"/>
                  </a:rPr>
                  <a:t>Separately vary mass scale, seed mass, onset, and efficiency. Reported errors may omit calibration scatter.</a:t>
                </a:r>
              </a:p>
              <a:p>
                <a:pPr>
                  <a:buNone/>
                  <a:spcAft>
                    <a:spcPts val="650"/>
                  </a:spcAft>
                </a:pPr>
                <a:r>
                  <a:rPr lang="en-CA" sz="3000" b="1">
                    <a:latin typeface="Aptos"/>
                  </a:rPr>
                  <a:t>Earlier onset: </a:t>
                </a:r>
                <a:r>
                  <a:rPr lang="en-CA" sz="3000" b="0">
                    <a:latin typeface="Aptos"/>
                  </a:rPr>
                  <a:t>For the three leading primary targets and GN-z11, solve minimum seed masses over 20 ≤ </a:t>
                </a:r>
                <a:r>
                  <a:rPr lang="en-CA" sz="3000" b="0">
                    <a:latin typeface="Aptos"/>
                  </a:rPr>
                  <a:t>z</a:t>
                </a:r>
                <a:r>
                  <a:rPr lang="en-CA" sz="2250" b="0" baseline="-25000">
                    <a:latin typeface="Aptos"/>
                  </a:rPr>
                  <a:t>acc</a:t>
                </a:r>
                <a:r>
                  <a:rPr lang="en-CA" sz="3000" b="0">
                    <a:latin typeface="Aptos"/>
                  </a:rPr>
                  <a:t> ≤ 3400 and varied caps and efficiencies, using radiation-inclusive ages.</a:t>
                </a:r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8C51BF9-B81A-ECF4-F01D-305CA1CE9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753" y="12961358"/>
                <a:ext cx="11054757" cy="10744200"/>
              </a:xfrm>
              <a:prstGeom prst="rect">
                <a:avLst/>
              </a:prstGeom>
              <a:blipFill>
                <a:blip r:embed="rId7"/>
                <a:stretch>
                  <a:fillRect l="-1606" t="-975" r="-2294" b="-1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F5F0E6D1-7308-2846-C555-5A8981E84E43}"/>
              </a:ext>
            </a:extLst>
          </p:cNvPr>
          <p:cNvSpPr/>
          <p:nvPr/>
        </p:nvSpPr>
        <p:spPr>
          <a:xfrm>
            <a:off x="1243517" y="11647223"/>
            <a:ext cx="11654220" cy="12425531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itle 18">
            <a:extLst>
              <a:ext uri="{FF2B5EF4-FFF2-40B4-BE49-F238E27FC236}">
                <a16:creationId xmlns:a16="http://schemas.microsoft.com/office/drawing/2014/main" id="{1321580B-F01F-0657-4172-18EB0518DB94}"/>
              </a:ext>
            </a:extLst>
          </p:cNvPr>
          <p:cNvSpPr txBox="1">
            <a:spLocks/>
          </p:cNvSpPr>
          <p:nvPr/>
        </p:nvSpPr>
        <p:spPr>
          <a:xfrm>
            <a:off x="13497904" y="4876800"/>
            <a:ext cx="17479372" cy="949568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/>
              <a:t>Results (continued)</a:t>
            </a:r>
            <a:endParaRPr lang="en-US"/>
          </a:p>
        </p:txBody>
      </p:sp>
      <p:sp>
        <p:nvSpPr>
          <p:cNvPr id="78" name="Title 18">
            <a:extLst>
              <a:ext uri="{FF2B5EF4-FFF2-40B4-BE49-F238E27FC236}">
                <a16:creationId xmlns:a16="http://schemas.microsoft.com/office/drawing/2014/main" id="{D50205E6-BF86-6F08-991C-43F597FDF8DD}"/>
              </a:ext>
            </a:extLst>
          </p:cNvPr>
          <p:cNvSpPr txBox="1">
            <a:spLocks/>
          </p:cNvSpPr>
          <p:nvPr/>
        </p:nvSpPr>
        <p:spPr>
          <a:xfrm>
            <a:off x="31480705" y="15352034"/>
            <a:ext cx="11293741" cy="949568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/>
              <a:t>Conclusions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D5B540-2EC8-A5A1-200C-994C1D7C8BFD}"/>
              </a:ext>
            </a:extLst>
          </p:cNvPr>
          <p:cNvSpPr txBox="1"/>
          <p:nvPr/>
        </p:nvSpPr>
        <p:spPr>
          <a:xfrm>
            <a:off x="32001352" y="16775511"/>
            <a:ext cx="10574941" cy="1004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28600">
              <a:buChar char="•"/>
              <a:spcAft>
                <a:spcPts val="800"/>
              </a:spcAft>
            </a:pPr>
            <a:r>
              <a:rPr lang="en-CA" sz="3200" b="1">
                <a:latin typeface="Aptos"/>
              </a:rPr>
              <a:t>Conditional constraints: </a:t>
            </a:r>
            <a:r>
              <a:rPr lang="en-CA" sz="3200" b="0">
                <a:latin typeface="Aptos"/>
              </a:rPr>
              <a:t>Some objects challenge the reference stellar-seed model. At ε = 0.05719, 100 M⊙ seeds starting at z = 30 reach all four selected central masses with an average ratio below 1.</a:t>
            </a:r>
          </a:p>
          <a:p>
            <a:pPr marL="285750" indent="-228600">
              <a:buChar char="•"/>
              <a:spcAft>
                <a:spcPts val="800"/>
              </a:spcAft>
            </a:pPr>
            <a:r>
              <a:rPr lang="en-CA" sz="3200" b="1">
                <a:latin typeface="Aptos"/>
              </a:rPr>
              <a:t>Independent mass estimates: </a:t>
            </a:r>
            <a:r>
              <a:rPr lang="en-CA" sz="3200" b="0">
                <a:latin typeface="Aptos"/>
              </a:rPr>
              <a:t>Tests of calibration, lensing, and scattering are essential to establish which objects are most challenging.</a:t>
            </a:r>
          </a:p>
          <a:p>
            <a:pPr marL="285750" indent="-228600">
              <a:buChar char="•"/>
              <a:spcAft>
                <a:spcPts val="800"/>
              </a:spcAft>
            </a:pPr>
            <a:r>
              <a:rPr lang="en-CA" sz="3200" b="1">
                <a:latin typeface="Aptos"/>
              </a:rPr>
              <a:t>Catalogue contribution: </a:t>
            </a:r>
            <a:r>
              <a:rPr lang="en-CA" sz="3200" b="0">
                <a:latin typeface="Aptos"/>
              </a:rPr>
              <a:t>Documented measurement choices and retained alternatives support consistent comparisons and follow-up. Sample counts describe the literature sample, not population fractions.</a:t>
            </a:r>
          </a:p>
          <a:p>
            <a:pPr marL="285750" indent="-228600">
              <a:buChar char="•"/>
              <a:spcAft>
                <a:spcPts val="800"/>
              </a:spcAft>
            </a:pPr>
            <a:r>
              <a:rPr lang="en-CA" sz="3200" b="1">
                <a:latin typeface="Aptos"/>
              </a:rPr>
              <a:t>Earlier onset offers limited relief: </a:t>
            </a:r>
            <a:r>
              <a:rPr lang="en-CA" sz="3200" b="0">
                <a:latin typeface="Aptos"/>
              </a:rPr>
              <a:t>Earlier onset alone cannot rescue 100 M⊙ seeds for the four targets at ε = 0.1, average ratio ≤1, and no mergers. Gains diminish at earlier onset. Growth compatibility does not establish primordial black hole (PBH) formation or abundance viability.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BD5C8AB-335C-2E4D-00F6-4B0BF74BB013}"/>
              </a:ext>
            </a:extLst>
          </p:cNvPr>
          <p:cNvSpPr/>
          <p:nvPr/>
        </p:nvSpPr>
        <p:spPr>
          <a:xfrm>
            <a:off x="31480704" y="15352035"/>
            <a:ext cx="11293742" cy="1147141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18">
            <a:extLst>
              <a:ext uri="{FF2B5EF4-FFF2-40B4-BE49-F238E27FC236}">
                <a16:creationId xmlns:a16="http://schemas.microsoft.com/office/drawing/2014/main" id="{8E773A53-2851-D565-B46F-D419BA57021E}"/>
              </a:ext>
            </a:extLst>
          </p:cNvPr>
          <p:cNvSpPr txBox="1">
            <a:spLocks/>
          </p:cNvSpPr>
          <p:nvPr/>
        </p:nvSpPr>
        <p:spPr>
          <a:xfrm>
            <a:off x="31480705" y="27340577"/>
            <a:ext cx="11293741" cy="949568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/>
              <a:t>References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2B57F9D-B4AF-1E4D-7FBC-B8680CB4CAB8}"/>
              </a:ext>
            </a:extLst>
          </p:cNvPr>
          <p:cNvSpPr txBox="1"/>
          <p:nvPr/>
        </p:nvSpPr>
        <p:spPr>
          <a:xfrm>
            <a:off x="31915007" y="28709236"/>
            <a:ext cx="1043666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CA" sz="3600" dirty="0"/>
              <a:t>[1] Shen (2013), BASI, 41, 61.</a:t>
            </a:r>
            <a:endParaRPr lang="en-US" sz="3500" dirty="0"/>
          </a:p>
          <a:p>
            <a:r>
              <a:rPr lang="en-CA" sz="3600" dirty="0"/>
              <a:t>[2] </a:t>
            </a:r>
            <a:r>
              <a:rPr lang="en-CA" sz="3600" dirty="0" err="1"/>
              <a:t>Maiolino</a:t>
            </a:r>
            <a:r>
              <a:rPr lang="en-CA" sz="3600" dirty="0"/>
              <a:t> et al. (2024), Nature, 627, 59.</a:t>
            </a:r>
          </a:p>
          <a:p>
            <a:r>
              <a:rPr lang="en-CA" sz="3600" dirty="0"/>
              <a:t>[3] Dayal (2024), A&amp;A, 690, A182.</a:t>
            </a:r>
            <a:endParaRPr lang="en-US" sz="3500" dirty="0"/>
          </a:p>
          <a:p>
            <a:pPr>
              <a:spcBef>
                <a:spcPts val="600"/>
              </a:spcBef>
            </a:pPr>
            <a:r>
              <a:rPr lang="en-CA" sz="3600" dirty="0"/>
              <a:t>[4] Bardeen et al. (1972), </a:t>
            </a:r>
            <a:r>
              <a:rPr lang="en-CA" sz="3600" dirty="0" err="1"/>
              <a:t>ApJ</a:t>
            </a:r>
            <a:r>
              <a:rPr lang="en-CA" sz="3600" dirty="0"/>
              <a:t>, 178, 347.</a:t>
            </a:r>
            <a:endParaRPr lang="en-US" sz="3500" dirty="0"/>
          </a:p>
          <a:p>
            <a:pPr>
              <a:spcBef>
                <a:spcPts val="600"/>
              </a:spcBef>
            </a:pPr>
            <a:r>
              <a:rPr lang="en-CA" sz="3600" dirty="0"/>
              <a:t>Catalogue sources and code: QR link above.</a:t>
            </a:r>
            <a:endParaRPr lang="en-US" sz="35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156AF1B-4C0F-9637-8495-BA5941742B85}"/>
              </a:ext>
            </a:extLst>
          </p:cNvPr>
          <p:cNvSpPr/>
          <p:nvPr/>
        </p:nvSpPr>
        <p:spPr>
          <a:xfrm>
            <a:off x="31480710" y="27340577"/>
            <a:ext cx="11293742" cy="4663422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37658-2539-7C1B-497A-E176914914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70280" y="8549640"/>
            <a:ext cx="16642080" cy="99852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5E2EF0-72FB-E9D0-1E82-C65E26ED9E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70280" y="19659600"/>
            <a:ext cx="16642080" cy="11521440"/>
          </a:xfrm>
          <a:prstGeom prst="rect">
            <a:avLst/>
          </a:prstGeom>
        </p:spPr>
      </p:pic>
      <p:pic>
        <p:nvPicPr>
          <p:cNvPr id="5" name="Picture 4" descr="File:JWST spacecraft model 1.png - Wikimedia Commons">
            <a:extLst>
              <a:ext uri="{FF2B5EF4-FFF2-40B4-BE49-F238E27FC236}">
                <a16:creationId xmlns:a16="http://schemas.microsoft.com/office/drawing/2014/main" id="{0BD845B3-DC16-6DC6-BFC8-2D65D24767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47430" y="1652471"/>
            <a:ext cx="5286065" cy="3962400"/>
          </a:xfrm>
          <a:prstGeom prst="rect">
            <a:avLst/>
          </a:prstGeom>
        </p:spPr>
      </p:pic>
      <p:pic>
        <p:nvPicPr>
          <p:cNvPr id="6" name="Picture 5" descr="Eyes open clipart clipground #31495 - Free Transparent PNG Logos">
            <a:extLst>
              <a:ext uri="{FF2B5EF4-FFF2-40B4-BE49-F238E27FC236}">
                <a16:creationId xmlns:a16="http://schemas.microsoft.com/office/drawing/2014/main" id="{9D3E6E2E-04C2-513B-0EE5-8C40F5B8F4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443004">
            <a:off x="30898293" y="2334785"/>
            <a:ext cx="2033427" cy="978809"/>
          </a:xfrm>
          <a:prstGeom prst="rect">
            <a:avLst/>
          </a:prstGeom>
        </p:spPr>
      </p:pic>
      <p:pic>
        <p:nvPicPr>
          <p:cNvPr id="10" name="Picture 9" descr="Nebula overlay color 26548388 PNG">
            <a:extLst>
              <a:ext uri="{FF2B5EF4-FFF2-40B4-BE49-F238E27FC236}">
                <a16:creationId xmlns:a16="http://schemas.microsoft.com/office/drawing/2014/main" id="{FB4EBB94-758E-75A7-659C-BF66DBB0AE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098715">
            <a:off x="32496336" y="-185399"/>
            <a:ext cx="8190834" cy="460899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8F4057E1-F618-63B3-DF3A-8B3B4948305D}"/>
              </a:ext>
            </a:extLst>
          </p:cNvPr>
          <p:cNvSpPr txBox="1"/>
          <p:nvPr/>
        </p:nvSpPr>
        <p:spPr>
          <a:xfrm>
            <a:off x="13932201" y="6267803"/>
            <a:ext cx="16529776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lang="en-CA" sz="3200" b="1" dirty="0">
                <a:latin typeface="Aptos"/>
              </a:rPr>
              <a:t>Earlier-onset test: </a:t>
            </a:r>
            <a:r>
              <a:rPr lang="en-CA" sz="3200" b="0" dirty="0">
                <a:latin typeface="Aptos"/>
              </a:rPr>
              <a:t>At matter–radiation equality (z = 3400), the three leading primary targets plus GN-z11 need 270–1,200 M⊙ seeds (</a:t>
            </a:r>
            <a:r>
              <a:rPr lang="en-CA" sz="3200" b="0" dirty="0" err="1">
                <a:latin typeface="Aptos"/>
              </a:rPr>
              <a:t>ε</a:t>
            </a:r>
            <a:r>
              <a:rPr lang="en-CA" sz="3200" b="0" dirty="0">
                <a:latin typeface="Aptos"/>
              </a:rPr>
              <a:t> = 0.1, average ratio ≤1, no mergers).</a:t>
            </a:r>
            <a:r>
              <a:rPr lang="en-CA" sz="3200" dirty="0"/>
              <a:t> </a:t>
            </a:r>
            <a:r>
              <a:rPr lang="en-CA" sz="3200" b="1" dirty="0">
                <a:latin typeface="Aptos"/>
              </a:rPr>
              <a:t>Independent mass check: </a:t>
            </a:r>
            <a:r>
              <a:rPr lang="en-CA" sz="3200" b="0" dirty="0">
                <a:latin typeface="Aptos"/>
              </a:rPr>
              <a:t>A2744-QSO1’s dynamical mass raises its required ratio from 0.929 to ≈1; uncertainty spans unity.</a:t>
            </a:r>
            <a:endParaRPr lang="en-CA" sz="32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1E6EC0-2FA9-D0FD-7275-799C6E89A662}"/>
              </a:ext>
            </a:extLst>
          </p:cNvPr>
          <p:cNvSpPr/>
          <p:nvPr/>
        </p:nvSpPr>
        <p:spPr>
          <a:xfrm>
            <a:off x="13497901" y="4876800"/>
            <a:ext cx="17479375" cy="2712720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669F8B-BE33-0C82-515C-AF8D3B759FB3}"/>
              </a:ext>
            </a:extLst>
          </p:cNvPr>
          <p:cNvSpPr txBox="1"/>
          <p:nvPr/>
        </p:nvSpPr>
        <p:spPr>
          <a:xfrm>
            <a:off x="1733938" y="25700720"/>
            <a:ext cx="10783726" cy="60170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28600">
              <a:buChar char="•"/>
              <a:spcAft>
                <a:spcPts val="100"/>
              </a:spcAft>
            </a:pPr>
            <a:r>
              <a:rPr lang="en-CA" sz="3000" b="1">
                <a:latin typeface="Aptos"/>
              </a:rPr>
              <a:t>Reference: </a:t>
            </a:r>
            <a:r>
              <a:rPr lang="en-CA" sz="3000" b="0">
                <a:latin typeface="Aptos"/>
              </a:rPr>
              <a:t>8/220 primary objects require an average ratio above 1; five do so in ≥95% of reported-mass-error draws.</a:t>
            </a:r>
          </a:p>
          <a:p>
            <a:pPr marL="285750" indent="-228600">
              <a:buChar char="•"/>
              <a:spcAft>
                <a:spcPts val="100"/>
              </a:spcAft>
            </a:pPr>
            <a:r>
              <a:rPr lang="en-CA" sz="3000" b="1">
                <a:latin typeface="Aptos"/>
              </a:rPr>
              <a:t>Mass sensitivity: </a:t>
            </a:r>
            <a:r>
              <a:rPr lang="en-CA" sz="3000" b="0">
                <a:latin typeface="Aptos"/>
              </a:rPr>
              <a:t>UNCOVER-20466, COSMOS3D-13852, and RUBIES-EGS-55604 retain ≥95% support after a 0.5 dex mass reduction [1].</a:t>
            </a:r>
          </a:p>
          <a:p>
            <a:pPr marL="285750" indent="-228600">
              <a:buChar char="•"/>
              <a:spcAft>
                <a:spcPts val="100"/>
              </a:spcAft>
            </a:pPr>
            <a:r>
              <a:rPr lang="en-CA" sz="3000" b="1">
                <a:latin typeface="Aptos"/>
              </a:rPr>
              <a:t>Seed mass: </a:t>
            </a:r>
            <a:r>
              <a:rPr lang="en-CA" sz="3000" b="0">
                <a:latin typeface="Aptos"/>
              </a:rPr>
              <a:t>1,000 M⊙ seeds leave 3/220 above unity; 100,000 M⊙ seeds leave none in either sample.</a:t>
            </a:r>
          </a:p>
          <a:p>
            <a:pPr marL="285750" indent="-228600">
              <a:buChar char="•"/>
              <a:spcAft>
                <a:spcPts val="100"/>
              </a:spcAft>
            </a:pPr>
            <a:r>
              <a:rPr lang="en-CA" sz="3000" b="1">
                <a:latin typeface="Aptos"/>
              </a:rPr>
              <a:t>Formation time: </a:t>
            </a:r>
            <a:r>
              <a:rPr lang="en-CA" sz="3000" b="0">
                <a:latin typeface="Aptos"/>
              </a:rPr>
              <a:t>Later seeding (z = 20) gives 18/220 above unity and makes GN-z11 highest-ranked.</a:t>
            </a:r>
          </a:p>
          <a:p>
            <a:pPr marL="285750" indent="-228600">
              <a:buChar char="•"/>
              <a:spcAft>
                <a:spcPts val="100"/>
              </a:spcAft>
            </a:pPr>
            <a:r>
              <a:rPr lang="en-CA" sz="3000" b="1">
                <a:latin typeface="Aptos"/>
              </a:rPr>
              <a:t>Efficiency: </a:t>
            </a:r>
            <a:r>
              <a:rPr lang="en-CA" sz="3000" b="0">
                <a:latin typeface="Aptos"/>
              </a:rPr>
              <a:t>At ε = 0.05719 [4], all 234 central masses are reachable from 100 M⊙ seeds at z = 30 with an average ratio below 1.</a:t>
            </a:r>
          </a:p>
        </p:txBody>
      </p:sp>
      <p:sp>
        <p:nvSpPr>
          <p:cNvPr id="7" name="Title 18">
            <a:extLst>
              <a:ext uri="{FF2B5EF4-FFF2-40B4-BE49-F238E27FC236}">
                <a16:creationId xmlns:a16="http://schemas.microsoft.com/office/drawing/2014/main" id="{3AC78928-AF13-E1B9-F802-F1FD39D07D33}"/>
              </a:ext>
            </a:extLst>
          </p:cNvPr>
          <p:cNvSpPr txBox="1">
            <a:spLocks/>
          </p:cNvSpPr>
          <p:nvPr/>
        </p:nvSpPr>
        <p:spPr>
          <a:xfrm>
            <a:off x="1241211" y="24433540"/>
            <a:ext cx="11656525" cy="965903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500"/>
              <a:t>Results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EDC07-606F-DD66-5973-0AE0D673B23B}"/>
              </a:ext>
            </a:extLst>
          </p:cNvPr>
          <p:cNvSpPr/>
          <p:nvPr/>
        </p:nvSpPr>
        <p:spPr>
          <a:xfrm>
            <a:off x="1241211" y="24433539"/>
            <a:ext cx="11656526" cy="7570459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igure takeaway 110"/>
          <p:cNvSpPr txBox="1"/>
          <p:nvPr/>
        </p:nvSpPr>
        <p:spPr>
          <a:xfrm>
            <a:off x="13898880" y="18653760"/>
            <a:ext cx="16459200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  <a:spcAft>
                <a:spcPts val="0"/>
              </a:spcAft>
            </a:pPr>
            <a:r>
              <a:rPr lang="en-CA" sz="2400" b="0">
                <a:latin typeface="Aptos"/>
              </a:rPr>
              <a:t>Three targets remain above unity after a −0.5 dex mass shift.</a:t>
            </a:r>
          </a:p>
        </p:txBody>
      </p:sp>
      <p:sp>
        <p:nvSpPr>
          <p:cNvPr id="111" name="Figure takeaway 111"/>
          <p:cNvSpPr txBox="1"/>
          <p:nvPr/>
        </p:nvSpPr>
        <p:spPr>
          <a:xfrm>
            <a:off x="13898880" y="31318200"/>
            <a:ext cx="16459200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  <a:spcAft>
                <a:spcPts val="0"/>
              </a:spcAft>
            </a:pPr>
            <a:r>
              <a:rPr lang="en-CA" sz="2400" b="0">
                <a:latin typeface="Aptos"/>
              </a:rPr>
              <a:t>Tracks vary seed mass and average rate within each efficiency panel.</a:t>
            </a:r>
          </a:p>
        </p:txBody>
      </p:sp>
      <p:sp>
        <p:nvSpPr>
          <p:cNvPr id="112" name="Figure takeaway 112"/>
          <p:cNvSpPr txBox="1"/>
          <p:nvPr/>
        </p:nvSpPr>
        <p:spPr>
          <a:xfrm>
            <a:off x="31638240" y="14721840"/>
            <a:ext cx="10972800" cy="5486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  <a:spcAft>
                <a:spcPts val="0"/>
              </a:spcAft>
            </a:pPr>
            <a:r>
              <a:rPr lang="en-CA" sz="2400" b="0">
                <a:latin typeface="Aptos"/>
              </a:rPr>
              <a:t>Earlier starts reduce required seeds, with diminishing gains.</a:t>
            </a:r>
          </a:p>
        </p:txBody>
      </p:sp>
    </p:spTree>
    <p:extLst>
      <p:ext uri="{BB962C8B-B14F-4D97-AF65-F5344CB8AC3E}">
        <p14:creationId xmlns:p14="http://schemas.microsoft.com/office/powerpoint/2010/main" val="868487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</TotalTime>
  <Words>587</Words>
  <Application>Microsoft Macintosh PowerPoint</Application>
  <PresentationFormat>Custom</PresentationFormat>
  <Paragraphs>23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 Early Black-Hole Growth Constraints from JWST Nicole Jiang; University of Toronto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Nicole Jiang</dc:creator>
  <cp:lastModifiedBy>Nicole Jiang</cp:lastModifiedBy>
  <cp:revision>1</cp:revision>
  <dcterms:created xsi:type="dcterms:W3CDTF">2026-09-30T19:05:59Z</dcterms:created>
  <dcterms:modified xsi:type="dcterms:W3CDTF">2026-10-09T00:15:17Z</dcterms:modified>
</cp:coreProperties>
</file>
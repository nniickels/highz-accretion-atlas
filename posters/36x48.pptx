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0" r:id="rId2"/>
    <p:sldId id="261" r:id="rIdOverview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8"/>
    <p:restoredTop sz="94701"/>
  </p:normalViewPr>
  <p:slideViewPr>
    <p:cSldViewPr snapToGrid="0">
      <p:cViewPr>
        <p:scale>
          <a:sx n="50" d="100"/>
          <a:sy n="50" d="100"/>
        </p:scale>
        <p:origin x="-1968" y="-5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Overview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03:43:03.391" v="2688" actId="1076"/>
      <pc:docMkLst>
        <pc:docMk/>
      </pc:docMkLst>
      <pc:sldChg chg="addSp delSp modSp add del mod">
        <pc:chgData name="Nicole Jiang" userId="09ef0fc0f6f473b5" providerId="LiveId" clId="{EB8F4A53-0964-5BF1-90AD-931457E28E1A}" dt="2026-10-13T17:24:31.699" v="2580" actId="2696"/>
        <pc:sldMkLst>
          <pc:docMk/>
          <pc:sldMk cId="868487171" sldId="259"/>
        </pc:sldMkLst>
      </pc:sldChg>
      <pc:sldChg chg="addSp delSp modSp mod">
        <pc:chgData name="Nicole Jiang" userId="09ef0fc0f6f473b5" providerId="LiveId" clId="{EB8F4A53-0964-5BF1-90AD-931457E28E1A}" dt="2026-10-14T03:43:03.391" v="2688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7:08.915" v="2657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04:31:08.200" v="2544" actId="14100"/>
          <ac:spMkLst>
            <pc:docMk/>
            <pc:sldMk cId="868487171" sldId="260"/>
            <ac:spMk id="7" creationId="{3AC78928-AF13-E1B9-F802-F1FD39D07D33}"/>
          </ac:spMkLst>
        </pc:spChg>
        <pc:spChg chg="add del mod">
          <ac:chgData name="Nicole Jiang" userId="09ef0fc0f6f473b5" providerId="LiveId" clId="{EB8F4A53-0964-5BF1-90AD-931457E28E1A}" dt="2026-10-13T04:24:36.137" v="2460" actId="478"/>
          <ac:spMkLst>
            <pc:docMk/>
            <pc:sldMk cId="868487171" sldId="260"/>
            <ac:spMk id="8" creationId="{75C85530-E1D2-AF34-1B2C-F56DD2AFE4AF}"/>
          </ac:spMkLst>
        </pc:spChg>
        <pc:spChg chg="add del">
          <ac:chgData name="Nicole Jiang" userId="09ef0fc0f6f473b5" providerId="LiveId" clId="{EB8F4A53-0964-5BF1-90AD-931457E28E1A}" dt="2026-10-13T17:35:09.918" v="2597" actId="22"/>
          <ac:spMkLst>
            <pc:docMk/>
            <pc:sldMk cId="868487171" sldId="260"/>
            <ac:spMk id="9" creationId="{BC255E84-3920-83B2-B909-E002B21CB45A}"/>
          </ac:spMkLst>
        </pc:spChg>
        <pc:spChg chg="mod">
          <ac:chgData name="Nicole Jiang" userId="09ef0fc0f6f473b5" providerId="LiveId" clId="{EB8F4A53-0964-5BF1-90AD-931457E28E1A}" dt="2026-10-13T04:33:36.816" v="2572" actId="14100"/>
          <ac:spMkLst>
            <pc:docMk/>
            <pc:sldMk cId="868487171" sldId="260"/>
            <ac:spMk id="11" creationId="{AF7EDC07-606F-DD66-5973-0AE0D673B23B}"/>
          </ac:spMkLst>
        </pc:spChg>
        <pc:spChg chg="add del mod">
          <ac:chgData name="Nicole Jiang" userId="09ef0fc0f6f473b5" providerId="LiveId" clId="{EB8F4A53-0964-5BF1-90AD-931457E28E1A}" dt="2026-10-13T04:24:48.767" v="2466"/>
          <ac:spMkLst>
            <pc:docMk/>
            <pc:sldMk cId="868487171" sldId="260"/>
            <ac:spMk id="12" creationId="{C0849F7A-B4A3-9284-9FFE-EB9FFC54D4D3}"/>
          </ac:spMkLst>
        </pc:spChg>
        <pc:spChg chg="add mod">
          <ac:chgData name="Nicole Jiang" userId="09ef0fc0f6f473b5" providerId="LiveId" clId="{EB8F4A53-0964-5BF1-90AD-931457E28E1A}" dt="2026-10-14T03:42:59.952" v="2687" actId="1076"/>
          <ac:spMkLst>
            <pc:docMk/>
            <pc:sldMk cId="868487171" sldId="260"/>
            <ac:spMk id="15" creationId="{B71483CE-2A7E-6438-7E3B-E605C17C7099}"/>
          </ac:spMkLst>
        </pc:spChg>
        <pc:spChg chg="add mod">
          <ac:chgData name="Nicole Jiang" userId="09ef0fc0f6f473b5" providerId="LiveId" clId="{EB8F4A53-0964-5BF1-90AD-931457E28E1A}" dt="2026-10-13T04:33:20.708" v="2567" actId="571"/>
          <ac:spMkLst>
            <pc:docMk/>
            <pc:sldMk cId="868487171" sldId="260"/>
            <ac:spMk id="17" creationId="{84ACFD66-AC45-B0B3-9E6F-FC9D5909992E}"/>
          </ac:spMkLst>
        </pc:spChg>
        <pc:spChg chg="mod">
          <ac:chgData name="Nicole Jiang" userId="09ef0fc0f6f473b5" providerId="LiveId" clId="{EB8F4A53-0964-5BF1-90AD-931457E28E1A}" dt="2026-10-13T17:25:16.831" v="2589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04:30:28.608" v="2535" actId="14100"/>
          <ac:spMkLst>
            <pc:docMk/>
            <pc:sldMk cId="868487171" sldId="260"/>
            <ac:spMk id="69" creationId="{D8B6836B-DAF1-F68F-D717-73D3A454BC2E}"/>
          </ac:spMkLst>
        </pc:spChg>
        <pc:spChg chg="mod">
          <ac:chgData name="Nicole Jiang" userId="09ef0fc0f6f473b5" providerId="LiveId" clId="{EB8F4A53-0964-5BF1-90AD-931457E28E1A}" dt="2026-10-13T21:07:12.551" v="2658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4T03:41:54.177" v="2679" actId="14100"/>
          <ac:spMkLst>
            <pc:docMk/>
            <pc:sldMk cId="868487171" sldId="260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4T03:42:00.062" v="2680" actId="1076"/>
          <ac:spMkLst>
            <pc:docMk/>
            <pc:sldMk cId="868487171" sldId="260"/>
            <ac:spMk id="72" creationId="{6D9DC137-E8CF-8FC7-F26F-A7759AD2C396}"/>
          </ac:spMkLst>
        </pc:spChg>
        <pc:spChg chg="mod">
          <ac:chgData name="Nicole Jiang" userId="09ef0fc0f6f473b5" providerId="LiveId" clId="{EB8F4A53-0964-5BF1-90AD-931457E28E1A}" dt="2026-10-14T03:42:12.339" v="2683" actId="1076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03:42:03.960" v="2681" actId="14100"/>
          <ac:spMkLst>
            <pc:docMk/>
            <pc:sldMk cId="868487171" sldId="260"/>
            <ac:spMk id="74" creationId="{F5F0E6D1-7308-2846-C555-5A8981E84E43}"/>
          </ac:spMkLst>
        </pc:spChg>
        <pc:spChg chg="del">
          <ac:chgData name="Nicole Jiang" userId="09ef0fc0f6f473b5" providerId="LiveId" clId="{EB8F4A53-0964-5BF1-90AD-931457E28E1A}" dt="2026-10-13T04:15:58.561" v="2424" actId="478"/>
          <ac:spMkLst>
            <pc:docMk/>
            <pc:sldMk cId="868487171" sldId="260"/>
            <ac:spMk id="75" creationId="{1321580B-F01F-0657-4172-18EB0518DB94}"/>
          </ac:spMkLst>
        </pc:spChg>
        <pc:spChg chg="mod">
          <ac:chgData name="Nicole Jiang" userId="09ef0fc0f6f473b5" providerId="LiveId" clId="{EB8F4A53-0964-5BF1-90AD-931457E28E1A}" dt="2026-10-14T03:42:44.386" v="2685" actId="1076"/>
          <ac:spMkLst>
            <pc:docMk/>
            <pc:sldMk cId="868487171" sldId="260"/>
            <ac:spMk id="76" creationId="{8F4057E1-F618-63B3-DF3A-8B3B4948305D}"/>
          </ac:spMkLst>
        </pc:spChg>
        <pc:spChg chg="del mod">
          <ac:chgData name="Nicole Jiang" userId="09ef0fc0f6f473b5" providerId="LiveId" clId="{EB8F4A53-0964-5BF1-90AD-931457E28E1A}" dt="2026-10-13T04:15:59.780" v="2425" actId="478"/>
          <ac:spMkLst>
            <pc:docMk/>
            <pc:sldMk cId="868487171" sldId="260"/>
            <ac:spMk id="77" creationId="{7A1E6EC0-2FA9-D0FD-7275-799C6E89A662}"/>
          </ac:spMkLst>
        </pc:spChg>
        <pc:spChg chg="mod">
          <ac:chgData name="Nicole Jiang" userId="09ef0fc0f6f473b5" providerId="LiveId" clId="{EB8F4A53-0964-5BF1-90AD-931457E28E1A}" dt="2026-10-13T04:33:24.947" v="2569" actId="1076"/>
          <ac:spMkLst>
            <pc:docMk/>
            <pc:sldMk cId="868487171" sldId="260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4T03:42:26.737" v="2684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04:33:28.472" v="2570" actId="14100"/>
          <ac:spMkLst>
            <pc:docMk/>
            <pc:sldMk cId="868487171" sldId="260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3T17:25:54.657" v="2593" actId="1076"/>
          <ac:spMkLst>
            <pc:docMk/>
            <pc:sldMk cId="868487171" sldId="260"/>
            <ac:spMk id="81" creationId="{8E773A53-2851-D565-B46F-D419BA57021E}"/>
          </ac:spMkLst>
        </pc:spChg>
        <pc:spChg chg="mod">
          <ac:chgData name="Nicole Jiang" userId="09ef0fc0f6f473b5" providerId="LiveId" clId="{EB8F4A53-0964-5BF1-90AD-931457E28E1A}" dt="2026-10-13T21:07:31.461" v="2663" actId="255"/>
          <ac:spMkLst>
            <pc:docMk/>
            <pc:sldMk cId="868487171" sldId="260"/>
            <ac:spMk id="82" creationId="{82B57F9D-B4AF-1E4D-7FBC-B8680CB4CAB8}"/>
          </ac:spMkLst>
        </pc:spChg>
        <pc:spChg chg="mod">
          <ac:chgData name="Nicole Jiang" userId="09ef0fc0f6f473b5" providerId="LiveId" clId="{EB8F4A53-0964-5BF1-90AD-931457E28E1A}" dt="2026-10-13T17:25:58.232" v="2594" actId="14100"/>
          <ac:spMkLst>
            <pc:docMk/>
            <pc:sldMk cId="868487171" sldId="260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3T04:25:23.126" v="2472" actId="1076"/>
          <ac:spMkLst>
            <pc:docMk/>
            <pc:sldMk cId="868487171" sldId="260"/>
            <ac:spMk id="110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27.266" v="2618" actId="1076"/>
          <ac:spMkLst>
            <pc:docMk/>
            <pc:sldMk cId="868487171" sldId="260"/>
            <ac:spMk id="111" creationId="{00000000-0000-0000-0000-000000000000}"/>
          </ac:spMkLst>
        </pc:spChg>
        <pc:spChg chg="mod">
          <ac:chgData name="Nicole Jiang" userId="09ef0fc0f6f473b5" providerId="LiveId" clId="{EB8F4A53-0964-5BF1-90AD-931457E28E1A}" dt="2026-10-14T03:43:03.391" v="2688" actId="1076"/>
          <ac:spMkLst>
            <pc:docMk/>
            <pc:sldMk cId="868487171" sldId="260"/>
            <ac:spMk id="112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36.169" v="2620" actId="1076"/>
          <ac:spMkLst>
            <pc:docMk/>
            <pc:sldMk cId="868487171" sldId="260"/>
            <ac:spMk id="120" creationId="{3A05E1FE-512D-49F3-9C39-22D275F0EE18}"/>
          </ac:spMkLst>
        </pc:spChg>
        <pc:picChg chg="mod">
          <ac:chgData name="Nicole Jiang" userId="09ef0fc0f6f473b5" providerId="LiveId" clId="{EB8F4A53-0964-5BF1-90AD-931457E28E1A}" dt="2026-10-13T21:03:29.514" v="2619" actId="1076"/>
          <ac:picMkLst>
            <pc:docMk/>
            <pc:sldMk cId="868487171" sldId="260"/>
            <ac:picMk id="3" creationId="{535E2EF0-72FB-E9D0-1E82-C65E26ED9E91}"/>
          </ac:picMkLst>
        </pc:picChg>
        <pc:picChg chg="mod">
          <ac:chgData name="Nicole Jiang" userId="09ef0fc0f6f473b5" providerId="LiveId" clId="{EB8F4A53-0964-5BF1-90AD-931457E28E1A}" dt="2026-10-13T04:31:29.384" v="2549" actId="1076"/>
          <ac:picMkLst>
            <pc:docMk/>
            <pc:sldMk cId="868487171" sldId="260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13T03:53:35.490" v="2389" actId="1076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3T03:53:38.080" v="2390" actId="1076"/>
          <ac:picMkLst>
            <pc:docMk/>
            <pc:sldMk cId="868487171" sldId="260"/>
            <ac:picMk id="6" creationId="{9D3E6E2E-04C2-513B-0EE5-8C40F5B8F46A}"/>
          </ac:picMkLst>
        </pc:picChg>
        <pc:picChg chg="add mod">
          <ac:chgData name="Nicole Jiang" userId="09ef0fc0f6f473b5" providerId="LiveId" clId="{EB8F4A53-0964-5BF1-90AD-931457E28E1A}" dt="2026-10-13T04:25:48.062" v="2478" actId="1076"/>
          <ac:picMkLst>
            <pc:docMk/>
            <pc:sldMk cId="868487171" sldId="260"/>
            <ac:picMk id="9" creationId="{DA4F04D1-71C4-D0BB-D2B5-DFFC4A124624}"/>
          </ac:picMkLst>
        </pc:picChg>
        <pc:picChg chg="mod">
          <ac:chgData name="Nicole Jiang" userId="09ef0fc0f6f473b5" providerId="LiveId" clId="{EB8F4A53-0964-5BF1-90AD-931457E28E1A}" dt="2026-10-13T03:52:22.696" v="2378" actId="1076"/>
          <ac:picMkLst>
            <pc:docMk/>
            <pc:sldMk cId="868487171" sldId="260"/>
            <ac:picMk id="10" creationId="{FB4EBB94-758E-75A7-659C-BF66DBB0AEF6}"/>
          </ac:picMkLst>
        </pc:picChg>
        <pc:picChg chg="mod">
          <ac:chgData name="Nicole Jiang" userId="09ef0fc0f6f473b5" providerId="LiveId" clId="{EB8F4A53-0964-5BF1-90AD-931457E28E1A}" dt="2026-10-14T03:42:55.489" v="2686" actId="1076"/>
          <ac:picMkLst>
            <pc:docMk/>
            <pc:sldMk cId="868487171" sldId="260"/>
            <ac:picMk id="14" creationId="{C3CA3027-10C5-D39A-05B0-82DB2540F9D3}"/>
          </ac:picMkLst>
        </pc:picChg>
        <pc:picChg chg="add mod">
          <ac:chgData name="Nicole Jiang" userId="09ef0fc0f6f473b5" providerId="LiveId" clId="{EB8F4A53-0964-5BF1-90AD-931457E28E1A}" dt="2026-10-13T04:30:22.385" v="2519" actId="571"/>
          <ac:picMkLst>
            <pc:docMk/>
            <pc:sldMk cId="868487171" sldId="260"/>
            <ac:picMk id="16" creationId="{0E987B6D-2DAC-5699-DEFF-718AA7AF9224}"/>
          </ac:picMkLst>
        </pc:picChg>
        <pc:picChg chg="mod">
          <ac:chgData name="Nicole Jiang" userId="09ef0fc0f6f473b5" providerId="LiveId" clId="{EB8F4A53-0964-5BF1-90AD-931457E28E1A}" dt="2026-10-13T03:52:53.768" v="2384" actId="1076"/>
          <ac:picMkLst>
            <pc:docMk/>
            <pc:sldMk cId="868487171" sldId="260"/>
            <ac:picMk id="33" creationId="{42BD33B9-86B6-8B04-8AA1-E72E85543563}"/>
          </ac:picMkLst>
        </pc:picChg>
        <pc:picChg chg="mod">
          <ac:chgData name="Nicole Jiang" userId="09ef0fc0f6f473b5" providerId="LiveId" clId="{EB8F4A53-0964-5BF1-90AD-931457E28E1A}" dt="2026-10-13T03:52:51.190" v="2383" actId="1076"/>
          <ac:picMkLst>
            <pc:docMk/>
            <pc:sldMk cId="868487171" sldId="260"/>
            <ac:picMk id="36" creationId="{8C2E503F-9CF2-EBE6-29B0-458691A7DFB1}"/>
          </ac:picMkLst>
        </pc:picChg>
      </pc:sldChg>
      <pc:sldChg chg="modSp add del mod">
        <pc:chgData name="Nicole Jiang" userId="09ef0fc0f6f473b5" providerId="LiveId" clId="{EB8F4A53-0964-5BF1-90AD-931457E28E1A}" dt="2026-10-13T17:35:40.898" v="2607" actId="2696"/>
        <pc:sldMkLst>
          <pc:docMk/>
          <pc:sldMk cId="1945540972" sldId="261"/>
        </pc:sldMkLst>
        <pc:spChg chg="mod">
          <ac:chgData name="Nicole Jiang" userId="09ef0fc0f6f473b5" providerId="LiveId" clId="{EB8F4A53-0964-5BF1-90AD-931457E28E1A}" dt="2026-10-13T17:35:28.310" v="2606" actId="20577"/>
          <ac:spMkLst>
            <pc:docMk/>
            <pc:sldMk cId="1945540972" sldId="261"/>
            <ac:spMk id="73" creationId="{69833F19-D0F2-FA5A-D1B8-216186ACC37F}"/>
          </ac:spMkLst>
        </pc:sp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251523"/>
            <a:ext cx="15087600" cy="10515600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2287711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4048" y="-168958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362478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642638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362479"/>
            <a:ext cx="15087600" cy="43224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184457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463040" y="11559248"/>
                <a:ext cx="14173200" cy="12808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measurements from 32 publication groups at z ≥ 4. Selected 1 mass per object and retained alternatives. Primary: 220 objects with broad Balmer-line masses [1]. Expanded: 234 objects,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Model tests: </a:t>
                </a:r>
                <a:r>
                  <a:rPr lang="en-CA" sz="3300" b="0" dirty="0">
                    <a:latin typeface="Aptos"/>
                  </a:rPr>
                  <a:t>Calculated and ranked required lifetime-average Eddington ratios. Compared them with assumed maximum averages: 1 (reference) and 0.3, 1, or 2 (earlier onset).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mass. M</a:t>
                </a:r>
                <a:r>
                  <a:rPr lang="en-CA" sz="22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mass.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22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initial mass.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time.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Higher redshift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Eddington ratio: </a:t>
                </a:r>
                <a:r>
                  <a:rPr lang="en-CA" sz="3300" b="0" dirty="0" err="1">
                    <a:latin typeface="Aptos"/>
                  </a:rPr>
                  <a:t>f</a:t>
                </a:r>
                <a:r>
                  <a:rPr lang="en-CA" sz="22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= luminosity/Eddington luminosity. Radiation force balances gravity at this luminosity. </a:t>
                </a:r>
                <a:r>
                  <a:rPr lang="en-CA" sz="3300" b="0" dirty="0" err="1">
                    <a:latin typeface="Aptos"/>
                  </a:rPr>
                  <a:t>f̄</a:t>
                </a:r>
                <a:r>
                  <a:rPr lang="en-CA" sz="2200" b="0" baseline="-25000" dirty="0" err="1">
                    <a:latin typeface="Aptos"/>
                  </a:rPr>
                  <a:t>Edd,req</a:t>
                </a:r>
                <a:r>
                  <a:rPr lang="en-CA" sz="3300" b="0" dirty="0">
                    <a:latin typeface="Aptos"/>
                  </a:rPr>
                  <a:t> is the required lifetime average, including inactive periods. An average above 1 requires periods above the Eddington limit.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per object for reported asymmetric mass errors. The 12 objects without errors contributed only central mass estimates.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growth start time, and efficiency separately.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Solved minimum seed masses for the 4 plotted objects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22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3,400. Included radiation in cosmic ages. Assumed gas was available.</a:t>
                </a: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3040" y="11559248"/>
                <a:ext cx="14173200" cy="12808443"/>
              </a:xfrm>
              <a:prstGeom prst="rect">
                <a:avLst/>
              </a:prstGeom>
              <a:blipFill>
                <a:blip r:embed="rId8"/>
                <a:stretch>
                  <a:fillRect l="-1164" t="-694" r="-1611" b="-5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184458"/>
            <a:ext cx="15087600" cy="14810682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503691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6916402" y="36944923"/>
            <a:ext cx="14996160" cy="6583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Seed masses: </a:t>
            </a:r>
            <a:r>
              <a:rPr lang="en-CA" sz="3300" b="0">
                <a:latin typeface="Aptos"/>
              </a:rPr>
              <a:t>Most adopted masses are compatible with growth from small stellar seeds under the reference assumptions.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Accretion physics: </a:t>
            </a:r>
            <a:r>
              <a:rPr lang="en-CA" sz="3300" b="0">
                <a:latin typeface="Aptos"/>
              </a:rPr>
              <a:t>Lower radiative efficiency allows faster mass growth at the same Eddington ratio. Seed-mass requirements therefore depend on how efficiently accretion produces radiation.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Earlier growth: </a:t>
            </a:r>
            <a:r>
              <a:rPr lang="en-CA" sz="3300" b="0"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Further observations: </a:t>
            </a:r>
            <a:r>
              <a:rPr lang="en-CA" sz="3300" b="0"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503691"/>
            <a:ext cx="15453360" cy="793030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8218254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39363981"/>
            <a:ext cx="1389888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8218254"/>
            <a:ext cx="15087600" cy="521574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62120" y="12298680"/>
            <a:ext cx="14630400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45000" y="20885748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growth at z = 3,400 (matter–radiation equality) requires 270–1,200 M⊙ seeds for the 4 plotted objects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642638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212/220 primary objects require average Eddington ratios ≤ 1. The other 8 require averages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After reducing masses by a factor of 3.2 (0.5 dex), UNCOVER-20466, COSMOS3D-13852, and RUBIES-EGS-55604 still require averages above 1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no objects in either sample require averages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later (z = 20) increases the primary count above 1 to 18/220.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(non-spinning thin disc) [4], all 234 central mass estimates require averages below 1 from 100 M⊙ seeds at z = 30.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362478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344777"/>
            <a:ext cx="15453360" cy="2990534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7190720" y="20162520"/>
            <a:ext cx="1444752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After lowering masses by 0.5 dex, 3 targets require averages above 1 in ≥ 95% of mass-error draws.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188720" y="36859926"/>
            <a:ext cx="14356080" cy="10515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2207899"/>
            <a:ext cx="1444752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007840" y="32779973"/>
            <a:ext cx="14767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Under the reference model, 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Eddington ratio of 0.929.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(ratio’s 16th–84th percentiles: 0.947–1.052) [5]. This interval includes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280160" y="25453836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251523"/>
            <a:ext cx="15087600" cy="10515600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2287711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4048" y="-168958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362478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642638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362479"/>
            <a:ext cx="15087600" cy="43224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184457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 xmlns:a14="http://schemas.microsoft.com/office/drawing/2010/main"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1463040" y="11559248"/>
            <a:ext cx="14173200" cy="12808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Catalogue: </a:t>
            </a:r>
            <a:r>
              <a:rPr sz="3300" b="0" lang="en-CA">
                <a:latin typeface="Aptos"/>
              </a:rPr>
              <a:t>Compiled 350 measurements at z ≥ 4. Selected 220 primary objects with broad hydrogen (Balmer) line masses. Expanded sample: 234 objects, including these 220, tentative candidates and GN-z11 [1,2].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Reference model: </a:t>
            </a:r>
            <a:r>
              <a:rPr sz="3300" b="0" lang="en-CA">
                <a:latin typeface="Aptos"/>
              </a:rPr>
              <a:t>Assumed 100 M⊙ seeds at z = 30, ε = 0.1, no mergers [3]. M⊙ denotes solar mass. Higher redshift z means earlier times. ε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Growth test: </a:t>
            </a:r>
            <a:r>
              <a:rPr sz="3300" b="0" lang="en-CA">
                <a:latin typeface="Aptos"/>
              </a:rPr>
              <a:t>Ranked objects by f̄</a:t>
            </a:r>
            <a:r>
              <a:rPr sz="2200" b="0" lang="en-CA" baseline="-25000">
                <a:latin typeface="Aptos"/>
              </a:rPr>
              <a:t>Edd,req</a:t>
            </a:r>
            <a:r>
              <a:rPr sz="3300" b="0" lang="en-CA">
                <a:latin typeface="Aptos"/>
              </a:rPr>
              <a:t>, the required lifetime-average Eddington ratio, including inactive periods. Tested against an assumed maximum of 1.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Eddington ratio: </a:t>
            </a:r>
            <a:r>
              <a:rPr sz="3300" b="0" lang="en-CA">
                <a:latin typeface="Aptos"/>
              </a:rPr>
              <a:t>f</a:t>
            </a:r>
            <a:r>
              <a:rPr sz="2200" b="0" lang="en-CA" baseline="-25000">
                <a:latin typeface="Aptos"/>
              </a:rPr>
              <a:t>Edd</a:t>
            </a:r>
            <a:r>
              <a:rPr sz="3300" b="0" lang="en-CA">
                <a:latin typeface="Aptos"/>
              </a:rPr>
              <a:t> = luminosity/Eddington luminosity. At this limit, radiation force balances gravity. Averages above 1 require super-Eddington episodes.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Uncertainty: </a:t>
            </a:r>
            <a:r>
              <a:rPr sz="3300" b="0" lang="en-CA">
                <a:latin typeface="Aptos"/>
              </a:rPr>
              <a:t>Sampled reported mass errors 10,000 times each. Missing errors yielded central estimates only. Reported errors may omit calibration scatter.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Earlier growth: </a:t>
            </a:r>
            <a:r>
              <a:rPr sz="3300" b="0" lang="en-CA">
                <a:latin typeface="Aptos"/>
              </a:rPr>
              <a:t>Calculated minimum seed masses for 4 targets at start redshifts 20–3,400. Included radiation in cosmic ages and assumed gas availability.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184458"/>
            <a:ext cx="15087600" cy="14810682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503691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6916402" y="36944923"/>
            <a:ext cx="14996160" cy="6583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Main finding: </a:t>
            </a:r>
            <a:r>
              <a:rPr lang="en-CA" sz="3300" b="1">
                <a:latin typeface="Aptos"/>
              </a:rPr>
              <a:t>Most adopted masses allow growth from 100 M⊙ seeds under the reference assumptions. </a:t>
            </a:r>
            <a:r>
              <a:rPr lang="en-CA" sz="3300" b="0">
                <a:latin typeface="Aptos"/>
              </a:rPr>
              <a:t>Seed requirements depend on mass estimates and accretion efficiency.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Accretion physics: </a:t>
            </a:r>
            <a:r>
              <a:rPr lang="en-CA" sz="3300" b="0">
                <a:latin typeface="Aptos"/>
              </a:rPr>
              <a:t>Lower radiative efficiency leaves more accreted mass in the black hole, allowing faster growth at the same Eddington ratio.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Earlier growth: </a:t>
            </a:r>
            <a:r>
              <a:rPr lang="en-CA" sz="3300" b="0"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Further observations: </a:t>
            </a:r>
            <a:r>
              <a:rPr lang="en-CA" sz="3300" b="0"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503691"/>
            <a:ext cx="15453360" cy="793030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8218254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39363981"/>
            <a:ext cx="1389888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8218254"/>
            <a:ext cx="15087600" cy="521574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62120" y="12298680"/>
            <a:ext cx="14630400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45000" y="20885748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642638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Lowering masses by a factor of 3.2 leaves 3 objects above 1 in ≥ 95% of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at z = 20 raises the primary count above 1 to 18/220. At this start,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[4],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362478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344777"/>
            <a:ext cx="15453360" cy="2990534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7190720" y="20162520"/>
            <a:ext cx="1444752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Orange points show the same objects after lowering masses by a factor of 3.2.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188720" y="36859926"/>
            <a:ext cx="14356080" cy="10515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2207899"/>
            <a:ext cx="1444752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007840" y="32779973"/>
            <a:ext cx="14767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dirty="0" baseline="3000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dirty="0" baseline="3000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[5].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280160" y="25453836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270</TotalTime>
  <Words>1013</Words>
  <Application>Microsoft Macintosh PowerPoint</Application>
  <PresentationFormat>Custom</PresentationFormat>
  <Paragraphs>40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 Early Black-Hole Growth
Constraints from JWST Nicole Jiang; University of Toronto </vt:lpstr>
      <vt:lpstr> Early Black-Hole Growth
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2026-10-14T03:43:07Z</dcterms:modified>
</cp:coreProperties>
</file>
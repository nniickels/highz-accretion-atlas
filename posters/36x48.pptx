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1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/>
    <p:restoredTop sz="94701"/>
  </p:normalViewPr>
  <p:slideViewPr>
    <p:cSldViewPr snapToGrid="0">
      <p:cViewPr>
        <p:scale>
          <a:sx n="91" d="100"/>
          <a:sy n="91" d="100"/>
        </p:scale>
        <p:origin x="-11248" y="-14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5T19:28:14.983" v="3361" actId="14100"/>
      <pc:docMkLst>
        <pc:docMk/>
      </pc:docMkLst>
      <pc:sldChg chg="addSp delSp modSp del mod">
        <pc:chgData name="Nicole Jiang" userId="09ef0fc0f6f473b5" providerId="LiveId" clId="{EB8F4A53-0964-5BF1-90AD-931457E28E1A}" dt="2026-10-14T20:17:12.227" v="2827" actId="2696"/>
        <pc:sldMkLst>
          <pc:docMk/>
          <pc:sldMk cId="868487171" sldId="260"/>
        </pc:sldMkLst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</pc:sldChg>
      <pc:sldChg chg="addSp delSp modSp mod">
        <pc:chgData name="Nicole Jiang" userId="09ef0fc0f6f473b5" providerId="LiveId" clId="{EB8F4A53-0964-5BF1-90AD-931457E28E1A}" dt="2026-10-15T19:28:14.983" v="3361" actId="14100"/>
        <pc:sldMkLst>
          <pc:docMk/>
          <pc:sldMk cId="868487171" sldId="261"/>
        </pc:sldMkLst>
        <pc:spChg chg="mod">
          <ac:chgData name="Nicole Jiang" userId="09ef0fc0f6f473b5" providerId="LiveId" clId="{EB8F4A53-0964-5BF1-90AD-931457E28E1A}" dt="2026-10-14T19:44:29.395" v="2809" actId="113"/>
          <ac:spMkLst>
            <pc:docMk/>
            <pc:sldMk cId="868487171" sldId="261"/>
            <ac:spMk id="2" creationId="{6F669F8B-BE33-0C82-515C-AF8D3B759FB3}"/>
          </ac:spMkLst>
        </pc:spChg>
        <pc:spChg chg="add mod">
          <ac:chgData name="Nicole Jiang" userId="09ef0fc0f6f473b5" providerId="LiveId" clId="{EB8F4A53-0964-5BF1-90AD-931457E28E1A}" dt="2026-10-15T01:51:13.591" v="2854" actId="1076"/>
          <ac:spMkLst>
            <pc:docMk/>
            <pc:sldMk cId="868487171" sldId="261"/>
            <ac:spMk id="3" creationId="{9C7CDCE8-5361-4FEF-24D8-015D90D4280A}"/>
          </ac:spMkLst>
        </pc:spChg>
        <pc:spChg chg="mod">
          <ac:chgData name="Nicole Jiang" userId="09ef0fc0f6f473b5" providerId="LiveId" clId="{EB8F4A53-0964-5BF1-90AD-931457E28E1A}" dt="2026-10-15T19:28:07.346" v="3360" actId="14100"/>
          <ac:spMkLst>
            <pc:docMk/>
            <pc:sldMk cId="868487171" sldId="261"/>
            <ac:spMk id="7" creationId="{3AC78928-AF13-E1B9-F802-F1FD39D07D33}"/>
          </ac:spMkLst>
        </pc:spChg>
        <pc:spChg chg="mod">
          <ac:chgData name="Nicole Jiang" userId="09ef0fc0f6f473b5" providerId="LiveId" clId="{EB8F4A53-0964-5BF1-90AD-931457E28E1A}" dt="2026-10-15T19:28:14.983" v="3361" actId="14100"/>
          <ac:spMkLst>
            <pc:docMk/>
            <pc:sldMk cId="868487171" sldId="261"/>
            <ac:spMk id="11" creationId="{AF7EDC07-606F-DD66-5973-0AE0D673B23B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15" creationId="{B71483CE-2A7E-6438-7E3B-E605C17C7099}"/>
          </ac:spMkLst>
        </pc:spChg>
        <pc:spChg chg="mod">
          <ac:chgData name="Nicole Jiang" userId="09ef0fc0f6f473b5" providerId="LiveId" clId="{EB8F4A53-0964-5BF1-90AD-931457E28E1A}" dt="2026-10-15T02:59:01.507" v="2900" actId="1076"/>
          <ac:spMkLst>
            <pc:docMk/>
            <pc:sldMk cId="868487171" sldId="261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5T05:12:53.627" v="3358" actId="14100"/>
          <ac:spMkLst>
            <pc:docMk/>
            <pc:sldMk cId="868487171" sldId="261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19:47:28.525" v="2819" actId="14100"/>
          <ac:spMkLst>
            <pc:docMk/>
            <pc:sldMk cId="868487171" sldId="261"/>
            <ac:spMk id="74" creationId="{F5F0E6D1-7308-2846-C555-5A8981E84E4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76" creationId="{8F4057E1-F618-63B3-DF3A-8B3B4948305D}"/>
          </ac:spMkLst>
        </pc:spChg>
        <pc:spChg chg="mod">
          <ac:chgData name="Nicole Jiang" userId="09ef0fc0f6f473b5" providerId="LiveId" clId="{EB8F4A53-0964-5BF1-90AD-931457E28E1A}" dt="2026-10-14T19:37:04.582" v="2774" actId="1076"/>
          <ac:spMkLst>
            <pc:docMk/>
            <pc:sldMk cId="868487171" sldId="261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5T03:51:02.451" v="3351" actId="255"/>
          <ac:spMkLst>
            <pc:docMk/>
            <pc:sldMk cId="868487171" sldId="261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4T19:34:03.726" v="2719" actId="1076"/>
          <ac:spMkLst>
            <pc:docMk/>
            <pc:sldMk cId="868487171" sldId="261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5T03:54:00.898" v="3354" actId="1076"/>
          <ac:spMkLst>
            <pc:docMk/>
            <pc:sldMk cId="868487171" sldId="261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83" creationId="{7156AF1B-4C0F-9637-8495-BA5941742B85}"/>
          </ac:spMkLst>
        </pc:spChg>
        <pc:spChg chg="del">
          <ac:chgData name="Nicole Jiang" userId="09ef0fc0f6f473b5" providerId="LiveId" clId="{EB8F4A53-0964-5BF1-90AD-931457E28E1A}" dt="2026-10-14T19:45:53.892" v="2813" actId="478"/>
          <ac:spMkLst>
            <pc:docMk/>
            <pc:sldMk cId="868487171" sldId="261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120" creationId="{3A05E1FE-512D-49F3-9C39-22D275F0EE18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00" creationId="{F979C9B9-C3CA-480F-BB52-CC7D4B02CE22}"/>
          </ac:spMkLst>
        </pc:spChg>
        <pc:spChg chg="mod">
          <ac:chgData name="Nicole Jiang" userId="09ef0fc0f6f473b5" providerId="LiveId" clId="{EB8F4A53-0964-5BF1-90AD-931457E28E1A}" dt="2026-10-14T19:36:43.521" v="2771" actId="1076"/>
          <ac:spMkLst>
            <pc:docMk/>
            <pc:sldMk cId="868487171" sldId="261"/>
            <ac:spMk id="201" creationId="{A5654399-0386-420B-B69B-49326884E1BD}"/>
          </ac:spMkLst>
        </pc:spChg>
        <pc:spChg chg="mod">
          <ac:chgData name="Nicole Jiang" userId="09ef0fc0f6f473b5" providerId="LiveId" clId="{EB8F4A53-0964-5BF1-90AD-931457E28E1A}" dt="2026-10-14T19:36:46.392" v="2772" actId="1076"/>
          <ac:spMkLst>
            <pc:docMk/>
            <pc:sldMk cId="868487171" sldId="261"/>
            <ac:spMk id="202" creationId="{A4F32B50-A70B-4AAD-866D-8A9AFB77BA97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3" creationId="{4B9D32E4-35CC-401A-84F3-9B0E93812FF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05" creationId="{B0440D7D-E739-420F-ABED-4E5D214838EC}"/>
          </ac:spMkLst>
        </pc:spChg>
        <pc:spChg chg="mod">
          <ac:chgData name="Nicole Jiang" userId="09ef0fc0f6f473b5" providerId="LiveId" clId="{EB8F4A53-0964-5BF1-90AD-931457E28E1A}" dt="2026-10-14T20:15:48.652" v="2826" actId="20577"/>
          <ac:spMkLst>
            <pc:docMk/>
            <pc:sldMk cId="868487171" sldId="261"/>
            <ac:spMk id="207" creationId="{0810806D-B188-4E18-8185-C1F9716B0663}"/>
          </ac:spMkLst>
        </pc:spChg>
        <pc:spChg chg="mod">
          <ac:chgData name="Nicole Jiang" userId="09ef0fc0f6f473b5" providerId="LiveId" clId="{EB8F4A53-0964-5BF1-90AD-931457E28E1A}" dt="2026-10-15T01:40:30.896" v="2846" actId="5793"/>
          <ac:spMkLst>
            <pc:docMk/>
            <pc:sldMk cId="868487171" sldId="261"/>
            <ac:spMk id="208" creationId="{FAA325B6-AF3F-4391-B001-5CEA6C0D3BA1}"/>
          </ac:spMkLst>
        </pc:spChg>
        <pc:spChg chg="mod">
          <ac:chgData name="Nicole Jiang" userId="09ef0fc0f6f473b5" providerId="LiveId" clId="{EB8F4A53-0964-5BF1-90AD-931457E28E1A}" dt="2026-10-15T03:33:49.879" v="3312" actId="12"/>
          <ac:spMkLst>
            <pc:docMk/>
            <pc:sldMk cId="868487171" sldId="261"/>
            <ac:spMk id="209" creationId="{67E72EF7-28FB-420D-A9DC-6606EEB93072}"/>
          </ac:spMkLst>
        </pc:spChg>
        <pc:spChg chg="mod">
          <ac:chgData name="Nicole Jiang" userId="09ef0fc0f6f473b5" providerId="LiveId" clId="{EB8F4A53-0964-5BF1-90AD-931457E28E1A}" dt="2026-10-14T19:33:10.244" v="2714" actId="20577"/>
          <ac:spMkLst>
            <pc:docMk/>
            <pc:sldMk cId="868487171" sldId="261"/>
            <ac:spMk id="210" creationId="{7A12F45B-766A-479C-A513-DC305E768B18}"/>
          </ac:spMkLst>
        </pc:spChg>
        <pc:spChg chg="mod">
          <ac:chgData name="Nicole Jiang" userId="09ef0fc0f6f473b5" providerId="LiveId" clId="{EB8F4A53-0964-5BF1-90AD-931457E28E1A}" dt="2026-10-14T19:35:44.272" v="2765" actId="1076"/>
          <ac:spMkLst>
            <pc:docMk/>
            <pc:sldMk cId="868487171" sldId="261"/>
            <ac:spMk id="211" creationId="{7CA63206-32AF-4739-9D5D-3109B2CFE243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2" creationId="{F0E4059E-8B12-4811-AB13-DD1F53C26AA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4" creationId="{E0DF1478-840F-4BDD-B29E-A5B229B3783E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5" creationId="{F3106931-3BF4-4F12-9726-6C63FA258C0A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6" creationId="{336C5316-EC48-42CE-8537-8453628B7D8C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17" creationId="{971DBA1A-D2E6-408F-AF7C-16AF667673EA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18" creationId="{C320C512-3791-4B48-9B61-7FD45A4601D4}"/>
          </ac:spMkLst>
        </pc:spChg>
        <pc:spChg chg="mod">
          <ac:chgData name="Nicole Jiang" userId="09ef0fc0f6f473b5" providerId="LiveId" clId="{EB8F4A53-0964-5BF1-90AD-931457E28E1A}" dt="2026-10-14T18:46:21.938" v="2690" actId="1076"/>
          <ac:spMkLst>
            <pc:docMk/>
            <pc:sldMk cId="868487171" sldId="261"/>
            <ac:spMk id="219" creationId="{A3C5BCD3-C05E-4CC3-AF1A-0840F4394EE3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0" creationId="{8529AA9E-ACC8-495E-8075-1D2F4EF9602E}"/>
          </ac:spMkLst>
        </pc:spChg>
        <pc:spChg chg="mod">
          <ac:chgData name="Nicole Jiang" userId="09ef0fc0f6f473b5" providerId="LiveId" clId="{EB8F4A53-0964-5BF1-90AD-931457E28E1A}" dt="2026-10-15T01:42:21.472" v="2853" actId="20577"/>
          <ac:spMkLst>
            <pc:docMk/>
            <pc:sldMk cId="868487171" sldId="261"/>
            <ac:spMk id="221" creationId="{03BB0CC6-89F0-4BB8-91C2-A18697FB4691}"/>
          </ac:spMkLst>
        </pc:spChg>
        <pc:spChg chg="mod">
          <ac:chgData name="Nicole Jiang" userId="09ef0fc0f6f473b5" providerId="LiveId" clId="{EB8F4A53-0964-5BF1-90AD-931457E28E1A}" dt="2026-10-14T19:48:25.703" v="2821" actId="1076"/>
          <ac:spMkLst>
            <pc:docMk/>
            <pc:sldMk cId="868487171" sldId="261"/>
            <ac:spMk id="223" creationId="{86A37956-8DA5-40AE-A03E-2CE429C5454A}"/>
          </ac:spMkLst>
        </pc:spChg>
        <pc:spChg chg="mod">
          <ac:chgData name="Nicole Jiang" userId="09ef0fc0f6f473b5" providerId="LiveId" clId="{EB8F4A53-0964-5BF1-90AD-931457E28E1A}" dt="2026-10-15T19:27:48.134" v="3359" actId="1076"/>
          <ac:spMkLst>
            <pc:docMk/>
            <pc:sldMk cId="868487171" sldId="261"/>
            <ac:spMk id="224" creationId="{39DA12D1-0D37-445A-9028-17994BB6BD07}"/>
          </ac:spMkLst>
        </pc:spChg>
        <pc:picChg chg="mod modCrop">
          <ac:chgData name="Nicole Jiang" userId="09ef0fc0f6f473b5" providerId="LiveId" clId="{EB8F4A53-0964-5BF1-90AD-931457E28E1A}" dt="2026-10-14T19:45:30.344" v="2812" actId="732"/>
          <ac:picMkLst>
            <pc:docMk/>
            <pc:sldMk cId="868487171" sldId="261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4T20:14:50.438" v="2822" actId="1076"/>
          <ac:picMkLst>
            <pc:docMk/>
            <pc:sldMk cId="868487171" sldId="261"/>
            <ac:picMk id="14" creationId="{C3CA3027-10C5-D39A-05B0-82DB2540F9D3}"/>
          </ac:picMkLst>
        </pc:pic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Poster figure inputs: results/for_manuscript/tables/publication_object_selection.csv; results/for_manuscript/tables/mass_offset_object_sensitivity.csv; results/v3/tables/v3_object_point_ranking.csv; results/v3/tables/v3_object_uncertainty_ranking.csv; results/v4/tables/v4_minimum_seed_mass.csv. Scientific inputs are pinned in data/poster_inputs.json. The uncertainty panel is generated by src.internal.poster_figures. The earlier-onset panel holds the stated average cap and radiative efficiency constant along each track. The external dynamical comparison uses the adopted arXiv v2 measurement; the required ratios and intervals are calculated by this project.</a:t>
            </a:r>
          </a:p>
          <a:p>
            <a:r>
              <a:rPr sz="1200"/>
              <a:t>[1] Shen (2013), The Mass of Quasars: https://arxiv.org/abs/1302.2643 — broad-line virial mass methods and calibration scatter.</a:t>
            </a:r>
          </a:p>
          <a:p>
            <a:r>
              <a:rPr sz="1200"/>
              <a:t>[2] Maiolino et al. (2024), A small and vigorous black hole in the early Universe: https://doi.org/10.1038/s41586-024-07052-5 — GN-z11 ultraviolet-line mass and early JWST context.</a:t>
            </a:r>
          </a:p>
          <a:p>
            <a:r>
              <a:rPr sz="1200"/>
              <a:t>[3] Dayal (2024), Exploring a primordial solution for early black holes detected with JWST: https://doi.org/10.1051/0004-6361/202451481 — exponential accretion growth relation. The project inverts the growth relation; its reference seed and growth-test thresholds are analysis assumptions.</a:t>
            </a:r>
          </a:p>
          <a:p>
            <a:r>
              <a:rPr sz="1200"/>
              <a:t>[4] Bardeen, Press &amp; Teukolsky (1972): https://doi.org/10.1086/151796 — ideal thin-disc efficiency for a non-spinning black hole, 1-sqrt(8/9).</a:t>
            </a:r>
          </a:p>
          <a:p>
            <a:r>
              <a:rPr sz="1200"/>
              <a:t>[5] Juodzbalis et al. (2025): https://arxiv.org/abs/2508.21748v2 — adopted independent A2744-QSO1 dynamical mass. The poster's average Eddington ratios are project calculations, not measurements quoted from this paper.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0" y="21812953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292608" y="-106306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60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0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204930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485090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</a:t>
            </a:r>
            <a:r>
              <a:rPr lang="en-CA" sz="2200" b="0" baseline="30000">
                <a:latin typeface="Aptos"/>
              </a:rPr>
              <a:t>[1]</a:t>
            </a:r>
            <a:r>
              <a:rPr lang="en-CA" sz="3300" b="0">
                <a:latin typeface="Aptos"/>
              </a:rPr>
              <a:t> I compiled a catalogue of published black-hole mass estimates and compared their growth requirements, testing sensitivity to mass errors, seed mass, growth onset, and radiative efficiency.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204931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026909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8C51BF9-B81A-ECF4-F01D-305CA1CE9DD1}"/>
              </a:ext>
            </a:extLst>
          </p:cNvPr>
          <p:cNvSpPr txBox="1"/>
          <p:nvPr/>
        </p:nvSpPr>
        <p:spPr>
          <a:xfrm>
            <a:off x="1463040" y="20627794"/>
            <a:ext cx="1399032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Symbols: </a:t>
            </a:r>
            <a:r>
              <a:rPr lang="en-CA" sz="3300" b="0" dirty="0">
                <a:latin typeface="Aptos"/>
              </a:rPr>
              <a:t>M⊙ denotes solar mass. Higher redshift z means earlier times.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is the radiated fraction of accreted rest-mass energy.</a:t>
            </a:r>
          </a:p>
          <a:p>
            <a:pPr>
              <a:lnSpc>
                <a:spcPct val="120000"/>
              </a:lnSpc>
              <a:spcAft>
                <a:spcPts val="1600"/>
              </a:spcAft>
              <a:buNone/>
            </a:pPr>
            <a:r>
              <a:rPr lang="en-CA" sz="3300" b="1" dirty="0">
                <a:latin typeface="Aptos"/>
              </a:rPr>
              <a:t>Eddington ratio: </a:t>
            </a:r>
            <a:r>
              <a:rPr lang="en-CA" sz="3300" b="0" dirty="0" err="1">
                <a:latin typeface="Aptos"/>
              </a:rPr>
              <a:t>f</a:t>
            </a:r>
            <a:r>
              <a:rPr lang="en-CA" sz="2200" b="0" baseline="-25000" dirty="0" err="1">
                <a:latin typeface="Aptos"/>
              </a:rPr>
              <a:t>Edd</a:t>
            </a:r>
            <a:r>
              <a:rPr lang="en-CA" sz="3300" b="0" dirty="0">
                <a:latin typeface="Aptos"/>
              </a:rPr>
              <a:t> = luminosity/Eddington luminosity, where radiation force balances gravity. Averages above 1 require super-Eddington episodes.</a:t>
            </a:r>
            <a:r>
              <a:rPr lang="en-CA" sz="2200" b="0" baseline="30000" dirty="0">
                <a:latin typeface="Aptos"/>
              </a:rPr>
              <a:t>[3]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026910"/>
            <a:ext cx="15087600" cy="2719085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763973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7099280" y="37008667"/>
            <a:ext cx="14538960" cy="60170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Catalogue:</a:t>
            </a:r>
            <a:r>
              <a:rPr lang="en-CA" sz="3300" dirty="0">
                <a:latin typeface="Aptos" panose="020B0004020202020204" pitchFamily="34" charset="0"/>
              </a:rPr>
              <a:t> The reproducible catalogue identifies the strongest targets for growth tests by comparing published masses under the same assumptions.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 panose="020B0004020202020204" pitchFamily="34" charset="0"/>
              </a:rPr>
              <a:t>Growth physics:</a:t>
            </a:r>
            <a:r>
              <a:rPr lang="en-CA" sz="3300" dirty="0">
                <a:latin typeface="Aptos" panose="020B0004020202020204" pitchFamily="34" charset="0"/>
              </a:rPr>
              <a:t> The efficiency test shows that difficulty growing from small seeds does not imply a need for heavier seeds or super-Eddington accretion.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latin typeface="Aptos" panose="020B0004020202020204" pitchFamily="34" charset="0"/>
            </a:endParaRP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Earlier growth: </a:t>
            </a:r>
            <a:r>
              <a:rPr lang="en-CA" sz="3300" dirty="0">
                <a:solidFill>
                  <a:srgbClr val="000000"/>
                </a:solidFill>
              </a:rPr>
              <a:t>Earlier onset alone cannot explain the four target masses from 100 M⊙ seeds at </a:t>
            </a:r>
            <a:r>
              <a:rPr lang="en-CA" sz="3300" dirty="0" err="1">
                <a:solidFill>
                  <a:srgbClr val="000000"/>
                </a:solidFill>
              </a:rPr>
              <a:t>ε</a:t>
            </a:r>
            <a:r>
              <a:rPr lang="en-CA" sz="3300" dirty="0">
                <a:solidFill>
                  <a:srgbClr val="000000"/>
                </a:solidFill>
              </a:rPr>
              <a:t> = 0.1 and average ratio ≤ 1, without mergers.</a:t>
            </a:r>
          </a:p>
          <a:p>
            <a:pPr marL="457200" lvl="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CA" sz="500" dirty="0">
              <a:solidFill>
                <a:srgbClr val="000000"/>
              </a:solidFill>
            </a:endParaRPr>
          </a:p>
          <a:p>
            <a:pPr marL="457200" indent="-4572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solidFill>
                  <a:srgbClr val="000000"/>
                </a:solidFill>
              </a:rPr>
              <a:t>Future observations: </a:t>
            </a:r>
            <a:r>
              <a:rPr lang="en-CA" sz="3300" dirty="0">
                <a:solidFill>
                  <a:srgbClr val="000000"/>
                </a:solidFill>
              </a:rPr>
              <a:t>The independent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mass check shows that the inferred growth difficulty depends on the mass estimate. </a:t>
            </a:r>
            <a:r>
              <a:rPr lang="en-CA" sz="3300" dirty="0">
                <a:latin typeface="Aptos" panose="020B0004020202020204" pitchFamily="34" charset="0"/>
              </a:rPr>
              <a:t>Independent masses and checks on lensing and line broadening would test whether the strongest outliers </a:t>
            </a:r>
            <a:r>
              <a:rPr lang="en-CA" sz="3300" dirty="0">
                <a:solidFill>
                  <a:srgbClr val="000000"/>
                </a:solidFill>
                <a:latin typeface="Aptos" panose="020B0004020202020204" pitchFamily="34" charset="0"/>
              </a:rPr>
              <a:t>truly challenge the reference growth model.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763973"/>
            <a:ext cx="15453360" cy="751247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763926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748025" y="39218981"/>
            <a:ext cx="1305459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Maiolino et al. (2024), Nature, 627, 59.</a:t>
            </a:r>
            <a:endParaRPr lang="en-US" sz="3300" dirty="0"/>
          </a:p>
          <a:p>
            <a:r>
              <a:rPr lang="en-CA" sz="3300" dirty="0"/>
              <a:t>[2] Shen (2013), BASI, 41, 61.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arXiv:2508.21748v2.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7654047"/>
            <a:ext cx="15087600" cy="5622405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6709"/>
          <a:stretch>
            <a:fillRect/>
          </a:stretch>
        </p:blipFill>
        <p:spPr>
          <a:xfrm>
            <a:off x="17349367" y="11884544"/>
            <a:ext cx="13648793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277024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at matter–radiation equality (z = 3,400) still requires 270–1,200 M⊙ seeds for the 4 plotted objects (ε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485090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Reference model: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8/220 primary objects require average Eddington ratios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Mass sensitivity: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Lowering masses by 0.5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dex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(a factor of 3.2) leaves 3 primary objects requiring averages above 1 in ≥ 95% of draws.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Seed mass: </a:t>
            </a:r>
            <a:r>
              <a:rPr lang="en-CA" sz="3300" dirty="0">
                <a:solidFill>
                  <a:srgbClr val="000000"/>
                </a:solidFill>
                <a:latin typeface="Aptos"/>
              </a:rPr>
              <a:t>1,000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M⊙ seeds leave 3/220 above 1. With 100,000 M⊙ seeds, neither sample has objects above 1.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Growth start time: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z = 20, 18/220 primary objects require averages above 1, and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Efficiency: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At </a:t>
            </a:r>
            <a:r>
              <a:rPr lang="en-CA" sz="3300" b="0" dirty="0" err="1">
                <a:solidFill>
                  <a:srgbClr val="000000"/>
                </a:solidFill>
                <a:latin typeface="Aptos"/>
              </a:rPr>
              <a:t>ε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 = 0.05719 (non-spinning thin disc) </a:t>
            </a:r>
            <a:r>
              <a:rPr lang="en-CA" sz="2200" b="0" baseline="30000" dirty="0">
                <a:solidFill>
                  <a:srgbClr val="000000"/>
                </a:solidFill>
                <a:latin typeface="Aptos"/>
              </a:rPr>
              <a:t>[4]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, all 234 central mass estimates require averages below 1 under the other reference assumptions.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187229"/>
            <a:ext cx="15453360" cy="977821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187229"/>
            <a:ext cx="15453360" cy="30083074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050351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622425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of 0.929 under the reference model.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</a:t>
            </a:r>
            <a:r>
              <a:rPr lang="en-CA" sz="2200" b="0" baseline="30000" dirty="0">
                <a:latin typeface="Aptos"/>
              </a:rPr>
              <a:t>[5]</a:t>
            </a:r>
            <a:r>
              <a:rPr lang="en-CA" sz="3300" b="0" dirty="0">
                <a:latin typeface="Aptos"/>
              </a:rPr>
              <a:t> requires 0.9996. Its required average spans 0.947–1.052 (16th–84th percentiles), including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371600" y="23911077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Growth test and uncertainty</a:t>
            </a:r>
          </a:p>
        </p:txBody>
      </p:sp>
      <p:sp>
        <p:nvSpPr>
          <p:cNvPr id="200" name="Poster diagram 200">
            <a:extLst>
              <a:ext uri="{FF2B5EF4-FFF2-40B4-BE49-F238E27FC236}">
                <a16:creationId xmlns:a16="http://schemas.microsoft.com/office/drawing/2014/main" id="{F979C9B9-C3CA-480F-BB52-CC7D4B02CE22}"/>
              </a:ext>
            </a:extLst>
          </p:cNvPr>
          <p:cNvSpPr>
            <a:spLocks noGrp="1"/>
          </p:cNvSpPr>
          <p:nvPr/>
        </p:nvSpPr>
        <p:spPr>
          <a:xfrm>
            <a:off x="1471598" y="12232658"/>
            <a:ext cx="13990320" cy="11430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 dirty="0">
                <a:solidFill>
                  <a:srgbClr val="111111"/>
                </a:solidFill>
                <a:latin typeface="Aptos"/>
              </a:rPr>
              <a:t>350 measurements from 32 source families at z ≥ 4</a:t>
            </a:r>
          </a:p>
        </p:txBody>
      </p:sp>
      <p:sp>
        <p:nvSpPr>
          <p:cNvPr id="201" name="Poster diagram 201">
            <a:extLst>
              <a:ext uri="{FF2B5EF4-FFF2-40B4-BE49-F238E27FC236}">
                <a16:creationId xmlns:a16="http://schemas.microsoft.com/office/drawing/2014/main" id="{A5654399-0386-420B-B69B-49326884E1BD}"/>
              </a:ext>
            </a:extLst>
          </p:cNvPr>
          <p:cNvSpPr>
            <a:spLocks noGrp="1"/>
          </p:cNvSpPr>
          <p:nvPr/>
        </p:nvSpPr>
        <p:spPr>
          <a:xfrm>
            <a:off x="8309610" y="13254670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Poster diagram 202">
            <a:extLst>
              <a:ext uri="{FF2B5EF4-FFF2-40B4-BE49-F238E27FC236}">
                <a16:creationId xmlns:a16="http://schemas.microsoft.com/office/drawing/2014/main" id="{A4F32B50-A70B-4AAD-866D-8A9AFB77BA97}"/>
              </a:ext>
            </a:extLst>
          </p:cNvPr>
          <p:cNvSpPr>
            <a:spLocks noGrp="1"/>
          </p:cNvSpPr>
          <p:nvPr/>
        </p:nvSpPr>
        <p:spPr>
          <a:xfrm>
            <a:off x="1463040" y="13701111"/>
            <a:ext cx="1399032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3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300" b="1">
                <a:solidFill>
                  <a:srgbClr val="111111"/>
                </a:solidFill>
                <a:latin typeface="Aptos"/>
              </a:defRPr>
            </a:pPr>
            <a:r>
              <a:rPr sz="3300" b="1">
                <a:solidFill>
                  <a:srgbClr val="111111"/>
                </a:solidFill>
                <a:latin typeface="Aptos"/>
              </a:rPr>
              <a:t>338 provisional objects</a:t>
            </a:r>
          </a:p>
        </p:txBody>
      </p:sp>
      <p:sp>
        <p:nvSpPr>
          <p:cNvPr id="203" name="Poster diagram 203">
            <a:extLst>
              <a:ext uri="{FF2B5EF4-FFF2-40B4-BE49-F238E27FC236}">
                <a16:creationId xmlns:a16="http://schemas.microsoft.com/office/drawing/2014/main" id="{4B9D32E4-35CC-401A-84F3-9B0E93812FF3}"/>
              </a:ext>
            </a:extLst>
          </p:cNvPr>
          <p:cNvSpPr>
            <a:spLocks noGrp="1"/>
          </p:cNvSpPr>
          <p:nvPr/>
        </p:nvSpPr>
        <p:spPr>
          <a:xfrm>
            <a:off x="5626303" y="14839848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Poster diagram 204">
            <a:extLst>
              <a:ext uri="{FF2B5EF4-FFF2-40B4-BE49-F238E27FC236}">
                <a16:creationId xmlns:a16="http://schemas.microsoft.com/office/drawing/2014/main" id="{D840C234-8C7B-423E-87DF-1C2EC82BD5EA}"/>
              </a:ext>
            </a:extLst>
          </p:cNvPr>
          <p:cNvSpPr>
            <a:spLocks noGrp="1"/>
          </p:cNvSpPr>
          <p:nvPr/>
        </p:nvSpPr>
        <p:spPr>
          <a:xfrm>
            <a:off x="12827203" y="14821354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oster diagram 205">
            <a:extLst>
              <a:ext uri="{FF2B5EF4-FFF2-40B4-BE49-F238E27FC236}">
                <a16:creationId xmlns:a16="http://schemas.microsoft.com/office/drawing/2014/main" id="{B0440D7D-E739-420F-ABED-4E5D214838EC}"/>
              </a:ext>
            </a:extLst>
          </p:cNvPr>
          <p:cNvSpPr>
            <a:spLocks noGrp="1"/>
          </p:cNvSpPr>
          <p:nvPr/>
        </p:nvSpPr>
        <p:spPr>
          <a:xfrm>
            <a:off x="1463040" y="15315130"/>
            <a:ext cx="8673998" cy="4709160"/>
          </a:xfrm>
          <a:prstGeom prst="rect">
            <a:avLst/>
          </a:prstGeom>
          <a:noFill/>
          <a:ln w="17145">
            <a:solidFill>
              <a:srgbClr val="073463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6" name="Poster diagram 206">
            <a:extLst>
              <a:ext uri="{FF2B5EF4-FFF2-40B4-BE49-F238E27FC236}">
                <a16:creationId xmlns:a16="http://schemas.microsoft.com/office/drawing/2014/main" id="{C0DEFAC9-EF02-4B42-B474-17FA97D60021}"/>
              </a:ext>
            </a:extLst>
          </p:cNvPr>
          <p:cNvSpPr>
            <a:spLocks noGrp="1"/>
          </p:cNvSpPr>
          <p:nvPr/>
        </p:nvSpPr>
        <p:spPr>
          <a:xfrm>
            <a:off x="1517904" y="15397426"/>
            <a:ext cx="8564270" cy="8229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100" b="1">
                <a:solidFill>
                  <a:srgbClr val="073463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073463"/>
                </a:solidFill>
                <a:latin typeface="Aptos"/>
              </a:defRPr>
            </a:pPr>
            <a:r>
              <a:rPr sz="3100" b="1">
                <a:solidFill>
                  <a:srgbClr val="073463"/>
                </a:solidFill>
                <a:latin typeface="Aptos"/>
              </a:rPr>
              <a:t>234 expanded-sample objects</a:t>
            </a:r>
          </a:p>
        </p:txBody>
      </p:sp>
      <p:sp>
        <p:nvSpPr>
          <p:cNvPr id="207" name="Poster diagram 207">
            <a:extLst>
              <a:ext uri="{FF2B5EF4-FFF2-40B4-BE49-F238E27FC236}">
                <a16:creationId xmlns:a16="http://schemas.microsoft.com/office/drawing/2014/main" id="{0810806D-B188-4E18-8185-C1F9716B0663}"/>
              </a:ext>
            </a:extLst>
          </p:cNvPr>
          <p:cNvSpPr>
            <a:spLocks noGrp="1"/>
          </p:cNvSpPr>
          <p:nvPr/>
        </p:nvSpPr>
        <p:spPr>
          <a:xfrm>
            <a:off x="1645920" y="16162669"/>
            <a:ext cx="8308238" cy="1261872"/>
          </a:xfrm>
          <a:prstGeom prst="rect">
            <a:avLst/>
          </a:prstGeom>
          <a:solidFill>
            <a:srgbClr val="F1F4F7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220 primary</a:t>
            </a: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Broad hydrogen (Balmer) line masses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 </a:t>
            </a:r>
            <a:r>
              <a:rPr lang="en-CA" sz="2000" b="0" baseline="30000" dirty="0">
                <a:solidFill>
                  <a:srgbClr val="111111"/>
                </a:solidFill>
                <a:latin typeface="Aptos"/>
              </a:rPr>
              <a:t>[2]</a:t>
            </a:r>
            <a:endParaRPr sz="3000" b="1" dirty="0">
              <a:solidFill>
                <a:srgbClr val="111111"/>
              </a:solidFill>
              <a:latin typeface="Aptos"/>
            </a:endParaRPr>
          </a:p>
        </p:txBody>
      </p:sp>
      <p:sp>
        <p:nvSpPr>
          <p:cNvPr id="208" name="Poster diagram 208">
            <a:extLst>
              <a:ext uri="{FF2B5EF4-FFF2-40B4-BE49-F238E27FC236}">
                <a16:creationId xmlns:a16="http://schemas.microsoft.com/office/drawing/2014/main" id="{FAA325B6-AF3F-4391-B001-5CEA6C0D3BA1}"/>
              </a:ext>
            </a:extLst>
          </p:cNvPr>
          <p:cNvSpPr>
            <a:spLocks noGrp="1"/>
          </p:cNvSpPr>
          <p:nvPr/>
        </p:nvSpPr>
        <p:spPr>
          <a:xfrm>
            <a:off x="1645920" y="17630522"/>
            <a:ext cx="8308238" cy="2202048"/>
          </a:xfrm>
          <a:prstGeom prst="rect">
            <a:avLst/>
          </a:prstGeom>
          <a:solidFill>
            <a:srgbClr val="F4F0F8"/>
          </a:solidFill>
          <a:ln w="0">
            <a:noFill/>
          </a:ln>
        </p:spPr>
        <p:txBody>
          <a:bodyPr lIns="114300" tIns="76200" rIns="114300" bIns="76200" anchor="ctr"/>
          <a:lstStyle>
            <a:defPPr algn="ctr">
              <a:defRPr sz="27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14 additional</a:t>
            </a:r>
            <a:r>
              <a:rPr lang="en-CA" sz="2700" b="0" dirty="0">
                <a:solidFill>
                  <a:srgbClr val="111111"/>
                </a:solidFill>
                <a:latin typeface="Aptos"/>
              </a:rPr>
              <a:t>:</a:t>
            </a:r>
            <a:endParaRPr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7 masses with uncertain line origins, 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assuming gas orbiting the black hole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lang="en-CA" sz="2700" b="0" dirty="0">
                <a:solidFill>
                  <a:srgbClr val="111111"/>
                </a:solidFill>
                <a:latin typeface="Aptos"/>
              </a:rPr>
              <a:t> </a:t>
            </a:r>
            <a:r>
              <a:rPr sz="2700" b="0" dirty="0">
                <a:solidFill>
                  <a:srgbClr val="111111"/>
                </a:solidFill>
                <a:latin typeface="Aptos"/>
              </a:rPr>
              <a:t>6 tentative broad-line detections</a:t>
            </a:r>
            <a:endParaRPr lang="en-CA" sz="27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700" b="0">
                <a:solidFill>
                  <a:srgbClr val="111111"/>
                </a:solidFill>
                <a:latin typeface="Aptos"/>
              </a:defRPr>
            </a:pPr>
            <a:r>
              <a:rPr sz="2700" b="0" dirty="0">
                <a:solidFill>
                  <a:srgbClr val="111111"/>
                </a:solidFill>
                <a:latin typeface="Aptos"/>
              </a:rPr>
              <a:t>GN-z11: ultraviolet-line mass </a:t>
            </a:r>
            <a:r>
              <a:rPr sz="1800" b="0" baseline="30000" dirty="0">
                <a:solidFill>
                  <a:srgbClr val="111111"/>
                </a:solidFill>
                <a:latin typeface="Aptos"/>
              </a:rPr>
              <a:t>[1]</a:t>
            </a:r>
          </a:p>
        </p:txBody>
      </p:sp>
      <p:sp>
        <p:nvSpPr>
          <p:cNvPr id="209" name="Poster diagram 209">
            <a:extLst>
              <a:ext uri="{FF2B5EF4-FFF2-40B4-BE49-F238E27FC236}">
                <a16:creationId xmlns:a16="http://schemas.microsoft.com/office/drawing/2014/main" id="{67E72EF7-28FB-420D-A9DC-6606EEB93072}"/>
              </a:ext>
            </a:extLst>
          </p:cNvPr>
          <p:cNvSpPr>
            <a:spLocks noGrp="1"/>
          </p:cNvSpPr>
          <p:nvPr/>
        </p:nvSpPr>
        <p:spPr>
          <a:xfrm>
            <a:off x="10548518" y="15324274"/>
            <a:ext cx="4904842" cy="4709160"/>
          </a:xfrm>
          <a:prstGeom prst="rect">
            <a:avLst/>
          </a:prstGeom>
          <a:solidFill>
            <a:srgbClr val="F5F5F5"/>
          </a:solidFill>
          <a:ln w="17145">
            <a:solidFill>
              <a:srgbClr val="AAAEB3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Outside the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growth sample</a:t>
            </a:r>
            <a:r>
              <a:rPr lang="en-CA" sz="2900" dirty="0">
                <a:solidFill>
                  <a:srgbClr val="111111"/>
                </a:solidFill>
                <a:latin typeface="Aptos"/>
              </a:rPr>
              <a:t>: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endParaRPr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98 without an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eligible mass</a:t>
            </a:r>
            <a:endParaRPr lang="en-CA" sz="290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endParaRPr lang="en-CA" sz="2900" b="0" dirty="0">
              <a:solidFill>
                <a:srgbClr val="111111"/>
              </a:solidFill>
              <a:latin typeface="Aptos"/>
            </a:endParaRPr>
          </a:p>
          <a:p>
            <a:pPr marL="457200" indent="-457200" algn="ctr">
              <a:buFont typeface="Arial" panose="020B0604020202020204" pitchFamily="34" charset="0"/>
              <a:buChar char="•"/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6 with uncertain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identity</a:t>
            </a:r>
          </a:p>
        </p:txBody>
      </p:sp>
      <p:sp>
        <p:nvSpPr>
          <p:cNvPr id="210" name="Poster diagram 210">
            <a:extLst>
              <a:ext uri="{FF2B5EF4-FFF2-40B4-BE49-F238E27FC236}">
                <a16:creationId xmlns:a16="http://schemas.microsoft.com/office/drawing/2014/main" id="{7A12F45B-766A-479C-A513-DC305E768B18}"/>
              </a:ext>
            </a:extLst>
          </p:cNvPr>
          <p:cNvSpPr>
            <a:spLocks noGrp="1"/>
          </p:cNvSpPr>
          <p:nvPr/>
        </p:nvSpPr>
        <p:spPr>
          <a:xfrm>
            <a:off x="1463040" y="24929121"/>
            <a:ext cx="14173200" cy="105156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Standardized mass, redshift and reported errors</a:t>
            </a:r>
            <a:r>
              <a:rPr lang="en-CA" sz="3000" b="1" dirty="0">
                <a:solidFill>
                  <a:srgbClr val="111111"/>
                </a:solidFill>
                <a:latin typeface="Aptos"/>
              </a:rPr>
              <a:t>;</a:t>
            </a:r>
            <a:endParaRPr sz="3000" b="1" dirty="0">
              <a:solidFill>
                <a:srgbClr val="111111"/>
              </a:solidFill>
              <a:latin typeface="Aptos"/>
            </a:endParaRPr>
          </a:p>
          <a:p>
            <a:pPr algn="ctr">
              <a:defRPr sz="3000" b="1">
                <a:solidFill>
                  <a:srgbClr val="111111"/>
                </a:solidFill>
                <a:latin typeface="Aptos"/>
              </a:defRPr>
            </a:pPr>
            <a:r>
              <a:rPr sz="3000" b="1" dirty="0">
                <a:solidFill>
                  <a:srgbClr val="111111"/>
                </a:solidFill>
                <a:latin typeface="Aptos"/>
              </a:rPr>
              <a:t>Checked identity, adopted one mass per object, retained alternatives</a:t>
            </a:r>
          </a:p>
        </p:txBody>
      </p:sp>
      <p:sp>
        <p:nvSpPr>
          <p:cNvPr id="211" name="Poster diagram 211">
            <a:extLst>
              <a:ext uri="{FF2B5EF4-FFF2-40B4-BE49-F238E27FC236}">
                <a16:creationId xmlns:a16="http://schemas.microsoft.com/office/drawing/2014/main" id="{7CA63206-32AF-4739-9D5D-3109B2CFE243}"/>
              </a:ext>
            </a:extLst>
          </p:cNvPr>
          <p:cNvSpPr>
            <a:spLocks noGrp="1"/>
          </p:cNvSpPr>
          <p:nvPr/>
        </p:nvSpPr>
        <p:spPr>
          <a:xfrm>
            <a:off x="4695444" y="26026401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2" name="Poster diagram 212">
            <a:extLst>
              <a:ext uri="{FF2B5EF4-FFF2-40B4-BE49-F238E27FC236}">
                <a16:creationId xmlns:a16="http://schemas.microsoft.com/office/drawing/2014/main" id="{F0E4059E-8B12-4811-AB13-DD1F53C26AA3}"/>
              </a:ext>
            </a:extLst>
          </p:cNvPr>
          <p:cNvSpPr>
            <a:spLocks noGrp="1"/>
          </p:cNvSpPr>
          <p:nvPr/>
        </p:nvSpPr>
        <p:spPr>
          <a:xfrm>
            <a:off x="12056364" y="26026401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3" name="Poster diagram 213">
            <a:extLst>
              <a:ext uri="{FF2B5EF4-FFF2-40B4-BE49-F238E27FC236}">
                <a16:creationId xmlns:a16="http://schemas.microsoft.com/office/drawing/2014/main" id="{58F78FE0-91A9-45C2-B422-70C8CA0D6647}"/>
              </a:ext>
            </a:extLst>
          </p:cNvPr>
          <p:cNvSpPr>
            <a:spLocks noGrp="1"/>
          </p:cNvSpPr>
          <p:nvPr/>
        </p:nvSpPr>
        <p:spPr>
          <a:xfrm>
            <a:off x="1463040" y="26501889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>
                <a:solidFill>
                  <a:srgbClr val="111111"/>
                </a:solidFill>
                <a:latin typeface="Aptos"/>
              </a:rPr>
              <a:t>Central mass estimate</a:t>
            </a:r>
          </a:p>
        </p:txBody>
      </p:sp>
      <p:sp>
        <p:nvSpPr>
          <p:cNvPr id="214" name="Poster diagram 214">
            <a:extLst>
              <a:ext uri="{FF2B5EF4-FFF2-40B4-BE49-F238E27FC236}">
                <a16:creationId xmlns:a16="http://schemas.microsoft.com/office/drawing/2014/main" id="{E0DF1478-840F-4BDD-B29E-A5B229B3783E}"/>
              </a:ext>
            </a:extLst>
          </p:cNvPr>
          <p:cNvSpPr>
            <a:spLocks noGrp="1"/>
          </p:cNvSpPr>
          <p:nvPr/>
        </p:nvSpPr>
        <p:spPr>
          <a:xfrm>
            <a:off x="8823960" y="26501889"/>
            <a:ext cx="6812280" cy="9144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8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10,000 mass-error draws</a:t>
            </a:r>
          </a:p>
          <a:p>
            <a:pPr algn="ctr">
              <a:defRPr sz="2800" b="0">
                <a:solidFill>
                  <a:srgbClr val="111111"/>
                </a:solidFill>
                <a:latin typeface="Aptos"/>
              </a:defRPr>
            </a:pPr>
            <a:r>
              <a:rPr sz="2800" b="0">
                <a:solidFill>
                  <a:srgbClr val="111111"/>
                </a:solidFill>
                <a:latin typeface="Aptos"/>
              </a:rPr>
              <a:t>per object with reported errors</a:t>
            </a:r>
          </a:p>
        </p:txBody>
      </p:sp>
      <p:sp>
        <p:nvSpPr>
          <p:cNvPr id="215" name="Poster diagram 215">
            <a:extLst>
              <a:ext uri="{FF2B5EF4-FFF2-40B4-BE49-F238E27FC236}">
                <a16:creationId xmlns:a16="http://schemas.microsoft.com/office/drawing/2014/main" id="{F3106931-3BF4-4F12-9726-6C63FA258C0A}"/>
              </a:ext>
            </a:extLst>
          </p:cNvPr>
          <p:cNvSpPr>
            <a:spLocks noGrp="1"/>
          </p:cNvSpPr>
          <p:nvPr/>
        </p:nvSpPr>
        <p:spPr>
          <a:xfrm>
            <a:off x="4695444" y="2755344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Poster diagram 216">
            <a:extLst>
              <a:ext uri="{FF2B5EF4-FFF2-40B4-BE49-F238E27FC236}">
                <a16:creationId xmlns:a16="http://schemas.microsoft.com/office/drawing/2014/main" id="{336C5316-EC48-42CE-8537-8453628B7D8C}"/>
              </a:ext>
            </a:extLst>
          </p:cNvPr>
          <p:cNvSpPr>
            <a:spLocks noGrp="1"/>
          </p:cNvSpPr>
          <p:nvPr/>
        </p:nvSpPr>
        <p:spPr>
          <a:xfrm>
            <a:off x="12056364" y="27553449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oster diagram 217">
            <a:extLst>
              <a:ext uri="{FF2B5EF4-FFF2-40B4-BE49-F238E27FC236}">
                <a16:creationId xmlns:a16="http://schemas.microsoft.com/office/drawing/2014/main" id="{971DBA1A-D2E6-408F-AF7C-16AF667673EA}"/>
              </a:ext>
            </a:extLst>
          </p:cNvPr>
          <p:cNvSpPr>
            <a:spLocks noGrp="1"/>
          </p:cNvSpPr>
          <p:nvPr/>
        </p:nvSpPr>
        <p:spPr>
          <a:xfrm>
            <a:off x="1463040" y="28056369"/>
            <a:ext cx="14173200" cy="2057400"/>
          </a:xfrm>
          <a:prstGeom prst="rect">
            <a:avLst/>
          </a:prstGeom>
          <a:solidFill>
            <a:srgbClr val="EAF1F8"/>
          </a:solidFill>
          <a:ln w="17145">
            <a:solidFill>
              <a:srgbClr val="073463"/>
            </a:solidFill>
          </a:ln>
        </p:spPr>
        <p:txBody>
          <a:bodyPr lIns="114300" tIns="76200" rIns="114300" bIns="76200" anchor="t"/>
          <a:lstStyle>
            <a:defPPr algn="ctr">
              <a:defRPr sz="3100" b="1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Calculated the required lifetime-average</a:t>
            </a:r>
          </a:p>
          <a:p>
            <a:pPr algn="ctr">
              <a:defRPr sz="3100" b="1">
                <a:solidFill>
                  <a:srgbClr val="111111"/>
                </a:solidFill>
                <a:latin typeface="Aptos"/>
              </a:defRPr>
            </a:pPr>
            <a:r>
              <a:rPr sz="3100" b="1">
                <a:solidFill>
                  <a:srgbClr val="111111"/>
                </a:solidFill>
                <a:latin typeface="Aptos"/>
              </a:rPr>
              <a:t>Eddington ratio, including inactive periods </a:t>
            </a:r>
            <a:r>
              <a:rPr sz="2067" b="0" baseline="30000">
                <a:solidFill>
                  <a:srgbClr val="111111"/>
                </a:solidFill>
                <a:latin typeface="Aptos"/>
              </a:rPr>
              <a:t>[3]</a:t>
            </a:r>
          </a:p>
        </p:txBody>
      </p:sp>
      <p:sp>
        <p:nvSpPr>
          <p:cNvPr id="218" name="Poster diagram 218">
            <a:extLst>
              <a:ext uri="{FF2B5EF4-FFF2-40B4-BE49-F238E27FC236}">
                <a16:creationId xmlns:a16="http://schemas.microsoft.com/office/drawing/2014/main" id="{C320C512-3791-4B48-9B61-7FD45A4601D4}"/>
              </a:ext>
            </a:extLst>
          </p:cNvPr>
          <p:cNvSpPr>
            <a:spLocks noGrp="1"/>
          </p:cNvSpPr>
          <p:nvPr/>
        </p:nvSpPr>
        <p:spPr>
          <a:xfrm>
            <a:off x="1463040" y="29153649"/>
            <a:ext cx="14173200" cy="914400"/>
          </a:xfrm>
          <a:prstGeom prst="rect">
            <a:avLst/>
          </a:prstGeom>
          <a:noFill/>
          <a:ln w="0">
            <a:noFill/>
          </a:ln>
        </p:spPr>
        <p:txBody>
          <a:bodyPr lIns="114300" tIns="76200" rIns="114300" bIns="76200" anchor="ctr"/>
          <a:lstStyle>
            <a:defPPr algn="ctr">
              <a:defRPr sz="30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>
                <a:solidFill>
                  <a:srgbClr val="111111"/>
                </a:solidFill>
                <a:latin typeface="Aptos"/>
              </a:rPr>
              <a:t>Reference: 100 M⊙ seeds at z = 30</a:t>
            </a:r>
          </a:p>
          <a:p>
            <a:pPr algn="ctr">
              <a:defRPr sz="3000" b="0">
                <a:solidFill>
                  <a:srgbClr val="111111"/>
                </a:solidFill>
                <a:latin typeface="Aptos"/>
              </a:defRPr>
            </a:pPr>
            <a:r>
              <a:rPr sz="3000" b="0" dirty="0" err="1">
                <a:solidFill>
                  <a:srgbClr val="111111"/>
                </a:solidFill>
                <a:latin typeface="Aptos"/>
              </a:rPr>
              <a:t>ε</a:t>
            </a:r>
            <a:r>
              <a:rPr sz="3000" b="0" dirty="0">
                <a:solidFill>
                  <a:srgbClr val="111111"/>
                </a:solidFill>
                <a:latin typeface="Aptos"/>
              </a:rPr>
              <a:t> = 0.1, no mergers</a:t>
            </a:r>
          </a:p>
        </p:txBody>
      </p:sp>
      <p:sp>
        <p:nvSpPr>
          <p:cNvPr id="219" name="Poster diagram 219">
            <a:extLst>
              <a:ext uri="{FF2B5EF4-FFF2-40B4-BE49-F238E27FC236}">
                <a16:creationId xmlns:a16="http://schemas.microsoft.com/office/drawing/2014/main" id="{A3C5BCD3-C05E-4CC3-AF1A-0840F4394EE3}"/>
              </a:ext>
            </a:extLst>
          </p:cNvPr>
          <p:cNvSpPr>
            <a:spLocks noGrp="1"/>
          </p:cNvSpPr>
          <p:nvPr/>
        </p:nvSpPr>
        <p:spPr>
          <a:xfrm>
            <a:off x="4695444" y="30214353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oster diagram 220">
            <a:extLst>
              <a:ext uri="{FF2B5EF4-FFF2-40B4-BE49-F238E27FC236}">
                <a16:creationId xmlns:a16="http://schemas.microsoft.com/office/drawing/2014/main" id="{8529AA9E-ACC8-495E-8075-1D2F4EF9602E}"/>
              </a:ext>
            </a:extLst>
          </p:cNvPr>
          <p:cNvSpPr>
            <a:spLocks noGrp="1"/>
          </p:cNvSpPr>
          <p:nvPr/>
        </p:nvSpPr>
        <p:spPr>
          <a:xfrm>
            <a:off x="12056364" y="30214353"/>
            <a:ext cx="347472" cy="329184"/>
          </a:xfrm>
          <a:prstGeom prst="downArrow">
            <a:avLst/>
          </a:prstGeom>
          <a:solidFill>
            <a:srgbClr val="52647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Poster diagram 221">
            <a:extLst>
              <a:ext uri="{FF2B5EF4-FFF2-40B4-BE49-F238E27FC236}">
                <a16:creationId xmlns:a16="http://schemas.microsoft.com/office/drawing/2014/main" id="{03BB0CC6-89F0-4BB8-91C2-A18697FB4691}"/>
              </a:ext>
            </a:extLst>
          </p:cNvPr>
          <p:cNvSpPr>
            <a:spLocks noGrp="1"/>
          </p:cNvSpPr>
          <p:nvPr/>
        </p:nvSpPr>
        <p:spPr>
          <a:xfrm>
            <a:off x="1463040" y="30689841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Ranked central estimates</a:t>
            </a:r>
            <a:r>
              <a:rPr lang="en-CA" sz="2900" b="0">
                <a:solidFill>
                  <a:srgbClr val="111111"/>
                </a:solidFill>
                <a:latin typeface="Aptos"/>
              </a:rPr>
              <a:t>;</a:t>
            </a:r>
            <a:endParaRPr sz="2900" b="0" dirty="0">
              <a:solidFill>
                <a:srgbClr val="111111"/>
              </a:solidFill>
              <a:latin typeface="Aptos"/>
            </a:endParaRP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Compared required average with 1</a:t>
            </a:r>
          </a:p>
        </p:txBody>
      </p:sp>
      <p:sp>
        <p:nvSpPr>
          <p:cNvPr id="222" name="Poster diagram 222">
            <a:extLst>
              <a:ext uri="{FF2B5EF4-FFF2-40B4-BE49-F238E27FC236}">
                <a16:creationId xmlns:a16="http://schemas.microsoft.com/office/drawing/2014/main" id="{28773224-ED00-4347-B2C6-7FB30A5D9C9B}"/>
              </a:ext>
            </a:extLst>
          </p:cNvPr>
          <p:cNvSpPr>
            <a:spLocks noGrp="1"/>
          </p:cNvSpPr>
          <p:nvPr/>
        </p:nvSpPr>
        <p:spPr>
          <a:xfrm>
            <a:off x="8823960" y="30689841"/>
            <a:ext cx="6812280" cy="1143000"/>
          </a:xfrm>
          <a:prstGeom prst="rect">
            <a:avLst/>
          </a:prstGeom>
          <a:solidFill>
            <a:srgbClr val="F1F4F7"/>
          </a:solidFill>
          <a:ln w="17145">
            <a:solidFill>
              <a:srgbClr val="526477"/>
            </a:solidFill>
          </a:ln>
        </p:spPr>
        <p:txBody>
          <a:bodyPr lIns="114300" tIns="76200" rIns="114300" bIns="76200" anchor="ctr"/>
          <a:lstStyle>
            <a:defPPr algn="ctr">
              <a:defRPr sz="2900" b="0">
                <a:solidFill>
                  <a:srgbClr val="111111"/>
                </a:solidFill>
                <a:latin typeface="Aptos"/>
              </a:defRPr>
            </a:defPPr>
          </a:lstStyle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Calculated the fraction of</a:t>
            </a:r>
          </a:p>
          <a:p>
            <a:pPr algn="ctr">
              <a:defRPr sz="2900" b="0">
                <a:solidFill>
                  <a:srgbClr val="111111"/>
                </a:solidFill>
                <a:latin typeface="Aptos"/>
              </a:defRPr>
            </a:pPr>
            <a:r>
              <a:rPr sz="2900" b="0" dirty="0">
                <a:solidFill>
                  <a:srgbClr val="111111"/>
                </a:solidFill>
                <a:latin typeface="Aptos"/>
              </a:rPr>
              <a:t>mass-error draws above 1</a:t>
            </a:r>
          </a:p>
        </p:txBody>
      </p:sp>
      <p:sp>
        <p:nvSpPr>
          <p:cNvPr id="223" name="Poster diagram 223">
            <a:extLst>
              <a:ext uri="{FF2B5EF4-FFF2-40B4-BE49-F238E27FC236}">
                <a16:creationId xmlns:a16="http://schemas.microsoft.com/office/drawing/2014/main" id="{86A37956-8DA5-40AE-A03E-2CE429C5454A}"/>
              </a:ext>
            </a:extLst>
          </p:cNvPr>
          <p:cNvSpPr>
            <a:spLocks noGrp="1"/>
          </p:cNvSpPr>
          <p:nvPr/>
        </p:nvSpPr>
        <p:spPr>
          <a:xfrm>
            <a:off x="1463040" y="32989660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Uncertainty: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Mass errors cover 208 primary / 222 expanded objects. The other 12 enter central-mass tests only. Reported mass errors do not consistently include calibration uncertainty.</a:t>
            </a:r>
          </a:p>
        </p:txBody>
      </p:sp>
      <p:sp>
        <p:nvSpPr>
          <p:cNvPr id="224" name="Poster diagram 224">
            <a:extLst>
              <a:ext uri="{FF2B5EF4-FFF2-40B4-BE49-F238E27FC236}">
                <a16:creationId xmlns:a16="http://schemas.microsoft.com/office/drawing/2014/main" id="{39DA12D1-0D37-445A-9028-17994BB6BD07}"/>
              </a:ext>
            </a:extLst>
          </p:cNvPr>
          <p:cNvSpPr>
            <a:spLocks noGrp="1"/>
          </p:cNvSpPr>
          <p:nvPr/>
        </p:nvSpPr>
        <p:spPr>
          <a:xfrm>
            <a:off x="1371600" y="34991113"/>
            <a:ext cx="14173200" cy="1600200"/>
          </a:xfrm>
          <a:prstGeom prst="rect">
            <a:avLst/>
          </a:prstGeom>
          <a:noFill/>
          <a:ln w="0">
            <a:noFill/>
          </a:ln>
        </p:spPr>
        <p:txBody>
          <a:bodyPr lIns="0" tIns="27432" rIns="0" bIns="27432" anchor="t"/>
          <a:lstStyle/>
          <a:p>
            <a:pPr algn="l">
              <a:lnSpc>
                <a:spcPct val="100000"/>
              </a:lnSpc>
              <a:buNone/>
            </a:pPr>
            <a:r>
              <a:rPr lang="en-CA" sz="3300" b="1" dirty="0">
                <a:solidFill>
                  <a:srgbClr val="000000"/>
                </a:solidFill>
                <a:latin typeface="Aptos"/>
              </a:rPr>
              <a:t>Earlier onset: </a:t>
            </a:r>
            <a:r>
              <a:rPr lang="en-CA" sz="3300" b="0" dirty="0">
                <a:solidFill>
                  <a:srgbClr val="000000"/>
                </a:solidFill>
                <a:latin typeface="Aptos"/>
              </a:rPr>
              <a:t>Solved minimum seed masses for 4 targets at start redshifts 20–3,400. Included radiation in cosmic ages and assumed gas was available.</a:t>
            </a:r>
          </a:p>
        </p:txBody>
      </p:sp>
      <p:sp>
        <p:nvSpPr>
          <p:cNvPr id="3" name="Efficiency comparison heading">
            <a:extLst>
              <a:ext uri="{FF2B5EF4-FFF2-40B4-BE49-F238E27FC236}">
                <a16:creationId xmlns:a16="http://schemas.microsoft.com/office/drawing/2014/main" id="{9C7CDCE8-5361-4FEF-24D8-015D90D4280A}"/>
              </a:ext>
            </a:extLst>
          </p:cNvPr>
          <p:cNvSpPr>
            <a:spLocks noGrp="1"/>
          </p:cNvSpPr>
          <p:nvPr/>
        </p:nvSpPr>
        <p:spPr>
          <a:xfrm>
            <a:off x="1371600" y="11510521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 dirty="0">
                <a:solidFill>
                  <a:srgbClr val="002A5C"/>
                </a:solidFill>
                <a:latin typeface="Aptos"/>
              </a:rPr>
              <a:t>Catalogue creation and sampling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442</TotalTime>
  <Words>1128</Words>
  <Application>Microsoft Macintosh PowerPoint</Application>
  <PresentationFormat>Custom</PresentationFormat>
  <Paragraphs>72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2026-10-15T19:28:19Z</dcterms:modified>
</cp:coreProperties>
</file>
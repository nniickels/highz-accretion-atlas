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701"/>
  </p:normalViewPr>
  <p:slideViewPr>
    <p:cSldViewPr snapToGrid="0">
      <p:cViewPr>
        <p:scale>
          <a:sx n="25" d="100"/>
          <a:sy n="25" d="100"/>
        </p:scale>
        <p:origin x="688" y="-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17:32:29.141" v="2461" actId="1076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  <pc:sldChg chg="modSp mod">
        <pc:chgData name="Nicole Jiang" userId="09ef0fc0f6f473b5" providerId="LiveId" clId="{EB8F4A53-0964-5BF1-90AD-931457E28E1A}" dt="2026-10-14T17:32:29.141" v="2461" actId="107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17:32:02.402" v="2460" actId="1076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17:31:29.998" v="2454" actId="14100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7:32:29.141" v="2461" actId="1076"/>
          <ac:spMkLst>
            <pc:docMk/>
            <pc:sldMk cId="868487171" sldId="261"/>
            <ac:spMk id="120" creationId="{3A05E1FE-512D-49F3-9C39-22D275F0EE18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63140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371600" y="20116800"/>
            <a:ext cx="1257300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Symbols: </a:t>
            </a:r>
            <a:r>
              <a:rPr sz="3300" b="0" lang="en-CA">
                <a:latin typeface="Aptos"/>
              </a:rPr>
              <a:t>M⊙ denotes solar mass. Higher redshift z means earlier times. ε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Eddington ratio: </a:t>
            </a:r>
            <a:r>
              <a:rPr sz="3300" b="0" lang="en-CA">
                <a:latin typeface="Aptos"/>
              </a:rPr>
              <a:t>f</a:t>
            </a:r>
            <a:r>
              <a:rPr sz="2200" b="0" lang="en-CA" baseline="-25000">
                <a:latin typeface="Aptos"/>
              </a:rPr>
              <a:t>Edd</a:t>
            </a:r>
            <a:r>
              <a:rPr sz="3300" b="0" lang="en-CA">
                <a:latin typeface="Aptos"/>
              </a:rPr>
              <a:t> = luminosity/Eddington luminosity, where radiation force balances gravity. Averages above 1 require super-Eddington episodes.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593002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947430" y="2334006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Main finding: </a:t>
            </a:r>
            <a:r>
              <a:rPr lang="en-CA" sz="3300" b="1" dirty="0">
                <a:latin typeface="Aptos"/>
              </a:rPr>
              <a:t>Most adopted masses allow growth from 100 M⊙ seeds under the reference assumptions. </a:t>
            </a:r>
            <a:r>
              <a:rPr lang="en-CA" sz="3300" b="0" dirty="0">
                <a:latin typeface="Aptos"/>
              </a:rPr>
              <a:t>Seed requirements depend on mass estimates and accretion efficiency.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Accretion physics: </a:t>
            </a:r>
            <a:r>
              <a:rPr lang="en-CA" sz="3300" b="0" dirty="0">
                <a:latin typeface="Aptos"/>
              </a:rPr>
              <a:t>Lower radiative efficiency leaves more accreted mass in the black hole, allowing faster growth at the same Eddington ratio.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Earlier growth: </a:t>
            </a:r>
            <a:r>
              <a:rPr lang="en-CA" sz="3300" b="0" dirty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Further observations: </a:t>
            </a:r>
            <a:r>
              <a:rPr lang="en-CA" sz="3300" b="0" dirty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593002"/>
            <a:ext cx="13716000" cy="10639598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Lowering masses by a factor of 3.2 leaves 3 objects above 1 in ≥ 95% of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at z = 20 raises the primary count above 1 to 18/220. At this start,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[4],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Orange points show the same objects after lowering masses by a factor of 3.2.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[5].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593002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699E157F-D92A-4991-98FC-648C3BD43D75}"/>
              </a:ext>
            </a:extLst>
          </p:cNvPr>
          <p:cNvSpPr>
            <a:spLocks noGrp="1"/>
          </p:cNvSpPr>
          <p:nvPr/>
        </p:nvSpPr>
        <p:spPr>
          <a:xfrm>
            <a:off x="1371600" y="11612880"/>
            <a:ext cx="1257300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350 measurements from 32 source families</a:t>
            </a:r>
          </a:p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Redshift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5DBF8BE7-B1E4-448E-A58E-05E47AA1B6BF}"/>
              </a:ext>
            </a:extLst>
          </p:cNvPr>
          <p:cNvSpPr>
            <a:spLocks noGrp="1"/>
          </p:cNvSpPr>
          <p:nvPr/>
        </p:nvSpPr>
        <p:spPr>
          <a:xfrm>
            <a:off x="7484364" y="12838176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13455C7A-1969-4193-8FCE-1C4BF57AF011}"/>
              </a:ext>
            </a:extLst>
          </p:cNvPr>
          <p:cNvSpPr>
            <a:spLocks noGrp="1"/>
          </p:cNvSpPr>
          <p:nvPr/>
        </p:nvSpPr>
        <p:spPr>
          <a:xfrm>
            <a:off x="1371600" y="13286232"/>
            <a:ext cx="125730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EAA1C549-274B-423F-829F-29353AE1D53A}"/>
              </a:ext>
            </a:extLst>
          </p:cNvPr>
          <p:cNvSpPr>
            <a:spLocks noGrp="1"/>
          </p:cNvSpPr>
          <p:nvPr/>
        </p:nvSpPr>
        <p:spPr>
          <a:xfrm>
            <a:off x="5095494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C109BC12-FDD0-491E-8C8A-2687CF138CCA}"/>
              </a:ext>
            </a:extLst>
          </p:cNvPr>
          <p:cNvSpPr>
            <a:spLocks noGrp="1"/>
          </p:cNvSpPr>
          <p:nvPr/>
        </p:nvSpPr>
        <p:spPr>
          <a:xfrm>
            <a:off x="11587734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478ABDB6-0B96-4A0D-A2AF-9FAC0E20999C}"/>
              </a:ext>
            </a:extLst>
          </p:cNvPr>
          <p:cNvSpPr>
            <a:spLocks noGrp="1"/>
          </p:cNvSpPr>
          <p:nvPr/>
        </p:nvSpPr>
        <p:spPr>
          <a:xfrm>
            <a:off x="1371600" y="14813280"/>
            <a:ext cx="7795260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D11B0026-3AB5-4B4F-84C2-4956D6F75635}"/>
              </a:ext>
            </a:extLst>
          </p:cNvPr>
          <p:cNvSpPr>
            <a:spLocks noGrp="1"/>
          </p:cNvSpPr>
          <p:nvPr/>
        </p:nvSpPr>
        <p:spPr>
          <a:xfrm>
            <a:off x="1426464" y="14886432"/>
            <a:ext cx="7685532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CFB55C1A-2745-4795-A511-49FE34102BDE}"/>
              </a:ext>
            </a:extLst>
          </p:cNvPr>
          <p:cNvSpPr>
            <a:spLocks noGrp="1"/>
          </p:cNvSpPr>
          <p:nvPr/>
        </p:nvSpPr>
        <p:spPr>
          <a:xfrm>
            <a:off x="1554480" y="15892272"/>
            <a:ext cx="7429500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Broad hydrogen (Balmer) line masses</a:t>
            </a: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3017308C-0697-4E37-A2DE-C225A0163F7E}"/>
              </a:ext>
            </a:extLst>
          </p:cNvPr>
          <p:cNvSpPr>
            <a:spLocks noGrp="1"/>
          </p:cNvSpPr>
          <p:nvPr/>
        </p:nvSpPr>
        <p:spPr>
          <a:xfrm>
            <a:off x="1554480" y="17309592"/>
            <a:ext cx="7429500" cy="192024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14 additional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7 masses conditional on a broad-line-region interpretation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6 tentative broad-line detections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GN-z11: ultraviolet-line mass [2]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83384E18-F6A1-4415-B6AD-8D310D36F76D}"/>
              </a:ext>
            </a:extLst>
          </p:cNvPr>
          <p:cNvSpPr>
            <a:spLocks noGrp="1"/>
          </p:cNvSpPr>
          <p:nvPr/>
        </p:nvSpPr>
        <p:spPr>
          <a:xfrm>
            <a:off x="9578340" y="14813280"/>
            <a:ext cx="4366260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growth sample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FC2FBDF4-26D3-4EB9-91DD-DF6E6C80D892}"/>
              </a:ext>
            </a:extLst>
          </p:cNvPr>
          <p:cNvSpPr>
            <a:spLocks noGrp="1"/>
          </p:cNvSpPr>
          <p:nvPr/>
        </p:nvSpPr>
        <p:spPr>
          <a:xfrm>
            <a:off x="15224760" y="22448520"/>
            <a:ext cx="1312164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Standardized mass, redshift and reported errors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5BCCA90D-B247-4C43-814D-3F33FA0060AF}"/>
              </a:ext>
            </a:extLst>
          </p:cNvPr>
          <p:cNvSpPr>
            <a:spLocks noGrp="1"/>
          </p:cNvSpPr>
          <p:nvPr/>
        </p:nvSpPr>
        <p:spPr>
          <a:xfrm>
            <a:off x="18194274" y="2354580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3917DDD1-8042-4AA2-8AD5-11B2F4BE63EA}"/>
              </a:ext>
            </a:extLst>
          </p:cNvPr>
          <p:cNvSpPr>
            <a:spLocks noGrp="1"/>
          </p:cNvSpPr>
          <p:nvPr/>
        </p:nvSpPr>
        <p:spPr>
          <a:xfrm>
            <a:off x="25029414" y="2354580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4E8C6044-EF62-4751-B025-2C17DAD8AEF5}"/>
              </a:ext>
            </a:extLst>
          </p:cNvPr>
          <p:cNvSpPr>
            <a:spLocks noGrp="1"/>
          </p:cNvSpPr>
          <p:nvPr/>
        </p:nvSpPr>
        <p:spPr>
          <a:xfrm>
            <a:off x="15224760" y="24021288"/>
            <a:ext cx="62865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DAC20B4A-A658-4E92-B13B-380145428A3B}"/>
              </a:ext>
            </a:extLst>
          </p:cNvPr>
          <p:cNvSpPr>
            <a:spLocks noGrp="1"/>
          </p:cNvSpPr>
          <p:nvPr/>
        </p:nvSpPr>
        <p:spPr>
          <a:xfrm>
            <a:off x="22059900" y="24021288"/>
            <a:ext cx="62865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D7E65BAE-A999-431D-B9B3-80E79DD35FE0}"/>
              </a:ext>
            </a:extLst>
          </p:cNvPr>
          <p:cNvSpPr>
            <a:spLocks noGrp="1"/>
          </p:cNvSpPr>
          <p:nvPr/>
        </p:nvSpPr>
        <p:spPr>
          <a:xfrm>
            <a:off x="18194274" y="2507284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DCEE644A-F16E-4A42-AD30-DE3878F3B770}"/>
              </a:ext>
            </a:extLst>
          </p:cNvPr>
          <p:cNvSpPr>
            <a:spLocks noGrp="1"/>
          </p:cNvSpPr>
          <p:nvPr/>
        </p:nvSpPr>
        <p:spPr>
          <a:xfrm>
            <a:off x="25029414" y="2507284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83BE33FA-0BE4-4E6E-9671-91960EE5F8B8}"/>
              </a:ext>
            </a:extLst>
          </p:cNvPr>
          <p:cNvSpPr>
            <a:spLocks noGrp="1"/>
          </p:cNvSpPr>
          <p:nvPr/>
        </p:nvSpPr>
        <p:spPr>
          <a:xfrm>
            <a:off x="15224760" y="25575768"/>
            <a:ext cx="1312164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A38D446-83F8-4993-A092-27D80A515CCA}"/>
              </a:ext>
            </a:extLst>
          </p:cNvPr>
          <p:cNvSpPr>
            <a:spLocks noGrp="1"/>
          </p:cNvSpPr>
          <p:nvPr/>
        </p:nvSpPr>
        <p:spPr>
          <a:xfrm>
            <a:off x="15224760" y="26718768"/>
            <a:ext cx="1312164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ε = 0.1, no mergers [3]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B0628F24-9EF4-4DE9-BECB-ADFC3A58B166}"/>
              </a:ext>
            </a:extLst>
          </p:cNvPr>
          <p:cNvSpPr>
            <a:spLocks noGrp="1"/>
          </p:cNvSpPr>
          <p:nvPr/>
        </p:nvSpPr>
        <p:spPr>
          <a:xfrm>
            <a:off x="18194274" y="2773375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E7284162-1248-4C50-B8BF-BE53AF794261}"/>
              </a:ext>
            </a:extLst>
          </p:cNvPr>
          <p:cNvSpPr>
            <a:spLocks noGrp="1"/>
          </p:cNvSpPr>
          <p:nvPr/>
        </p:nvSpPr>
        <p:spPr>
          <a:xfrm>
            <a:off x="25029414" y="2773375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7AE6533C-DEBF-46B3-8658-BD2DC6AE2CA0}"/>
              </a:ext>
            </a:extLst>
          </p:cNvPr>
          <p:cNvSpPr>
            <a:spLocks noGrp="1"/>
          </p:cNvSpPr>
          <p:nvPr/>
        </p:nvSpPr>
        <p:spPr>
          <a:xfrm>
            <a:off x="15224760" y="28209240"/>
            <a:ext cx="628650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Ranked central estimates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D26B3176-767C-4316-80CE-C57B87C92DA0}"/>
              </a:ext>
            </a:extLst>
          </p:cNvPr>
          <p:cNvSpPr>
            <a:spLocks noGrp="1"/>
          </p:cNvSpPr>
          <p:nvPr/>
        </p:nvSpPr>
        <p:spPr>
          <a:xfrm>
            <a:off x="22059900" y="28209240"/>
            <a:ext cx="628650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2882665A-D6D9-423A-A054-7B52C6BCF1E0}"/>
              </a:ext>
            </a:extLst>
          </p:cNvPr>
          <p:cNvSpPr>
            <a:spLocks noGrp="1"/>
          </p:cNvSpPr>
          <p:nvPr/>
        </p:nvSpPr>
        <p:spPr>
          <a:xfrm>
            <a:off x="15224760" y="29507688"/>
            <a:ext cx="13121640" cy="12801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Uncertainty: 208 primary / 222 expanded objects.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The other 12 enter central-mass tests only.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Reported errors may omit calibration scatter.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57EE3F94-1D51-4430-BA71-93AF37DFF9D4}"/>
              </a:ext>
            </a:extLst>
          </p:cNvPr>
          <p:cNvSpPr>
            <a:spLocks noGrp="1"/>
          </p:cNvSpPr>
          <p:nvPr/>
        </p:nvSpPr>
        <p:spPr>
          <a:xfrm>
            <a:off x="15224760" y="30906720"/>
            <a:ext cx="13121640" cy="13716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Earlier growth: Inverted the growth law for 4 targets at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start redshifts 20–3,400. Included radiation in cosmic ages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and assumed gas was available.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</TotalTime>
  <Words>1872</Words>
  <Application>Microsoft Macintosh PowerPoint</Application>
  <PresentationFormat>Custom</PresentationFormat>
  <Paragraphs>77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2026-10-14T17:32:39Z</dcterms:modified>
</cp:coreProperties>
</file>
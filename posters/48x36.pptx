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60" r:id="rId1"/>
  </p:sldMasterIdLst>
  <p:notesMasterIdLst>
    <p:notesMasterId r:id="rId3"/>
  </p:notesMasterIdLst>
  <p:sldIdLst>
    <p:sldId id="262" r:id="rId2"/>
  </p:sldIdLst>
  <p:sldSz cx="43891200" cy="329184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2A5C"/>
    <a:srgbClr val="002F65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6082"/>
    <p:restoredTop sz="94701"/>
  </p:normalViewPr>
  <p:slideViewPr>
    <p:cSldViewPr snapToGrid="0">
      <p:cViewPr>
        <p:scale>
          <a:sx n="22" d="100"/>
          <a:sy n="22" d="100"/>
        </p:scale>
        <p:origin x="1064" y="4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microsoft.com/office/2016/11/relationships/changesInfo" Target="changesInfos/changesInfo1.xml"/><Relationship Id="rId3" Type="http://schemas.openxmlformats.org/officeDocument/2006/relationships/notesMaster" Target="notesMasters/notesMaster1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Guest User" providerId="Windows Live" clId="Web-{6473874E-BB57-4884-5C66-EE1C81F1FB1F}"/>
    <pc:docChg chg="modSld">
      <pc:chgData name="Guest User" userId="" providerId="Windows Live" clId="Web-{6473874E-BB57-4884-5C66-EE1C81F1FB1F}" dt="2026-10-06T18:07:50.156" v="49" actId="14100"/>
      <pc:docMkLst>
        <pc:docMk/>
      </pc:docMkLst>
    </pc:docChg>
  </pc:docChgLst>
  <pc:docChgLst>
    <pc:chgData name="Nicole Jiang" userId="09ef0fc0f6f473b5" providerId="LiveId" clId="{EB8F4A53-0964-5BF1-90AD-931457E28E1A}"/>
    <pc:docChg chg="undo redo custSel addSld delSld modSld">
      <pc:chgData name="Nicole Jiang" userId="09ef0fc0f6f473b5" providerId="LiveId" clId="{EB8F4A53-0964-5BF1-90AD-931457E28E1A}" dt="2026-10-16T03:57:57.129" v="2573" actId="2696"/>
      <pc:docMkLst>
        <pc:docMk/>
      </pc:docMkLst>
      <pc:sldChg chg="addSp delSp modSp del mod">
        <pc:chgData name="Nicole Jiang" userId="09ef0fc0f6f473b5" providerId="LiveId" clId="{EB8F4A53-0964-5BF1-90AD-931457E28E1A}" dt="2026-10-16T03:57:57.129" v="2573" actId="2696"/>
        <pc:sldMkLst>
          <pc:docMk/>
          <pc:sldMk cId="868487171" sldId="261"/>
        </pc:sldMkLst>
        <pc:spChg chg="mod">
          <ac:chgData name="Nicole Jiang" userId="09ef0fc0f6f473b5" providerId="LiveId" clId="{EB8F4A53-0964-5BF1-90AD-931457E28E1A}" dt="2026-10-15T19:27:02.577" v="2561" actId="1076"/>
          <ac:spMkLst>
            <pc:docMk/>
            <pc:sldMk cId="868487171" sldId="261"/>
            <ac:spMk id="2" creationId="{6F669F8B-BE33-0C82-515C-AF8D3B759FB3}"/>
          </ac:spMkLst>
        </pc:spChg>
        <pc:spChg chg="add mod">
          <ac:chgData name="Nicole Jiang" userId="09ef0fc0f6f473b5" providerId="LiveId" clId="{EB8F4A53-0964-5BF1-90AD-931457E28E1A}" dt="2026-10-15T03:53:22.610" v="2552" actId="14100"/>
          <ac:spMkLst>
            <pc:docMk/>
            <pc:sldMk cId="868487171" sldId="261"/>
            <ac:spMk id="8" creationId="{9C3531A0-DA17-4C0D-FBA9-F5FDB919A1B0}"/>
          </ac:spMkLst>
        </pc:spChg>
        <pc:spChg chg="add mod">
          <ac:chgData name="Nicole Jiang" userId="09ef0fc0f6f473b5" providerId="LiveId" clId="{EB8F4A53-0964-5BF1-90AD-931457E28E1A}" dt="2026-10-15T19:27:02.577" v="2561" actId="1076"/>
          <ac:spMkLst>
            <pc:docMk/>
            <pc:sldMk cId="868487171" sldId="261"/>
            <ac:spMk id="9" creationId="{FDB40514-F485-5888-F9CA-4FD66F13751C}"/>
          </ac:spMkLst>
        </pc:spChg>
        <pc:spChg chg="add mod">
          <ac:chgData name="Nicole Jiang" userId="09ef0fc0f6f473b5" providerId="LiveId" clId="{EB8F4A53-0964-5BF1-90AD-931457E28E1A}" dt="2026-10-15T19:31:41.552" v="2563" actId="767"/>
          <ac:spMkLst>
            <pc:docMk/>
            <pc:sldMk cId="868487171" sldId="261"/>
            <ac:spMk id="12" creationId="{5DC72718-6C60-2C90-968B-10AEC28AEEA4}"/>
          </ac:spMkLst>
        </pc:spChg>
        <pc:spChg chg="mod">
          <ac:chgData name="Nicole Jiang" userId="09ef0fc0f6f473b5" providerId="LiveId" clId="{EB8F4A53-0964-5BF1-90AD-931457E28E1A}" dt="2026-10-15T19:27:02.577" v="2561" actId="1076"/>
          <ac:spMkLst>
            <pc:docMk/>
            <pc:sldMk cId="868487171" sldId="261"/>
            <ac:spMk id="15" creationId="{B71483CE-2A7E-6438-7E3B-E605C17C7099}"/>
          </ac:spMkLst>
        </pc:spChg>
        <pc:spChg chg="mod">
          <ac:chgData name="Nicole Jiang" userId="09ef0fc0f6f473b5" providerId="LiveId" clId="{EB8F4A53-0964-5BF1-90AD-931457E28E1A}" dt="2026-10-15T19:31:40.471" v="2562" actId="122"/>
          <ac:spMkLst>
            <pc:docMk/>
            <pc:sldMk cId="868487171" sldId="261"/>
            <ac:spMk id="32" creationId="{F8D50A2A-9B61-AD34-B9C2-8944BB27426C}"/>
          </ac:spMkLst>
        </pc:spChg>
        <pc:spChg chg="mod">
          <ac:chgData name="Nicole Jiang" userId="09ef0fc0f6f473b5" providerId="LiveId" clId="{EB8F4A53-0964-5BF1-90AD-931457E28E1A}" dt="2026-10-15T19:27:02.577" v="2561" actId="1076"/>
          <ac:spMkLst>
            <pc:docMk/>
            <pc:sldMk cId="868487171" sldId="261"/>
            <ac:spMk id="69" creationId="{D8B6836B-DAF1-F68F-D717-73D3A454BC2E}"/>
          </ac:spMkLst>
        </pc:spChg>
        <pc:spChg chg="mod">
          <ac:chgData name="Nicole Jiang" userId="09ef0fc0f6f473b5" providerId="LiveId" clId="{EB8F4A53-0964-5BF1-90AD-931457E28E1A}" dt="2026-10-15T01:51:55.418" v="2502" actId="1076"/>
          <ac:spMkLst>
            <pc:docMk/>
            <pc:sldMk cId="868487171" sldId="261"/>
            <ac:spMk id="73" creationId="{88C51BF9-B81A-ECF4-F01D-305CA1CE9DD1}"/>
          </ac:spMkLst>
        </pc:spChg>
        <pc:spChg chg="mod">
          <ac:chgData name="Nicole Jiang" userId="09ef0fc0f6f473b5" providerId="LiveId" clId="{EB8F4A53-0964-5BF1-90AD-931457E28E1A}" dt="2026-10-14T19:31:16.008" v="2466" actId="14100"/>
          <ac:spMkLst>
            <pc:docMk/>
            <pc:sldMk cId="868487171" sldId="261"/>
            <ac:spMk id="74" creationId="{F5F0E6D1-7308-2846-C555-5A8981E84E43}"/>
          </ac:spMkLst>
        </pc:spChg>
        <pc:spChg chg="mod">
          <ac:chgData name="Nicole Jiang" userId="09ef0fc0f6f473b5" providerId="LiveId" clId="{EB8F4A53-0964-5BF1-90AD-931457E28E1A}" dt="2026-10-14T17:31:52.763" v="2458" actId="1076"/>
          <ac:spMkLst>
            <pc:docMk/>
            <pc:sldMk cId="868487171" sldId="261"/>
            <ac:spMk id="78" creationId="{D50205E6-BF86-6F08-991C-43F597FDF8DD}"/>
          </ac:spMkLst>
        </pc:spChg>
        <pc:spChg chg="del mod">
          <ac:chgData name="Nicole Jiang" userId="09ef0fc0f6f473b5" providerId="LiveId" clId="{EB8F4A53-0964-5BF1-90AD-931457E28E1A}" dt="2026-10-15T03:17:28.402" v="2532"/>
          <ac:spMkLst>
            <pc:docMk/>
            <pc:sldMk cId="868487171" sldId="261"/>
            <ac:spMk id="79" creationId="{3DD5B540-2EC8-A5A1-200C-994C1D7C8BFD}"/>
          </ac:spMkLst>
        </pc:spChg>
        <pc:spChg chg="mod">
          <ac:chgData name="Nicole Jiang" userId="09ef0fc0f6f473b5" providerId="LiveId" clId="{EB8F4A53-0964-5BF1-90AD-931457E28E1A}" dt="2026-10-15T03:53:09.849" v="2549" actId="14100"/>
          <ac:spMkLst>
            <pc:docMk/>
            <pc:sldMk cId="868487171" sldId="261"/>
            <ac:spMk id="80" creationId="{BBD5C8AB-335C-2E4D-00F6-4B0BF74BB013}"/>
          </ac:spMkLst>
        </pc:spChg>
        <pc:spChg chg="add del mod">
          <ac:chgData name="Nicole Jiang" userId="09ef0fc0f6f473b5" providerId="LiveId" clId="{EB8F4A53-0964-5BF1-90AD-931457E28E1A}" dt="2026-10-15T03:53:03.465" v="2547" actId="1076"/>
          <ac:spMkLst>
            <pc:docMk/>
            <pc:sldMk cId="868487171" sldId="261"/>
            <ac:spMk id="81" creationId="{8E773A53-2851-D565-B46F-D419BA57021E}"/>
          </ac:spMkLst>
        </pc:spChg>
        <pc:spChg chg="add del mod">
          <ac:chgData name="Nicole Jiang" userId="09ef0fc0f6f473b5" providerId="LiveId" clId="{EB8F4A53-0964-5BF1-90AD-931457E28E1A}" dt="2026-10-15T03:53:26.839" v="2553" actId="1076"/>
          <ac:spMkLst>
            <pc:docMk/>
            <pc:sldMk cId="868487171" sldId="261"/>
            <ac:spMk id="82" creationId="{82B57F9D-B4AF-1E4D-7FBC-B8680CB4CAB8}"/>
          </ac:spMkLst>
        </pc:spChg>
        <pc:spChg chg="add del mod">
          <ac:chgData name="Nicole Jiang" userId="09ef0fc0f6f473b5" providerId="LiveId" clId="{EB8F4A53-0964-5BF1-90AD-931457E28E1A}" dt="2026-10-15T19:25:45.133" v="2558" actId="14100"/>
          <ac:spMkLst>
            <pc:docMk/>
            <pc:sldMk cId="868487171" sldId="261"/>
            <ac:spMk id="83" creationId="{7156AF1B-4C0F-9637-8495-BA5941742B85}"/>
          </ac:spMkLst>
        </pc:spChg>
        <pc:spChg chg="mod">
          <ac:chgData name="Nicole Jiang" userId="09ef0fc0f6f473b5" providerId="LiveId" clId="{EB8F4A53-0964-5BF1-90AD-931457E28E1A}" dt="2026-10-15T01:37:06.203" v="2471" actId="1076"/>
          <ac:spMkLst>
            <pc:docMk/>
            <pc:sldMk cId="868487171" sldId="261"/>
            <ac:spMk id="112" creationId="{00000000-0000-0000-0000-000000000000}"/>
          </ac:spMkLst>
        </pc:spChg>
        <pc:spChg chg="mod">
          <ac:chgData name="Nicole Jiang" userId="09ef0fc0f6f473b5" providerId="LiveId" clId="{EB8F4A53-0964-5BF1-90AD-931457E28E1A}" dt="2026-10-15T19:27:02.577" v="2561" actId="1076"/>
          <ac:spMkLst>
            <pc:docMk/>
            <pc:sldMk cId="868487171" sldId="261"/>
            <ac:spMk id="120" creationId="{3A05E1FE-512D-49F3-9C39-22D275F0EE18}"/>
          </ac:spMkLst>
        </pc:spChg>
        <pc:spChg chg="mod">
          <ac:chgData name="Nicole Jiang" userId="09ef0fc0f6f473b5" providerId="LiveId" clId="{EB8F4A53-0964-5BF1-90AD-931457E28E1A}" dt="2026-10-15T03:18:24.947" v="2540" actId="14100"/>
          <ac:spMkLst>
            <pc:docMk/>
            <pc:sldMk cId="868487171" sldId="261"/>
            <ac:spMk id="202" creationId="{A4F32B50-A70B-4AAD-866D-8A9AFB77BA97}"/>
          </ac:spMkLst>
        </pc:spChg>
        <pc:spChg chg="mod">
          <ac:chgData name="Nicole Jiang" userId="09ef0fc0f6f473b5" providerId="LiveId" clId="{EB8F4A53-0964-5BF1-90AD-931457E28E1A}" dt="2026-10-15T19:27:02.577" v="2561" actId="1076"/>
          <ac:spMkLst>
            <pc:docMk/>
            <pc:sldMk cId="868487171" sldId="261"/>
            <ac:spMk id="203" creationId="{4B9D32E4-35CC-401A-84F3-9B0E93812FF3}"/>
          </ac:spMkLst>
        </pc:spChg>
        <pc:spChg chg="mod">
          <ac:chgData name="Nicole Jiang" userId="09ef0fc0f6f473b5" providerId="LiveId" clId="{EB8F4A53-0964-5BF1-90AD-931457E28E1A}" dt="2026-10-15T01:46:04.408" v="2500" actId="5793"/>
          <ac:spMkLst>
            <pc:docMk/>
            <pc:sldMk cId="868487171" sldId="261"/>
            <ac:spMk id="208" creationId="{FAA325B6-AF3F-4391-B001-5CEA6C0D3BA1}"/>
          </ac:spMkLst>
        </pc:spChg>
        <pc:spChg chg="mod">
          <ac:chgData name="Nicole Jiang" userId="09ef0fc0f6f473b5" providerId="LiveId" clId="{EB8F4A53-0964-5BF1-90AD-931457E28E1A}" dt="2026-10-15T19:27:02.577" v="2561" actId="1076"/>
          <ac:spMkLst>
            <pc:docMk/>
            <pc:sldMk cId="868487171" sldId="261"/>
            <ac:spMk id="209" creationId="{67E72EF7-28FB-420D-A9DC-6606EEB93072}"/>
          </ac:spMkLst>
        </pc:spChg>
        <pc:spChg chg="mod">
          <ac:chgData name="Nicole Jiang" userId="09ef0fc0f6f473b5" providerId="LiveId" clId="{EB8F4A53-0964-5BF1-90AD-931457E28E1A}" dt="2026-10-15T19:27:02.577" v="2561" actId="1076"/>
          <ac:spMkLst>
            <pc:docMk/>
            <pc:sldMk cId="868487171" sldId="261"/>
            <ac:spMk id="210" creationId="{7A12F45B-766A-479C-A513-DC305E768B18}"/>
          </ac:spMkLst>
        </pc:spChg>
        <pc:spChg chg="mod">
          <ac:chgData name="Nicole Jiang" userId="09ef0fc0f6f473b5" providerId="LiveId" clId="{EB8F4A53-0964-5BF1-90AD-931457E28E1A}" dt="2026-10-15T03:18:07.379" v="2538" actId="1076"/>
          <ac:spMkLst>
            <pc:docMk/>
            <pc:sldMk cId="868487171" sldId="261"/>
            <ac:spMk id="212" creationId="{F0E4059E-8B12-4811-AB13-DD1F53C26AA3}"/>
          </ac:spMkLst>
        </pc:spChg>
        <pc:spChg chg="mod">
          <ac:chgData name="Nicole Jiang" userId="09ef0fc0f6f473b5" providerId="LiveId" clId="{EB8F4A53-0964-5BF1-90AD-931457E28E1A}" dt="2026-10-15T03:17:42.606" v="2533" actId="14100"/>
          <ac:spMkLst>
            <pc:docMk/>
            <pc:sldMk cId="868487171" sldId="261"/>
            <ac:spMk id="214" creationId="{E0DF1478-840F-4BDD-B29E-A5B229B3783E}"/>
          </ac:spMkLst>
        </pc:spChg>
        <pc:spChg chg="mod">
          <ac:chgData name="Nicole Jiang" userId="09ef0fc0f6f473b5" providerId="LiveId" clId="{EB8F4A53-0964-5BF1-90AD-931457E28E1A}" dt="2026-10-15T03:18:02.124" v="2537" actId="1076"/>
          <ac:spMkLst>
            <pc:docMk/>
            <pc:sldMk cId="868487171" sldId="261"/>
            <ac:spMk id="216" creationId="{336C5316-EC48-42CE-8537-8453628B7D8C}"/>
          </ac:spMkLst>
        </pc:spChg>
        <pc:spChg chg="mod">
          <ac:chgData name="Nicole Jiang" userId="09ef0fc0f6f473b5" providerId="LiveId" clId="{EB8F4A53-0964-5BF1-90AD-931457E28E1A}" dt="2026-10-15T03:17:45.098" v="2534" actId="14100"/>
          <ac:spMkLst>
            <pc:docMk/>
            <pc:sldMk cId="868487171" sldId="261"/>
            <ac:spMk id="217" creationId="{971DBA1A-D2E6-408F-AF7C-16AF667673EA}"/>
          </ac:spMkLst>
        </pc:spChg>
        <pc:spChg chg="mod">
          <ac:chgData name="Nicole Jiang" userId="09ef0fc0f6f473b5" providerId="LiveId" clId="{EB8F4A53-0964-5BF1-90AD-931457E28E1A}" dt="2026-10-15T19:27:02.577" v="2561" actId="1076"/>
          <ac:spMkLst>
            <pc:docMk/>
            <pc:sldMk cId="868487171" sldId="261"/>
            <ac:spMk id="219" creationId="{A3C5BCD3-C05E-4CC3-AF1A-0840F4394EE3}"/>
          </ac:spMkLst>
        </pc:spChg>
        <pc:spChg chg="mod">
          <ac:chgData name="Nicole Jiang" userId="09ef0fc0f6f473b5" providerId="LiveId" clId="{EB8F4A53-0964-5BF1-90AD-931457E28E1A}" dt="2026-10-15T19:27:02.577" v="2561" actId="1076"/>
          <ac:spMkLst>
            <pc:docMk/>
            <pc:sldMk cId="868487171" sldId="261"/>
            <ac:spMk id="220" creationId="{8529AA9E-ACC8-495E-8075-1D2F4EF9602E}"/>
          </ac:spMkLst>
        </pc:spChg>
        <pc:spChg chg="mod">
          <ac:chgData name="Nicole Jiang" userId="09ef0fc0f6f473b5" providerId="LiveId" clId="{EB8F4A53-0964-5BF1-90AD-931457E28E1A}" dt="2026-10-15T01:46:28.605" v="2501" actId="20577"/>
          <ac:spMkLst>
            <pc:docMk/>
            <pc:sldMk cId="868487171" sldId="261"/>
            <ac:spMk id="221" creationId="{03BB0CC6-89F0-4BB8-91C2-A18697FB4691}"/>
          </ac:spMkLst>
        </pc:spChg>
        <pc:spChg chg="mod">
          <ac:chgData name="Nicole Jiang" userId="09ef0fc0f6f473b5" providerId="LiveId" clId="{EB8F4A53-0964-5BF1-90AD-931457E28E1A}" dt="2026-10-15T03:17:48.411" v="2535" actId="14100"/>
          <ac:spMkLst>
            <pc:docMk/>
            <pc:sldMk cId="868487171" sldId="261"/>
            <ac:spMk id="222" creationId="{28773224-ED00-4347-B2C6-7FB30A5D9C9B}"/>
          </ac:spMkLst>
        </pc:spChg>
        <pc:spChg chg="mod">
          <ac:chgData name="Nicole Jiang" userId="09ef0fc0f6f473b5" providerId="LiveId" clId="{EB8F4A53-0964-5BF1-90AD-931457E28E1A}" dt="2026-10-15T01:52:04.929" v="2503" actId="1076"/>
          <ac:spMkLst>
            <pc:docMk/>
            <pc:sldMk cId="868487171" sldId="261"/>
            <ac:spMk id="223" creationId="{86A37956-8DA5-40AE-A03E-2CE429C5454A}"/>
          </ac:spMkLst>
        </pc:spChg>
        <pc:picChg chg="mod modCrop">
          <ac:chgData name="Nicole Jiang" userId="09ef0fc0f6f473b5" providerId="LiveId" clId="{EB8F4A53-0964-5BF1-90AD-931457E28E1A}" dt="2026-10-15T03:18:33.760" v="2541" actId="1076"/>
          <ac:picMkLst>
            <pc:docMk/>
            <pc:sldMk cId="868487171" sldId="261"/>
            <ac:picMk id="4" creationId="{C4337658-2539-7C1B-497A-E1769149148E}"/>
          </ac:picMkLst>
        </pc:picChg>
        <pc:picChg chg="add mod">
          <ac:chgData name="Nicole Jiang" userId="09ef0fc0f6f473b5" providerId="LiveId" clId="{EB8F4A53-0964-5BF1-90AD-931457E28E1A}" dt="2026-10-15T01:37:29.639" v="2476" actId="571"/>
          <ac:picMkLst>
            <pc:docMk/>
            <pc:sldMk cId="868487171" sldId="261"/>
            <ac:picMk id="8" creationId="{2930BF46-B72C-5909-E11B-55747986219E}"/>
          </ac:picMkLst>
        </pc:picChg>
        <pc:picChg chg="mod">
          <ac:chgData name="Nicole Jiang" userId="09ef0fc0f6f473b5" providerId="LiveId" clId="{EB8F4A53-0964-5BF1-90AD-931457E28E1A}" dt="2026-10-15T01:37:01.377" v="2470" actId="1076"/>
          <ac:picMkLst>
            <pc:docMk/>
            <pc:sldMk cId="868487171" sldId="261"/>
            <ac:picMk id="14" creationId="{C3CA3027-10C5-D39A-05B0-82DB2540F9D3}"/>
          </ac:picMkLst>
        </pc:picChg>
      </pc:sldChg>
      <pc:sldChg chg="addSp delSp modSp mod">
        <pc:chgData name="Nicole Jiang" userId="09ef0fc0f6f473b5" providerId="LiveId" clId="{EB8F4A53-0964-5BF1-90AD-931457E28E1A}" dt="2026-10-16T03:56:54.229" v="2572" actId="1076"/>
        <pc:sldMkLst>
          <pc:docMk/>
          <pc:sldMk cId="868487171" sldId="262"/>
        </pc:sldMkLst>
        <pc:spChg chg="add mod">
          <ac:chgData name="Nicole Jiang" userId="09ef0fc0f6f473b5" providerId="LiveId" clId="{EB8F4A53-0964-5BF1-90AD-931457E28E1A}" dt="2026-10-16T03:56:30.360" v="2567" actId="14100"/>
          <ac:spMkLst>
            <pc:docMk/>
            <pc:sldMk cId="868487171" sldId="262"/>
            <ac:spMk id="12" creationId="{E8D6C14F-DB4A-BA95-FDD9-79FE7C3D7735}"/>
          </ac:spMkLst>
        </pc:spChg>
        <pc:spChg chg="del">
          <ac:chgData name="Nicole Jiang" userId="09ef0fc0f6f473b5" providerId="LiveId" clId="{EB8F4A53-0964-5BF1-90AD-931457E28E1A}" dt="2026-10-16T03:56:11.705" v="2564" actId="478"/>
          <ac:spMkLst>
            <pc:docMk/>
            <pc:sldMk cId="868487171" sldId="262"/>
            <ac:spMk id="32" creationId="{F8D50A2A-9B61-AD34-B9C2-8944BB27426C}"/>
          </ac:spMkLst>
        </pc:spChg>
        <pc:picChg chg="del">
          <ac:chgData name="Nicole Jiang" userId="09ef0fc0f6f473b5" providerId="LiveId" clId="{EB8F4A53-0964-5BF1-90AD-931457E28E1A}" dt="2026-10-16T03:56:11.705" v="2564" actId="478"/>
          <ac:picMkLst>
            <pc:docMk/>
            <pc:sldMk cId="868487171" sldId="262"/>
            <ac:picMk id="5" creationId="{0BD845B3-DC16-6DC6-BFC8-2D65D247678D}"/>
          </ac:picMkLst>
        </pc:picChg>
        <pc:picChg chg="del">
          <ac:chgData name="Nicole Jiang" userId="09ef0fc0f6f473b5" providerId="LiveId" clId="{EB8F4A53-0964-5BF1-90AD-931457E28E1A}" dt="2026-10-16T03:56:11.705" v="2564" actId="478"/>
          <ac:picMkLst>
            <pc:docMk/>
            <pc:sldMk cId="868487171" sldId="262"/>
            <ac:picMk id="10" creationId="{FB4EBB94-758E-75A7-659C-BF66DBB0AEF6}"/>
          </ac:picMkLst>
        </pc:picChg>
        <pc:picChg chg="add mod">
          <ac:chgData name="Nicole Jiang" userId="09ef0fc0f6f473b5" providerId="LiveId" clId="{EB8F4A53-0964-5BF1-90AD-931457E28E1A}" dt="2026-10-16T03:56:12.622" v="2565"/>
          <ac:picMkLst>
            <pc:docMk/>
            <pc:sldMk cId="868487171" sldId="262"/>
            <ac:picMk id="13" creationId="{9809B22B-6F76-6803-F527-4F62B1BFECCD}"/>
          </ac:picMkLst>
        </pc:picChg>
        <pc:picChg chg="add mod">
          <ac:chgData name="Nicole Jiang" userId="09ef0fc0f6f473b5" providerId="LiveId" clId="{EB8F4A53-0964-5BF1-90AD-931457E28E1A}" dt="2026-10-16T03:56:12.622" v="2565"/>
          <ac:picMkLst>
            <pc:docMk/>
            <pc:sldMk cId="868487171" sldId="262"/>
            <ac:picMk id="16" creationId="{AA34C56D-4CF6-424E-52BB-44C8C55A689A}"/>
          </ac:picMkLst>
        </pc:picChg>
        <pc:picChg chg="add mod">
          <ac:chgData name="Nicole Jiang" userId="09ef0fc0f6f473b5" providerId="LiveId" clId="{EB8F4A53-0964-5BF1-90AD-931457E28E1A}" dt="2026-10-16T03:56:54.229" v="2572" actId="1076"/>
          <ac:picMkLst>
            <pc:docMk/>
            <pc:sldMk cId="868487171" sldId="262"/>
            <ac:picMk id="17" creationId="{99EE92EF-AE5C-C656-CB0E-755415193383}"/>
          </ac:picMkLst>
        </pc:picChg>
        <pc:picChg chg="add mod">
          <ac:chgData name="Nicole Jiang" userId="09ef0fc0f6f473b5" providerId="LiveId" clId="{EB8F4A53-0964-5BF1-90AD-931457E28E1A}" dt="2026-10-16T03:56:41.758" v="2568" actId="14100"/>
          <ac:picMkLst>
            <pc:docMk/>
            <pc:sldMk cId="868487171" sldId="262"/>
            <ac:picMk id="18" creationId="{CAAF635E-D847-430A-4975-C0664300EE04}"/>
          </ac:picMkLst>
        </pc:picChg>
        <pc:picChg chg="add mod">
          <ac:chgData name="Nicole Jiang" userId="09ef0fc0f6f473b5" providerId="LiveId" clId="{EB8F4A53-0964-5BF1-90AD-931457E28E1A}" dt="2026-10-16T03:56:48.863" v="2571" actId="1076"/>
          <ac:picMkLst>
            <pc:docMk/>
            <pc:sldMk cId="868487171" sldId="262"/>
            <ac:picMk id="19" creationId="{0F14B9C2-C752-74B9-8199-CFA8793A0BB5}"/>
          </ac:picMkLst>
        </pc:picChg>
        <pc:picChg chg="add mod">
          <ac:chgData name="Nicole Jiang" userId="09ef0fc0f6f473b5" providerId="LiveId" clId="{EB8F4A53-0964-5BF1-90AD-931457E28E1A}" dt="2026-10-16T03:56:44.138" v="2569" actId="1076"/>
          <ac:picMkLst>
            <pc:docMk/>
            <pc:sldMk cId="868487171" sldId="262"/>
            <ac:picMk id="20" creationId="{C8C7897B-987A-9A64-3B47-8B28EF41CC7D}"/>
          </ac:picMkLst>
        </pc:picChg>
        <pc:picChg chg="del">
          <ac:chgData name="Nicole Jiang" userId="09ef0fc0f6f473b5" providerId="LiveId" clId="{EB8F4A53-0964-5BF1-90AD-931457E28E1A}" dt="2026-10-16T03:56:11.705" v="2564" actId="478"/>
          <ac:picMkLst>
            <pc:docMk/>
            <pc:sldMk cId="868487171" sldId="262"/>
            <ac:picMk id="33" creationId="{42BD33B9-86B6-8B04-8AA1-E72E85543563}"/>
          </ac:picMkLst>
        </pc:picChg>
        <pc:picChg chg="del">
          <ac:chgData name="Nicole Jiang" userId="09ef0fc0f6f473b5" providerId="LiveId" clId="{EB8F4A53-0964-5BF1-90AD-931457E28E1A}" dt="2026-10-16T03:56:11.705" v="2564" actId="478"/>
          <ac:picMkLst>
            <pc:docMk/>
            <pc:sldMk cId="868487171" sldId="262"/>
            <ac:picMk id="36" creationId="{8C2E503F-9CF2-EBE6-29B0-458691A7DFB1}"/>
          </ac:picMkLst>
        </pc:picChg>
        <pc:picChg chg="del">
          <ac:chgData name="Nicole Jiang" userId="09ef0fc0f6f473b5" providerId="LiveId" clId="{EB8F4A53-0964-5BF1-90AD-931457E28E1A}" dt="2026-10-16T03:56:11.705" v="2564" actId="478"/>
          <ac:picMkLst>
            <pc:docMk/>
            <pc:sldMk cId="868487171" sldId="262"/>
            <ac:picMk id="37" creationId="{2C65ED58-816C-A2B5-F6CB-4326B0858DDD}"/>
          </ac:picMkLst>
        </pc:picChg>
      </pc:sldChg>
    </pc:docChg>
  </pc:docChgLst>
  <pc:docChgLst>
    <pc:chgData name="Nicole Jiang" userId="09ef0fc0f6f473b5" providerId="Windows Live" clId="Web-{00000000-0000-0000-0000-000000000000}"/>
    <pc:docChg chg="modSld">
      <pc:chgData name="Nicole Jiang" userId="09ef0fc0f6f473b5" providerId="Windows Live" clId="Web-{00000000-0000-0000-0000-000000000000}" dt="2026-10-06T17:56:42.980" v="36" actId="1076"/>
      <pc:docMkLst>
        <pc:docMk/>
      </pc:docMkLst>
    </pc:docChg>
  </pc:docChgLst>
  <pc:docChgLst>
    <pc:chgData name="Guest User" providerId="Windows Live" clId="Web-{00000000-0000-0000-0000-000000000000}"/>
    <pc:docChg chg="modSld">
      <pc:chgData name="Guest User" userId="" providerId="Windows Live" clId="Web-{00000000-0000-0000-0000-000000000000}" dt="2026-10-06T18:59:37.821" v="16" actId="14100"/>
      <pc:docMkLst>
        <pc:docMk/>
      </pc:docMkLst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88D8F461-2A77-BA43-9B12-25195C3EB239}" type="datetimeFigureOut">
              <a:rPr lang="en-US" smtClean="0"/>
              <a:t>10/15/26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490DA246-DE01-5046-81A0-D7E93C87400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3975109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FC4C11B-3281-61F5-AEEC-E5F2B298471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975FC8B-F564-04EA-26FD-6F8FBA43875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1371600" y="1143000"/>
            <a:ext cx="4114800" cy="3086100"/>
          </a:xfrm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8ACB9E4-9956-85CD-1D61-2F397B47231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sz="1200"/>
              <a:t>Poster figure inputs: results/for_manuscript/tables/publication_object_selection.csv; results/for_manuscript/tables/mass_offset_object_sensitivity.csv; results/v3/tables/v3_object_point_ranking.csv; results/v3/tables/v3_object_uncertainty_ranking.csv; results/v4/tables/v4_minimum_seed_mass.csv. Scientific inputs are pinned in data/poster_inputs.json. The uncertainty panel is generated by src.internal.poster_figures. The earlier-onset panel holds the stated average cap and radiative efficiency constant along each track. The external dynamical comparison uses the adopted arXiv v2 measurement; the required ratios and intervals are calculated by this project.</a:t>
            </a:r>
          </a:p>
          <a:p>
            <a:r>
              <a:rPr sz="1200"/>
              <a:t>[1] Shen (2013), The Mass of Quasars: https://arxiv.org/abs/1302.2643 — broad-line virial mass methods and calibration scatter.</a:t>
            </a:r>
          </a:p>
          <a:p>
            <a:r>
              <a:rPr sz="1200"/>
              <a:t>[2] Maiolino et al. (2024), A small and vigorous black hole in the early Universe: https://doi.org/10.1038/s41586-024-07052-5 — GN-z11 ultraviolet-line mass and early JWST context.</a:t>
            </a:r>
          </a:p>
          <a:p>
            <a:r>
              <a:rPr sz="1200"/>
              <a:t>[3] Dayal (2024), Exploring a primordial solution for early black holes detected with JWST: https://doi.org/10.1051/0004-6361/202451481 — exponential accretion growth relation. The project inverts the growth relation; its reference seed and growth-test thresholds are analysis assumptions.</a:t>
            </a:r>
          </a:p>
          <a:p>
            <a:r>
              <a:rPr sz="1200"/>
              <a:t>[4] Bardeen, Press &amp; Teukolsky (1972): https://doi.org/10.1086/151796 — ideal thin-disc efficiency for a non-spinning black hole, 1-sqrt(8/9).</a:t>
            </a:r>
          </a:p>
          <a:p>
            <a:r>
              <a:rPr sz="1200"/>
              <a:t>[5] Juodzbalis et al. (2025): https://arxiv.org/abs/2508.21748v2 — adopted independent A2744-QSO1 dynamical mass. The poster's average Eddington ratios are project calculations, not measurements quoted from this paper.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8B3E2F2-BDDF-9490-DE7B-11CDCE91017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90DA246-DE01-5046-81A0-D7E93C87400D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0015240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3291840" y="5387342"/>
            <a:ext cx="37307520" cy="11460480"/>
          </a:xfrm>
        </p:spPr>
        <p:txBody>
          <a:bodyPr anchor="b"/>
          <a:lstStyle>
            <a:lvl1pPr algn="ctr">
              <a:defRPr sz="288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5486400" y="17289782"/>
            <a:ext cx="32918400" cy="7947658"/>
          </a:xfrm>
        </p:spPr>
        <p:txBody>
          <a:bodyPr/>
          <a:lstStyle>
            <a:lvl1pPr marL="0" indent="0" algn="ctr">
              <a:buNone/>
              <a:defRPr sz="11520"/>
            </a:lvl1pPr>
            <a:lvl2pPr marL="2194560" indent="0" algn="ctr">
              <a:buNone/>
              <a:defRPr sz="9600"/>
            </a:lvl2pPr>
            <a:lvl3pPr marL="4389120" indent="0" algn="ctr">
              <a:buNone/>
              <a:defRPr sz="8640"/>
            </a:lvl3pPr>
            <a:lvl4pPr marL="6583680" indent="0" algn="ctr">
              <a:buNone/>
              <a:defRPr sz="7680"/>
            </a:lvl4pPr>
            <a:lvl5pPr marL="8778240" indent="0" algn="ctr">
              <a:buNone/>
              <a:defRPr sz="7680"/>
            </a:lvl5pPr>
            <a:lvl6pPr marL="10972800" indent="0" algn="ctr">
              <a:buNone/>
              <a:defRPr sz="7680"/>
            </a:lvl6pPr>
            <a:lvl7pPr marL="13167360" indent="0" algn="ctr">
              <a:buNone/>
              <a:defRPr sz="7680"/>
            </a:lvl7pPr>
            <a:lvl8pPr marL="15361920" indent="0" algn="ctr">
              <a:buNone/>
              <a:defRPr sz="7680"/>
            </a:lvl8pPr>
            <a:lvl9pPr marL="17556480" indent="0" algn="ctr">
              <a:buNone/>
              <a:defRPr sz="768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D62D96-B761-444F-9627-07D69EF59102}" type="datetimeFigureOut">
              <a:rPr lang="en-US" smtClean="0"/>
              <a:t>10/15/26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8EB7A8-E57D-FE4E-97CB-A535FD5727D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1167557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D62D96-B761-444F-9627-07D69EF59102}" type="datetimeFigureOut">
              <a:rPr lang="en-US" smtClean="0"/>
              <a:t>10/15/26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8EB7A8-E57D-FE4E-97CB-A535FD5727D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5803407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994662" y="8206749"/>
            <a:ext cx="37856160" cy="13693138"/>
          </a:xfrm>
        </p:spPr>
        <p:txBody>
          <a:bodyPr anchor="b"/>
          <a:lstStyle>
            <a:lvl1pPr>
              <a:defRPr sz="288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994662" y="22029429"/>
            <a:ext cx="37856160" cy="7200898"/>
          </a:xfrm>
        </p:spPr>
        <p:txBody>
          <a:bodyPr/>
          <a:lstStyle>
            <a:lvl1pPr marL="0" indent="0">
              <a:buNone/>
              <a:defRPr sz="11520">
                <a:solidFill>
                  <a:schemeClr val="tx1">
                    <a:tint val="82000"/>
                  </a:schemeClr>
                </a:solidFill>
              </a:defRPr>
            </a:lvl1pPr>
            <a:lvl2pPr marL="2194560" indent="0">
              <a:buNone/>
              <a:defRPr sz="9600">
                <a:solidFill>
                  <a:schemeClr val="tx1">
                    <a:tint val="82000"/>
                  </a:schemeClr>
                </a:solidFill>
              </a:defRPr>
            </a:lvl2pPr>
            <a:lvl3pPr marL="4389120" indent="0">
              <a:buNone/>
              <a:defRPr sz="8640">
                <a:solidFill>
                  <a:schemeClr val="tx1">
                    <a:tint val="82000"/>
                  </a:schemeClr>
                </a:solidFill>
              </a:defRPr>
            </a:lvl3pPr>
            <a:lvl4pPr marL="6583680" indent="0">
              <a:buNone/>
              <a:defRPr sz="7680">
                <a:solidFill>
                  <a:schemeClr val="tx1">
                    <a:tint val="82000"/>
                  </a:schemeClr>
                </a:solidFill>
              </a:defRPr>
            </a:lvl4pPr>
            <a:lvl5pPr marL="8778240" indent="0">
              <a:buNone/>
              <a:defRPr sz="7680">
                <a:solidFill>
                  <a:schemeClr val="tx1">
                    <a:tint val="82000"/>
                  </a:schemeClr>
                </a:solidFill>
              </a:defRPr>
            </a:lvl5pPr>
            <a:lvl6pPr marL="10972800" indent="0">
              <a:buNone/>
              <a:defRPr sz="7680">
                <a:solidFill>
                  <a:schemeClr val="tx1">
                    <a:tint val="82000"/>
                  </a:schemeClr>
                </a:solidFill>
              </a:defRPr>
            </a:lvl6pPr>
            <a:lvl7pPr marL="13167360" indent="0">
              <a:buNone/>
              <a:defRPr sz="7680">
                <a:solidFill>
                  <a:schemeClr val="tx1">
                    <a:tint val="82000"/>
                  </a:schemeClr>
                </a:solidFill>
              </a:defRPr>
            </a:lvl7pPr>
            <a:lvl8pPr marL="15361920" indent="0">
              <a:buNone/>
              <a:defRPr sz="7680">
                <a:solidFill>
                  <a:schemeClr val="tx1">
                    <a:tint val="82000"/>
                  </a:schemeClr>
                </a:solidFill>
              </a:defRPr>
            </a:lvl8pPr>
            <a:lvl9pPr marL="17556480" indent="0">
              <a:buNone/>
              <a:defRPr sz="768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D62D96-B761-444F-9627-07D69EF59102}" type="datetimeFigureOut">
              <a:rPr lang="en-US" smtClean="0"/>
              <a:t>10/15/26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8EB7A8-E57D-FE4E-97CB-A535FD5727D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1491803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3017520" y="8763000"/>
            <a:ext cx="18653760" cy="2088642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22219920" y="8763000"/>
            <a:ext cx="18653760" cy="2088642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D62D96-B761-444F-9627-07D69EF59102}" type="datetimeFigureOut">
              <a:rPr lang="en-US" smtClean="0"/>
              <a:t>10/15/26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8EB7A8-E57D-FE4E-97CB-A535FD5727D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4630106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023237" y="1752607"/>
            <a:ext cx="37856160" cy="6362702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023242" y="8069582"/>
            <a:ext cx="18568032" cy="3954778"/>
          </a:xfrm>
        </p:spPr>
        <p:txBody>
          <a:bodyPr anchor="b"/>
          <a:lstStyle>
            <a:lvl1pPr marL="0" indent="0">
              <a:buNone/>
              <a:defRPr sz="11520" b="1"/>
            </a:lvl1pPr>
            <a:lvl2pPr marL="2194560" indent="0">
              <a:buNone/>
              <a:defRPr sz="9600" b="1"/>
            </a:lvl2pPr>
            <a:lvl3pPr marL="4389120" indent="0">
              <a:buNone/>
              <a:defRPr sz="8640" b="1"/>
            </a:lvl3pPr>
            <a:lvl4pPr marL="6583680" indent="0">
              <a:buNone/>
              <a:defRPr sz="7680" b="1"/>
            </a:lvl4pPr>
            <a:lvl5pPr marL="8778240" indent="0">
              <a:buNone/>
              <a:defRPr sz="7680" b="1"/>
            </a:lvl5pPr>
            <a:lvl6pPr marL="10972800" indent="0">
              <a:buNone/>
              <a:defRPr sz="7680" b="1"/>
            </a:lvl6pPr>
            <a:lvl7pPr marL="13167360" indent="0">
              <a:buNone/>
              <a:defRPr sz="7680" b="1"/>
            </a:lvl7pPr>
            <a:lvl8pPr marL="15361920" indent="0">
              <a:buNone/>
              <a:defRPr sz="7680" b="1"/>
            </a:lvl8pPr>
            <a:lvl9pPr marL="17556480" indent="0">
              <a:buNone/>
              <a:defRPr sz="768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3023242" y="12024360"/>
            <a:ext cx="18568032" cy="1768602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22219922" y="8069582"/>
            <a:ext cx="18659477" cy="3954778"/>
          </a:xfrm>
        </p:spPr>
        <p:txBody>
          <a:bodyPr anchor="b"/>
          <a:lstStyle>
            <a:lvl1pPr marL="0" indent="0">
              <a:buNone/>
              <a:defRPr sz="11520" b="1"/>
            </a:lvl1pPr>
            <a:lvl2pPr marL="2194560" indent="0">
              <a:buNone/>
              <a:defRPr sz="9600" b="1"/>
            </a:lvl2pPr>
            <a:lvl3pPr marL="4389120" indent="0">
              <a:buNone/>
              <a:defRPr sz="8640" b="1"/>
            </a:lvl3pPr>
            <a:lvl4pPr marL="6583680" indent="0">
              <a:buNone/>
              <a:defRPr sz="7680" b="1"/>
            </a:lvl4pPr>
            <a:lvl5pPr marL="8778240" indent="0">
              <a:buNone/>
              <a:defRPr sz="7680" b="1"/>
            </a:lvl5pPr>
            <a:lvl6pPr marL="10972800" indent="0">
              <a:buNone/>
              <a:defRPr sz="7680" b="1"/>
            </a:lvl6pPr>
            <a:lvl7pPr marL="13167360" indent="0">
              <a:buNone/>
              <a:defRPr sz="7680" b="1"/>
            </a:lvl7pPr>
            <a:lvl8pPr marL="15361920" indent="0">
              <a:buNone/>
              <a:defRPr sz="7680" b="1"/>
            </a:lvl8pPr>
            <a:lvl9pPr marL="17556480" indent="0">
              <a:buNone/>
              <a:defRPr sz="768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22219922" y="12024360"/>
            <a:ext cx="18659477" cy="1768602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D62D96-B761-444F-9627-07D69EF59102}" type="datetimeFigureOut">
              <a:rPr lang="en-US" smtClean="0"/>
              <a:t>10/15/26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8EB7A8-E57D-FE4E-97CB-A535FD5727D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4792281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D62D96-B761-444F-9627-07D69EF59102}" type="datetimeFigureOut">
              <a:rPr lang="en-US" smtClean="0"/>
              <a:t>10/15/26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8EB7A8-E57D-FE4E-97CB-A535FD5727D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8395481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D62D96-B761-444F-9627-07D69EF59102}" type="datetimeFigureOut">
              <a:rPr lang="en-US" smtClean="0"/>
              <a:t>10/15/26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8EB7A8-E57D-FE4E-97CB-A535FD5727D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4813390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023237" y="2194560"/>
            <a:ext cx="14156054" cy="7680960"/>
          </a:xfrm>
        </p:spPr>
        <p:txBody>
          <a:bodyPr anchor="b"/>
          <a:lstStyle>
            <a:lvl1pPr>
              <a:defRPr sz="1536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8659477" y="4739647"/>
            <a:ext cx="22219920" cy="23393400"/>
          </a:xfrm>
        </p:spPr>
        <p:txBody>
          <a:bodyPr/>
          <a:lstStyle>
            <a:lvl1pPr>
              <a:defRPr sz="15360"/>
            </a:lvl1pPr>
            <a:lvl2pPr>
              <a:defRPr sz="13440"/>
            </a:lvl2pPr>
            <a:lvl3pPr>
              <a:defRPr sz="11520"/>
            </a:lvl3pPr>
            <a:lvl4pPr>
              <a:defRPr sz="9600"/>
            </a:lvl4pPr>
            <a:lvl5pPr>
              <a:defRPr sz="9600"/>
            </a:lvl5pPr>
            <a:lvl6pPr>
              <a:defRPr sz="9600"/>
            </a:lvl6pPr>
            <a:lvl7pPr>
              <a:defRPr sz="9600"/>
            </a:lvl7pPr>
            <a:lvl8pPr>
              <a:defRPr sz="9600"/>
            </a:lvl8pPr>
            <a:lvl9pPr>
              <a:defRPr sz="9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3023237" y="9875520"/>
            <a:ext cx="14156054" cy="18295622"/>
          </a:xfrm>
        </p:spPr>
        <p:txBody>
          <a:bodyPr/>
          <a:lstStyle>
            <a:lvl1pPr marL="0" indent="0">
              <a:buNone/>
              <a:defRPr sz="7680"/>
            </a:lvl1pPr>
            <a:lvl2pPr marL="2194560" indent="0">
              <a:buNone/>
              <a:defRPr sz="6720"/>
            </a:lvl2pPr>
            <a:lvl3pPr marL="4389120" indent="0">
              <a:buNone/>
              <a:defRPr sz="5760"/>
            </a:lvl3pPr>
            <a:lvl4pPr marL="6583680" indent="0">
              <a:buNone/>
              <a:defRPr sz="4800"/>
            </a:lvl4pPr>
            <a:lvl5pPr marL="8778240" indent="0">
              <a:buNone/>
              <a:defRPr sz="4800"/>
            </a:lvl5pPr>
            <a:lvl6pPr marL="10972800" indent="0">
              <a:buNone/>
              <a:defRPr sz="4800"/>
            </a:lvl6pPr>
            <a:lvl7pPr marL="13167360" indent="0">
              <a:buNone/>
              <a:defRPr sz="4800"/>
            </a:lvl7pPr>
            <a:lvl8pPr marL="15361920" indent="0">
              <a:buNone/>
              <a:defRPr sz="4800"/>
            </a:lvl8pPr>
            <a:lvl9pPr marL="17556480" indent="0">
              <a:buNone/>
              <a:defRPr sz="48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D62D96-B761-444F-9627-07D69EF59102}" type="datetimeFigureOut">
              <a:rPr lang="en-US" smtClean="0"/>
              <a:t>10/15/26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8EB7A8-E57D-FE4E-97CB-A535FD5727D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5318473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023237" y="2194560"/>
            <a:ext cx="14156054" cy="7680960"/>
          </a:xfrm>
        </p:spPr>
        <p:txBody>
          <a:bodyPr anchor="b"/>
          <a:lstStyle>
            <a:lvl1pPr>
              <a:defRPr sz="1536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8659477" y="4739647"/>
            <a:ext cx="22219920" cy="23393400"/>
          </a:xfrm>
        </p:spPr>
        <p:txBody>
          <a:bodyPr anchor="t"/>
          <a:lstStyle>
            <a:lvl1pPr marL="0" indent="0">
              <a:buNone/>
              <a:defRPr sz="15360"/>
            </a:lvl1pPr>
            <a:lvl2pPr marL="2194560" indent="0">
              <a:buNone/>
              <a:defRPr sz="13440"/>
            </a:lvl2pPr>
            <a:lvl3pPr marL="4389120" indent="0">
              <a:buNone/>
              <a:defRPr sz="11520"/>
            </a:lvl3pPr>
            <a:lvl4pPr marL="6583680" indent="0">
              <a:buNone/>
              <a:defRPr sz="9600"/>
            </a:lvl4pPr>
            <a:lvl5pPr marL="8778240" indent="0">
              <a:buNone/>
              <a:defRPr sz="9600"/>
            </a:lvl5pPr>
            <a:lvl6pPr marL="10972800" indent="0">
              <a:buNone/>
              <a:defRPr sz="9600"/>
            </a:lvl6pPr>
            <a:lvl7pPr marL="13167360" indent="0">
              <a:buNone/>
              <a:defRPr sz="9600"/>
            </a:lvl7pPr>
            <a:lvl8pPr marL="15361920" indent="0">
              <a:buNone/>
              <a:defRPr sz="9600"/>
            </a:lvl8pPr>
            <a:lvl9pPr marL="17556480" indent="0">
              <a:buNone/>
              <a:defRPr sz="96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3023237" y="9875520"/>
            <a:ext cx="14156054" cy="18295622"/>
          </a:xfrm>
        </p:spPr>
        <p:txBody>
          <a:bodyPr/>
          <a:lstStyle>
            <a:lvl1pPr marL="0" indent="0">
              <a:buNone/>
              <a:defRPr sz="7680"/>
            </a:lvl1pPr>
            <a:lvl2pPr marL="2194560" indent="0">
              <a:buNone/>
              <a:defRPr sz="6720"/>
            </a:lvl2pPr>
            <a:lvl3pPr marL="4389120" indent="0">
              <a:buNone/>
              <a:defRPr sz="5760"/>
            </a:lvl3pPr>
            <a:lvl4pPr marL="6583680" indent="0">
              <a:buNone/>
              <a:defRPr sz="4800"/>
            </a:lvl4pPr>
            <a:lvl5pPr marL="8778240" indent="0">
              <a:buNone/>
              <a:defRPr sz="4800"/>
            </a:lvl5pPr>
            <a:lvl6pPr marL="10972800" indent="0">
              <a:buNone/>
              <a:defRPr sz="4800"/>
            </a:lvl6pPr>
            <a:lvl7pPr marL="13167360" indent="0">
              <a:buNone/>
              <a:defRPr sz="4800"/>
            </a:lvl7pPr>
            <a:lvl8pPr marL="15361920" indent="0">
              <a:buNone/>
              <a:defRPr sz="4800"/>
            </a:lvl8pPr>
            <a:lvl9pPr marL="17556480" indent="0">
              <a:buNone/>
              <a:defRPr sz="48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D62D96-B761-444F-9627-07D69EF59102}" type="datetimeFigureOut">
              <a:rPr lang="en-US" smtClean="0"/>
              <a:t>10/15/26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8EB7A8-E57D-FE4E-97CB-A535FD5727D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056775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D62D96-B761-444F-9627-07D69EF59102}" type="datetimeFigureOut">
              <a:rPr lang="en-US" smtClean="0"/>
              <a:t>10/15/26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8EB7A8-E57D-FE4E-97CB-A535FD5727D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0198897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31409642" y="1752600"/>
            <a:ext cx="9464040" cy="27896822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3017522" y="1752600"/>
            <a:ext cx="27843480" cy="27896822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D62D96-B761-444F-9627-07D69EF59102}" type="datetimeFigureOut">
              <a:rPr lang="en-US" smtClean="0"/>
              <a:t>10/15/26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8EB7A8-E57D-FE4E-97CB-A535FD5727D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11834847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36&quot; x 48&quot; Po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Title 19"/>
          <p:cNvSpPr>
            <a:spLocks noGrp="1"/>
          </p:cNvSpPr>
          <p:nvPr>
            <p:ph type="title" hasCustomPrompt="1"/>
          </p:nvPr>
        </p:nvSpPr>
        <p:spPr>
          <a:xfrm>
            <a:off x="696687" y="609600"/>
            <a:ext cx="42497830" cy="3352800"/>
          </a:xfrm>
          <a:prstGeom prst="rect">
            <a:avLst/>
          </a:prstGeom>
          <a:solidFill>
            <a:srgbClr val="C4172F"/>
          </a:solidFill>
          <a:ln>
            <a:solidFill>
              <a:srgbClr val="C4172F"/>
            </a:solidFill>
          </a:ln>
        </p:spPr>
        <p:txBody>
          <a:bodyPr vert="horz" lIns="78373" tIns="39187" rIns="78373" bIns="39187" anchor="ctr" anchorCtr="1"/>
          <a:lstStyle>
            <a:lvl1pPr>
              <a:defRPr sz="6200" b="1">
                <a:solidFill>
                  <a:schemeClr val="bg1"/>
                </a:solidFill>
                <a:latin typeface="Arial"/>
                <a:cs typeface="Arial"/>
              </a:defRPr>
            </a:lvl1pPr>
          </a:lstStyle>
          <a:p>
            <a:r>
              <a:rPr lang="en-US"/>
              <a:t>Poster Presentation Title</a:t>
            </a:r>
            <a:br>
              <a:rPr lang="en-US"/>
            </a:br>
            <a:r>
              <a:rPr lang="en-US" sz="4200" b="1">
                <a:solidFill>
                  <a:schemeClr val="bg1"/>
                </a:solidFill>
                <a:latin typeface="Arial" pitchFamily="34" charset="0"/>
                <a:cs typeface="Arial" pitchFamily="34" charset="0"/>
              </a:rPr>
              <a:t>List Author Name(s)</a:t>
            </a:r>
            <a:br>
              <a:rPr lang="en-US" sz="4200" b="1">
                <a:solidFill>
                  <a:schemeClr val="bg1"/>
                </a:solidFill>
                <a:latin typeface="Arial" pitchFamily="34" charset="0"/>
                <a:cs typeface="Arial" pitchFamily="34" charset="0"/>
              </a:rPr>
            </a:br>
            <a:r>
              <a:rPr lang="en-US" sz="4200" b="1">
                <a:solidFill>
                  <a:schemeClr val="bg1"/>
                </a:solidFill>
                <a:latin typeface="Arial" pitchFamily="34" charset="0"/>
                <a:cs typeface="Arial" pitchFamily="34" charset="0"/>
              </a:rPr>
              <a:t>List Affiliated Institutions</a:t>
            </a:r>
            <a:endParaRPr lang="en-US"/>
          </a:p>
        </p:txBody>
      </p:sp>
      <p:sp>
        <p:nvSpPr>
          <p:cNvPr id="22" name="Text Placeholder 21"/>
          <p:cNvSpPr>
            <a:spLocks noGrp="1"/>
          </p:cNvSpPr>
          <p:nvPr>
            <p:ph type="body" sz="quarter" idx="10" hasCustomPrompt="1"/>
          </p:nvPr>
        </p:nvSpPr>
        <p:spPr>
          <a:xfrm>
            <a:off x="696687" y="4267200"/>
            <a:ext cx="13585370" cy="1066800"/>
          </a:xfrm>
          <a:prstGeom prst="rect">
            <a:avLst/>
          </a:prstGeom>
          <a:solidFill>
            <a:srgbClr val="C4172F"/>
          </a:solidFill>
          <a:ln>
            <a:solidFill>
              <a:srgbClr val="C4172F"/>
            </a:solidFill>
          </a:ln>
        </p:spPr>
        <p:txBody>
          <a:bodyPr vert="horz" lIns="78373" tIns="39187" rIns="78373" bIns="39187"/>
          <a:lstStyle>
            <a:lvl1pPr marL="0" indent="0">
              <a:buNone/>
              <a:defRPr sz="4200" b="1" baseline="0">
                <a:solidFill>
                  <a:schemeClr val="bg1"/>
                </a:solidFill>
                <a:latin typeface="Arial"/>
                <a:cs typeface="Arial"/>
              </a:defRPr>
            </a:lvl1pPr>
          </a:lstStyle>
          <a:p>
            <a:pPr lvl="0"/>
            <a:r>
              <a:rPr lang="en-US" sz="4200"/>
              <a:t>Abstract or Introduction</a:t>
            </a:r>
            <a:endParaRPr lang="en-US"/>
          </a:p>
        </p:txBody>
      </p:sp>
      <p:sp>
        <p:nvSpPr>
          <p:cNvPr id="24" name="Text Placeholder 23"/>
          <p:cNvSpPr>
            <a:spLocks noGrp="1"/>
          </p:cNvSpPr>
          <p:nvPr>
            <p:ph type="body" sz="quarter" idx="11" hasCustomPrompt="1"/>
          </p:nvPr>
        </p:nvSpPr>
        <p:spPr>
          <a:xfrm>
            <a:off x="696687" y="5638800"/>
            <a:ext cx="13585370" cy="8686800"/>
          </a:xfrm>
          <a:prstGeom prst="rect">
            <a:avLst/>
          </a:prstGeom>
        </p:spPr>
        <p:txBody>
          <a:bodyPr vert="horz" lIns="78373" tIns="39187" rIns="78373" bIns="39187"/>
          <a:lstStyle>
            <a:lvl1pPr marL="0" indent="0">
              <a:buNone/>
              <a:defRPr sz="2800" baseline="0"/>
            </a:lvl1pPr>
            <a:lvl2pPr marL="397308" indent="0">
              <a:buNone/>
              <a:defRPr sz="2800" baseline="0"/>
            </a:lvl2pPr>
            <a:lvl3pPr marL="772848" indent="0">
              <a:buNone/>
              <a:defRPr sz="2800" baseline="0"/>
            </a:lvl3pPr>
            <a:lvl4pPr>
              <a:defRPr sz="2800"/>
            </a:lvl4pPr>
            <a:lvl5pPr>
              <a:defRPr sz="2800"/>
            </a:lvl5pPr>
          </a:lstStyle>
          <a:p>
            <a:pPr lvl="0"/>
            <a:r>
              <a:rPr lang="en-US"/>
              <a:t>Any element of this template (colors, fonts, layouts, etc.) can be edited to suit your needs. To change the color of a title bar: right click the text box, select format shape, edit the “Fill” and “Line” your desired specifications.</a:t>
            </a:r>
          </a:p>
        </p:txBody>
      </p:sp>
      <p:sp>
        <p:nvSpPr>
          <p:cNvPr id="25" name="Text Placeholder 21"/>
          <p:cNvSpPr>
            <a:spLocks noGrp="1"/>
          </p:cNvSpPr>
          <p:nvPr>
            <p:ph type="body" sz="quarter" idx="12" hasCustomPrompt="1"/>
          </p:nvPr>
        </p:nvSpPr>
        <p:spPr>
          <a:xfrm>
            <a:off x="696687" y="14630400"/>
            <a:ext cx="13585370" cy="1066800"/>
          </a:xfrm>
          <a:prstGeom prst="rect">
            <a:avLst/>
          </a:prstGeom>
          <a:solidFill>
            <a:srgbClr val="C4172F"/>
          </a:solidFill>
          <a:ln>
            <a:solidFill>
              <a:srgbClr val="C4172F"/>
            </a:solidFill>
          </a:ln>
        </p:spPr>
        <p:txBody>
          <a:bodyPr vert="horz" lIns="78373" tIns="39187" rIns="78373" bIns="39187"/>
          <a:lstStyle>
            <a:lvl1pPr marL="0" indent="0">
              <a:buNone/>
              <a:defRPr sz="4200" b="1" baseline="0">
                <a:solidFill>
                  <a:schemeClr val="bg1"/>
                </a:solidFill>
                <a:latin typeface="Arial"/>
                <a:cs typeface="Arial"/>
              </a:defRPr>
            </a:lvl1pPr>
          </a:lstStyle>
          <a:p>
            <a:pPr lvl="0"/>
            <a:r>
              <a:rPr lang="en-US" sz="4200"/>
              <a:t>Objectives</a:t>
            </a:r>
            <a:endParaRPr lang="en-US"/>
          </a:p>
        </p:txBody>
      </p:sp>
      <p:sp>
        <p:nvSpPr>
          <p:cNvPr id="26" name="Text Placeholder 23"/>
          <p:cNvSpPr>
            <a:spLocks noGrp="1"/>
          </p:cNvSpPr>
          <p:nvPr>
            <p:ph type="body" sz="quarter" idx="13" hasCustomPrompt="1"/>
          </p:nvPr>
        </p:nvSpPr>
        <p:spPr>
          <a:xfrm>
            <a:off x="696687" y="16002000"/>
            <a:ext cx="13585370" cy="7315200"/>
          </a:xfrm>
          <a:prstGeom prst="rect">
            <a:avLst/>
          </a:prstGeom>
        </p:spPr>
        <p:txBody>
          <a:bodyPr vert="horz" lIns="78373" tIns="39187" rIns="78373" bIns="39187"/>
          <a:lstStyle>
            <a:lvl1pPr marL="0" marR="0" indent="0" algn="l" defTabSz="3493094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2800"/>
            </a:lvl1pPr>
            <a:lvl2pPr>
              <a:defRPr sz="2800"/>
            </a:lvl2pPr>
            <a:lvl3pPr>
              <a:defRPr sz="2800"/>
            </a:lvl3pPr>
            <a:lvl4pPr>
              <a:defRPr sz="2800"/>
            </a:lvl4pPr>
            <a:lvl5pPr>
              <a:defRPr sz="2800"/>
            </a:lvl5pPr>
          </a:lstStyle>
          <a:p>
            <a:pPr marL="0" marR="0" lvl="0" indent="0" algn="l" defTabSz="3493094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/>
            </a:pPr>
            <a:r>
              <a:rPr lang="en-US"/>
              <a:t>To change the color of a title bar: right click the text box, select format shape, edit the “Fill” and “Line” your desired specifications.</a:t>
            </a:r>
          </a:p>
        </p:txBody>
      </p:sp>
      <p:sp>
        <p:nvSpPr>
          <p:cNvPr id="27" name="Text Placeholder 21"/>
          <p:cNvSpPr>
            <a:spLocks noGrp="1"/>
          </p:cNvSpPr>
          <p:nvPr>
            <p:ph type="body" sz="quarter" idx="14" hasCustomPrompt="1"/>
          </p:nvPr>
        </p:nvSpPr>
        <p:spPr>
          <a:xfrm>
            <a:off x="696687" y="23622000"/>
            <a:ext cx="13585370" cy="1066800"/>
          </a:xfrm>
          <a:prstGeom prst="rect">
            <a:avLst/>
          </a:prstGeom>
          <a:solidFill>
            <a:srgbClr val="C4172F"/>
          </a:solidFill>
          <a:ln>
            <a:solidFill>
              <a:srgbClr val="C4172F"/>
            </a:solidFill>
          </a:ln>
        </p:spPr>
        <p:txBody>
          <a:bodyPr vert="horz" lIns="78373" tIns="39187" rIns="78373" bIns="39187"/>
          <a:lstStyle>
            <a:lvl1pPr marL="0" indent="0">
              <a:buNone/>
              <a:defRPr sz="4200" b="1" baseline="0">
                <a:solidFill>
                  <a:schemeClr val="bg1"/>
                </a:solidFill>
                <a:latin typeface="Arial"/>
                <a:cs typeface="Arial"/>
              </a:defRPr>
            </a:lvl1pPr>
          </a:lstStyle>
          <a:p>
            <a:pPr lvl="0"/>
            <a:r>
              <a:rPr lang="en-US" sz="4200"/>
              <a:t>Methods</a:t>
            </a:r>
            <a:endParaRPr lang="en-US"/>
          </a:p>
        </p:txBody>
      </p:sp>
      <p:sp>
        <p:nvSpPr>
          <p:cNvPr id="28" name="Text Placeholder 23"/>
          <p:cNvSpPr>
            <a:spLocks noGrp="1"/>
          </p:cNvSpPr>
          <p:nvPr>
            <p:ph type="body" sz="quarter" idx="15" hasCustomPrompt="1"/>
          </p:nvPr>
        </p:nvSpPr>
        <p:spPr>
          <a:xfrm>
            <a:off x="696687" y="24993600"/>
            <a:ext cx="13585370" cy="7315200"/>
          </a:xfrm>
          <a:prstGeom prst="rect">
            <a:avLst/>
          </a:prstGeom>
        </p:spPr>
        <p:txBody>
          <a:bodyPr vert="horz" lIns="78373" tIns="39187" rIns="78373" bIns="39187"/>
          <a:lstStyle>
            <a:lvl1pPr marL="0" marR="0" indent="0" algn="l" defTabSz="3493094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2800"/>
            </a:lvl1pPr>
            <a:lvl2pPr>
              <a:defRPr sz="2800"/>
            </a:lvl2pPr>
            <a:lvl3pPr>
              <a:defRPr sz="2800"/>
            </a:lvl3pPr>
            <a:lvl4pPr>
              <a:defRPr sz="2800"/>
            </a:lvl4pPr>
            <a:lvl5pPr>
              <a:defRPr sz="2800"/>
            </a:lvl5pPr>
          </a:lstStyle>
          <a:p>
            <a:pPr marL="0" marR="0" lvl="0" indent="0" algn="l" defTabSz="3493094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/>
            </a:pPr>
            <a:r>
              <a:rPr lang="en-US"/>
              <a:t>Copy and paste title bars and text boxes to create additional sections.</a:t>
            </a:r>
          </a:p>
        </p:txBody>
      </p:sp>
      <p:sp>
        <p:nvSpPr>
          <p:cNvPr id="29" name="Text Placeholder 21"/>
          <p:cNvSpPr>
            <a:spLocks noGrp="1"/>
          </p:cNvSpPr>
          <p:nvPr>
            <p:ph type="body" sz="quarter" idx="16" hasCustomPrompt="1"/>
          </p:nvPr>
        </p:nvSpPr>
        <p:spPr>
          <a:xfrm>
            <a:off x="15152917" y="4267200"/>
            <a:ext cx="13585370" cy="1066800"/>
          </a:xfrm>
          <a:prstGeom prst="rect">
            <a:avLst/>
          </a:prstGeom>
          <a:solidFill>
            <a:srgbClr val="C4172F"/>
          </a:solidFill>
          <a:ln>
            <a:solidFill>
              <a:srgbClr val="C4172F"/>
            </a:solidFill>
          </a:ln>
        </p:spPr>
        <p:txBody>
          <a:bodyPr vert="horz" lIns="78373" tIns="39187" rIns="78373" bIns="39187"/>
          <a:lstStyle>
            <a:lvl1pPr marL="0" indent="0">
              <a:buNone/>
              <a:defRPr sz="4200" b="1" baseline="0">
                <a:solidFill>
                  <a:schemeClr val="bg1"/>
                </a:solidFill>
                <a:latin typeface="Arial"/>
                <a:cs typeface="Arial"/>
              </a:defRPr>
            </a:lvl1pPr>
          </a:lstStyle>
          <a:p>
            <a:pPr lvl="0"/>
            <a:r>
              <a:rPr lang="en-US" sz="4200"/>
              <a:t>Results</a:t>
            </a:r>
            <a:endParaRPr lang="en-US"/>
          </a:p>
        </p:txBody>
      </p:sp>
      <p:sp>
        <p:nvSpPr>
          <p:cNvPr id="30" name="Text Placeholder 23"/>
          <p:cNvSpPr>
            <a:spLocks noGrp="1"/>
          </p:cNvSpPr>
          <p:nvPr>
            <p:ph type="body" sz="quarter" idx="17"/>
          </p:nvPr>
        </p:nvSpPr>
        <p:spPr>
          <a:xfrm>
            <a:off x="29609145" y="24993600"/>
            <a:ext cx="13585370" cy="7315200"/>
          </a:xfrm>
          <a:prstGeom prst="rect">
            <a:avLst/>
          </a:prstGeom>
        </p:spPr>
        <p:txBody>
          <a:bodyPr vert="horz" lIns="78373" tIns="39187" rIns="78373" bIns="39187"/>
          <a:lstStyle>
            <a:lvl1pPr>
              <a:defRPr sz="2800"/>
            </a:lvl1pPr>
            <a:lvl2pPr>
              <a:defRPr sz="2800"/>
            </a:lvl2pPr>
            <a:lvl3pPr>
              <a:defRPr sz="2800"/>
            </a:lvl3pPr>
            <a:lvl4pPr>
              <a:defRPr sz="2800"/>
            </a:lvl4pPr>
            <a:lvl5pPr>
              <a:defRPr sz="28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31" name="Text Placeholder 21"/>
          <p:cNvSpPr>
            <a:spLocks noGrp="1"/>
          </p:cNvSpPr>
          <p:nvPr>
            <p:ph type="body" sz="quarter" idx="18" hasCustomPrompt="1"/>
          </p:nvPr>
        </p:nvSpPr>
        <p:spPr>
          <a:xfrm>
            <a:off x="29609145" y="4267200"/>
            <a:ext cx="13585370" cy="1066800"/>
          </a:xfrm>
          <a:prstGeom prst="rect">
            <a:avLst/>
          </a:prstGeom>
          <a:solidFill>
            <a:srgbClr val="C4172F"/>
          </a:solidFill>
          <a:ln>
            <a:solidFill>
              <a:srgbClr val="C4172F"/>
            </a:solidFill>
          </a:ln>
        </p:spPr>
        <p:txBody>
          <a:bodyPr vert="horz" lIns="78373" tIns="39187" rIns="78373" bIns="39187"/>
          <a:lstStyle>
            <a:lvl1pPr marL="0" indent="0">
              <a:buNone/>
              <a:defRPr sz="4200" b="1" baseline="0">
                <a:solidFill>
                  <a:schemeClr val="bg1"/>
                </a:solidFill>
                <a:latin typeface="Arial"/>
                <a:cs typeface="Arial"/>
              </a:defRPr>
            </a:lvl1pPr>
          </a:lstStyle>
          <a:p>
            <a:pPr lvl="0"/>
            <a:r>
              <a:rPr lang="en-US" sz="4200"/>
              <a:t>Conclusion</a:t>
            </a:r>
            <a:endParaRPr lang="en-US"/>
          </a:p>
        </p:txBody>
      </p:sp>
      <p:sp>
        <p:nvSpPr>
          <p:cNvPr id="32" name="Text Placeholder 23"/>
          <p:cNvSpPr>
            <a:spLocks noGrp="1"/>
          </p:cNvSpPr>
          <p:nvPr>
            <p:ph type="body" sz="quarter" idx="19"/>
          </p:nvPr>
        </p:nvSpPr>
        <p:spPr>
          <a:xfrm>
            <a:off x="29609145" y="5638800"/>
            <a:ext cx="13585370" cy="17678400"/>
          </a:xfrm>
          <a:prstGeom prst="rect">
            <a:avLst/>
          </a:prstGeom>
        </p:spPr>
        <p:txBody>
          <a:bodyPr vert="horz" lIns="78373" tIns="39187" rIns="78373" bIns="39187"/>
          <a:lstStyle>
            <a:lvl1pPr>
              <a:defRPr sz="2800"/>
            </a:lvl1pPr>
            <a:lvl2pPr>
              <a:defRPr sz="2800"/>
            </a:lvl2pPr>
            <a:lvl3pPr>
              <a:defRPr sz="2800"/>
            </a:lvl3pPr>
            <a:lvl4pPr>
              <a:defRPr sz="2800"/>
            </a:lvl4pPr>
            <a:lvl5pPr>
              <a:defRPr sz="28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33" name="Text Placeholder 21"/>
          <p:cNvSpPr>
            <a:spLocks noGrp="1"/>
          </p:cNvSpPr>
          <p:nvPr>
            <p:ph type="body" sz="quarter" idx="20" hasCustomPrompt="1"/>
          </p:nvPr>
        </p:nvSpPr>
        <p:spPr>
          <a:xfrm>
            <a:off x="29609145" y="23622000"/>
            <a:ext cx="13585370" cy="1066800"/>
          </a:xfrm>
          <a:prstGeom prst="rect">
            <a:avLst/>
          </a:prstGeom>
          <a:solidFill>
            <a:srgbClr val="C4172F"/>
          </a:solidFill>
          <a:ln>
            <a:solidFill>
              <a:srgbClr val="C4172F"/>
            </a:solidFill>
          </a:ln>
        </p:spPr>
        <p:txBody>
          <a:bodyPr vert="horz" lIns="78373" tIns="39187" rIns="78373" bIns="39187"/>
          <a:lstStyle>
            <a:lvl1pPr marL="0" indent="0">
              <a:buNone/>
              <a:defRPr sz="4200" b="1" baseline="0">
                <a:solidFill>
                  <a:schemeClr val="bg1"/>
                </a:solidFill>
                <a:latin typeface="Arial"/>
                <a:cs typeface="Arial"/>
              </a:defRPr>
            </a:lvl1pPr>
          </a:lstStyle>
          <a:p>
            <a:pPr lvl="0"/>
            <a:r>
              <a:rPr lang="en-US" sz="4200"/>
              <a:t>References</a:t>
            </a:r>
            <a:endParaRPr lang="en-US"/>
          </a:p>
        </p:txBody>
      </p:sp>
      <p:sp>
        <p:nvSpPr>
          <p:cNvPr id="34" name="Text Placeholder 23"/>
          <p:cNvSpPr>
            <a:spLocks noGrp="1"/>
          </p:cNvSpPr>
          <p:nvPr>
            <p:ph type="body" sz="quarter" idx="21" hasCustomPrompt="1"/>
          </p:nvPr>
        </p:nvSpPr>
        <p:spPr>
          <a:xfrm>
            <a:off x="15152917" y="5638800"/>
            <a:ext cx="13585370" cy="26670000"/>
          </a:xfrm>
          <a:prstGeom prst="rect">
            <a:avLst/>
          </a:prstGeom>
        </p:spPr>
        <p:txBody>
          <a:bodyPr vert="horz" lIns="78373" tIns="39187" rIns="78373" bIns="39187"/>
          <a:lstStyle>
            <a:lvl1pPr marL="0" indent="0">
              <a:buNone/>
              <a:defRPr sz="2800" baseline="0"/>
            </a:lvl1pPr>
            <a:lvl2pPr marL="397308" indent="0">
              <a:buNone/>
              <a:defRPr sz="2800"/>
            </a:lvl2pPr>
            <a:lvl3pPr>
              <a:defRPr sz="2800"/>
            </a:lvl3pPr>
            <a:lvl4pPr>
              <a:defRPr sz="2800"/>
            </a:lvl4pPr>
            <a:lvl5pPr>
              <a:defRPr sz="2800"/>
            </a:lvl5pPr>
          </a:lstStyle>
          <a:p>
            <a:pPr lvl="0"/>
            <a:r>
              <a:rPr lang="en-US"/>
              <a:t>Remember to save all charts, graphs, and tables as 300DPI images prior to inserting them into your posters. Doing so will ensure the best results when printing your posters.</a:t>
            </a:r>
          </a:p>
        </p:txBody>
      </p:sp>
      <p:sp>
        <p:nvSpPr>
          <p:cNvPr id="36" name="Picture Placeholder 35"/>
          <p:cNvSpPr>
            <a:spLocks noGrp="1"/>
          </p:cNvSpPr>
          <p:nvPr>
            <p:ph type="pic" sz="quarter" idx="22" hasCustomPrompt="1"/>
          </p:nvPr>
        </p:nvSpPr>
        <p:spPr>
          <a:xfrm>
            <a:off x="1219205" y="914400"/>
            <a:ext cx="3135086" cy="2743200"/>
          </a:xfrm>
          <a:prstGeom prst="rect">
            <a:avLst/>
          </a:prstGeom>
          <a:solidFill>
            <a:schemeClr val="bg1"/>
          </a:solidFill>
        </p:spPr>
        <p:txBody>
          <a:bodyPr vert="horz" lIns="78373" tIns="39187" rIns="78373" bIns="39187"/>
          <a:lstStyle>
            <a:lvl1pPr marL="0" indent="0">
              <a:buNone/>
              <a:defRPr sz="2000"/>
            </a:lvl1pPr>
          </a:lstStyle>
          <a:p>
            <a:r>
              <a:rPr lang="en-US"/>
              <a:t>LOGO</a:t>
            </a:r>
          </a:p>
        </p:txBody>
      </p:sp>
      <p:sp>
        <p:nvSpPr>
          <p:cNvPr id="37" name="Picture Placeholder 35"/>
          <p:cNvSpPr>
            <a:spLocks noGrp="1"/>
          </p:cNvSpPr>
          <p:nvPr>
            <p:ph type="pic" sz="quarter" idx="23" hasCustomPrompt="1"/>
          </p:nvPr>
        </p:nvSpPr>
        <p:spPr>
          <a:xfrm>
            <a:off x="39711091" y="914400"/>
            <a:ext cx="3135086" cy="2743200"/>
          </a:xfrm>
          <a:prstGeom prst="rect">
            <a:avLst/>
          </a:prstGeom>
          <a:solidFill>
            <a:schemeClr val="bg1"/>
          </a:solidFill>
        </p:spPr>
        <p:txBody>
          <a:bodyPr vert="horz" lIns="78373" tIns="39187" rIns="78373" bIns="39187"/>
          <a:lstStyle>
            <a:lvl1pPr marL="0" indent="0">
              <a:buNone/>
              <a:defRPr sz="2000"/>
            </a:lvl1pPr>
          </a:lstStyle>
          <a:p>
            <a:r>
              <a:rPr lang="en-US"/>
              <a:t>LOGO</a:t>
            </a:r>
          </a:p>
        </p:txBody>
      </p:sp>
      <p:sp>
        <p:nvSpPr>
          <p:cNvPr id="39" name="Chart Placeholder 38"/>
          <p:cNvSpPr>
            <a:spLocks noGrp="1"/>
          </p:cNvSpPr>
          <p:nvPr>
            <p:ph type="chart" sz="quarter" idx="24"/>
          </p:nvPr>
        </p:nvSpPr>
        <p:spPr>
          <a:xfrm>
            <a:off x="16197949" y="16154400"/>
            <a:ext cx="11495314" cy="6705600"/>
          </a:xfrm>
          <a:prstGeom prst="rect">
            <a:avLst/>
          </a:prstGeom>
        </p:spPr>
        <p:txBody>
          <a:bodyPr vert="horz" lIns="78373" tIns="39187" rIns="78373" bIns="39187"/>
          <a:lstStyle>
            <a:lvl1pPr marL="0" indent="0">
              <a:buNone/>
              <a:defRPr sz="2800"/>
            </a:lvl1pPr>
          </a:lstStyle>
          <a:p>
            <a:endParaRPr lang="en-US"/>
          </a:p>
        </p:txBody>
      </p:sp>
      <p:sp>
        <p:nvSpPr>
          <p:cNvPr id="40" name="Chart Placeholder 38"/>
          <p:cNvSpPr>
            <a:spLocks noGrp="1"/>
          </p:cNvSpPr>
          <p:nvPr>
            <p:ph type="chart" sz="quarter" idx="25"/>
          </p:nvPr>
        </p:nvSpPr>
        <p:spPr>
          <a:xfrm>
            <a:off x="16197949" y="24536400"/>
            <a:ext cx="11495314" cy="6705600"/>
          </a:xfrm>
          <a:prstGeom prst="rect">
            <a:avLst/>
          </a:prstGeom>
        </p:spPr>
        <p:txBody>
          <a:bodyPr vert="horz" lIns="78373" tIns="39187" rIns="78373" bIns="39187"/>
          <a:lstStyle>
            <a:lvl1pPr marL="0" indent="0">
              <a:buNone/>
              <a:defRPr sz="2800"/>
            </a:lvl1pPr>
          </a:lstStyle>
          <a:p>
            <a:endParaRPr lang="en-US"/>
          </a:p>
        </p:txBody>
      </p:sp>
      <p:pic>
        <p:nvPicPr>
          <p:cNvPr id="4" name="Picture 3" descr="Logo.jpg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538400" y="32416772"/>
            <a:ext cx="2743200" cy="43891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8727442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3017520" y="1752607"/>
            <a:ext cx="37856160" cy="636270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017520" y="8763000"/>
            <a:ext cx="37856160" cy="2088642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3017520" y="30510487"/>
            <a:ext cx="9875520" cy="175260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576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9ED62D96-B761-444F-9627-07D69EF59102}" type="datetimeFigureOut">
              <a:rPr lang="en-US" smtClean="0"/>
              <a:t>10/15/26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14538960" y="30510487"/>
            <a:ext cx="14813280" cy="175260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576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30998160" y="30510487"/>
            <a:ext cx="9875520" cy="175260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576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698EB7A8-E57D-FE4E-97CB-A535FD5727D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7580513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</p:sldLayoutIdLst>
  <p:txStyles>
    <p:titleStyle>
      <a:lvl1pPr algn="l" defTabSz="4389120" rtl="0" eaLnBrk="1" latinLnBrk="0" hangingPunct="1">
        <a:lnSpc>
          <a:spcPct val="90000"/>
        </a:lnSpc>
        <a:spcBef>
          <a:spcPct val="0"/>
        </a:spcBef>
        <a:buNone/>
        <a:defRPr sz="2112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097280" indent="-1097280" algn="l" defTabSz="4389120" rtl="0" eaLnBrk="1" latinLnBrk="0" hangingPunct="1">
        <a:lnSpc>
          <a:spcPct val="90000"/>
        </a:lnSpc>
        <a:spcBef>
          <a:spcPts val="4800"/>
        </a:spcBef>
        <a:buFont typeface="Arial" panose="020B0604020202020204" pitchFamily="34" charset="0"/>
        <a:buChar char="•"/>
        <a:defRPr sz="13440" kern="1200">
          <a:solidFill>
            <a:schemeClr val="tx1"/>
          </a:solidFill>
          <a:latin typeface="+mn-lt"/>
          <a:ea typeface="+mn-ea"/>
          <a:cs typeface="+mn-cs"/>
        </a:defRPr>
      </a:lvl1pPr>
      <a:lvl2pPr marL="3291840" indent="-1097280" algn="l" defTabSz="4389120" rtl="0" eaLnBrk="1" latinLnBrk="0" hangingPunct="1">
        <a:lnSpc>
          <a:spcPct val="90000"/>
        </a:lnSpc>
        <a:spcBef>
          <a:spcPts val="2400"/>
        </a:spcBef>
        <a:buFont typeface="Arial" panose="020B0604020202020204" pitchFamily="34" charset="0"/>
        <a:buChar char="•"/>
        <a:defRPr sz="11520" kern="1200">
          <a:solidFill>
            <a:schemeClr val="tx1"/>
          </a:solidFill>
          <a:latin typeface="+mn-lt"/>
          <a:ea typeface="+mn-ea"/>
          <a:cs typeface="+mn-cs"/>
        </a:defRPr>
      </a:lvl2pPr>
      <a:lvl3pPr marL="5486400" indent="-1097280" algn="l" defTabSz="4389120" rtl="0" eaLnBrk="1" latinLnBrk="0" hangingPunct="1">
        <a:lnSpc>
          <a:spcPct val="90000"/>
        </a:lnSpc>
        <a:spcBef>
          <a:spcPts val="2400"/>
        </a:spcBef>
        <a:buFont typeface="Arial" panose="020B0604020202020204" pitchFamily="34" charset="0"/>
        <a:buChar char="•"/>
        <a:defRPr sz="9600" kern="1200">
          <a:solidFill>
            <a:schemeClr val="tx1"/>
          </a:solidFill>
          <a:latin typeface="+mn-lt"/>
          <a:ea typeface="+mn-ea"/>
          <a:cs typeface="+mn-cs"/>
        </a:defRPr>
      </a:lvl3pPr>
      <a:lvl4pPr marL="7680960" indent="-1097280" algn="l" defTabSz="4389120" rtl="0" eaLnBrk="1" latinLnBrk="0" hangingPunct="1">
        <a:lnSpc>
          <a:spcPct val="90000"/>
        </a:lnSpc>
        <a:spcBef>
          <a:spcPts val="2400"/>
        </a:spcBef>
        <a:buFont typeface="Arial" panose="020B0604020202020204" pitchFamily="34" charset="0"/>
        <a:buChar char="•"/>
        <a:defRPr sz="8640" kern="1200">
          <a:solidFill>
            <a:schemeClr val="tx1"/>
          </a:solidFill>
          <a:latin typeface="+mn-lt"/>
          <a:ea typeface="+mn-ea"/>
          <a:cs typeface="+mn-cs"/>
        </a:defRPr>
      </a:lvl4pPr>
      <a:lvl5pPr marL="9875520" indent="-1097280" algn="l" defTabSz="4389120" rtl="0" eaLnBrk="1" latinLnBrk="0" hangingPunct="1">
        <a:lnSpc>
          <a:spcPct val="90000"/>
        </a:lnSpc>
        <a:spcBef>
          <a:spcPts val="2400"/>
        </a:spcBef>
        <a:buFont typeface="Arial" panose="020B0604020202020204" pitchFamily="34" charset="0"/>
        <a:buChar char="•"/>
        <a:defRPr sz="8640" kern="1200">
          <a:solidFill>
            <a:schemeClr val="tx1"/>
          </a:solidFill>
          <a:latin typeface="+mn-lt"/>
          <a:ea typeface="+mn-ea"/>
          <a:cs typeface="+mn-cs"/>
        </a:defRPr>
      </a:lvl5pPr>
      <a:lvl6pPr marL="12070080" indent="-1097280" algn="l" defTabSz="4389120" rtl="0" eaLnBrk="1" latinLnBrk="0" hangingPunct="1">
        <a:lnSpc>
          <a:spcPct val="90000"/>
        </a:lnSpc>
        <a:spcBef>
          <a:spcPts val="2400"/>
        </a:spcBef>
        <a:buFont typeface="Arial" panose="020B0604020202020204" pitchFamily="34" charset="0"/>
        <a:buChar char="•"/>
        <a:defRPr sz="8640" kern="1200">
          <a:solidFill>
            <a:schemeClr val="tx1"/>
          </a:solidFill>
          <a:latin typeface="+mn-lt"/>
          <a:ea typeface="+mn-ea"/>
          <a:cs typeface="+mn-cs"/>
        </a:defRPr>
      </a:lvl6pPr>
      <a:lvl7pPr marL="14264640" indent="-1097280" algn="l" defTabSz="4389120" rtl="0" eaLnBrk="1" latinLnBrk="0" hangingPunct="1">
        <a:lnSpc>
          <a:spcPct val="90000"/>
        </a:lnSpc>
        <a:spcBef>
          <a:spcPts val="2400"/>
        </a:spcBef>
        <a:buFont typeface="Arial" panose="020B0604020202020204" pitchFamily="34" charset="0"/>
        <a:buChar char="•"/>
        <a:defRPr sz="8640" kern="1200">
          <a:solidFill>
            <a:schemeClr val="tx1"/>
          </a:solidFill>
          <a:latin typeface="+mn-lt"/>
          <a:ea typeface="+mn-ea"/>
          <a:cs typeface="+mn-cs"/>
        </a:defRPr>
      </a:lvl7pPr>
      <a:lvl8pPr marL="16459200" indent="-1097280" algn="l" defTabSz="4389120" rtl="0" eaLnBrk="1" latinLnBrk="0" hangingPunct="1">
        <a:lnSpc>
          <a:spcPct val="90000"/>
        </a:lnSpc>
        <a:spcBef>
          <a:spcPts val="2400"/>
        </a:spcBef>
        <a:buFont typeface="Arial" panose="020B0604020202020204" pitchFamily="34" charset="0"/>
        <a:buChar char="•"/>
        <a:defRPr sz="8640" kern="1200">
          <a:solidFill>
            <a:schemeClr val="tx1"/>
          </a:solidFill>
          <a:latin typeface="+mn-lt"/>
          <a:ea typeface="+mn-ea"/>
          <a:cs typeface="+mn-cs"/>
        </a:defRPr>
      </a:lvl8pPr>
      <a:lvl9pPr marL="18653760" indent="-1097280" algn="l" defTabSz="4389120" rtl="0" eaLnBrk="1" latinLnBrk="0" hangingPunct="1">
        <a:lnSpc>
          <a:spcPct val="90000"/>
        </a:lnSpc>
        <a:spcBef>
          <a:spcPts val="2400"/>
        </a:spcBef>
        <a:buFont typeface="Arial" panose="020B0604020202020204" pitchFamily="34" charset="0"/>
        <a:buChar char="•"/>
        <a:defRPr sz="864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389120" rtl="0" eaLnBrk="1" latinLnBrk="0" hangingPunct="1">
        <a:defRPr sz="8640" kern="1200">
          <a:solidFill>
            <a:schemeClr val="tx1"/>
          </a:solidFill>
          <a:latin typeface="+mn-lt"/>
          <a:ea typeface="+mn-ea"/>
          <a:cs typeface="+mn-cs"/>
        </a:defRPr>
      </a:lvl1pPr>
      <a:lvl2pPr marL="2194560" algn="l" defTabSz="4389120" rtl="0" eaLnBrk="1" latinLnBrk="0" hangingPunct="1">
        <a:defRPr sz="8640" kern="1200">
          <a:solidFill>
            <a:schemeClr val="tx1"/>
          </a:solidFill>
          <a:latin typeface="+mn-lt"/>
          <a:ea typeface="+mn-ea"/>
          <a:cs typeface="+mn-cs"/>
        </a:defRPr>
      </a:lvl2pPr>
      <a:lvl3pPr marL="4389120" algn="l" defTabSz="4389120" rtl="0" eaLnBrk="1" latinLnBrk="0" hangingPunct="1">
        <a:defRPr sz="8640" kern="1200">
          <a:solidFill>
            <a:schemeClr val="tx1"/>
          </a:solidFill>
          <a:latin typeface="+mn-lt"/>
          <a:ea typeface="+mn-ea"/>
          <a:cs typeface="+mn-cs"/>
        </a:defRPr>
      </a:lvl3pPr>
      <a:lvl4pPr marL="6583680" algn="l" defTabSz="4389120" rtl="0" eaLnBrk="1" latinLnBrk="0" hangingPunct="1">
        <a:defRPr sz="8640" kern="1200">
          <a:solidFill>
            <a:schemeClr val="tx1"/>
          </a:solidFill>
          <a:latin typeface="+mn-lt"/>
          <a:ea typeface="+mn-ea"/>
          <a:cs typeface="+mn-cs"/>
        </a:defRPr>
      </a:lvl4pPr>
      <a:lvl5pPr marL="8778240" algn="l" defTabSz="4389120" rtl="0" eaLnBrk="1" latinLnBrk="0" hangingPunct="1">
        <a:defRPr sz="8640" kern="1200">
          <a:solidFill>
            <a:schemeClr val="tx1"/>
          </a:solidFill>
          <a:latin typeface="+mn-lt"/>
          <a:ea typeface="+mn-ea"/>
          <a:cs typeface="+mn-cs"/>
        </a:defRPr>
      </a:lvl5pPr>
      <a:lvl6pPr marL="10972800" algn="l" defTabSz="4389120" rtl="0" eaLnBrk="1" latinLnBrk="0" hangingPunct="1">
        <a:defRPr sz="8640" kern="1200">
          <a:solidFill>
            <a:schemeClr val="tx1"/>
          </a:solidFill>
          <a:latin typeface="+mn-lt"/>
          <a:ea typeface="+mn-ea"/>
          <a:cs typeface="+mn-cs"/>
        </a:defRPr>
      </a:lvl6pPr>
      <a:lvl7pPr marL="13167360" algn="l" defTabSz="4389120" rtl="0" eaLnBrk="1" latinLnBrk="0" hangingPunct="1">
        <a:defRPr sz="8640" kern="1200">
          <a:solidFill>
            <a:schemeClr val="tx1"/>
          </a:solidFill>
          <a:latin typeface="+mn-lt"/>
          <a:ea typeface="+mn-ea"/>
          <a:cs typeface="+mn-cs"/>
        </a:defRPr>
      </a:lvl7pPr>
      <a:lvl8pPr marL="15361920" algn="l" defTabSz="4389120" rtl="0" eaLnBrk="1" latinLnBrk="0" hangingPunct="1">
        <a:defRPr sz="8640" kern="1200">
          <a:solidFill>
            <a:schemeClr val="tx1"/>
          </a:solidFill>
          <a:latin typeface="+mn-lt"/>
          <a:ea typeface="+mn-ea"/>
          <a:cs typeface="+mn-cs"/>
        </a:defRPr>
      </a:lvl8pPr>
      <a:lvl9pPr marL="17556480" algn="l" defTabSz="4389120" rtl="0" eaLnBrk="1" latinLnBrk="0" hangingPunct="1">
        <a:defRPr sz="864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10" Type="http://schemas.openxmlformats.org/officeDocument/2006/relationships/image" Target="../media/image9.png"/><Relationship Id="rId4" Type="http://schemas.openxmlformats.org/officeDocument/2006/relationships/image" Target="../media/image3.png"/><Relationship Id="rId9" Type="http://schemas.openxmlformats.org/officeDocument/2006/relationships/image" Target="../media/image8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9B17601-38BA-EEC6-B535-6199F2F271C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" name="Minimum seed mass versus accretion onset" descr="Manuscript minimum seed masses under fixed growth caps for UNCOVER-20466, COSMOS3D-13852, RUBIES-EGS-55604, and GN-z11.">
            <a:extLst>
              <a:ext uri="{FF2B5EF4-FFF2-40B4-BE49-F238E27FC236}">
                <a16:creationId xmlns:a16="http://schemas.microsoft.com/office/drawing/2014/main" id="{C3CA3027-10C5-D39A-05B0-82DB2540F9D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806415" y="8174764"/>
            <a:ext cx="13410833" cy="9052312"/>
          </a:xfrm>
          <a:prstGeom prst="rect">
            <a:avLst/>
          </a:prstGeom>
        </p:spPr>
      </p:pic>
      <p:sp>
        <p:nvSpPr>
          <p:cNvPr id="69" name="Title 18">
            <a:extLst>
              <a:ext uri="{FF2B5EF4-FFF2-40B4-BE49-F238E27FC236}">
                <a16:creationId xmlns:a16="http://schemas.microsoft.com/office/drawing/2014/main" id="{D8B6836B-DAF1-F68F-D717-73D3A454BC2E}"/>
              </a:ext>
            </a:extLst>
          </p:cNvPr>
          <p:cNvSpPr txBox="1">
            <a:spLocks/>
          </p:cNvSpPr>
          <p:nvPr/>
        </p:nvSpPr>
        <p:spPr>
          <a:xfrm>
            <a:off x="548640" y="5212080"/>
            <a:ext cx="14813280" cy="960120"/>
          </a:xfrm>
          <a:prstGeom prst="rect">
            <a:avLst/>
          </a:prstGeom>
          <a:solidFill>
            <a:srgbClr val="002A5C"/>
          </a:solidFill>
          <a:ln>
            <a:solidFill>
              <a:srgbClr val="09306B"/>
            </a:solidFill>
          </a:ln>
        </p:spPr>
        <p:txBody>
          <a:bodyPr vert="horz" lIns="78373" tIns="39187" rIns="78373" bIns="39187" rtlCol="0" anchor="ctr" anchorCtr="1">
            <a:normAutofit/>
          </a:bodyPr>
          <a:lstStyle>
            <a:lvl1pPr algn="l" defTabSz="438912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200" b="1" kern="1200">
                <a:solidFill>
                  <a:schemeClr val="bg1"/>
                </a:solidFill>
                <a:latin typeface="Arial"/>
                <a:ea typeface="+mj-ea"/>
                <a:cs typeface="Arial"/>
              </a:defRPr>
            </a:lvl1pPr>
          </a:lstStyle>
          <a:p>
            <a:pPr algn="ctr"/>
            <a:r>
              <a:rPr lang="en-US" sz="5000" dirty="0"/>
              <a:t>Introduction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7842EAEC-0FF9-516A-6712-19E0D19D0354}"/>
              </a:ext>
            </a:extLst>
          </p:cNvPr>
          <p:cNvSpPr txBox="1"/>
          <p:nvPr/>
        </p:nvSpPr>
        <p:spPr>
          <a:xfrm>
            <a:off x="914400" y="6537960"/>
            <a:ext cx="14081760" cy="2971800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pPr>
              <a:buNone/>
            </a:pPr>
            <a:r>
              <a:rPr lang="en-CA" sz="3300" b="1" dirty="0">
                <a:latin typeface="Aptos"/>
              </a:rPr>
              <a:t>How did early black holes grow so big, so fast? </a:t>
            </a:r>
            <a:r>
              <a:rPr lang="en-CA" sz="3300" b="0" dirty="0">
                <a:latin typeface="Aptos"/>
              </a:rPr>
              <a:t>The James Webb Space Telescope (JWST) has revealed massive black holes with little time to grow.</a:t>
            </a:r>
            <a:r>
              <a:rPr lang="en-CA" sz="2200" b="0" baseline="30000" dirty="0">
                <a:latin typeface="Aptos"/>
              </a:rPr>
              <a:t>[1]</a:t>
            </a:r>
            <a:r>
              <a:rPr lang="en-CA" sz="3300" b="0" dirty="0">
                <a:latin typeface="Aptos"/>
              </a:rPr>
              <a:t> I compiled a catalogue of published black-hole mass estimates and compared their growth requirements, testing sensitivity to mass errors, seed mass, growth onset, and radiative efficiency.</a:t>
            </a:r>
          </a:p>
        </p:txBody>
      </p:sp>
      <p:sp>
        <p:nvSpPr>
          <p:cNvPr id="71" name="Rectangle 70">
            <a:extLst>
              <a:ext uri="{FF2B5EF4-FFF2-40B4-BE49-F238E27FC236}">
                <a16:creationId xmlns:a16="http://schemas.microsoft.com/office/drawing/2014/main" id="{ABB03D82-A209-1440-3180-9DD4419EFCBF}"/>
              </a:ext>
            </a:extLst>
          </p:cNvPr>
          <p:cNvSpPr/>
          <p:nvPr/>
        </p:nvSpPr>
        <p:spPr>
          <a:xfrm>
            <a:off x="548640" y="5212080"/>
            <a:ext cx="14813280" cy="4663440"/>
          </a:xfrm>
          <a:prstGeom prst="rect">
            <a:avLst/>
          </a:prstGeom>
          <a:noFill/>
          <a:ln>
            <a:solidFill>
              <a:srgbClr val="002A5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2" name="Title 18">
            <a:extLst>
              <a:ext uri="{FF2B5EF4-FFF2-40B4-BE49-F238E27FC236}">
                <a16:creationId xmlns:a16="http://schemas.microsoft.com/office/drawing/2014/main" id="{6D9DC137-E8CF-8FC7-F26F-A7759AD2C396}"/>
              </a:ext>
            </a:extLst>
          </p:cNvPr>
          <p:cNvSpPr txBox="1">
            <a:spLocks/>
          </p:cNvSpPr>
          <p:nvPr/>
        </p:nvSpPr>
        <p:spPr>
          <a:xfrm>
            <a:off x="548640" y="10424160"/>
            <a:ext cx="14813280" cy="960120"/>
          </a:xfrm>
          <a:prstGeom prst="rect">
            <a:avLst/>
          </a:prstGeom>
          <a:solidFill>
            <a:srgbClr val="002A5C"/>
          </a:solidFill>
          <a:ln>
            <a:solidFill>
              <a:srgbClr val="09306B"/>
            </a:solidFill>
          </a:ln>
        </p:spPr>
        <p:txBody>
          <a:bodyPr vert="horz" lIns="78373" tIns="39187" rIns="78373" bIns="39187" rtlCol="0" anchor="ctr" anchorCtr="1">
            <a:normAutofit/>
          </a:bodyPr>
          <a:lstStyle>
            <a:lvl1pPr algn="l" defTabSz="438912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200" b="1" kern="1200">
                <a:solidFill>
                  <a:schemeClr val="bg1"/>
                </a:solidFill>
                <a:latin typeface="Arial"/>
                <a:ea typeface="+mj-ea"/>
                <a:cs typeface="Arial"/>
              </a:defRPr>
            </a:lvl1pPr>
          </a:lstStyle>
          <a:p>
            <a:pPr algn="ctr"/>
            <a:r>
              <a:rPr lang="en-US" sz="5000" dirty="0"/>
              <a:t>Methods</a:t>
            </a: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88C51BF9-B81A-ECF4-F01D-305CA1CE9DD1}"/>
              </a:ext>
            </a:extLst>
          </p:cNvPr>
          <p:cNvSpPr txBox="1"/>
          <p:nvPr/>
        </p:nvSpPr>
        <p:spPr>
          <a:xfrm>
            <a:off x="914400" y="18627655"/>
            <a:ext cx="14081760" cy="32493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20000"/>
              </a:lnSpc>
              <a:spcAft>
                <a:spcPts val="1600"/>
              </a:spcAft>
              <a:buNone/>
            </a:pPr>
            <a:r>
              <a:rPr lang="en-CA" sz="3300" b="1" dirty="0">
                <a:latin typeface="Aptos"/>
              </a:rPr>
              <a:t>Symbols: </a:t>
            </a:r>
            <a:r>
              <a:rPr lang="en-CA" sz="3300" b="0" dirty="0">
                <a:latin typeface="Aptos"/>
              </a:rPr>
              <a:t>M⊙ denotes solar mass. Higher redshift z means earlier times. </a:t>
            </a:r>
            <a:r>
              <a:rPr lang="en-CA" sz="3300" b="0" dirty="0" err="1">
                <a:latin typeface="Aptos"/>
              </a:rPr>
              <a:t>ε</a:t>
            </a:r>
            <a:r>
              <a:rPr lang="en-CA" sz="3300" b="0" dirty="0">
                <a:latin typeface="Aptos"/>
              </a:rPr>
              <a:t> is the radiated fraction of accreted rest-mass energy.</a:t>
            </a:r>
          </a:p>
          <a:p>
            <a:pPr>
              <a:lnSpc>
                <a:spcPct val="120000"/>
              </a:lnSpc>
              <a:spcAft>
                <a:spcPts val="1600"/>
              </a:spcAft>
              <a:buNone/>
            </a:pPr>
            <a:r>
              <a:rPr lang="en-CA" sz="3300" b="1" dirty="0">
                <a:latin typeface="Aptos"/>
              </a:rPr>
              <a:t>Eddington ratio: </a:t>
            </a:r>
            <a:r>
              <a:rPr lang="en-CA" sz="3300" b="0" dirty="0" err="1">
                <a:latin typeface="Aptos"/>
              </a:rPr>
              <a:t>f</a:t>
            </a:r>
            <a:r>
              <a:rPr lang="en-CA" sz="2200" b="0" baseline="-25000" dirty="0" err="1">
                <a:latin typeface="Aptos"/>
              </a:rPr>
              <a:t>Edd</a:t>
            </a:r>
            <a:r>
              <a:rPr lang="en-CA" sz="3300" b="0" dirty="0">
                <a:latin typeface="Aptos"/>
              </a:rPr>
              <a:t> = luminosity/Eddington luminosity, where radiation force balances gravity. Averages above 1 require super-Eddington episodes.</a:t>
            </a:r>
            <a:r>
              <a:rPr lang="en-CA" sz="2200" b="0" baseline="30000" dirty="0">
                <a:latin typeface="Aptos"/>
              </a:rPr>
              <a:t>[3]</a:t>
            </a:r>
          </a:p>
        </p:txBody>
      </p:sp>
      <p:sp>
        <p:nvSpPr>
          <p:cNvPr id="74" name="Rectangle 73">
            <a:extLst>
              <a:ext uri="{FF2B5EF4-FFF2-40B4-BE49-F238E27FC236}">
                <a16:creationId xmlns:a16="http://schemas.microsoft.com/office/drawing/2014/main" id="{F5F0E6D1-7308-2846-C555-5A8981E84E43}"/>
              </a:ext>
            </a:extLst>
          </p:cNvPr>
          <p:cNvSpPr/>
          <p:nvPr/>
        </p:nvSpPr>
        <p:spPr>
          <a:xfrm>
            <a:off x="548640" y="10424160"/>
            <a:ext cx="14813280" cy="21945600"/>
          </a:xfrm>
          <a:prstGeom prst="rect">
            <a:avLst/>
          </a:prstGeom>
          <a:noFill/>
          <a:ln>
            <a:solidFill>
              <a:srgbClr val="002A5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8" name="Title 18">
            <a:extLst>
              <a:ext uri="{FF2B5EF4-FFF2-40B4-BE49-F238E27FC236}">
                <a16:creationId xmlns:a16="http://schemas.microsoft.com/office/drawing/2014/main" id="{D50205E6-BF86-6F08-991C-43F597FDF8DD}"/>
              </a:ext>
            </a:extLst>
          </p:cNvPr>
          <p:cNvSpPr txBox="1">
            <a:spLocks/>
          </p:cNvSpPr>
          <p:nvPr/>
        </p:nvSpPr>
        <p:spPr>
          <a:xfrm>
            <a:off x="15910560" y="21762720"/>
            <a:ext cx="27432000" cy="960120"/>
          </a:xfrm>
          <a:prstGeom prst="rect">
            <a:avLst/>
          </a:prstGeom>
          <a:solidFill>
            <a:srgbClr val="002A5C"/>
          </a:solidFill>
          <a:ln>
            <a:solidFill>
              <a:srgbClr val="09306B"/>
            </a:solidFill>
          </a:ln>
        </p:spPr>
        <p:txBody>
          <a:bodyPr vert="horz" lIns="78373" tIns="39187" rIns="78373" bIns="39187" rtlCol="0" anchor="ctr" anchorCtr="1">
            <a:normAutofit/>
          </a:bodyPr>
          <a:lstStyle>
            <a:lvl1pPr algn="l" defTabSz="438912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200" b="1" kern="1200">
                <a:solidFill>
                  <a:schemeClr val="bg1"/>
                </a:solidFill>
                <a:latin typeface="Arial"/>
                <a:ea typeface="+mj-ea"/>
                <a:cs typeface="Arial"/>
              </a:defRPr>
            </a:lvl1pPr>
          </a:lstStyle>
          <a:p>
            <a:pPr algn="ctr"/>
            <a:r>
              <a:rPr lang="en-US" sz="5000"/>
              <a:t>Conclusions</a:t>
            </a:r>
          </a:p>
        </p:txBody>
      </p:sp>
      <p:sp>
        <p:nvSpPr>
          <p:cNvPr id="80" name="Rectangle 79">
            <a:extLst>
              <a:ext uri="{FF2B5EF4-FFF2-40B4-BE49-F238E27FC236}">
                <a16:creationId xmlns:a16="http://schemas.microsoft.com/office/drawing/2014/main" id="{BBD5C8AB-335C-2E4D-00F6-4B0BF74BB013}"/>
              </a:ext>
            </a:extLst>
          </p:cNvPr>
          <p:cNvSpPr/>
          <p:nvPr/>
        </p:nvSpPr>
        <p:spPr>
          <a:xfrm>
            <a:off x="15910560" y="21762720"/>
            <a:ext cx="27432000" cy="6217920"/>
          </a:xfrm>
          <a:prstGeom prst="rect">
            <a:avLst/>
          </a:prstGeom>
          <a:noFill/>
          <a:ln>
            <a:solidFill>
              <a:srgbClr val="002A5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1" name="Title 18">
            <a:extLst>
              <a:ext uri="{FF2B5EF4-FFF2-40B4-BE49-F238E27FC236}">
                <a16:creationId xmlns:a16="http://schemas.microsoft.com/office/drawing/2014/main" id="{8E773A53-2851-D565-B46F-D419BA57021E}"/>
              </a:ext>
            </a:extLst>
          </p:cNvPr>
          <p:cNvSpPr txBox="1">
            <a:spLocks/>
          </p:cNvSpPr>
          <p:nvPr/>
        </p:nvSpPr>
        <p:spPr>
          <a:xfrm>
            <a:off x="15910560" y="28529280"/>
            <a:ext cx="27432000" cy="960120"/>
          </a:xfrm>
          <a:prstGeom prst="rect">
            <a:avLst/>
          </a:prstGeom>
          <a:solidFill>
            <a:srgbClr val="002A5C"/>
          </a:solidFill>
          <a:ln>
            <a:solidFill>
              <a:srgbClr val="09306B"/>
            </a:solidFill>
          </a:ln>
        </p:spPr>
        <p:txBody>
          <a:bodyPr vert="horz" lIns="78373" tIns="39187" rIns="78373" bIns="39187" rtlCol="0" anchor="ctr" anchorCtr="1">
            <a:normAutofit/>
          </a:bodyPr>
          <a:lstStyle>
            <a:lvl1pPr algn="l" defTabSz="438912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200" b="1" kern="1200">
                <a:solidFill>
                  <a:schemeClr val="bg1"/>
                </a:solidFill>
                <a:latin typeface="Arial"/>
                <a:ea typeface="+mj-ea"/>
                <a:cs typeface="Arial"/>
              </a:defRPr>
            </a:lvl1pPr>
          </a:lstStyle>
          <a:p>
            <a:pPr algn="ctr"/>
            <a:r>
              <a:rPr lang="en-US" sz="5000" dirty="0"/>
              <a:t>References</a:t>
            </a:r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82B57F9D-B4AF-1E4D-7FBC-B8680CB4CAB8}"/>
              </a:ext>
            </a:extLst>
          </p:cNvPr>
          <p:cNvSpPr txBox="1"/>
          <p:nvPr/>
        </p:nvSpPr>
        <p:spPr>
          <a:xfrm>
            <a:off x="16276320" y="29855160"/>
            <a:ext cx="13075920" cy="214884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spcBef>
                <a:spcPts val="600"/>
              </a:spcBef>
            </a:pPr>
            <a:r>
              <a:rPr lang="en-CA" sz="3300" dirty="0"/>
              <a:t>[1] Maiolino et al. (2024), Nature, 627, 59.</a:t>
            </a:r>
            <a:endParaRPr lang="en-US" sz="3300" dirty="0"/>
          </a:p>
          <a:p>
            <a:r>
              <a:rPr lang="en-CA" sz="3300" dirty="0"/>
              <a:t>[2] Shen (2013), BASI, 41, 61.</a:t>
            </a:r>
          </a:p>
          <a:p>
            <a:r>
              <a:rPr lang="en-CA" sz="3300" dirty="0"/>
              <a:t>[3] Dayal (2024), A&amp;A, 690, A182.</a:t>
            </a:r>
            <a:endParaRPr lang="en-US" sz="3300" dirty="0"/>
          </a:p>
        </p:txBody>
      </p:sp>
      <p:sp>
        <p:nvSpPr>
          <p:cNvPr id="83" name="Rectangle 82">
            <a:extLst>
              <a:ext uri="{FF2B5EF4-FFF2-40B4-BE49-F238E27FC236}">
                <a16:creationId xmlns:a16="http://schemas.microsoft.com/office/drawing/2014/main" id="{7156AF1B-4C0F-9637-8495-BA5941742B85}"/>
              </a:ext>
            </a:extLst>
          </p:cNvPr>
          <p:cNvSpPr/>
          <p:nvPr/>
        </p:nvSpPr>
        <p:spPr>
          <a:xfrm>
            <a:off x="15910560" y="28529280"/>
            <a:ext cx="27432000" cy="3840480"/>
          </a:xfrm>
          <a:prstGeom prst="rect">
            <a:avLst/>
          </a:prstGeom>
          <a:noFill/>
          <a:ln>
            <a:solidFill>
              <a:srgbClr val="002A5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C4337658-2539-7C1B-497A-E1769149148E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6709" r="1260"/>
          <a:stretch>
            <a:fillRect/>
          </a:stretch>
        </p:blipFill>
        <p:spPr>
          <a:xfrm>
            <a:off x="15881165" y="13330685"/>
            <a:ext cx="13229605" cy="6886644"/>
          </a:xfrm>
          <a:prstGeom prst="rect">
            <a:avLst/>
          </a:prstGeom>
        </p:spPr>
      </p:pic>
      <p:pic>
        <p:nvPicPr>
          <p:cNvPr id="6" name="Picture 5" descr="Eyes open clipart clipground #31495 - Free Transparent PNG Logos">
            <a:extLst>
              <a:ext uri="{FF2B5EF4-FFF2-40B4-BE49-F238E27FC236}">
                <a16:creationId xmlns:a16="http://schemas.microsoft.com/office/drawing/2014/main" id="{9D3E6E2E-04C2-513B-0EE5-8C40F5B8F46A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 rot="20443004">
            <a:off x="30595977" y="2240465"/>
            <a:ext cx="1098240" cy="528648"/>
          </a:xfrm>
          <a:prstGeom prst="rect">
            <a:avLst/>
          </a:prstGeom>
        </p:spPr>
      </p:pic>
      <p:sp>
        <p:nvSpPr>
          <p:cNvPr id="76" name="TextBox 75">
            <a:extLst>
              <a:ext uri="{FF2B5EF4-FFF2-40B4-BE49-F238E27FC236}">
                <a16:creationId xmlns:a16="http://schemas.microsoft.com/office/drawing/2014/main" id="{8F4057E1-F618-63B3-DF3A-8B3B4948305D}"/>
              </a:ext>
            </a:extLst>
          </p:cNvPr>
          <p:cNvSpPr txBox="1"/>
          <p:nvPr/>
        </p:nvSpPr>
        <p:spPr>
          <a:xfrm>
            <a:off x="30324392" y="6489348"/>
            <a:ext cx="12654013" cy="1993502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pPr marL="457200" indent="-457200">
              <a:spcAft>
                <a:spcPts val="400"/>
              </a:spcAft>
              <a:buFont typeface="Arial" panose="020B0604020202020204" pitchFamily="34" charset="0"/>
              <a:buChar char="•"/>
            </a:pPr>
            <a:r>
              <a:rPr lang="en-CA" sz="3300" b="1" dirty="0">
                <a:latin typeface="Aptos"/>
              </a:rPr>
              <a:t>Earlier-onset test: </a:t>
            </a:r>
            <a:r>
              <a:rPr lang="en-CA" sz="3300" b="0" dirty="0">
                <a:latin typeface="Aptos"/>
              </a:rPr>
              <a:t>Starting at matter–radiation equality (z = 3,400) still requires 270–1,200 M⊙ seeds for the 4 plotted objects (ε = 0.1, average ratio ≤ 1, no mergers).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6F669F8B-BE33-0C82-515C-AF8D3B759FB3}"/>
              </a:ext>
            </a:extLst>
          </p:cNvPr>
          <p:cNvSpPr txBox="1"/>
          <p:nvPr/>
        </p:nvSpPr>
        <p:spPr>
          <a:xfrm>
            <a:off x="16228194" y="6489348"/>
            <a:ext cx="13398366" cy="7067871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marL="285750" indent="-228600">
              <a:buChar char="•"/>
            </a:pPr>
            <a:r>
              <a:rPr lang="en-CA" sz="3300" b="1" dirty="0">
                <a:solidFill>
                  <a:srgbClr val="000000"/>
                </a:solidFill>
                <a:latin typeface="Aptos"/>
              </a:rPr>
              <a:t>Reference model: </a:t>
            </a:r>
            <a:r>
              <a:rPr lang="en-CA" sz="3300" b="0" dirty="0">
                <a:solidFill>
                  <a:srgbClr val="000000"/>
                </a:solidFill>
                <a:latin typeface="Aptos"/>
              </a:rPr>
              <a:t>8/220 primary objects require average Eddington ratios above 1, including 5 in ≥ 95% of mass-error draws.</a:t>
            </a:r>
          </a:p>
          <a:p>
            <a:pPr marL="285750" indent="-228600">
              <a:buChar char="•"/>
            </a:pPr>
            <a:r>
              <a:rPr lang="en-CA" sz="3300" b="1" dirty="0">
                <a:solidFill>
                  <a:srgbClr val="000000"/>
                </a:solidFill>
                <a:latin typeface="Aptos"/>
              </a:rPr>
              <a:t>Mass sensitivity: </a:t>
            </a:r>
            <a:r>
              <a:rPr lang="en-CA" sz="3300" b="0" dirty="0">
                <a:solidFill>
                  <a:srgbClr val="000000"/>
                </a:solidFill>
                <a:latin typeface="Aptos"/>
              </a:rPr>
              <a:t>Lowering masses by 0.5 </a:t>
            </a:r>
            <a:r>
              <a:rPr lang="en-CA" sz="3300" b="0" dirty="0" err="1">
                <a:solidFill>
                  <a:srgbClr val="000000"/>
                </a:solidFill>
                <a:latin typeface="Aptos"/>
              </a:rPr>
              <a:t>dex</a:t>
            </a:r>
            <a:r>
              <a:rPr lang="en-CA" sz="3300" b="0" dirty="0">
                <a:solidFill>
                  <a:srgbClr val="000000"/>
                </a:solidFill>
                <a:latin typeface="Aptos"/>
              </a:rPr>
              <a:t> (a factor of 3.2) leaves 3 primary objects requiring averages above 1 in ≥ 95% of draws.</a:t>
            </a:r>
          </a:p>
          <a:p>
            <a:pPr marL="285750" indent="-228600">
              <a:buChar char="•"/>
            </a:pPr>
            <a:r>
              <a:rPr lang="en-CA" sz="3300" b="1" dirty="0">
                <a:solidFill>
                  <a:srgbClr val="000000"/>
                </a:solidFill>
                <a:latin typeface="Aptos"/>
              </a:rPr>
              <a:t>Seed mass: </a:t>
            </a:r>
            <a:r>
              <a:rPr lang="en-CA" sz="3300" dirty="0">
                <a:solidFill>
                  <a:srgbClr val="000000"/>
                </a:solidFill>
                <a:latin typeface="Aptos"/>
              </a:rPr>
              <a:t>1,000 </a:t>
            </a:r>
            <a:r>
              <a:rPr lang="en-CA" sz="3300" b="0" dirty="0">
                <a:solidFill>
                  <a:srgbClr val="000000"/>
                </a:solidFill>
                <a:latin typeface="Aptos"/>
              </a:rPr>
              <a:t>M⊙ seeds leave 3/220 above 1. With 100,000 M⊙ seeds, neither sample has objects above 1.</a:t>
            </a:r>
          </a:p>
          <a:p>
            <a:pPr marL="285750" indent="-228600">
              <a:buChar char="•"/>
            </a:pPr>
            <a:r>
              <a:rPr lang="en-CA" sz="3300" b="1" dirty="0">
                <a:solidFill>
                  <a:srgbClr val="000000"/>
                </a:solidFill>
                <a:latin typeface="Aptos"/>
              </a:rPr>
              <a:t>Growth start time: </a:t>
            </a:r>
            <a:r>
              <a:rPr lang="en-CA" sz="3300" b="0" dirty="0">
                <a:solidFill>
                  <a:srgbClr val="000000"/>
                </a:solidFill>
                <a:latin typeface="Aptos"/>
              </a:rPr>
              <a:t>At z = 20, 18/220 primary objects require averages above 1, and GN-z11 requires the highest average in the expanded sample.</a:t>
            </a:r>
          </a:p>
          <a:p>
            <a:pPr marL="285750" indent="-228600">
              <a:buChar char="•"/>
            </a:pPr>
            <a:r>
              <a:rPr lang="en-CA" sz="3300" b="1" dirty="0">
                <a:solidFill>
                  <a:srgbClr val="000000"/>
                </a:solidFill>
                <a:latin typeface="Aptos"/>
              </a:rPr>
              <a:t>Efficiency: </a:t>
            </a:r>
            <a:r>
              <a:rPr lang="en-CA" sz="3300" b="0" dirty="0">
                <a:solidFill>
                  <a:srgbClr val="000000"/>
                </a:solidFill>
                <a:latin typeface="Aptos"/>
              </a:rPr>
              <a:t>At </a:t>
            </a:r>
            <a:r>
              <a:rPr lang="en-CA" sz="3300" b="0" dirty="0" err="1">
                <a:solidFill>
                  <a:srgbClr val="000000"/>
                </a:solidFill>
                <a:latin typeface="Aptos"/>
              </a:rPr>
              <a:t>ε</a:t>
            </a:r>
            <a:r>
              <a:rPr lang="en-CA" sz="3300" b="0" dirty="0">
                <a:solidFill>
                  <a:srgbClr val="000000"/>
                </a:solidFill>
                <a:latin typeface="Aptos"/>
              </a:rPr>
              <a:t> = 0.05719 (non-spinning thin disc) </a:t>
            </a:r>
            <a:r>
              <a:rPr lang="en-CA" sz="2200" b="0" baseline="30000" dirty="0">
                <a:solidFill>
                  <a:srgbClr val="000000"/>
                </a:solidFill>
                <a:latin typeface="Aptos"/>
              </a:rPr>
              <a:t>[4]</a:t>
            </a:r>
            <a:r>
              <a:rPr lang="en-CA" sz="3300" b="0" dirty="0">
                <a:solidFill>
                  <a:srgbClr val="000000"/>
                </a:solidFill>
                <a:latin typeface="Aptos"/>
              </a:rPr>
              <a:t>, all 234 central mass estimates require averages below 1 under the other reference assumptions.</a:t>
            </a:r>
          </a:p>
        </p:txBody>
      </p:sp>
      <p:sp>
        <p:nvSpPr>
          <p:cNvPr id="7" name="Title 18">
            <a:extLst>
              <a:ext uri="{FF2B5EF4-FFF2-40B4-BE49-F238E27FC236}">
                <a16:creationId xmlns:a16="http://schemas.microsoft.com/office/drawing/2014/main" id="{3AC78928-AF13-E1B9-F802-F1FD39D07D33}"/>
              </a:ext>
            </a:extLst>
          </p:cNvPr>
          <p:cNvSpPr txBox="1">
            <a:spLocks/>
          </p:cNvSpPr>
          <p:nvPr/>
        </p:nvSpPr>
        <p:spPr>
          <a:xfrm>
            <a:off x="15910560" y="5212080"/>
            <a:ext cx="27432000" cy="960120"/>
          </a:xfrm>
          <a:prstGeom prst="rect">
            <a:avLst/>
          </a:prstGeom>
          <a:solidFill>
            <a:srgbClr val="002A5C"/>
          </a:solidFill>
          <a:ln>
            <a:solidFill>
              <a:srgbClr val="09306B"/>
            </a:solidFill>
          </a:ln>
        </p:spPr>
        <p:txBody>
          <a:bodyPr vert="horz" lIns="78373" tIns="39187" rIns="78373" bIns="39187" rtlCol="0" anchor="ctr" anchorCtr="1">
            <a:normAutofit/>
          </a:bodyPr>
          <a:lstStyle>
            <a:lvl1pPr algn="l" defTabSz="438912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200" b="1" kern="1200">
                <a:solidFill>
                  <a:schemeClr val="bg1"/>
                </a:solidFill>
                <a:latin typeface="Arial"/>
                <a:ea typeface="+mj-ea"/>
                <a:cs typeface="Arial"/>
              </a:defRPr>
            </a:lvl1pPr>
          </a:lstStyle>
          <a:p>
            <a:pPr algn="ctr"/>
            <a:r>
              <a:rPr lang="en-US" sz="5000"/>
              <a:t>Results</a:t>
            </a:r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AF7EDC07-606F-DD66-5973-0AE0D673B23B}"/>
              </a:ext>
            </a:extLst>
          </p:cNvPr>
          <p:cNvSpPr/>
          <p:nvPr/>
        </p:nvSpPr>
        <p:spPr>
          <a:xfrm>
            <a:off x="15910560" y="5212080"/>
            <a:ext cx="27432000" cy="16002000"/>
          </a:xfrm>
          <a:prstGeom prst="rect">
            <a:avLst/>
          </a:prstGeom>
          <a:noFill/>
          <a:ln>
            <a:solidFill>
              <a:srgbClr val="002A5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2" name="Figure takeaway 112"/>
          <p:cNvSpPr txBox="1"/>
          <p:nvPr/>
        </p:nvSpPr>
        <p:spPr>
          <a:xfrm>
            <a:off x="30092626" y="17498917"/>
            <a:ext cx="12654013" cy="543682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pPr>
              <a:buNone/>
            </a:pPr>
            <a:r>
              <a:rPr lang="en-CA" sz="2400" b="0" dirty="0">
                <a:latin typeface="Aptos"/>
              </a:rPr>
              <a:t>Earlier starts lower the required seed mass, but the decrease becomes smaller.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B71483CE-2A7E-6438-7E3B-E605C17C7099}"/>
              </a:ext>
            </a:extLst>
          </p:cNvPr>
          <p:cNvSpPr txBox="1"/>
          <p:nvPr/>
        </p:nvSpPr>
        <p:spPr>
          <a:xfrm>
            <a:off x="29977635" y="18155866"/>
            <a:ext cx="12654013" cy="267310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457200" indent="-457200">
              <a:spcAft>
                <a:spcPts val="400"/>
              </a:spcAft>
              <a:buFont typeface="Arial" panose="020B0604020202020204" pitchFamily="34" charset="0"/>
              <a:buChar char="•"/>
            </a:pPr>
            <a:r>
              <a:rPr lang="en-CA" sz="3300" b="1" dirty="0">
                <a:latin typeface="Aptos"/>
              </a:rPr>
              <a:t>Independent mass check: </a:t>
            </a:r>
            <a:r>
              <a:rPr lang="en-CA" sz="3300" b="0" dirty="0">
                <a:latin typeface="Aptos"/>
              </a:rPr>
              <a:t>A2744-QSO1’s broad-line mass (2.0 × 10</a:t>
            </a:r>
            <a:r>
              <a:rPr lang="en-CA" sz="2200" b="0" baseline="30000" dirty="0">
                <a:latin typeface="Aptos"/>
              </a:rPr>
              <a:t>7</a:t>
            </a:r>
            <a:r>
              <a:rPr lang="en-CA" sz="3300" b="0" dirty="0">
                <a:latin typeface="Aptos"/>
              </a:rPr>
              <a:t> M⊙) requires an average of 0.929 under the reference model. Its dynamical mass (5.0 × 10</a:t>
            </a:r>
            <a:r>
              <a:rPr lang="en-CA" sz="2200" b="0" baseline="30000" dirty="0">
                <a:latin typeface="Aptos"/>
              </a:rPr>
              <a:t>7</a:t>
            </a:r>
            <a:r>
              <a:rPr lang="en-CA" sz="3300" b="0" dirty="0">
                <a:latin typeface="Aptos"/>
              </a:rPr>
              <a:t> M⊙)</a:t>
            </a:r>
            <a:r>
              <a:rPr lang="en-CA" sz="2200" b="0" baseline="30000" dirty="0">
                <a:latin typeface="Aptos"/>
              </a:rPr>
              <a:t>[5]</a:t>
            </a:r>
            <a:r>
              <a:rPr lang="en-CA" sz="3300" b="0" dirty="0">
                <a:latin typeface="Aptos"/>
              </a:rPr>
              <a:t> requires 0.9996. Its required average spans 0.947–1.052 (16th–84th percentiles), including 1.</a:t>
            </a:r>
          </a:p>
        </p:txBody>
      </p:sp>
      <p:sp>
        <p:nvSpPr>
          <p:cNvPr id="120" name="Efficiency comparison heading">
            <a:extLst>
              <a:ext uri="{FF2B5EF4-FFF2-40B4-BE49-F238E27FC236}">
                <a16:creationId xmlns:a16="http://schemas.microsoft.com/office/drawing/2014/main" id="{3A05E1FE-512D-49F3-9C39-22D275F0EE18}"/>
              </a:ext>
            </a:extLst>
          </p:cNvPr>
          <p:cNvSpPr>
            <a:spLocks noGrp="1"/>
          </p:cNvSpPr>
          <p:nvPr/>
        </p:nvSpPr>
        <p:spPr>
          <a:xfrm>
            <a:off x="914400" y="21965363"/>
            <a:ext cx="14081760" cy="631821"/>
          </a:xfrm>
          <a:prstGeom prst="rect">
            <a:avLst/>
          </a:prstGeom>
          <a:noFill/>
        </p:spPr>
        <p:txBody>
          <a:bodyPr wrap="square" lIns="91440" tIns="45720" rIns="91440" bIns="45720" anchor="t">
            <a:spAutoFit/>
          </a:bodyPr>
          <a:lstStyle>
            <a:defPPr>
              <a:defRPr b="1">
                <a:solidFill>
                  <a:srgbClr val="002A5C"/>
                </a:solidFill>
              </a:defRPr>
            </a:defPPr>
          </a:lstStyle>
          <a:p>
            <a:pPr>
              <a:spcAft>
                <a:spcPts val="800"/>
              </a:spcAft>
              <a:buNone/>
              <a:defRPr b="1">
                <a:solidFill>
                  <a:srgbClr val="002A5C"/>
                </a:solidFill>
              </a:defRPr>
            </a:pPr>
            <a:r>
              <a:rPr lang="en-CA" sz="3600" b="1" dirty="0">
                <a:solidFill>
                  <a:srgbClr val="002A5C"/>
                </a:solidFill>
                <a:latin typeface="Aptos"/>
              </a:rPr>
              <a:t>Growth test and uncertainty</a:t>
            </a:r>
          </a:p>
        </p:txBody>
      </p:sp>
      <p:sp>
        <p:nvSpPr>
          <p:cNvPr id="200" name="Poster diagram 200">
            <a:extLst>
              <a:ext uri="{FF2B5EF4-FFF2-40B4-BE49-F238E27FC236}">
                <a16:creationId xmlns:a16="http://schemas.microsoft.com/office/drawing/2014/main" id="{F979C9B9-C3CA-480F-BB52-CC7D4B02CE22}"/>
              </a:ext>
            </a:extLst>
          </p:cNvPr>
          <p:cNvSpPr>
            <a:spLocks noGrp="1"/>
          </p:cNvSpPr>
          <p:nvPr/>
        </p:nvSpPr>
        <p:spPr>
          <a:xfrm>
            <a:off x="1005840" y="12286881"/>
            <a:ext cx="14176858" cy="767211"/>
          </a:xfrm>
          <a:prstGeom prst="rect">
            <a:avLst/>
          </a:prstGeom>
          <a:noFill/>
          <a:ln w="0">
            <a:noFill/>
          </a:ln>
        </p:spPr>
        <p:txBody>
          <a:bodyPr lIns="114300" tIns="76200" rIns="114300" bIns="76200" anchor="ctr"/>
          <a:lstStyle>
            <a:defPPr algn="ctr">
              <a:defRPr sz="3300" b="1">
                <a:solidFill>
                  <a:srgbClr val="111111"/>
                </a:solidFill>
                <a:latin typeface="Aptos"/>
              </a:defRPr>
            </a:defPPr>
          </a:lstStyle>
          <a:p>
            <a:pPr algn="ctr">
              <a:defRPr sz="3300" b="1">
                <a:solidFill>
                  <a:srgbClr val="111111"/>
                </a:solidFill>
                <a:latin typeface="Aptos"/>
              </a:defRPr>
            </a:pPr>
            <a:r>
              <a:rPr sz="3300" b="1" dirty="0">
                <a:solidFill>
                  <a:srgbClr val="111111"/>
                </a:solidFill>
                <a:latin typeface="Aptos"/>
              </a:rPr>
              <a:t>350 measurements from 32 source families at z ≥ 4</a:t>
            </a:r>
          </a:p>
        </p:txBody>
      </p:sp>
      <p:sp>
        <p:nvSpPr>
          <p:cNvPr id="201" name="Poster diagram 201">
            <a:extLst>
              <a:ext uri="{FF2B5EF4-FFF2-40B4-BE49-F238E27FC236}">
                <a16:creationId xmlns:a16="http://schemas.microsoft.com/office/drawing/2014/main" id="{A5654399-0386-420B-B69B-49326884E1BD}"/>
              </a:ext>
            </a:extLst>
          </p:cNvPr>
          <p:cNvSpPr>
            <a:spLocks noGrp="1"/>
          </p:cNvSpPr>
          <p:nvPr/>
        </p:nvSpPr>
        <p:spPr>
          <a:xfrm>
            <a:off x="7918216" y="13099222"/>
            <a:ext cx="352105" cy="252728"/>
          </a:xfrm>
          <a:prstGeom prst="downArrow">
            <a:avLst/>
          </a:prstGeom>
          <a:solidFill>
            <a:srgbClr val="526477"/>
          </a:solidFill>
          <a:ln w="0"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202" name="Poster diagram 202">
            <a:extLst>
              <a:ext uri="{FF2B5EF4-FFF2-40B4-BE49-F238E27FC236}">
                <a16:creationId xmlns:a16="http://schemas.microsoft.com/office/drawing/2014/main" id="{A4F32B50-A70B-4AAD-866D-8A9AFB77BA97}"/>
              </a:ext>
            </a:extLst>
          </p:cNvPr>
          <p:cNvSpPr>
            <a:spLocks noGrp="1"/>
          </p:cNvSpPr>
          <p:nvPr/>
        </p:nvSpPr>
        <p:spPr>
          <a:xfrm>
            <a:off x="1005840" y="13415133"/>
            <a:ext cx="13898880" cy="631821"/>
          </a:xfrm>
          <a:prstGeom prst="rect">
            <a:avLst/>
          </a:prstGeom>
          <a:solidFill>
            <a:srgbClr val="F1F4F7"/>
          </a:solidFill>
          <a:ln w="17145">
            <a:solidFill>
              <a:srgbClr val="526477"/>
            </a:solidFill>
          </a:ln>
        </p:spPr>
        <p:txBody>
          <a:bodyPr lIns="114300" tIns="76200" rIns="114300" bIns="76200" anchor="ctr"/>
          <a:lstStyle>
            <a:defPPr algn="ctr">
              <a:defRPr sz="3300" b="1">
                <a:solidFill>
                  <a:srgbClr val="111111"/>
                </a:solidFill>
                <a:latin typeface="Aptos"/>
              </a:defRPr>
            </a:defPPr>
          </a:lstStyle>
          <a:p>
            <a:pPr algn="ctr">
              <a:defRPr sz="3300" b="1">
                <a:solidFill>
                  <a:srgbClr val="111111"/>
                </a:solidFill>
                <a:latin typeface="Aptos"/>
              </a:defRPr>
            </a:pPr>
            <a:r>
              <a:rPr sz="3300" b="1">
                <a:solidFill>
                  <a:srgbClr val="111111"/>
                </a:solidFill>
                <a:latin typeface="Aptos"/>
              </a:rPr>
              <a:t>338 provisional objects</a:t>
            </a:r>
          </a:p>
        </p:txBody>
      </p:sp>
      <p:sp>
        <p:nvSpPr>
          <p:cNvPr id="203" name="Poster diagram 203">
            <a:extLst>
              <a:ext uri="{FF2B5EF4-FFF2-40B4-BE49-F238E27FC236}">
                <a16:creationId xmlns:a16="http://schemas.microsoft.com/office/drawing/2014/main" id="{4B9D32E4-35CC-401A-84F3-9B0E93812FF3}"/>
              </a:ext>
            </a:extLst>
          </p:cNvPr>
          <p:cNvSpPr>
            <a:spLocks noGrp="1"/>
          </p:cNvSpPr>
          <p:nvPr/>
        </p:nvSpPr>
        <p:spPr>
          <a:xfrm>
            <a:off x="5221834" y="14092084"/>
            <a:ext cx="352105" cy="252728"/>
          </a:xfrm>
          <a:prstGeom prst="downArrow">
            <a:avLst/>
          </a:prstGeom>
          <a:solidFill>
            <a:srgbClr val="526477"/>
          </a:solidFill>
          <a:ln w="0"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204" name="Poster diagram 204">
            <a:extLst>
              <a:ext uri="{FF2B5EF4-FFF2-40B4-BE49-F238E27FC236}">
                <a16:creationId xmlns:a16="http://schemas.microsoft.com/office/drawing/2014/main" id="{D840C234-8C7B-423E-87DF-1C2EC82BD5EA}"/>
              </a:ext>
            </a:extLst>
          </p:cNvPr>
          <p:cNvSpPr>
            <a:spLocks noGrp="1"/>
          </p:cNvSpPr>
          <p:nvPr/>
        </p:nvSpPr>
        <p:spPr>
          <a:xfrm>
            <a:off x="12518746" y="14092084"/>
            <a:ext cx="352105" cy="252728"/>
          </a:xfrm>
          <a:prstGeom prst="downArrow">
            <a:avLst/>
          </a:prstGeom>
          <a:solidFill>
            <a:srgbClr val="526477"/>
          </a:solidFill>
          <a:ln w="0"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205" name="Poster diagram 205">
            <a:extLst>
              <a:ext uri="{FF2B5EF4-FFF2-40B4-BE49-F238E27FC236}">
                <a16:creationId xmlns:a16="http://schemas.microsoft.com/office/drawing/2014/main" id="{B0440D7D-E739-420F-ABED-4E5D214838EC}"/>
              </a:ext>
            </a:extLst>
          </p:cNvPr>
          <p:cNvSpPr>
            <a:spLocks noGrp="1"/>
          </p:cNvSpPr>
          <p:nvPr/>
        </p:nvSpPr>
        <p:spPr>
          <a:xfrm>
            <a:off x="1005840" y="14435072"/>
            <a:ext cx="8789651" cy="3700665"/>
          </a:xfrm>
          <a:prstGeom prst="rect">
            <a:avLst/>
          </a:prstGeom>
          <a:noFill/>
          <a:ln w="17145">
            <a:solidFill>
              <a:srgbClr val="073463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206" name="Poster diagram 206">
            <a:extLst>
              <a:ext uri="{FF2B5EF4-FFF2-40B4-BE49-F238E27FC236}">
                <a16:creationId xmlns:a16="http://schemas.microsoft.com/office/drawing/2014/main" id="{C0DEFAC9-EF02-4B42-B474-17FA97D60021}"/>
              </a:ext>
            </a:extLst>
          </p:cNvPr>
          <p:cNvSpPr>
            <a:spLocks noGrp="1"/>
          </p:cNvSpPr>
          <p:nvPr/>
        </p:nvSpPr>
        <p:spPr>
          <a:xfrm>
            <a:off x="1061436" y="14453124"/>
            <a:ext cx="8678460" cy="631821"/>
          </a:xfrm>
          <a:prstGeom prst="rect">
            <a:avLst/>
          </a:prstGeom>
          <a:noFill/>
          <a:ln w="0">
            <a:noFill/>
          </a:ln>
        </p:spPr>
        <p:txBody>
          <a:bodyPr lIns="114300" tIns="76200" rIns="114300" bIns="76200" anchor="ctr"/>
          <a:lstStyle>
            <a:defPPr algn="ctr">
              <a:defRPr sz="3100" b="1">
                <a:solidFill>
                  <a:srgbClr val="073463"/>
                </a:solidFill>
                <a:latin typeface="Aptos"/>
              </a:defRPr>
            </a:defPPr>
          </a:lstStyle>
          <a:p>
            <a:pPr algn="ctr">
              <a:defRPr sz="3100" b="1">
                <a:solidFill>
                  <a:srgbClr val="073463"/>
                </a:solidFill>
                <a:latin typeface="Aptos"/>
              </a:defRPr>
            </a:pPr>
            <a:r>
              <a:rPr sz="3100" b="1">
                <a:solidFill>
                  <a:srgbClr val="073463"/>
                </a:solidFill>
                <a:latin typeface="Aptos"/>
              </a:rPr>
              <a:t>234 expanded-sample objects</a:t>
            </a:r>
          </a:p>
        </p:txBody>
      </p:sp>
      <p:sp>
        <p:nvSpPr>
          <p:cNvPr id="207" name="Poster diagram 207">
            <a:extLst>
              <a:ext uri="{FF2B5EF4-FFF2-40B4-BE49-F238E27FC236}">
                <a16:creationId xmlns:a16="http://schemas.microsoft.com/office/drawing/2014/main" id="{0810806D-B188-4E18-8185-C1F9716B0663}"/>
              </a:ext>
            </a:extLst>
          </p:cNvPr>
          <p:cNvSpPr>
            <a:spLocks noGrp="1"/>
          </p:cNvSpPr>
          <p:nvPr/>
        </p:nvSpPr>
        <p:spPr>
          <a:xfrm>
            <a:off x="1191158" y="15130075"/>
            <a:ext cx="8419015" cy="902601"/>
          </a:xfrm>
          <a:prstGeom prst="rect">
            <a:avLst/>
          </a:prstGeom>
          <a:solidFill>
            <a:srgbClr val="F1F4F7"/>
          </a:solidFill>
          <a:ln w="0">
            <a:noFill/>
          </a:ln>
        </p:spPr>
        <p:txBody>
          <a:bodyPr lIns="114300" tIns="76200" rIns="114300" bIns="76200" anchor="ctr"/>
          <a:lstStyle>
            <a:defPPr algn="ctr">
              <a:defRPr sz="3000" b="1">
                <a:solidFill>
                  <a:srgbClr val="111111"/>
                </a:solidFill>
                <a:latin typeface="Aptos"/>
              </a:defRPr>
            </a:defPPr>
          </a:lstStyle>
          <a:p>
            <a:pPr algn="ctr">
              <a:defRPr sz="3000" b="1">
                <a:solidFill>
                  <a:srgbClr val="111111"/>
                </a:solidFill>
                <a:latin typeface="Aptos"/>
              </a:defRPr>
            </a:pPr>
            <a:r>
              <a:rPr sz="3000" b="1" dirty="0">
                <a:solidFill>
                  <a:srgbClr val="111111"/>
                </a:solidFill>
                <a:latin typeface="Aptos"/>
              </a:rPr>
              <a:t>220 primary</a:t>
            </a:r>
          </a:p>
          <a:p>
            <a:pPr algn="ctr">
              <a:defRPr sz="3000" b="1">
                <a:solidFill>
                  <a:srgbClr val="111111"/>
                </a:solidFill>
                <a:latin typeface="Aptos"/>
              </a:defRPr>
            </a:pPr>
            <a:r>
              <a:rPr sz="3000" b="1" dirty="0">
                <a:solidFill>
                  <a:srgbClr val="111111"/>
                </a:solidFill>
                <a:latin typeface="Aptos"/>
              </a:rPr>
              <a:t>Broad hydrogen (Balmer) line masses</a:t>
            </a:r>
            <a:r>
              <a:rPr lang="en-CA" sz="3000" b="1" dirty="0">
                <a:solidFill>
                  <a:srgbClr val="111111"/>
                </a:solidFill>
                <a:latin typeface="Aptos"/>
              </a:rPr>
              <a:t> </a:t>
            </a:r>
            <a:r>
              <a:rPr lang="en-CA" sz="2000" b="0" baseline="30000" dirty="0">
                <a:solidFill>
                  <a:srgbClr val="111111"/>
                </a:solidFill>
                <a:latin typeface="Aptos"/>
              </a:rPr>
              <a:t>[2]</a:t>
            </a:r>
            <a:endParaRPr sz="3000" b="1" dirty="0">
              <a:solidFill>
                <a:srgbClr val="111111"/>
              </a:solidFill>
              <a:latin typeface="Aptos"/>
            </a:endParaRPr>
          </a:p>
        </p:txBody>
      </p:sp>
      <p:sp>
        <p:nvSpPr>
          <p:cNvPr id="208" name="Poster diagram 208">
            <a:extLst>
              <a:ext uri="{FF2B5EF4-FFF2-40B4-BE49-F238E27FC236}">
                <a16:creationId xmlns:a16="http://schemas.microsoft.com/office/drawing/2014/main" id="{FAA325B6-AF3F-4391-B001-5CEA6C0D3BA1}"/>
              </a:ext>
            </a:extLst>
          </p:cNvPr>
          <p:cNvSpPr>
            <a:spLocks noGrp="1"/>
          </p:cNvSpPr>
          <p:nvPr/>
        </p:nvSpPr>
        <p:spPr>
          <a:xfrm>
            <a:off x="1191158" y="16077807"/>
            <a:ext cx="8419015" cy="1985723"/>
          </a:xfrm>
          <a:prstGeom prst="rect">
            <a:avLst/>
          </a:prstGeom>
          <a:solidFill>
            <a:srgbClr val="F4F0F8"/>
          </a:solidFill>
          <a:ln w="0">
            <a:noFill/>
          </a:ln>
        </p:spPr>
        <p:txBody>
          <a:bodyPr lIns="114300" tIns="76200" rIns="114300" bIns="76200" anchor="ctr"/>
          <a:lstStyle>
            <a:defPPr algn="ctr">
              <a:defRPr sz="2700" b="0">
                <a:solidFill>
                  <a:srgbClr val="111111"/>
                </a:solidFill>
                <a:latin typeface="Aptos"/>
              </a:defRPr>
            </a:defPPr>
          </a:lstStyle>
          <a:p>
            <a:pPr algn="ctr">
              <a:defRPr sz="2700" b="0">
                <a:solidFill>
                  <a:srgbClr val="111111"/>
                </a:solidFill>
                <a:latin typeface="Aptos"/>
              </a:defRPr>
            </a:pPr>
            <a:r>
              <a:rPr sz="2700" b="0" dirty="0">
                <a:solidFill>
                  <a:srgbClr val="111111"/>
                </a:solidFill>
                <a:latin typeface="Aptos"/>
              </a:rPr>
              <a:t>14 additional</a:t>
            </a:r>
            <a:r>
              <a:rPr lang="en-CA" sz="2700" b="0" dirty="0">
                <a:solidFill>
                  <a:srgbClr val="111111"/>
                </a:solidFill>
                <a:latin typeface="Aptos"/>
              </a:rPr>
              <a:t>:</a:t>
            </a:r>
            <a:endParaRPr sz="2700" b="0" dirty="0">
              <a:solidFill>
                <a:srgbClr val="111111"/>
              </a:solidFill>
              <a:latin typeface="Aptos"/>
            </a:endParaRPr>
          </a:p>
          <a:p>
            <a:pPr marL="457200" indent="-457200" algn="ctr">
              <a:buFont typeface="Arial" panose="020B0604020202020204" pitchFamily="34" charset="0"/>
              <a:buChar char="•"/>
              <a:defRPr sz="2700" b="0">
                <a:solidFill>
                  <a:srgbClr val="111111"/>
                </a:solidFill>
                <a:latin typeface="Aptos"/>
              </a:defRPr>
            </a:pPr>
            <a:r>
              <a:rPr sz="2700" b="0" dirty="0">
                <a:solidFill>
                  <a:srgbClr val="111111"/>
                </a:solidFill>
                <a:latin typeface="Aptos"/>
              </a:rPr>
              <a:t>7 masses with uncertain line origins, </a:t>
            </a:r>
            <a:endParaRPr lang="en-CA" sz="2700" dirty="0">
              <a:solidFill>
                <a:srgbClr val="111111"/>
              </a:solidFill>
              <a:latin typeface="Aptos"/>
            </a:endParaRPr>
          </a:p>
          <a:p>
            <a:pPr algn="ctr">
              <a:defRPr sz="2700" b="0">
                <a:solidFill>
                  <a:srgbClr val="111111"/>
                </a:solidFill>
                <a:latin typeface="Aptos"/>
              </a:defRPr>
            </a:pPr>
            <a:r>
              <a:rPr sz="2700" b="0" dirty="0">
                <a:solidFill>
                  <a:srgbClr val="111111"/>
                </a:solidFill>
                <a:latin typeface="Aptos"/>
              </a:rPr>
              <a:t>assuming gas orbiting the black hole</a:t>
            </a:r>
            <a:endParaRPr lang="en-CA" sz="2700" dirty="0">
              <a:solidFill>
                <a:srgbClr val="111111"/>
              </a:solidFill>
              <a:latin typeface="Aptos"/>
            </a:endParaRPr>
          </a:p>
          <a:p>
            <a:pPr marL="457200" indent="-457200" algn="ctr">
              <a:buFont typeface="Arial" panose="020B0604020202020204" pitchFamily="34" charset="0"/>
              <a:buChar char="•"/>
              <a:defRPr sz="2700" b="0">
                <a:solidFill>
                  <a:srgbClr val="111111"/>
                </a:solidFill>
                <a:latin typeface="Aptos"/>
              </a:defRPr>
            </a:pPr>
            <a:r>
              <a:rPr sz="2700" b="0" dirty="0">
                <a:solidFill>
                  <a:srgbClr val="111111"/>
                </a:solidFill>
                <a:latin typeface="Aptos"/>
              </a:rPr>
              <a:t>6 tentative broad-line detections</a:t>
            </a:r>
            <a:endParaRPr lang="en-CA" sz="2700" b="0" dirty="0">
              <a:solidFill>
                <a:srgbClr val="111111"/>
              </a:solidFill>
              <a:latin typeface="Aptos"/>
            </a:endParaRPr>
          </a:p>
          <a:p>
            <a:pPr marL="457200" indent="-457200" algn="ctr">
              <a:buFont typeface="Arial" panose="020B0604020202020204" pitchFamily="34" charset="0"/>
              <a:buChar char="•"/>
              <a:defRPr sz="2700" b="0">
                <a:solidFill>
                  <a:srgbClr val="111111"/>
                </a:solidFill>
                <a:latin typeface="Aptos"/>
              </a:defRPr>
            </a:pPr>
            <a:r>
              <a:rPr sz="2700" b="0" dirty="0">
                <a:solidFill>
                  <a:srgbClr val="111111"/>
                </a:solidFill>
                <a:latin typeface="Aptos"/>
              </a:rPr>
              <a:t>GN-z11: ultraviolet-line mass </a:t>
            </a:r>
            <a:r>
              <a:rPr sz="1800" b="0" baseline="30000" dirty="0">
                <a:solidFill>
                  <a:srgbClr val="111111"/>
                </a:solidFill>
                <a:latin typeface="Aptos"/>
              </a:rPr>
              <a:t>[1]</a:t>
            </a:r>
          </a:p>
        </p:txBody>
      </p:sp>
      <p:sp>
        <p:nvSpPr>
          <p:cNvPr id="209" name="Poster diagram 209">
            <a:extLst>
              <a:ext uri="{FF2B5EF4-FFF2-40B4-BE49-F238E27FC236}">
                <a16:creationId xmlns:a16="http://schemas.microsoft.com/office/drawing/2014/main" id="{67E72EF7-28FB-420D-A9DC-6606EEB93072}"/>
              </a:ext>
            </a:extLst>
          </p:cNvPr>
          <p:cNvSpPr>
            <a:spLocks noGrp="1"/>
          </p:cNvSpPr>
          <p:nvPr/>
        </p:nvSpPr>
        <p:spPr>
          <a:xfrm>
            <a:off x="10212458" y="14435072"/>
            <a:ext cx="4692262" cy="3700665"/>
          </a:xfrm>
          <a:prstGeom prst="rect">
            <a:avLst/>
          </a:prstGeom>
          <a:solidFill>
            <a:srgbClr val="F5F5F5"/>
          </a:solidFill>
          <a:ln w="17145">
            <a:solidFill>
              <a:srgbClr val="AAAEB3"/>
            </a:solidFill>
          </a:ln>
        </p:spPr>
        <p:txBody>
          <a:bodyPr lIns="114300" tIns="76200" rIns="114300" bIns="76200" anchor="ctr"/>
          <a:lstStyle>
            <a:defPPr algn="ctr">
              <a:defRPr sz="2900" b="0">
                <a:solidFill>
                  <a:srgbClr val="111111"/>
                </a:solidFill>
                <a:latin typeface="Aptos"/>
              </a:defRPr>
            </a:defPPr>
          </a:lstStyle>
          <a:p>
            <a:pPr algn="ctr">
              <a:defRPr sz="2900" b="0">
                <a:solidFill>
                  <a:srgbClr val="111111"/>
                </a:solidFill>
                <a:latin typeface="Aptos"/>
              </a:defRPr>
            </a:pPr>
            <a:r>
              <a:rPr sz="2900" b="0" dirty="0">
                <a:solidFill>
                  <a:srgbClr val="111111"/>
                </a:solidFill>
                <a:latin typeface="Aptos"/>
              </a:rPr>
              <a:t>Outside the</a:t>
            </a:r>
          </a:p>
          <a:p>
            <a:pPr algn="ctr">
              <a:defRPr sz="2900" b="0">
                <a:solidFill>
                  <a:srgbClr val="111111"/>
                </a:solidFill>
                <a:latin typeface="Aptos"/>
              </a:defRPr>
            </a:pPr>
            <a:r>
              <a:rPr sz="2900" b="0" dirty="0">
                <a:solidFill>
                  <a:srgbClr val="111111"/>
                </a:solidFill>
                <a:latin typeface="Aptos"/>
              </a:rPr>
              <a:t>growth sample</a:t>
            </a:r>
            <a:r>
              <a:rPr lang="en-CA" sz="2900" b="0" dirty="0">
                <a:solidFill>
                  <a:srgbClr val="111111"/>
                </a:solidFill>
                <a:latin typeface="Aptos"/>
              </a:rPr>
              <a:t>:</a:t>
            </a:r>
            <a:endParaRPr sz="2900" b="0" dirty="0">
              <a:solidFill>
                <a:srgbClr val="111111"/>
              </a:solidFill>
              <a:latin typeface="Aptos"/>
            </a:endParaRPr>
          </a:p>
          <a:p>
            <a:endParaRPr sz="2900" b="0" dirty="0">
              <a:solidFill>
                <a:srgbClr val="111111"/>
              </a:solidFill>
              <a:latin typeface="Aptos"/>
            </a:endParaRPr>
          </a:p>
          <a:p>
            <a:pPr marL="457200" indent="-457200" algn="ctr">
              <a:buFont typeface="Arial" panose="020B0604020202020204" pitchFamily="34" charset="0"/>
              <a:buChar char="•"/>
              <a:defRPr sz="2900" b="0">
                <a:solidFill>
                  <a:srgbClr val="111111"/>
                </a:solidFill>
                <a:latin typeface="Aptos"/>
              </a:defRPr>
            </a:pPr>
            <a:r>
              <a:rPr sz="2900" b="0" dirty="0">
                <a:solidFill>
                  <a:srgbClr val="111111"/>
                </a:solidFill>
                <a:latin typeface="Aptos"/>
              </a:rPr>
              <a:t>98 without an</a:t>
            </a:r>
          </a:p>
          <a:p>
            <a:pPr algn="ctr">
              <a:defRPr sz="2900" b="0">
                <a:solidFill>
                  <a:srgbClr val="111111"/>
                </a:solidFill>
                <a:latin typeface="Aptos"/>
              </a:defRPr>
            </a:pPr>
            <a:r>
              <a:rPr sz="2900" b="0" dirty="0">
                <a:solidFill>
                  <a:srgbClr val="111111"/>
                </a:solidFill>
                <a:latin typeface="Aptos"/>
              </a:rPr>
              <a:t>eligible mass</a:t>
            </a:r>
          </a:p>
          <a:p>
            <a:endParaRPr sz="2900" b="0" dirty="0">
              <a:solidFill>
                <a:srgbClr val="111111"/>
              </a:solidFill>
              <a:latin typeface="Aptos"/>
            </a:endParaRPr>
          </a:p>
          <a:p>
            <a:pPr marL="457200" indent="-457200" algn="ctr">
              <a:buFont typeface="Arial" panose="020B0604020202020204" pitchFamily="34" charset="0"/>
              <a:buChar char="•"/>
              <a:defRPr sz="2900" b="0">
                <a:solidFill>
                  <a:srgbClr val="111111"/>
                </a:solidFill>
                <a:latin typeface="Aptos"/>
              </a:defRPr>
            </a:pPr>
            <a:r>
              <a:rPr sz="2900" b="0" dirty="0">
                <a:solidFill>
                  <a:srgbClr val="111111"/>
                </a:solidFill>
                <a:latin typeface="Aptos"/>
              </a:rPr>
              <a:t>6 with uncertain</a:t>
            </a:r>
          </a:p>
          <a:p>
            <a:pPr algn="ctr">
              <a:defRPr sz="2900" b="0">
                <a:solidFill>
                  <a:srgbClr val="111111"/>
                </a:solidFill>
                <a:latin typeface="Aptos"/>
              </a:defRPr>
            </a:pPr>
            <a:r>
              <a:rPr sz="2900" b="0" dirty="0">
                <a:solidFill>
                  <a:srgbClr val="111111"/>
                </a:solidFill>
                <a:latin typeface="Aptos"/>
              </a:rPr>
              <a:t>identity</a:t>
            </a:r>
          </a:p>
        </p:txBody>
      </p:sp>
      <p:sp>
        <p:nvSpPr>
          <p:cNvPr id="210" name="Poster diagram 210">
            <a:extLst>
              <a:ext uri="{FF2B5EF4-FFF2-40B4-BE49-F238E27FC236}">
                <a16:creationId xmlns:a16="http://schemas.microsoft.com/office/drawing/2014/main" id="{7A12F45B-766A-479C-A513-DC305E768B18}"/>
              </a:ext>
            </a:extLst>
          </p:cNvPr>
          <p:cNvSpPr>
            <a:spLocks noGrp="1"/>
          </p:cNvSpPr>
          <p:nvPr/>
        </p:nvSpPr>
        <p:spPr>
          <a:xfrm>
            <a:off x="1005840" y="22822834"/>
            <a:ext cx="14176858" cy="1037991"/>
          </a:xfrm>
          <a:prstGeom prst="rect">
            <a:avLst/>
          </a:prstGeom>
          <a:noFill/>
          <a:ln w="0">
            <a:noFill/>
          </a:ln>
        </p:spPr>
        <p:txBody>
          <a:bodyPr lIns="114300" tIns="76200" rIns="114300" bIns="76200" anchor="ctr"/>
          <a:lstStyle>
            <a:defPPr algn="ctr">
              <a:defRPr sz="3000" b="1">
                <a:solidFill>
                  <a:srgbClr val="111111"/>
                </a:solidFill>
                <a:latin typeface="Aptos"/>
              </a:defRPr>
            </a:defPPr>
          </a:lstStyle>
          <a:p>
            <a:pPr algn="ctr">
              <a:defRPr sz="3000" b="1">
                <a:solidFill>
                  <a:srgbClr val="111111"/>
                </a:solidFill>
                <a:latin typeface="Aptos"/>
              </a:defRPr>
            </a:pPr>
            <a:r>
              <a:rPr sz="3000" b="1" dirty="0">
                <a:solidFill>
                  <a:srgbClr val="111111"/>
                </a:solidFill>
                <a:latin typeface="Aptos"/>
              </a:rPr>
              <a:t>Standardized mass, redshift and reported errors</a:t>
            </a:r>
            <a:r>
              <a:rPr lang="en-CA" sz="3000" b="1" dirty="0">
                <a:solidFill>
                  <a:srgbClr val="111111"/>
                </a:solidFill>
                <a:latin typeface="Aptos"/>
              </a:rPr>
              <a:t>;</a:t>
            </a:r>
            <a:endParaRPr sz="3000" b="1" dirty="0">
              <a:solidFill>
                <a:srgbClr val="111111"/>
              </a:solidFill>
              <a:latin typeface="Aptos"/>
            </a:endParaRPr>
          </a:p>
          <a:p>
            <a:pPr algn="ctr">
              <a:defRPr sz="3000" b="1">
                <a:solidFill>
                  <a:srgbClr val="111111"/>
                </a:solidFill>
                <a:latin typeface="Aptos"/>
              </a:defRPr>
            </a:pPr>
            <a:r>
              <a:rPr sz="3000" b="1" dirty="0">
                <a:solidFill>
                  <a:srgbClr val="111111"/>
                </a:solidFill>
                <a:latin typeface="Aptos"/>
              </a:rPr>
              <a:t>Checked identity, adopted one mass per object, retained alternatives</a:t>
            </a:r>
          </a:p>
        </p:txBody>
      </p:sp>
      <p:sp>
        <p:nvSpPr>
          <p:cNvPr id="211" name="Poster diagram 211">
            <a:extLst>
              <a:ext uri="{FF2B5EF4-FFF2-40B4-BE49-F238E27FC236}">
                <a16:creationId xmlns:a16="http://schemas.microsoft.com/office/drawing/2014/main" id="{7CA63206-32AF-4739-9D5D-3109B2CFE243}"/>
              </a:ext>
            </a:extLst>
          </p:cNvPr>
          <p:cNvSpPr>
            <a:spLocks noGrp="1"/>
          </p:cNvSpPr>
          <p:nvPr/>
        </p:nvSpPr>
        <p:spPr>
          <a:xfrm>
            <a:off x="4235013" y="23887904"/>
            <a:ext cx="352105" cy="234676"/>
          </a:xfrm>
          <a:prstGeom prst="downArrow">
            <a:avLst/>
          </a:prstGeom>
          <a:solidFill>
            <a:srgbClr val="526477"/>
          </a:solidFill>
          <a:ln w="0"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212" name="Poster diagram 212">
            <a:extLst>
              <a:ext uri="{FF2B5EF4-FFF2-40B4-BE49-F238E27FC236}">
                <a16:creationId xmlns:a16="http://schemas.microsoft.com/office/drawing/2014/main" id="{F0E4059E-8B12-4811-AB13-DD1F53C26AA3}"/>
              </a:ext>
            </a:extLst>
          </p:cNvPr>
          <p:cNvSpPr>
            <a:spLocks noGrp="1"/>
          </p:cNvSpPr>
          <p:nvPr/>
        </p:nvSpPr>
        <p:spPr>
          <a:xfrm>
            <a:off x="11462431" y="23851800"/>
            <a:ext cx="352105" cy="234676"/>
          </a:xfrm>
          <a:prstGeom prst="downArrow">
            <a:avLst/>
          </a:prstGeom>
          <a:solidFill>
            <a:srgbClr val="526477"/>
          </a:solidFill>
          <a:ln w="0"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213" name="Poster diagram 213">
            <a:extLst>
              <a:ext uri="{FF2B5EF4-FFF2-40B4-BE49-F238E27FC236}">
                <a16:creationId xmlns:a16="http://schemas.microsoft.com/office/drawing/2014/main" id="{58F78FE0-91A9-45C2-B422-70C8CA0D6647}"/>
              </a:ext>
            </a:extLst>
          </p:cNvPr>
          <p:cNvSpPr>
            <a:spLocks noGrp="1"/>
          </p:cNvSpPr>
          <p:nvPr/>
        </p:nvSpPr>
        <p:spPr>
          <a:xfrm>
            <a:off x="1005840" y="24176736"/>
            <a:ext cx="6810451" cy="902601"/>
          </a:xfrm>
          <a:prstGeom prst="rect">
            <a:avLst/>
          </a:prstGeom>
          <a:solidFill>
            <a:srgbClr val="F1F4F7"/>
          </a:solidFill>
          <a:ln w="17145">
            <a:solidFill>
              <a:srgbClr val="526477"/>
            </a:solidFill>
          </a:ln>
        </p:spPr>
        <p:txBody>
          <a:bodyPr lIns="114300" tIns="76200" rIns="114300" bIns="76200" anchor="ctr"/>
          <a:lstStyle>
            <a:defPPr algn="ctr">
              <a:defRPr sz="3000" b="0">
                <a:solidFill>
                  <a:srgbClr val="111111"/>
                </a:solidFill>
                <a:latin typeface="Aptos"/>
              </a:defRPr>
            </a:defPPr>
          </a:lstStyle>
          <a:p>
            <a:pPr algn="ctr">
              <a:defRPr sz="3000" b="0">
                <a:solidFill>
                  <a:srgbClr val="111111"/>
                </a:solidFill>
                <a:latin typeface="Aptos"/>
              </a:defRPr>
            </a:pPr>
            <a:r>
              <a:rPr sz="3000" b="0">
                <a:solidFill>
                  <a:srgbClr val="111111"/>
                </a:solidFill>
                <a:latin typeface="Aptos"/>
              </a:rPr>
              <a:t>Central mass estimate</a:t>
            </a:r>
          </a:p>
        </p:txBody>
      </p:sp>
      <p:sp>
        <p:nvSpPr>
          <p:cNvPr id="214" name="Poster diagram 214">
            <a:extLst>
              <a:ext uri="{FF2B5EF4-FFF2-40B4-BE49-F238E27FC236}">
                <a16:creationId xmlns:a16="http://schemas.microsoft.com/office/drawing/2014/main" id="{E0DF1478-840F-4BDD-B29E-A5B229B3783E}"/>
              </a:ext>
            </a:extLst>
          </p:cNvPr>
          <p:cNvSpPr>
            <a:spLocks noGrp="1"/>
          </p:cNvSpPr>
          <p:nvPr/>
        </p:nvSpPr>
        <p:spPr>
          <a:xfrm>
            <a:off x="8372246" y="24176736"/>
            <a:ext cx="6532474" cy="902601"/>
          </a:xfrm>
          <a:prstGeom prst="rect">
            <a:avLst/>
          </a:prstGeom>
          <a:solidFill>
            <a:srgbClr val="F1F4F7"/>
          </a:solidFill>
          <a:ln w="17145">
            <a:solidFill>
              <a:srgbClr val="526477"/>
            </a:solidFill>
          </a:ln>
        </p:spPr>
        <p:txBody>
          <a:bodyPr lIns="114300" tIns="76200" rIns="114300" bIns="76200" anchor="ctr"/>
          <a:lstStyle>
            <a:defPPr algn="ctr">
              <a:defRPr sz="2800" b="0">
                <a:solidFill>
                  <a:srgbClr val="111111"/>
                </a:solidFill>
                <a:latin typeface="Aptos"/>
              </a:defRPr>
            </a:defPPr>
          </a:lstStyle>
          <a:p>
            <a:pPr algn="ctr">
              <a:defRPr sz="2800" b="0">
                <a:solidFill>
                  <a:srgbClr val="111111"/>
                </a:solidFill>
                <a:latin typeface="Aptos"/>
              </a:defRPr>
            </a:pPr>
            <a:r>
              <a:rPr sz="2800" b="0">
                <a:solidFill>
                  <a:srgbClr val="111111"/>
                </a:solidFill>
                <a:latin typeface="Aptos"/>
              </a:rPr>
              <a:t>10,000 mass-error draws</a:t>
            </a:r>
          </a:p>
          <a:p>
            <a:pPr algn="ctr">
              <a:defRPr sz="2800" b="0">
                <a:solidFill>
                  <a:srgbClr val="111111"/>
                </a:solidFill>
                <a:latin typeface="Aptos"/>
              </a:defRPr>
            </a:pPr>
            <a:r>
              <a:rPr sz="2800" b="0">
                <a:solidFill>
                  <a:srgbClr val="111111"/>
                </a:solidFill>
                <a:latin typeface="Aptos"/>
              </a:rPr>
              <a:t>per object with reported errors</a:t>
            </a:r>
          </a:p>
        </p:txBody>
      </p:sp>
      <p:sp>
        <p:nvSpPr>
          <p:cNvPr id="215" name="Poster diagram 215">
            <a:extLst>
              <a:ext uri="{FF2B5EF4-FFF2-40B4-BE49-F238E27FC236}">
                <a16:creationId xmlns:a16="http://schemas.microsoft.com/office/drawing/2014/main" id="{F3106931-3BF4-4F12-9726-6C63FA258C0A}"/>
              </a:ext>
            </a:extLst>
          </p:cNvPr>
          <p:cNvSpPr>
            <a:spLocks noGrp="1"/>
          </p:cNvSpPr>
          <p:nvPr/>
        </p:nvSpPr>
        <p:spPr>
          <a:xfrm>
            <a:off x="4235013" y="25124467"/>
            <a:ext cx="352105" cy="234676"/>
          </a:xfrm>
          <a:prstGeom prst="downArrow">
            <a:avLst/>
          </a:prstGeom>
          <a:solidFill>
            <a:srgbClr val="526477"/>
          </a:solidFill>
          <a:ln w="0"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216" name="Poster diagram 216">
            <a:extLst>
              <a:ext uri="{FF2B5EF4-FFF2-40B4-BE49-F238E27FC236}">
                <a16:creationId xmlns:a16="http://schemas.microsoft.com/office/drawing/2014/main" id="{336C5316-EC48-42CE-8537-8453628B7D8C}"/>
              </a:ext>
            </a:extLst>
          </p:cNvPr>
          <p:cNvSpPr>
            <a:spLocks noGrp="1"/>
          </p:cNvSpPr>
          <p:nvPr/>
        </p:nvSpPr>
        <p:spPr>
          <a:xfrm>
            <a:off x="11462431" y="25133493"/>
            <a:ext cx="352105" cy="234676"/>
          </a:xfrm>
          <a:prstGeom prst="downArrow">
            <a:avLst/>
          </a:prstGeom>
          <a:solidFill>
            <a:srgbClr val="526477"/>
          </a:solidFill>
          <a:ln w="0"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217" name="Poster diagram 217">
            <a:extLst>
              <a:ext uri="{FF2B5EF4-FFF2-40B4-BE49-F238E27FC236}">
                <a16:creationId xmlns:a16="http://schemas.microsoft.com/office/drawing/2014/main" id="{971DBA1A-D2E6-408F-AF7C-16AF667673EA}"/>
              </a:ext>
            </a:extLst>
          </p:cNvPr>
          <p:cNvSpPr>
            <a:spLocks noGrp="1"/>
          </p:cNvSpPr>
          <p:nvPr/>
        </p:nvSpPr>
        <p:spPr>
          <a:xfrm>
            <a:off x="1005840" y="25440378"/>
            <a:ext cx="13898880" cy="2030853"/>
          </a:xfrm>
          <a:prstGeom prst="rect">
            <a:avLst/>
          </a:prstGeom>
          <a:solidFill>
            <a:srgbClr val="EAF1F8"/>
          </a:solidFill>
          <a:ln w="17145">
            <a:solidFill>
              <a:srgbClr val="073463"/>
            </a:solidFill>
          </a:ln>
        </p:spPr>
        <p:txBody>
          <a:bodyPr lIns="114300" tIns="76200" rIns="114300" bIns="76200" anchor="t"/>
          <a:lstStyle>
            <a:defPPr algn="ctr">
              <a:defRPr sz="3100" b="1">
                <a:solidFill>
                  <a:srgbClr val="111111"/>
                </a:solidFill>
                <a:latin typeface="Aptos"/>
              </a:defRPr>
            </a:defPPr>
          </a:lstStyle>
          <a:p>
            <a:pPr algn="ctr">
              <a:defRPr sz="3100" b="1">
                <a:solidFill>
                  <a:srgbClr val="111111"/>
                </a:solidFill>
                <a:latin typeface="Aptos"/>
              </a:defRPr>
            </a:pPr>
            <a:r>
              <a:rPr sz="3100" b="1">
                <a:solidFill>
                  <a:srgbClr val="111111"/>
                </a:solidFill>
                <a:latin typeface="Aptos"/>
              </a:rPr>
              <a:t>Calculated the required lifetime-average</a:t>
            </a:r>
          </a:p>
          <a:p>
            <a:pPr algn="ctr">
              <a:defRPr sz="3100" b="1">
                <a:solidFill>
                  <a:srgbClr val="111111"/>
                </a:solidFill>
                <a:latin typeface="Aptos"/>
              </a:defRPr>
            </a:pPr>
            <a:r>
              <a:rPr sz="3100" b="1">
                <a:solidFill>
                  <a:srgbClr val="111111"/>
                </a:solidFill>
                <a:latin typeface="Aptos"/>
              </a:rPr>
              <a:t>Eddington ratio, including inactive periods </a:t>
            </a:r>
            <a:r>
              <a:rPr sz="2067" b="0" baseline="30000">
                <a:solidFill>
                  <a:srgbClr val="111111"/>
                </a:solidFill>
                <a:latin typeface="Aptos"/>
              </a:rPr>
              <a:t>[3]</a:t>
            </a:r>
          </a:p>
        </p:txBody>
      </p:sp>
      <p:sp>
        <p:nvSpPr>
          <p:cNvPr id="218" name="Poster diagram 218">
            <a:extLst>
              <a:ext uri="{FF2B5EF4-FFF2-40B4-BE49-F238E27FC236}">
                <a16:creationId xmlns:a16="http://schemas.microsoft.com/office/drawing/2014/main" id="{C320C512-3791-4B48-9B61-7FD45A4601D4}"/>
              </a:ext>
            </a:extLst>
          </p:cNvPr>
          <p:cNvSpPr>
            <a:spLocks noGrp="1"/>
          </p:cNvSpPr>
          <p:nvPr/>
        </p:nvSpPr>
        <p:spPr>
          <a:xfrm>
            <a:off x="1005840" y="26523499"/>
            <a:ext cx="14176858" cy="902601"/>
          </a:xfrm>
          <a:prstGeom prst="rect">
            <a:avLst/>
          </a:prstGeom>
          <a:noFill/>
          <a:ln w="0">
            <a:noFill/>
          </a:ln>
        </p:spPr>
        <p:txBody>
          <a:bodyPr lIns="114300" tIns="76200" rIns="114300" bIns="76200" anchor="ctr"/>
          <a:lstStyle>
            <a:defPPr algn="ctr">
              <a:defRPr sz="3000" b="0">
                <a:solidFill>
                  <a:srgbClr val="111111"/>
                </a:solidFill>
                <a:latin typeface="Aptos"/>
              </a:defRPr>
            </a:defPPr>
          </a:lstStyle>
          <a:p>
            <a:pPr algn="ctr">
              <a:defRPr sz="3000" b="0">
                <a:solidFill>
                  <a:srgbClr val="111111"/>
                </a:solidFill>
                <a:latin typeface="Aptos"/>
              </a:defRPr>
            </a:pPr>
            <a:r>
              <a:rPr sz="3000" b="0" dirty="0">
                <a:solidFill>
                  <a:srgbClr val="111111"/>
                </a:solidFill>
                <a:latin typeface="Aptos"/>
              </a:rPr>
              <a:t>Reference: 100 M⊙ seeds at z = 30</a:t>
            </a:r>
          </a:p>
          <a:p>
            <a:pPr algn="ctr">
              <a:defRPr sz="3000" b="0">
                <a:solidFill>
                  <a:srgbClr val="111111"/>
                </a:solidFill>
                <a:latin typeface="Aptos"/>
              </a:defRPr>
            </a:pPr>
            <a:r>
              <a:rPr sz="3000" b="0" dirty="0" err="1">
                <a:solidFill>
                  <a:srgbClr val="111111"/>
                </a:solidFill>
                <a:latin typeface="Aptos"/>
              </a:rPr>
              <a:t>ε</a:t>
            </a:r>
            <a:r>
              <a:rPr sz="3000" b="0" dirty="0">
                <a:solidFill>
                  <a:srgbClr val="111111"/>
                </a:solidFill>
                <a:latin typeface="Aptos"/>
              </a:rPr>
              <a:t> = 0.1, no mergers</a:t>
            </a:r>
          </a:p>
        </p:txBody>
      </p:sp>
      <p:sp>
        <p:nvSpPr>
          <p:cNvPr id="219" name="Poster diagram 219">
            <a:extLst>
              <a:ext uri="{FF2B5EF4-FFF2-40B4-BE49-F238E27FC236}">
                <a16:creationId xmlns:a16="http://schemas.microsoft.com/office/drawing/2014/main" id="{A3C5BCD3-C05E-4CC3-AF1A-0840F4394EE3}"/>
              </a:ext>
            </a:extLst>
          </p:cNvPr>
          <p:cNvSpPr>
            <a:spLocks noGrp="1"/>
          </p:cNvSpPr>
          <p:nvPr/>
        </p:nvSpPr>
        <p:spPr>
          <a:xfrm>
            <a:off x="4235013" y="27516361"/>
            <a:ext cx="352105" cy="234676"/>
          </a:xfrm>
          <a:prstGeom prst="downArrow">
            <a:avLst/>
          </a:prstGeom>
          <a:solidFill>
            <a:srgbClr val="526477"/>
          </a:solidFill>
          <a:ln w="0"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220" name="Poster diagram 220">
            <a:extLst>
              <a:ext uri="{FF2B5EF4-FFF2-40B4-BE49-F238E27FC236}">
                <a16:creationId xmlns:a16="http://schemas.microsoft.com/office/drawing/2014/main" id="{8529AA9E-ACC8-495E-8075-1D2F4EF9602E}"/>
              </a:ext>
            </a:extLst>
          </p:cNvPr>
          <p:cNvSpPr>
            <a:spLocks noGrp="1"/>
          </p:cNvSpPr>
          <p:nvPr/>
        </p:nvSpPr>
        <p:spPr>
          <a:xfrm>
            <a:off x="11462431" y="27525387"/>
            <a:ext cx="352105" cy="234676"/>
          </a:xfrm>
          <a:prstGeom prst="downArrow">
            <a:avLst/>
          </a:prstGeom>
          <a:solidFill>
            <a:srgbClr val="526477"/>
          </a:solidFill>
          <a:ln w="0">
            <a:noFill/>
          </a:ln>
        </p:spPr>
        <p:txBody>
          <a:bodyPr/>
          <a:lstStyle/>
          <a:p>
            <a:endParaRPr lang="en-US" dirty="0"/>
          </a:p>
        </p:txBody>
      </p:sp>
      <p:sp>
        <p:nvSpPr>
          <p:cNvPr id="221" name="Poster diagram 221">
            <a:extLst>
              <a:ext uri="{FF2B5EF4-FFF2-40B4-BE49-F238E27FC236}">
                <a16:creationId xmlns:a16="http://schemas.microsoft.com/office/drawing/2014/main" id="{03BB0CC6-89F0-4BB8-91C2-A18697FB4691}"/>
              </a:ext>
            </a:extLst>
          </p:cNvPr>
          <p:cNvSpPr>
            <a:spLocks noGrp="1"/>
          </p:cNvSpPr>
          <p:nvPr/>
        </p:nvSpPr>
        <p:spPr>
          <a:xfrm>
            <a:off x="1005840" y="27832271"/>
            <a:ext cx="6810451" cy="1128252"/>
          </a:xfrm>
          <a:prstGeom prst="rect">
            <a:avLst/>
          </a:prstGeom>
          <a:solidFill>
            <a:srgbClr val="F1F4F7"/>
          </a:solidFill>
          <a:ln w="17145">
            <a:solidFill>
              <a:srgbClr val="526477"/>
            </a:solidFill>
          </a:ln>
        </p:spPr>
        <p:txBody>
          <a:bodyPr lIns="114300" tIns="76200" rIns="114300" bIns="76200" anchor="ctr"/>
          <a:lstStyle>
            <a:defPPr algn="ctr">
              <a:defRPr sz="2900" b="0">
                <a:solidFill>
                  <a:srgbClr val="111111"/>
                </a:solidFill>
                <a:latin typeface="Aptos"/>
              </a:defRPr>
            </a:defPPr>
          </a:lstStyle>
          <a:p>
            <a:pPr algn="ctr">
              <a:defRPr sz="2900" b="0">
                <a:solidFill>
                  <a:srgbClr val="111111"/>
                </a:solidFill>
                <a:latin typeface="Aptos"/>
              </a:defRPr>
            </a:pPr>
            <a:r>
              <a:rPr sz="2900" b="0" dirty="0">
                <a:solidFill>
                  <a:srgbClr val="111111"/>
                </a:solidFill>
                <a:latin typeface="Aptos"/>
              </a:rPr>
              <a:t>Ranked central estimates</a:t>
            </a:r>
            <a:r>
              <a:rPr lang="en-CA" sz="2900" b="0" dirty="0">
                <a:solidFill>
                  <a:srgbClr val="111111"/>
                </a:solidFill>
                <a:latin typeface="Aptos"/>
              </a:rPr>
              <a:t>;</a:t>
            </a:r>
            <a:endParaRPr sz="2900" b="0" dirty="0">
              <a:solidFill>
                <a:srgbClr val="111111"/>
              </a:solidFill>
              <a:latin typeface="Aptos"/>
            </a:endParaRPr>
          </a:p>
          <a:p>
            <a:pPr algn="ctr">
              <a:defRPr sz="2900" b="0">
                <a:solidFill>
                  <a:srgbClr val="111111"/>
                </a:solidFill>
                <a:latin typeface="Aptos"/>
              </a:defRPr>
            </a:pPr>
            <a:r>
              <a:rPr sz="2900" b="0" dirty="0">
                <a:solidFill>
                  <a:srgbClr val="111111"/>
                </a:solidFill>
                <a:latin typeface="Aptos"/>
              </a:rPr>
              <a:t>Compared required average with 1</a:t>
            </a:r>
          </a:p>
        </p:txBody>
      </p:sp>
      <p:sp>
        <p:nvSpPr>
          <p:cNvPr id="222" name="Poster diagram 222">
            <a:extLst>
              <a:ext uri="{FF2B5EF4-FFF2-40B4-BE49-F238E27FC236}">
                <a16:creationId xmlns:a16="http://schemas.microsoft.com/office/drawing/2014/main" id="{28773224-ED00-4347-B2C6-7FB30A5D9C9B}"/>
              </a:ext>
            </a:extLst>
          </p:cNvPr>
          <p:cNvSpPr>
            <a:spLocks noGrp="1"/>
          </p:cNvSpPr>
          <p:nvPr/>
        </p:nvSpPr>
        <p:spPr>
          <a:xfrm>
            <a:off x="8372246" y="27832271"/>
            <a:ext cx="6532474" cy="1128252"/>
          </a:xfrm>
          <a:prstGeom prst="rect">
            <a:avLst/>
          </a:prstGeom>
          <a:solidFill>
            <a:srgbClr val="F1F4F7"/>
          </a:solidFill>
          <a:ln w="17145">
            <a:solidFill>
              <a:srgbClr val="526477"/>
            </a:solidFill>
          </a:ln>
        </p:spPr>
        <p:txBody>
          <a:bodyPr lIns="114300" tIns="76200" rIns="114300" bIns="76200" anchor="ctr"/>
          <a:lstStyle>
            <a:defPPr algn="ctr">
              <a:defRPr sz="2900" b="0">
                <a:solidFill>
                  <a:srgbClr val="111111"/>
                </a:solidFill>
                <a:latin typeface="Aptos"/>
              </a:defRPr>
            </a:defPPr>
          </a:lstStyle>
          <a:p>
            <a:pPr algn="ctr">
              <a:defRPr sz="2900" b="0">
                <a:solidFill>
                  <a:srgbClr val="111111"/>
                </a:solidFill>
                <a:latin typeface="Aptos"/>
              </a:defRPr>
            </a:pPr>
            <a:r>
              <a:rPr sz="2900" b="0" dirty="0">
                <a:solidFill>
                  <a:srgbClr val="111111"/>
                </a:solidFill>
                <a:latin typeface="Aptos"/>
              </a:rPr>
              <a:t>Calculated the fraction of</a:t>
            </a:r>
          </a:p>
          <a:p>
            <a:pPr algn="ctr">
              <a:defRPr sz="2900" b="0">
                <a:solidFill>
                  <a:srgbClr val="111111"/>
                </a:solidFill>
                <a:latin typeface="Aptos"/>
              </a:defRPr>
            </a:pPr>
            <a:r>
              <a:rPr sz="2900" b="0" dirty="0">
                <a:solidFill>
                  <a:srgbClr val="111111"/>
                </a:solidFill>
                <a:latin typeface="Aptos"/>
              </a:rPr>
              <a:t>mass-error draws above 1</a:t>
            </a:r>
          </a:p>
        </p:txBody>
      </p:sp>
      <p:sp>
        <p:nvSpPr>
          <p:cNvPr id="223" name="Poster diagram 223">
            <a:extLst>
              <a:ext uri="{FF2B5EF4-FFF2-40B4-BE49-F238E27FC236}">
                <a16:creationId xmlns:a16="http://schemas.microsoft.com/office/drawing/2014/main" id="{86A37956-8DA5-40AE-A03E-2CE429C5454A}"/>
              </a:ext>
            </a:extLst>
          </p:cNvPr>
          <p:cNvSpPr>
            <a:spLocks noGrp="1"/>
          </p:cNvSpPr>
          <p:nvPr/>
        </p:nvSpPr>
        <p:spPr>
          <a:xfrm>
            <a:off x="914400" y="29255786"/>
            <a:ext cx="14081760" cy="1489292"/>
          </a:xfrm>
          <a:prstGeom prst="rect">
            <a:avLst/>
          </a:prstGeom>
          <a:noFill/>
          <a:ln w="0">
            <a:noFill/>
          </a:ln>
        </p:spPr>
        <p:txBody>
          <a:bodyPr lIns="0" tIns="27432" rIns="0" bIns="27432" anchor="t"/>
          <a:lstStyle/>
          <a:p>
            <a:pPr algn="l">
              <a:lnSpc>
                <a:spcPct val="100000"/>
              </a:lnSpc>
              <a:buNone/>
            </a:pPr>
            <a:r>
              <a:rPr lang="en-CA" sz="3300" b="1" dirty="0">
                <a:solidFill>
                  <a:srgbClr val="000000"/>
                </a:solidFill>
                <a:latin typeface="Aptos"/>
              </a:rPr>
              <a:t>Uncertainty: </a:t>
            </a:r>
            <a:r>
              <a:rPr lang="en-CA" sz="3300" b="0" dirty="0">
                <a:solidFill>
                  <a:srgbClr val="000000"/>
                </a:solidFill>
                <a:latin typeface="Aptos"/>
              </a:rPr>
              <a:t>Mass errors cover 208 primary / 222 expanded objects. The other 12 enter central-mass tests only. Reported mass errors do not consistently include calibration uncertainty.</a:t>
            </a:r>
          </a:p>
        </p:txBody>
      </p:sp>
      <p:sp>
        <p:nvSpPr>
          <p:cNvPr id="224" name="Poster diagram 224">
            <a:extLst>
              <a:ext uri="{FF2B5EF4-FFF2-40B4-BE49-F238E27FC236}">
                <a16:creationId xmlns:a16="http://schemas.microsoft.com/office/drawing/2014/main" id="{39DA12D1-0D37-445A-9028-17994BB6BD07}"/>
              </a:ext>
            </a:extLst>
          </p:cNvPr>
          <p:cNvSpPr>
            <a:spLocks noGrp="1"/>
          </p:cNvSpPr>
          <p:nvPr/>
        </p:nvSpPr>
        <p:spPr>
          <a:xfrm>
            <a:off x="914400" y="30745078"/>
            <a:ext cx="14081760" cy="1489292"/>
          </a:xfrm>
          <a:prstGeom prst="rect">
            <a:avLst/>
          </a:prstGeom>
          <a:noFill/>
          <a:ln w="0">
            <a:noFill/>
          </a:ln>
        </p:spPr>
        <p:txBody>
          <a:bodyPr lIns="0" tIns="27432" rIns="0" bIns="27432" anchor="t"/>
          <a:lstStyle/>
          <a:p>
            <a:pPr algn="l">
              <a:lnSpc>
                <a:spcPct val="100000"/>
              </a:lnSpc>
              <a:buNone/>
            </a:pPr>
            <a:r>
              <a:rPr lang="en-CA" sz="3300" b="1" dirty="0">
                <a:solidFill>
                  <a:srgbClr val="000000"/>
                </a:solidFill>
                <a:latin typeface="Aptos"/>
              </a:rPr>
              <a:t>Earlier onset: </a:t>
            </a:r>
            <a:r>
              <a:rPr lang="en-CA" sz="3300" b="0" dirty="0">
                <a:solidFill>
                  <a:srgbClr val="000000"/>
                </a:solidFill>
                <a:latin typeface="Aptos"/>
              </a:rPr>
              <a:t>Solved minimum seed masses for 4 targets at start redshifts 20–3,400. Included radiation in cosmic ages and assumed gas was available.</a:t>
            </a:r>
          </a:p>
        </p:txBody>
      </p:sp>
      <p:sp>
        <p:nvSpPr>
          <p:cNvPr id="3" name="Efficiency comparison heading">
            <a:extLst>
              <a:ext uri="{FF2B5EF4-FFF2-40B4-BE49-F238E27FC236}">
                <a16:creationId xmlns:a16="http://schemas.microsoft.com/office/drawing/2014/main" id="{9C7CDCE8-5361-4FEF-24D8-015D90D4280A}"/>
              </a:ext>
            </a:extLst>
          </p:cNvPr>
          <p:cNvSpPr>
            <a:spLocks noGrp="1"/>
          </p:cNvSpPr>
          <p:nvPr/>
        </p:nvSpPr>
        <p:spPr>
          <a:xfrm>
            <a:off x="914400" y="11609930"/>
            <a:ext cx="14081760" cy="631821"/>
          </a:xfrm>
          <a:prstGeom prst="rect">
            <a:avLst/>
          </a:prstGeom>
          <a:noFill/>
        </p:spPr>
        <p:txBody>
          <a:bodyPr wrap="square" lIns="91440" tIns="45720" rIns="91440" bIns="45720" anchor="t">
            <a:spAutoFit/>
          </a:bodyPr>
          <a:lstStyle>
            <a:defPPr>
              <a:defRPr b="1">
                <a:solidFill>
                  <a:srgbClr val="002A5C"/>
                </a:solidFill>
              </a:defRPr>
            </a:defPPr>
          </a:lstStyle>
          <a:p>
            <a:pPr>
              <a:spcAft>
                <a:spcPts val="800"/>
              </a:spcAft>
              <a:buNone/>
              <a:defRPr b="1">
                <a:solidFill>
                  <a:srgbClr val="002A5C"/>
                </a:solidFill>
              </a:defRPr>
            </a:pPr>
            <a:r>
              <a:rPr lang="en-CA" sz="3600" b="1" dirty="0">
                <a:solidFill>
                  <a:srgbClr val="002A5C"/>
                </a:solidFill>
                <a:latin typeface="Aptos"/>
              </a:rPr>
              <a:t>Catalogue creation and sampling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FDB40514-F485-5888-F9CA-4FD66F13751C}"/>
              </a:ext>
            </a:extLst>
          </p:cNvPr>
          <p:cNvSpPr txBox="1"/>
          <p:nvPr/>
        </p:nvSpPr>
        <p:spPr>
          <a:xfrm>
            <a:off x="29900880" y="29855160"/>
            <a:ext cx="13075920" cy="2148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</a:pPr>
            <a:r>
              <a:rPr lang="en-CA" sz="3300" dirty="0"/>
              <a:t>[4] Bardeen et al. (1972), </a:t>
            </a:r>
            <a:r>
              <a:rPr lang="en-CA" sz="3300" dirty="0" err="1"/>
              <a:t>ApJ</a:t>
            </a:r>
            <a:r>
              <a:rPr lang="en-CA" sz="3300" dirty="0"/>
              <a:t>, 178, 347.</a:t>
            </a:r>
            <a:endParaRPr lang="en-US" sz="3300" dirty="0"/>
          </a:p>
          <a:p>
            <a:pPr>
              <a:spcAft>
                <a:spcPts val="800"/>
              </a:spcAft>
              <a:buNone/>
            </a:pPr>
            <a:r>
              <a:rPr lang="en-CA" sz="3300" b="0" dirty="0">
                <a:latin typeface="Aptos"/>
              </a:rPr>
              <a:t>[5] </a:t>
            </a:r>
            <a:r>
              <a:rPr lang="en-CA" sz="3300" b="0" dirty="0" err="1">
                <a:latin typeface="Aptos"/>
              </a:rPr>
              <a:t>Juodzbalis</a:t>
            </a:r>
            <a:r>
              <a:rPr lang="en-CA" sz="3300" b="0" dirty="0">
                <a:latin typeface="Aptos"/>
              </a:rPr>
              <a:t> et al. (2025), arXiv:2508.21748v2.</a:t>
            </a:r>
          </a:p>
          <a:p>
            <a:pPr>
              <a:spcAft>
                <a:spcPts val="800"/>
              </a:spcAft>
              <a:buNone/>
            </a:pPr>
            <a:r>
              <a:rPr lang="en-CA" sz="3300" dirty="0"/>
              <a:t>Catalogue sources and code: QR link above.</a:t>
            </a:r>
            <a:endParaRPr lang="en-US" sz="3300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9C3531A0-DA17-4C0D-FBA9-F5FDB919A1B0}"/>
              </a:ext>
            </a:extLst>
          </p:cNvPr>
          <p:cNvSpPr txBox="1"/>
          <p:nvPr/>
        </p:nvSpPr>
        <p:spPr>
          <a:xfrm>
            <a:off x="16276320" y="23088600"/>
            <a:ext cx="26700480" cy="4526280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pPr marL="457200" indent="-457200">
              <a:spcAft>
                <a:spcPts val="1400"/>
              </a:spcAft>
              <a:buFont typeface="Arial" panose="020B0604020202020204" pitchFamily="34" charset="0"/>
              <a:buChar char="•"/>
            </a:pPr>
            <a:r>
              <a:rPr lang="en-CA" sz="3300" b="1" dirty="0">
                <a:latin typeface="Aptos" panose="020B0004020202020204" pitchFamily="34" charset="0"/>
              </a:rPr>
              <a:t>Catalogue:</a:t>
            </a:r>
            <a:r>
              <a:rPr lang="en-CA" sz="3300" dirty="0">
                <a:latin typeface="Aptos" panose="020B0004020202020204" pitchFamily="34" charset="0"/>
              </a:rPr>
              <a:t> The reproducible catalogue identifies the strongest targets for growth tests by comparing published masses under the same assumptions.</a:t>
            </a:r>
          </a:p>
          <a:p>
            <a:pPr marL="457200" indent="-457200">
              <a:spcAft>
                <a:spcPts val="1400"/>
              </a:spcAft>
              <a:buFont typeface="Arial" panose="020B0604020202020204" pitchFamily="34" charset="0"/>
              <a:buChar char="•"/>
            </a:pPr>
            <a:r>
              <a:rPr lang="en-CA" sz="3300" b="1" dirty="0">
                <a:latin typeface="Aptos" panose="020B0004020202020204" pitchFamily="34" charset="0"/>
              </a:rPr>
              <a:t>Growth physics:</a:t>
            </a:r>
            <a:r>
              <a:rPr lang="en-CA" sz="3300" dirty="0">
                <a:latin typeface="Aptos" panose="020B0004020202020204" pitchFamily="34" charset="0"/>
              </a:rPr>
              <a:t> The efficiency test shows that difficulty growing from small seeds does not imply a need for heavier seeds or super-Eddington accretion.</a:t>
            </a:r>
          </a:p>
          <a:p>
            <a:pPr marL="457200" indent="-457200">
              <a:spcAft>
                <a:spcPts val="1400"/>
              </a:spcAft>
              <a:buFont typeface="Arial" panose="020B0604020202020204" pitchFamily="34" charset="0"/>
              <a:buChar char="•"/>
            </a:pPr>
            <a:r>
              <a:rPr lang="en-CA" sz="3300" b="1" dirty="0">
                <a:solidFill>
                  <a:srgbClr val="000000"/>
                </a:solidFill>
              </a:rPr>
              <a:t>Earlier growth: </a:t>
            </a:r>
            <a:r>
              <a:rPr lang="en-CA" sz="3300" dirty="0">
                <a:solidFill>
                  <a:srgbClr val="000000"/>
                </a:solidFill>
              </a:rPr>
              <a:t>Earlier onset alone cannot explain the four target masses from 100 M⊙ seeds at </a:t>
            </a:r>
            <a:r>
              <a:rPr lang="en-CA" sz="3300" dirty="0" err="1">
                <a:solidFill>
                  <a:srgbClr val="000000"/>
                </a:solidFill>
              </a:rPr>
              <a:t>ε</a:t>
            </a:r>
            <a:r>
              <a:rPr lang="en-CA" sz="3300" dirty="0">
                <a:solidFill>
                  <a:srgbClr val="000000"/>
                </a:solidFill>
              </a:rPr>
              <a:t> = 0.1 and average ratio ≤ 1, without mergers.</a:t>
            </a:r>
          </a:p>
          <a:p>
            <a:pPr marL="457200" indent="-457200">
              <a:spcAft>
                <a:spcPts val="1400"/>
              </a:spcAft>
              <a:buFont typeface="Arial" panose="020B0604020202020204" pitchFamily="34" charset="0"/>
              <a:buChar char="•"/>
            </a:pPr>
            <a:r>
              <a:rPr lang="en-CA" sz="3300" b="1" dirty="0">
                <a:solidFill>
                  <a:srgbClr val="000000"/>
                </a:solidFill>
              </a:rPr>
              <a:t>Future observations: </a:t>
            </a:r>
            <a:r>
              <a:rPr lang="en-CA" sz="3300" dirty="0">
                <a:solidFill>
                  <a:srgbClr val="000000"/>
                </a:solidFill>
              </a:rPr>
              <a:t>The independent </a:t>
            </a:r>
            <a:r>
              <a:rPr lang="en-CA" sz="3300" dirty="0">
                <a:solidFill>
                  <a:srgbClr val="000000"/>
                </a:solidFill>
                <a:latin typeface="Aptos" panose="020B0004020202020204" pitchFamily="34" charset="0"/>
              </a:rPr>
              <a:t>mass check shows that the inferred growth difficulty depends on the mass estimate. </a:t>
            </a:r>
            <a:r>
              <a:rPr lang="en-CA" sz="3300" dirty="0">
                <a:latin typeface="Aptos" panose="020B0004020202020204" pitchFamily="34" charset="0"/>
              </a:rPr>
              <a:t>Independent masses and checks on lensing and line broadening would test whether the strongest outliers </a:t>
            </a:r>
            <a:r>
              <a:rPr lang="en-CA" sz="3300" dirty="0">
                <a:solidFill>
                  <a:srgbClr val="000000"/>
                </a:solidFill>
                <a:latin typeface="Aptos" panose="020B0004020202020204" pitchFamily="34" charset="0"/>
              </a:rPr>
              <a:t>truly challenge the reference growth model.</a:t>
            </a:r>
          </a:p>
        </p:txBody>
      </p:sp>
      <p:sp>
        <p:nvSpPr>
          <p:cNvPr id="12" name="Title 18">
            <a:extLst>
              <a:ext uri="{FF2B5EF4-FFF2-40B4-BE49-F238E27FC236}">
                <a16:creationId xmlns:a16="http://schemas.microsoft.com/office/drawing/2014/main" id="{E8D6C14F-DB4A-BA95-FDD9-79FE7C3D7735}"/>
              </a:ext>
            </a:extLst>
          </p:cNvPr>
          <p:cNvSpPr txBox="1">
            <a:spLocks/>
          </p:cNvSpPr>
          <p:nvPr/>
        </p:nvSpPr>
        <p:spPr>
          <a:xfrm>
            <a:off x="0" y="0"/>
            <a:ext cx="43891200" cy="4659662"/>
          </a:xfrm>
          <a:prstGeom prst="rect">
            <a:avLst/>
          </a:prstGeom>
          <a:solidFill>
            <a:srgbClr val="002A5C"/>
          </a:solidFill>
          <a:ln>
            <a:solidFill>
              <a:srgbClr val="09306B"/>
            </a:solidFill>
          </a:ln>
        </p:spPr>
        <p:txBody>
          <a:bodyPr vert="horz" lIns="9418320" tIns="91440" rIns="11887200" bIns="45720" rtlCol="0" anchor="ctr">
            <a:normAutofit/>
          </a:bodyPr>
          <a:lstStyle>
            <a:lvl1pPr algn="l" defTabSz="438912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2112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br>
              <a:rPr lang="en-US" sz="42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en-US" sz="68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Early Black-Hole Growth Constraints from JWST</a:t>
            </a:r>
            <a:br>
              <a:rPr lang="en-US" sz="68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en-US" sz="68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Nicole Jiang; University of Toronto</a:t>
            </a:r>
            <a:br>
              <a:rPr lang="en-US" sz="42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</a:br>
            <a:endParaRPr lang="en-US" sz="6800" dirty="0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13" name="Picture 12" descr="University of Toronto - Wikipedia">
            <a:extLst>
              <a:ext uri="{FF2B5EF4-FFF2-40B4-BE49-F238E27FC236}">
                <a16:creationId xmlns:a16="http://schemas.microsoft.com/office/drawing/2014/main" id="{9809B22B-6F76-6803-F527-4F62B1BFECCD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31520" y="548640"/>
            <a:ext cx="2834640" cy="2834640"/>
          </a:xfrm>
          <a:prstGeom prst="rect">
            <a:avLst/>
          </a:prstGeom>
        </p:spPr>
      </p:pic>
      <p:pic>
        <p:nvPicPr>
          <p:cNvPr id="16" name="Picture 15" descr="University of Toronto profile | Powered by Inpart">
            <a:extLst>
              <a:ext uri="{FF2B5EF4-FFF2-40B4-BE49-F238E27FC236}">
                <a16:creationId xmlns:a16="http://schemas.microsoft.com/office/drawing/2014/main" id="{AA34C56D-4CF6-424E-52BB-44C8C55A689A}"/>
              </a:ext>
            </a:extLst>
          </p:cNvPr>
          <p:cNvPicPr>
            <a:picLocks noChangeAspect="1"/>
          </p:cNvPicPr>
          <p:nvPr/>
        </p:nvPicPr>
        <p:blipFill>
          <a:blip r:embed="rId7"/>
          <a:srcRect l="23902" t="38725" b="33824"/>
          <a:stretch>
            <a:fillRect/>
          </a:stretch>
        </p:blipFill>
        <p:spPr>
          <a:xfrm>
            <a:off x="3291840" y="1051560"/>
            <a:ext cx="6035040" cy="2177031"/>
          </a:xfrm>
          <a:prstGeom prst="rect">
            <a:avLst/>
          </a:prstGeom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99EE92EF-AE5C-C656-CB0E-755415193383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0103744" y="709863"/>
            <a:ext cx="3108960" cy="3108960"/>
          </a:xfrm>
          <a:prstGeom prst="rect">
            <a:avLst/>
          </a:prstGeom>
        </p:spPr>
      </p:pic>
      <p:pic>
        <p:nvPicPr>
          <p:cNvPr id="18" name="Picture 17" descr="File:JWST spacecraft model 1.png - Wikimedia Commons">
            <a:extLst>
              <a:ext uri="{FF2B5EF4-FFF2-40B4-BE49-F238E27FC236}">
                <a16:creationId xmlns:a16="http://schemas.microsoft.com/office/drawing/2014/main" id="{CAAF635E-D847-430A-4975-C0664300EE04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29947430" y="1600199"/>
            <a:ext cx="4667349" cy="3498614"/>
          </a:xfrm>
          <a:prstGeom prst="rect">
            <a:avLst/>
          </a:prstGeom>
        </p:spPr>
      </p:pic>
      <p:pic>
        <p:nvPicPr>
          <p:cNvPr id="19" name="Picture 18" descr="Nebula overlay color 26548388 PNG">
            <a:extLst>
              <a:ext uri="{FF2B5EF4-FFF2-40B4-BE49-F238E27FC236}">
                <a16:creationId xmlns:a16="http://schemas.microsoft.com/office/drawing/2014/main" id="{0F14B9C2-C752-74B9-8199-CFA8793A0BB5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 rot="2659860">
            <a:off x="32324215" y="-276862"/>
            <a:ext cx="8190834" cy="4608990"/>
          </a:xfrm>
          <a:prstGeom prst="rect">
            <a:avLst/>
          </a:prstGeom>
        </p:spPr>
      </p:pic>
      <p:pic>
        <p:nvPicPr>
          <p:cNvPr id="20" name="Picture 19" descr="Eyes open clipart clipground #31495 - Free Transparent PNG Logos">
            <a:extLst>
              <a:ext uri="{FF2B5EF4-FFF2-40B4-BE49-F238E27FC236}">
                <a16:creationId xmlns:a16="http://schemas.microsoft.com/office/drawing/2014/main" id="{C8C7897B-987A-9A64-3B47-8B28EF41CC7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 rot="20443004">
            <a:off x="30883542" y="2288567"/>
            <a:ext cx="1415509" cy="68136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6848717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 Them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232</TotalTime>
  <Words>1126</Words>
  <Application>Microsoft Macintosh PowerPoint</Application>
  <PresentationFormat>Custom</PresentationFormat>
  <Paragraphs>69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5" baseType="lpstr">
      <vt:lpstr>Aptos</vt:lpstr>
      <vt:lpstr>Aptos Display</vt:lpstr>
      <vt:lpstr>Arial</vt:lpstr>
      <vt:lpstr>Office Theme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Nicole Jiang</dc:creator>
  <cp:lastModifiedBy>Nicole Jiang</cp:lastModifiedBy>
  <cp:revision>1</cp:revision>
  <dcterms:created xsi:type="dcterms:W3CDTF">2026-09-30T19:05:59Z</dcterms:created>
  <dcterms:modified xsi:type="dcterms:W3CDTF">2026-10-16T03:58:03Z</dcterms:modified>
</cp:coreProperties>
</file>
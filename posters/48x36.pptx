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60" r:id="rId2"/>
  </p:sldIdLst>
  <p:sldSz cx="43891200" cy="3291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A5C"/>
    <a:srgbClr val="002F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915"/>
    <p:restoredTop sz="94701"/>
  </p:normalViewPr>
  <p:slideViewPr>
    <p:cSldViewPr snapToGrid="0">
      <p:cViewPr>
        <p:scale>
          <a:sx n="44" d="100"/>
          <a:sy n="44" d="100"/>
        </p:scale>
        <p:origin x="-11720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st User" providerId="Windows Live" clId="Web-{6473874E-BB57-4884-5C66-EE1C81F1FB1F}"/>
    <pc:docChg chg="modSld">
      <pc:chgData name="Guest User" userId="" providerId="Windows Live" clId="Web-{6473874E-BB57-4884-5C66-EE1C81F1FB1F}" dt="2026-10-06T18:07:50.156" v="49" actId="14100"/>
      <pc:docMkLst>
        <pc:docMk/>
      </pc:docMkLst>
    </pc:docChg>
  </pc:docChgLst>
  <pc:docChgLst>
    <pc:chgData name="Nicole Jiang" userId="09ef0fc0f6f473b5" providerId="LiveId" clId="{EB8F4A53-0964-5BF1-90AD-931457E28E1A}"/>
    <pc:docChg chg="undo redo custSel addSld delSld modSld">
      <pc:chgData name="Nicole Jiang" userId="09ef0fc0f6f473b5" providerId="LiveId" clId="{EB8F4A53-0964-5BF1-90AD-931457E28E1A}" dt="2026-10-14T03:47:30.465" v="2450" actId="1076"/>
      <pc:docMkLst>
        <pc:docMk/>
      </pc:docMkLst>
      <pc:sldChg chg="addSp delSp modSp add del mod">
        <pc:chgData name="Nicole Jiang" userId="09ef0fc0f6f473b5" providerId="LiveId" clId="{EB8F4A53-0964-5BF1-90AD-931457E28E1A}" dt="2026-10-13T20:04:12.431" v="2363" actId="2696"/>
        <pc:sldMkLst>
          <pc:docMk/>
          <pc:sldMk cId="868487171" sldId="259"/>
        </pc:sldMkLst>
      </pc:sldChg>
      <pc:sldChg chg="modSp mod">
        <pc:chgData name="Nicole Jiang" userId="09ef0fc0f6f473b5" providerId="LiveId" clId="{EB8F4A53-0964-5BF1-90AD-931457E28E1A}" dt="2026-10-14T03:47:30.465" v="2450" actId="1076"/>
        <pc:sldMkLst>
          <pc:docMk/>
          <pc:sldMk cId="868487171" sldId="260"/>
        </pc:sldMkLst>
        <pc:spChg chg="mod">
          <ac:chgData name="Nicole Jiang" userId="09ef0fc0f6f473b5" providerId="LiveId" clId="{EB8F4A53-0964-5BF1-90AD-931457E28E1A}" dt="2026-10-13T21:08:14.362" v="2384" actId="255"/>
          <ac:spMkLst>
            <pc:docMk/>
            <pc:sldMk cId="868487171" sldId="260"/>
            <ac:spMk id="2" creationId="{6F669F8B-BE33-0C82-515C-AF8D3B759FB3}"/>
          </ac:spMkLst>
        </pc:spChg>
        <pc:spChg chg="mod">
          <ac:chgData name="Nicole Jiang" userId="09ef0fc0f6f473b5" providerId="LiveId" clId="{EB8F4A53-0964-5BF1-90AD-931457E28E1A}" dt="2026-10-13T21:08:49.323" v="2392" actId="1076"/>
          <ac:spMkLst>
            <pc:docMk/>
            <pc:sldMk cId="868487171" sldId="260"/>
            <ac:spMk id="15" creationId="{B71483CE-2A7E-6438-7E3B-E605C17C7099}"/>
          </ac:spMkLst>
        </pc:spChg>
        <pc:spChg chg="mod">
          <ac:chgData name="Nicole Jiang" userId="09ef0fc0f6f473b5" providerId="LiveId" clId="{EB8F4A53-0964-5BF1-90AD-931457E28E1A}" dt="2026-10-14T03:47:11.525" v="2445" actId="1076"/>
          <ac:spMkLst>
            <pc:docMk/>
            <pc:sldMk cId="868487171" sldId="260"/>
            <ac:spMk id="32" creationId="{F8D50A2A-9B61-AD34-B9C2-8944BB27426C}"/>
          </ac:spMkLst>
        </pc:spChg>
        <pc:spChg chg="mod">
          <ac:chgData name="Nicole Jiang" userId="09ef0fc0f6f473b5" providerId="LiveId" clId="{EB8F4A53-0964-5BF1-90AD-931457E28E1A}" dt="2026-10-13T21:08:26.352" v="2387" actId="255"/>
          <ac:spMkLst>
            <pc:docMk/>
            <pc:sldMk cId="868487171" sldId="260"/>
            <ac:spMk id="70" creationId="{7842EAEC-0FF9-516A-6712-19E0D19D0354}"/>
          </ac:spMkLst>
        </pc:spChg>
        <pc:spChg chg="mod">
          <ac:chgData name="Nicole Jiang" userId="09ef0fc0f6f473b5" providerId="LiveId" clId="{EB8F4A53-0964-5BF1-90AD-931457E28E1A}" dt="2026-10-14T01:47:21.679" v="2444" actId="20577"/>
          <ac:spMkLst>
            <pc:docMk/>
            <pc:sldMk cId="868487171" sldId="260"/>
            <ac:spMk id="73" creationId="{88C51BF9-B81A-ECF4-F01D-305CA1CE9DD1}"/>
          </ac:spMkLst>
        </pc:spChg>
        <pc:spChg chg="mod">
          <ac:chgData name="Nicole Jiang" userId="09ef0fc0f6f473b5" providerId="LiveId" clId="{EB8F4A53-0964-5BF1-90AD-931457E28E1A}" dt="2026-10-13T21:08:17.671" v="2385" actId="255"/>
          <ac:spMkLst>
            <pc:docMk/>
            <pc:sldMk cId="868487171" sldId="260"/>
            <ac:spMk id="76" creationId="{8F4057E1-F618-63B3-DF3A-8B3B4948305D}"/>
          </ac:spMkLst>
        </pc:spChg>
        <pc:spChg chg="mod">
          <ac:chgData name="Nicole Jiang" userId="09ef0fc0f6f473b5" providerId="LiveId" clId="{EB8F4A53-0964-5BF1-90AD-931457E28E1A}" dt="2026-10-13T21:09:01.692" v="2393" actId="1076"/>
          <ac:spMkLst>
            <pc:docMk/>
            <pc:sldMk cId="868487171" sldId="260"/>
            <ac:spMk id="79" creationId="{3DD5B540-2EC8-A5A1-200C-994C1D7C8BFD}"/>
          </ac:spMkLst>
        </pc:spChg>
        <pc:spChg chg="mod">
          <ac:chgData name="Nicole Jiang" userId="09ef0fc0f6f473b5" providerId="LiveId" clId="{EB8F4A53-0964-5BF1-90AD-931457E28E1A}" dt="2026-10-13T21:08:38.029" v="2390" actId="1076"/>
          <ac:spMkLst>
            <pc:docMk/>
            <pc:sldMk cId="868487171" sldId="260"/>
            <ac:spMk id="82" creationId="{82B57F9D-B4AF-1E4D-7FBC-B8680CB4CAB8}"/>
          </ac:spMkLst>
        </pc:spChg>
        <pc:picChg chg="mod">
          <ac:chgData name="Nicole Jiang" userId="09ef0fc0f6f473b5" providerId="LiveId" clId="{EB8F4A53-0964-5BF1-90AD-931457E28E1A}" dt="2026-10-14T03:47:25.307" v="2448" actId="14100"/>
          <ac:picMkLst>
            <pc:docMk/>
            <pc:sldMk cId="868487171" sldId="260"/>
            <ac:picMk id="5" creationId="{0BD845B3-DC16-6DC6-BFC8-2D65D247678D}"/>
          </ac:picMkLst>
        </pc:picChg>
        <pc:picChg chg="mod">
          <ac:chgData name="Nicole Jiang" userId="09ef0fc0f6f473b5" providerId="LiveId" clId="{EB8F4A53-0964-5BF1-90AD-931457E28E1A}" dt="2026-10-14T03:47:30.465" v="2450" actId="1076"/>
          <ac:picMkLst>
            <pc:docMk/>
            <pc:sldMk cId="868487171" sldId="260"/>
            <ac:picMk id="6" creationId="{9D3E6E2E-04C2-513B-0EE5-8C40F5B8F46A}"/>
          </ac:picMkLst>
        </pc:picChg>
      </pc:sldChg>
    </pc:docChg>
  </pc:docChgLst>
  <pc:docChgLst>
    <pc:chgData name="Nicole Jiang" userId="09ef0fc0f6f473b5" providerId="Windows Live" clId="Web-{00000000-0000-0000-0000-000000000000}"/>
    <pc:docChg chg="modSld">
      <pc:chgData name="Nicole Jiang" userId="09ef0fc0f6f473b5" providerId="Windows Live" clId="Web-{00000000-0000-0000-0000-000000000000}" dt="2026-10-06T17:56:42.980" v="36" actId="1076"/>
      <pc:docMkLst>
        <pc:docMk/>
      </pc:docMkLst>
    </pc:docChg>
  </pc:docChgLst>
  <pc:docChgLst>
    <pc:chgData name="Guest User" providerId="Windows Live" clId="Web-{00000000-0000-0000-0000-000000000000}"/>
    <pc:docChg chg="modSld">
      <pc:chgData name="Guest User" userId="" providerId="Windows Live" clId="Web-{00000000-0000-0000-0000-000000000000}" dt="2026-10-06T18:59:37.821" v="16" actId="14100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D8F461-2A77-BA43-9B12-25195C3EB239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0DA246-DE01-5046-81A0-D7E93C8740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751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4C11B-3281-61F5-AEEC-E5F2B2984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75FC8B-F564-04EA-26FD-6F8FBA4387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ACB9E4-9956-85CD-1D61-2F397B4723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  <a:p>
            <a:pPr>
              <a:spcAft>
                <a:spcPts val="800"/>
              </a:spcAft>
              <a:buNone/>
            </a:pPr>
            <a:r>
              <a:rPr lang="en-CA" sz="1200" b="0">
                <a:latin typeface="Aptos"/>
              </a:rPr>
              <a:t>Poster figure inputs: results/manuscript/tables/publication_object_selection.csv; mass_offset_object_sensitivity.csv; results/v3/tables/v3_object_point_ranking.csv and v3_object_uncertainty_ranking.csv; results/v4/tables/v4_minimum_seed_mass.csv. Controlled growth comparison uses src.models.predicted_log_mbh with mean ratio 1, z_seed=30, B_merge=1 and efficiencies 0.1 and 1-sqrt(8/9). Independent dynamical mass: https://arxiv.org/abs/2508.21748.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B3E2F2-BDDF-9490-DE7B-11CDCE9101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0DA246-DE01-5046-81A0-D7E93C87400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1524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1840" y="5387342"/>
            <a:ext cx="37307520" cy="11460480"/>
          </a:xfrm>
        </p:spPr>
        <p:txBody>
          <a:bodyPr anchor="b"/>
          <a:lstStyle>
            <a:lvl1pPr algn="ctr">
              <a:defRPr sz="2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0" y="17289782"/>
            <a:ext cx="32918400" cy="7947658"/>
          </a:xfrm>
        </p:spPr>
        <p:txBody>
          <a:bodyPr/>
          <a:lstStyle>
            <a:lvl1pPr marL="0" indent="0" algn="ctr">
              <a:buNone/>
              <a:defRPr sz="11520"/>
            </a:lvl1pPr>
            <a:lvl2pPr marL="2194560" indent="0" algn="ctr">
              <a:buNone/>
              <a:defRPr sz="9600"/>
            </a:lvl2pPr>
            <a:lvl3pPr marL="4389120" indent="0" algn="ctr">
              <a:buNone/>
              <a:defRPr sz="8640"/>
            </a:lvl3pPr>
            <a:lvl4pPr marL="6583680" indent="0" algn="ctr">
              <a:buNone/>
              <a:defRPr sz="7680"/>
            </a:lvl4pPr>
            <a:lvl5pPr marL="8778240" indent="0" algn="ctr">
              <a:buNone/>
              <a:defRPr sz="7680"/>
            </a:lvl5pPr>
            <a:lvl6pPr marL="10972800" indent="0" algn="ctr">
              <a:buNone/>
              <a:defRPr sz="7680"/>
            </a:lvl6pPr>
            <a:lvl7pPr marL="13167360" indent="0" algn="ctr">
              <a:buNone/>
              <a:defRPr sz="7680"/>
            </a:lvl7pPr>
            <a:lvl8pPr marL="15361920" indent="0" algn="ctr">
              <a:buNone/>
              <a:defRPr sz="7680"/>
            </a:lvl8pPr>
            <a:lvl9pPr marL="17556480" indent="0" algn="ctr">
              <a:buNone/>
              <a:defRPr sz="768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6755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034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94662" y="8206749"/>
            <a:ext cx="37856160" cy="13693138"/>
          </a:xfrm>
        </p:spPr>
        <p:txBody>
          <a:bodyPr anchor="b"/>
          <a:lstStyle>
            <a:lvl1pPr>
              <a:defRPr sz="2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94662" y="22029429"/>
            <a:ext cx="37856160" cy="7200898"/>
          </a:xfrm>
        </p:spPr>
        <p:txBody>
          <a:bodyPr/>
          <a:lstStyle>
            <a:lvl1pPr marL="0" indent="0">
              <a:buNone/>
              <a:defRPr sz="11520">
                <a:solidFill>
                  <a:schemeClr val="tx1">
                    <a:tint val="82000"/>
                  </a:schemeClr>
                </a:solidFill>
              </a:defRPr>
            </a:lvl1pPr>
            <a:lvl2pPr marL="2194560" indent="0">
              <a:buNone/>
              <a:defRPr sz="9600">
                <a:solidFill>
                  <a:schemeClr val="tx1">
                    <a:tint val="82000"/>
                  </a:schemeClr>
                </a:solidFill>
              </a:defRPr>
            </a:lvl2pPr>
            <a:lvl3pPr marL="4389120" indent="0">
              <a:buNone/>
              <a:defRPr sz="8640">
                <a:solidFill>
                  <a:schemeClr val="tx1">
                    <a:tint val="82000"/>
                  </a:schemeClr>
                </a:solidFill>
              </a:defRPr>
            </a:lvl3pPr>
            <a:lvl4pPr marL="658368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4pPr>
            <a:lvl5pPr marL="877824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5pPr>
            <a:lvl6pPr marL="1097280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6pPr>
            <a:lvl7pPr marL="1316736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7pPr>
            <a:lvl8pPr marL="1536192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8pPr>
            <a:lvl9pPr marL="1755648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49180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175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2199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3010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1752607"/>
            <a:ext cx="37856160" cy="636270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23242" y="8069582"/>
            <a:ext cx="18568032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23242" y="12024360"/>
            <a:ext cx="18568032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19922" y="8069582"/>
            <a:ext cx="18659477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19922" y="12024360"/>
            <a:ext cx="18659477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9228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9548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133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59477" y="4739647"/>
            <a:ext cx="22219920" cy="23393400"/>
          </a:xfrm>
        </p:spPr>
        <p:txBody>
          <a:bodyPr/>
          <a:lstStyle>
            <a:lvl1pPr>
              <a:defRPr sz="15360"/>
            </a:lvl1pPr>
            <a:lvl2pPr>
              <a:defRPr sz="13440"/>
            </a:lvl2pPr>
            <a:lvl3pPr>
              <a:defRPr sz="11520"/>
            </a:lvl3pPr>
            <a:lvl4pPr>
              <a:defRPr sz="9600"/>
            </a:lvl4pPr>
            <a:lvl5pPr>
              <a:defRPr sz="9600"/>
            </a:lvl5pPr>
            <a:lvl6pPr>
              <a:defRPr sz="9600"/>
            </a:lvl6pPr>
            <a:lvl7pPr>
              <a:defRPr sz="9600"/>
            </a:lvl7pPr>
            <a:lvl8pPr>
              <a:defRPr sz="9600"/>
            </a:lvl8pPr>
            <a:lvl9pPr>
              <a:defRPr sz="9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1847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8659477" y="4739647"/>
            <a:ext cx="22219920" cy="23393400"/>
          </a:xfrm>
        </p:spPr>
        <p:txBody>
          <a:bodyPr anchor="t"/>
          <a:lstStyle>
            <a:lvl1pPr marL="0" indent="0">
              <a:buNone/>
              <a:defRPr sz="15360"/>
            </a:lvl1pPr>
            <a:lvl2pPr marL="2194560" indent="0">
              <a:buNone/>
              <a:defRPr sz="13440"/>
            </a:lvl2pPr>
            <a:lvl3pPr marL="4389120" indent="0">
              <a:buNone/>
              <a:defRPr sz="11520"/>
            </a:lvl3pPr>
            <a:lvl4pPr marL="6583680" indent="0">
              <a:buNone/>
              <a:defRPr sz="9600"/>
            </a:lvl4pPr>
            <a:lvl5pPr marL="8778240" indent="0">
              <a:buNone/>
              <a:defRPr sz="9600"/>
            </a:lvl5pPr>
            <a:lvl6pPr marL="10972800" indent="0">
              <a:buNone/>
              <a:defRPr sz="9600"/>
            </a:lvl6pPr>
            <a:lvl7pPr marL="13167360" indent="0">
              <a:buNone/>
              <a:defRPr sz="9600"/>
            </a:lvl7pPr>
            <a:lvl8pPr marL="15361920" indent="0">
              <a:buNone/>
              <a:defRPr sz="9600"/>
            </a:lvl8pPr>
            <a:lvl9pPr marL="17556480" indent="0">
              <a:buNone/>
              <a:defRPr sz="9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677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9889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409642" y="1752600"/>
            <a:ext cx="9464040" cy="2789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17522" y="1752600"/>
            <a:ext cx="27843480" cy="278968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8348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6&quot; x 48&quot; Po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title" hasCustomPrompt="1"/>
          </p:nvPr>
        </p:nvSpPr>
        <p:spPr>
          <a:xfrm>
            <a:off x="696687" y="609600"/>
            <a:ext cx="42497830" cy="3352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 anchor="ctr" anchorCtr="1"/>
          <a:lstStyle>
            <a:lvl1pPr>
              <a:defRPr sz="6200" b="1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Poster Presentation Title</a:t>
            </a:r>
            <a:br>
              <a:rPr lang="en-US"/>
            </a:br>
            <a: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List Author Name(s)</a:t>
            </a:r>
            <a:b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</a:br>
            <a: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List Affiliated Institutions</a:t>
            </a:r>
            <a:endParaRPr lang="en-US"/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0" hasCustomPrompt="1"/>
          </p:nvPr>
        </p:nvSpPr>
        <p:spPr>
          <a:xfrm>
            <a:off x="696687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Abstract or Introduction</a:t>
            </a:r>
            <a:endParaRPr lang="en-US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1" hasCustomPrompt="1"/>
          </p:nvPr>
        </p:nvSpPr>
        <p:spPr>
          <a:xfrm>
            <a:off x="696687" y="5638800"/>
            <a:ext cx="13585370" cy="86868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 baseline="0"/>
            </a:lvl1pPr>
            <a:lvl2pPr marL="397308" indent="0">
              <a:buNone/>
              <a:defRPr sz="2800" baseline="0"/>
            </a:lvl2pPr>
            <a:lvl3pPr marL="772848" indent="0">
              <a:buNone/>
              <a:defRPr sz="2800" baseline="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Any element of this template (colors, fonts, layouts, etc.) can be edited to suit your needs. To change the color of a title bar: right click the text box, select format shape, edit the “Fill” and “Line” your desired specifications.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696687" y="146304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Objectives</a:t>
            </a:r>
            <a:endParaRPr lang="en-US"/>
          </a:p>
        </p:txBody>
      </p:sp>
      <p:sp>
        <p:nvSpPr>
          <p:cNvPr id="26" name="Text Placeholder 23"/>
          <p:cNvSpPr>
            <a:spLocks noGrp="1"/>
          </p:cNvSpPr>
          <p:nvPr>
            <p:ph type="body" sz="quarter" idx="13" hasCustomPrompt="1"/>
          </p:nvPr>
        </p:nvSpPr>
        <p:spPr>
          <a:xfrm>
            <a:off x="696687" y="160020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marR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0" marR="0" lvl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/>
              <a:t>To change the color of a title bar: right click the text box, select format shape, edit the “Fill” and “Line” your desired specifications.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4" hasCustomPrompt="1"/>
          </p:nvPr>
        </p:nvSpPr>
        <p:spPr>
          <a:xfrm>
            <a:off x="696687" y="236220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Methods</a:t>
            </a:r>
            <a:endParaRPr lang="en-US"/>
          </a:p>
        </p:txBody>
      </p:sp>
      <p:sp>
        <p:nvSpPr>
          <p:cNvPr id="28" name="Text Placeholder 23"/>
          <p:cNvSpPr>
            <a:spLocks noGrp="1"/>
          </p:cNvSpPr>
          <p:nvPr>
            <p:ph type="body" sz="quarter" idx="15" hasCustomPrompt="1"/>
          </p:nvPr>
        </p:nvSpPr>
        <p:spPr>
          <a:xfrm>
            <a:off x="696687" y="249936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marR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0" marR="0" lvl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/>
              <a:t>Copy and paste title bars and text boxes to create additional sections.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6" hasCustomPrompt="1"/>
          </p:nvPr>
        </p:nvSpPr>
        <p:spPr>
          <a:xfrm>
            <a:off x="15152917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Results</a:t>
            </a:r>
            <a:endParaRPr lang="en-US"/>
          </a:p>
        </p:txBody>
      </p:sp>
      <p:sp>
        <p:nvSpPr>
          <p:cNvPr id="30" name="Text Placeholder 23"/>
          <p:cNvSpPr>
            <a:spLocks noGrp="1"/>
          </p:cNvSpPr>
          <p:nvPr>
            <p:ph type="body" sz="quarter" idx="17"/>
          </p:nvPr>
        </p:nvSpPr>
        <p:spPr>
          <a:xfrm>
            <a:off x="29609145" y="249936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8" hasCustomPrompt="1"/>
          </p:nvPr>
        </p:nvSpPr>
        <p:spPr>
          <a:xfrm>
            <a:off x="29609145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Conclusion</a:t>
            </a:r>
            <a:endParaRPr lang="en-US"/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19"/>
          </p:nvPr>
        </p:nvSpPr>
        <p:spPr>
          <a:xfrm>
            <a:off x="29609145" y="5638800"/>
            <a:ext cx="13585370" cy="17678400"/>
          </a:xfrm>
          <a:prstGeom prst="rect">
            <a:avLst/>
          </a:prstGeom>
        </p:spPr>
        <p:txBody>
          <a:bodyPr vert="horz" lIns="78373" tIns="39187" rIns="78373" bIns="39187"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20" hasCustomPrompt="1"/>
          </p:nvPr>
        </p:nvSpPr>
        <p:spPr>
          <a:xfrm>
            <a:off x="29609145" y="236220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References</a:t>
            </a:r>
            <a:endParaRPr lang="en-US"/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1" hasCustomPrompt="1"/>
          </p:nvPr>
        </p:nvSpPr>
        <p:spPr>
          <a:xfrm>
            <a:off x="15152917" y="5638800"/>
            <a:ext cx="13585370" cy="266700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 baseline="0"/>
            </a:lvl1pPr>
            <a:lvl2pPr marL="397308" indent="0">
              <a:buNone/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Remember to save all charts, graphs, and tables as 300DPI images prior to inserting them into your posters. Doing so will ensure the best results when printing your posters.</a:t>
            </a:r>
          </a:p>
        </p:txBody>
      </p:sp>
      <p:sp>
        <p:nvSpPr>
          <p:cNvPr id="36" name="Picture Placeholder 35"/>
          <p:cNvSpPr>
            <a:spLocks noGrp="1"/>
          </p:cNvSpPr>
          <p:nvPr>
            <p:ph type="pic" sz="quarter" idx="22" hasCustomPrompt="1"/>
          </p:nvPr>
        </p:nvSpPr>
        <p:spPr>
          <a:xfrm>
            <a:off x="1219205" y="914400"/>
            <a:ext cx="3135086" cy="2743200"/>
          </a:xfrm>
          <a:prstGeom prst="rect">
            <a:avLst/>
          </a:prstGeom>
          <a:solidFill>
            <a:schemeClr val="bg1"/>
          </a:solidFill>
        </p:spPr>
        <p:txBody>
          <a:bodyPr vert="horz" lIns="78373" tIns="39187" rIns="78373" bIns="39187"/>
          <a:lstStyle>
            <a:lvl1pPr marL="0" indent="0">
              <a:buNone/>
              <a:defRPr sz="2000"/>
            </a:lvl1pPr>
          </a:lstStyle>
          <a:p>
            <a:r>
              <a:rPr lang="en-US"/>
              <a:t>LOGO</a:t>
            </a:r>
          </a:p>
        </p:txBody>
      </p:sp>
      <p:sp>
        <p:nvSpPr>
          <p:cNvPr id="37" name="Picture Placeholder 35"/>
          <p:cNvSpPr>
            <a:spLocks noGrp="1"/>
          </p:cNvSpPr>
          <p:nvPr>
            <p:ph type="pic" sz="quarter" idx="23" hasCustomPrompt="1"/>
          </p:nvPr>
        </p:nvSpPr>
        <p:spPr>
          <a:xfrm>
            <a:off x="39711091" y="914400"/>
            <a:ext cx="3135086" cy="2743200"/>
          </a:xfrm>
          <a:prstGeom prst="rect">
            <a:avLst/>
          </a:prstGeom>
          <a:solidFill>
            <a:schemeClr val="bg1"/>
          </a:solidFill>
        </p:spPr>
        <p:txBody>
          <a:bodyPr vert="horz" lIns="78373" tIns="39187" rIns="78373" bIns="39187"/>
          <a:lstStyle>
            <a:lvl1pPr marL="0" indent="0">
              <a:buNone/>
              <a:defRPr sz="2000"/>
            </a:lvl1pPr>
          </a:lstStyle>
          <a:p>
            <a:r>
              <a:rPr lang="en-US"/>
              <a:t>LOGO</a:t>
            </a:r>
          </a:p>
        </p:txBody>
      </p:sp>
      <p:sp>
        <p:nvSpPr>
          <p:cNvPr id="39" name="Chart Placeholder 38"/>
          <p:cNvSpPr>
            <a:spLocks noGrp="1"/>
          </p:cNvSpPr>
          <p:nvPr>
            <p:ph type="chart" sz="quarter" idx="24"/>
          </p:nvPr>
        </p:nvSpPr>
        <p:spPr>
          <a:xfrm>
            <a:off x="16197949" y="16154400"/>
            <a:ext cx="11495314" cy="67056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/>
            </a:lvl1pPr>
          </a:lstStyle>
          <a:p>
            <a:endParaRPr lang="en-US"/>
          </a:p>
        </p:txBody>
      </p:sp>
      <p:sp>
        <p:nvSpPr>
          <p:cNvPr id="40" name="Chart Placeholder 38"/>
          <p:cNvSpPr>
            <a:spLocks noGrp="1"/>
          </p:cNvSpPr>
          <p:nvPr>
            <p:ph type="chart" sz="quarter" idx="25"/>
          </p:nvPr>
        </p:nvSpPr>
        <p:spPr>
          <a:xfrm>
            <a:off x="16197949" y="24536400"/>
            <a:ext cx="11495314" cy="67056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/>
            </a:lvl1pPr>
          </a:lstStyle>
          <a:p>
            <a:endParaRPr lang="en-US"/>
          </a:p>
        </p:txBody>
      </p:sp>
      <p:pic>
        <p:nvPicPr>
          <p:cNvPr id="4" name="Picture 3" descr="Logo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38400" y="32416772"/>
            <a:ext cx="2743200" cy="43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2744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17520" y="1752607"/>
            <a:ext cx="3785616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17520" y="8763000"/>
            <a:ext cx="3785616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1752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38960" y="30510487"/>
            <a:ext cx="1481328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099816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8051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4389120" rtl="0" eaLnBrk="1" latinLnBrk="0" hangingPunct="1">
        <a:lnSpc>
          <a:spcPct val="90000"/>
        </a:lnSpc>
        <a:spcBef>
          <a:spcPct val="0"/>
        </a:spcBef>
        <a:buNone/>
        <a:defRPr sz="211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97280" indent="-1097280" algn="l" defTabSz="4389120" rtl="0" eaLnBrk="1" latinLnBrk="0" hangingPunct="1">
        <a:lnSpc>
          <a:spcPct val="90000"/>
        </a:lnSpc>
        <a:spcBef>
          <a:spcPts val="480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1pPr>
      <a:lvl2pPr marL="32918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1152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987552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08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42646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64592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86537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3891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3pPr>
      <a:lvl4pPr marL="65836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877824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31673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53619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75564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8" Type="http://schemas.openxmlformats.org/officeDocument/2006/relationships/image" Target="../media/landscape_current_image7.png"/><Relationship Id="rId3" Type="http://schemas.openxmlformats.org/officeDocument/2006/relationships/image" Target="../media/landscape_current_image2.png"/><Relationship Id="rId7" Type="http://schemas.openxmlformats.org/officeDocument/2006/relationships/image" Target="../media/landscape_current_image6.png"/><Relationship Id="rId12" Type="http://schemas.openxmlformats.org/officeDocument/2006/relationships/image" Target="../media/landscape_current_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landscape_current_image5.png"/><Relationship Id="rId11" Type="http://schemas.openxmlformats.org/officeDocument/2006/relationships/image" Target="../media/landscape_current_image10.png"/><Relationship Id="rId5" Type="http://schemas.openxmlformats.org/officeDocument/2006/relationships/image" Target="../media/landscape_current_image4.png"/><Relationship Id="rId10" Type="http://schemas.openxmlformats.org/officeDocument/2006/relationships/image" Target="../media/landscape_current_image9.png"/><Relationship Id="rId4" Type="http://schemas.openxmlformats.org/officeDocument/2006/relationships/image" Target="../media/landscape_current_image3.png"/><Relationship Id="rId9" Type="http://schemas.openxmlformats.org/officeDocument/2006/relationships/image" Target="../media/landscape_current_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17601-38BA-EEC6-B535-6199F2F27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35E2EF0-72FB-E9D0-1E82-C65E26ED9E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79040" y="22174200"/>
            <a:ext cx="13258800" cy="9240982"/>
          </a:xfrm>
          <a:prstGeom prst="rect">
            <a:avLst/>
          </a:prstGeom>
        </p:spPr>
      </p:pic>
      <p:pic>
        <p:nvPicPr>
          <p:cNvPr id="14" name="Minimum seed mass versus accretion onset" descr="Manuscript minimum seed masses under fixed growth caps for UNCOVER-20466, COSMOS3D-13852, RUBIES-EGS-55604, and GN-z11.">
            <a:extLst>
              <a:ext uri="{FF2B5EF4-FFF2-40B4-BE49-F238E27FC236}">
                <a16:creationId xmlns:a16="http://schemas.microsoft.com/office/drawing/2014/main" id="{C3CA3027-10C5-D39A-05B0-82DB2540F9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52240" y="8595360"/>
            <a:ext cx="13533120" cy="9134856"/>
          </a:xfrm>
          <a:prstGeom prst="rect">
            <a:avLst/>
          </a:prstGeom>
        </p:spPr>
      </p:pic>
      <p:sp>
        <p:nvSpPr>
          <p:cNvPr id="32" name="Title 18">
            <a:extLst>
              <a:ext uri="{FF2B5EF4-FFF2-40B4-BE49-F238E27FC236}">
                <a16:creationId xmlns:a16="http://schemas.microsoft.com/office/drawing/2014/main" id="{F8D50A2A-9B61-AD34-B9C2-8944BB27426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0"/>
            <a:ext cx="43891200" cy="4389120"/>
          </a:xfrm>
          <a:solidFill>
            <a:srgbClr val="002A5C"/>
          </a:solidFill>
          <a:ln>
            <a:solidFill>
              <a:srgbClr val="09306B"/>
            </a:solidFill>
          </a:ln>
        </p:spPr>
        <p:txBody>
          <a:bodyPr lIns="9418320" tIns="91440" rIns="11887200">
            <a:normAutofit/>
          </a:bodyPr>
          <a:lstStyle/>
          <a:p>
            <a:pPr algn="ctr"/>
            <a:br>
              <a:rPr lang="en-US" sz="42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Early Black-Hole Growth Constraints from JWST</a:t>
            </a:r>
            <a:br>
              <a:rPr lang="en-US" sz="6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Nicole Jiang; University of Toronto</a:t>
            </a:r>
            <a:br>
              <a:rPr lang="en-US" sz="42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6800" b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3" name="Picture 32" descr="University of Toronto - Wikipedia">
            <a:extLst>
              <a:ext uri="{FF2B5EF4-FFF2-40B4-BE49-F238E27FC236}">
                <a16:creationId xmlns:a16="http://schemas.microsoft.com/office/drawing/2014/main" id="{42BD33B9-86B6-8B04-8AA1-E72E855435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48640"/>
            <a:ext cx="2834640" cy="2834640"/>
          </a:xfrm>
          <a:prstGeom prst="rect">
            <a:avLst/>
          </a:prstGeom>
        </p:spPr>
      </p:pic>
      <p:pic>
        <p:nvPicPr>
          <p:cNvPr id="36" name="Picture 35" descr="University of Toronto profile | Powered by Inpart">
            <a:extLst>
              <a:ext uri="{FF2B5EF4-FFF2-40B4-BE49-F238E27FC236}">
                <a16:creationId xmlns:a16="http://schemas.microsoft.com/office/drawing/2014/main" id="{8C2E503F-9CF2-EBE6-29B0-458691A7DFB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3902" t="38725" b="33824"/>
          <a:stretch>
            <a:fillRect/>
          </a:stretch>
        </p:blipFill>
        <p:spPr>
          <a:xfrm>
            <a:off x="3291840" y="1051560"/>
            <a:ext cx="6035040" cy="2177031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2C65ED58-816C-A2B5-F6CB-4326B0858DD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867840" y="457200"/>
            <a:ext cx="3108960" cy="3108960"/>
          </a:xfrm>
          <a:prstGeom prst="rect">
            <a:avLst/>
          </a:prstGeom>
        </p:spPr>
      </p:pic>
      <p:sp>
        <p:nvSpPr>
          <p:cNvPr id="69" name="Title 18">
            <a:extLst>
              <a:ext uri="{FF2B5EF4-FFF2-40B4-BE49-F238E27FC236}">
                <a16:creationId xmlns:a16="http://schemas.microsoft.com/office/drawing/2014/main" id="{D8B6836B-DAF1-F68F-D717-73D3A454BC2E}"/>
              </a:ext>
            </a:extLst>
          </p:cNvPr>
          <p:cNvSpPr txBox="1">
            <a:spLocks/>
          </p:cNvSpPr>
          <p:nvPr/>
        </p:nvSpPr>
        <p:spPr>
          <a:xfrm>
            <a:off x="914400" y="5120640"/>
            <a:ext cx="134874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842EAEC-0FF9-516A-6712-19E0D19D0354}"/>
              </a:ext>
            </a:extLst>
          </p:cNvPr>
          <p:cNvSpPr txBox="1"/>
          <p:nvPr/>
        </p:nvSpPr>
        <p:spPr>
          <a:xfrm>
            <a:off x="1371600" y="6400800"/>
            <a:ext cx="12573000" cy="32461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3300" b="1">
                <a:latin typeface="Aptos"/>
              </a:rPr>
              <a:t>How did early black holes grow so big, so fast? </a:t>
            </a:r>
            <a:r>
              <a:rPr lang="en-CA" sz="3300" b="0">
                <a:latin typeface="Aptos"/>
              </a:rPr>
              <a:t>The James Webb Space Telescope (JWST) has revealed massive black holes with little time to grow. I compiled published mass estimates and calculated the average accretion needed to reach each mass under different seed masses (initial masses), start times, and radiative efficiencies.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BB03D82-A209-1440-3180-9DD4419EFCBF}"/>
              </a:ext>
            </a:extLst>
          </p:cNvPr>
          <p:cNvSpPr/>
          <p:nvPr/>
        </p:nvSpPr>
        <p:spPr>
          <a:xfrm>
            <a:off x="914400" y="5120640"/>
            <a:ext cx="13487400" cy="466344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itle 18">
            <a:extLst>
              <a:ext uri="{FF2B5EF4-FFF2-40B4-BE49-F238E27FC236}">
                <a16:creationId xmlns:a16="http://schemas.microsoft.com/office/drawing/2014/main" id="{6D9DC137-E8CF-8FC7-F26F-A7759AD2C396}"/>
              </a:ext>
            </a:extLst>
          </p:cNvPr>
          <p:cNvSpPr txBox="1">
            <a:spLocks/>
          </p:cNvSpPr>
          <p:nvPr/>
        </p:nvSpPr>
        <p:spPr>
          <a:xfrm>
            <a:off x="914400" y="10287000"/>
            <a:ext cx="134874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88C51BF9-B81A-ECF4-F01D-305CA1CE9DD1}"/>
                  </a:ext>
                </a:extLst>
              </p:cNvPr>
              <p:cNvSpPr txBox="1"/>
              <p:nvPr/>
            </p:nvSpPr>
            <p:spPr>
              <a:xfrm>
                <a:off x="1371600" y="11567160"/>
                <a:ext cx="12573000" cy="143560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Catalogue: </a:t>
                </a:r>
                <a:r>
                  <a:rPr lang="en-CA" sz="3300" b="0" dirty="0">
                    <a:latin typeface="Aptos"/>
                  </a:rPr>
                  <a:t>Compiled 350 measurements from 32 publication groups at z ≥ 4. Selected 1 mass per object and retained alternatives. Primary: 220 objects with broad Balmer-line masses [1]. Expanded: 234 objects, including tentative candidates and GN-z11 [2].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Reference model: </a:t>
                </a:r>
                <a:r>
                  <a:rPr lang="en-CA" sz="3300" b="0" dirty="0">
                    <a:latin typeface="Aptos"/>
                  </a:rPr>
                  <a:t>Assumed 100 M⊙ seeds at z = 30, radiative efficiency </a:t>
                </a:r>
                <a:r>
                  <a:rPr lang="en-CA" sz="3300" b="0" dirty="0" err="1">
                    <a:latin typeface="Aptos"/>
                  </a:rPr>
                  <a:t>ε</a:t>
                </a:r>
                <a:r>
                  <a:rPr lang="en-CA" sz="3300" b="0" dirty="0">
                    <a:latin typeface="Aptos"/>
                  </a:rPr>
                  <a:t> = 0.1, no mergers (</a:t>
                </a:r>
                <a:r>
                  <a:rPr lang="en-CA" sz="3300" b="0" dirty="0" err="1">
                    <a:latin typeface="Aptos"/>
                  </a:rPr>
                  <a:t>B</a:t>
                </a:r>
                <a:r>
                  <a:rPr lang="en-CA" sz="3300" b="0" baseline="-25000" dirty="0" err="1">
                    <a:latin typeface="Aptos"/>
                  </a:rPr>
                  <a:t>merge</a:t>
                </a:r>
                <a:r>
                  <a:rPr lang="en-CA" sz="3300" b="0" dirty="0">
                    <a:latin typeface="Aptos"/>
                  </a:rPr>
                  <a:t> = 1), and </a:t>
                </a:r>
                <a:r>
                  <a:rPr lang="en-CA" sz="3300" b="0" dirty="0" err="1">
                    <a:latin typeface="Aptos"/>
                  </a:rPr>
                  <a:t>t</a:t>
                </a:r>
                <a:r>
                  <a:rPr lang="en-CA" sz="3300" b="0" baseline="-25000" dirty="0" err="1">
                    <a:latin typeface="Aptos"/>
                  </a:rPr>
                  <a:t>Edd</a:t>
                </a:r>
                <a:r>
                  <a:rPr lang="en-CA" sz="3300" b="0" dirty="0">
                    <a:latin typeface="Aptos"/>
                  </a:rPr>
                  <a:t> ≈ 0.45 Gyr [3].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Model tests: </a:t>
                </a:r>
                <a:r>
                  <a:rPr lang="en-CA" sz="3300" b="0" dirty="0">
                    <a:latin typeface="Aptos"/>
                  </a:rPr>
                  <a:t>Calculated and ranked required lifetime-average Eddington ratios. Compared them with assumed maximum averages: 1 (reference) and 0.3, 1, or 2 (earlier onset).</a:t>
                </a:r>
              </a:p>
              <a:p>
                <a:pPr>
                  <a:spcBef>
                    <a:spcPts val="6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3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pos m:val="top"/>
                              <m:ctrlPr>
                                <a:rPr lang="en-US" sz="3300" i="1">
                                  <a:latin typeface="Cambria Math"/>
                                </a:rPr>
                              </m:ctrlPr>
                            </m:barPr>
                            <m:e>
                              <m:r>
                                <a:rPr lang="en-US" sz="3300" i="1">
                                  <a:latin typeface="Cambria Math"/>
                                </a:rPr>
                                <m:t>𝑓</m:t>
                              </m:r>
                            </m:e>
                          </m:bar>
                        </m:e>
                        <m:sub>
                          <m:r>
                            <m:rPr>
                              <m:sty m:val="p"/>
                            </m:rPr>
                            <a:rPr lang="en-US" sz="3300" i="0">
                              <a:latin typeface="Cambria Math"/>
                            </a:rPr>
                            <m:t>Edd</m:t>
                          </m:r>
                          <m:r>
                            <a:rPr lang="en-US" sz="3300" i="0">
                              <a:latin typeface="Cambria Math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3300" i="0">
                              <a:latin typeface="Cambria Math"/>
                            </a:rPr>
                            <m:t>req</m:t>
                          </m:r>
                        </m:sub>
                      </m:sSub>
                      <m:r>
                        <a:rPr lang="en-US" sz="3300" i="1">
                          <a:latin typeface="Cambria Math"/>
                        </a:rPr>
                        <m:t>=</m:t>
                      </m:r>
                      <m:func>
                        <m:funcPr>
                          <m:ctrlPr>
                            <a:rPr lang="en-US" sz="3300" i="0">
                              <a:latin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3300" i="0">
                              <a:latin typeface="Cambria Math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3300" i="1">
                                  <a:latin typeface="Cambria Math"/>
                                </a:rPr>
                              </m:ctrlPr>
                            </m:dPr>
                            <m:e>
                              <m:r>
                                <a:rPr lang="en-US" sz="3300" i="1">
                                  <a:latin typeface="Cambria Math"/>
                                </a:rPr>
                                <m:t>0,</m:t>
                              </m:r>
                              <m:f>
                                <m:fPr>
                                  <m:ctrlPr>
                                    <a:rPr lang="en-US" sz="3300" i="1">
                                      <a:latin typeface="Cambria Math"/>
                                    </a:rPr>
                                  </m:ctrlPr>
                                </m:fPr>
                                <m:num>
                                  <m:r>
                                    <a:rPr lang="en-US" sz="3300" i="1">
                                      <a:latin typeface="Cambria Math"/>
                                    </a:rPr>
                                    <m:t>𝜀</m:t>
                                  </m:r>
                                </m:num>
                                <m:den>
                                  <m:r>
                                    <a:rPr lang="en-US" sz="3300" i="1">
                                      <a:latin typeface="Cambria Math"/>
                                    </a:rPr>
                                    <m:t>1−</m:t>
                                  </m:r>
                                  <m:r>
                                    <a:rPr lang="en-US" sz="3300" i="1">
                                      <a:latin typeface="Cambria Math"/>
                                    </a:rPr>
                                    <m:t>𝜀</m:t>
                                  </m:r>
                                </m:den>
                              </m:f>
                              <m:f>
                                <m:fPr>
                                  <m:ctrlPr>
                                    <a:rPr lang="en-US" sz="33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3300" i="1">
                                          <a:latin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300" i="1">
                                          <a:latin typeface="Cambria Math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3300" i="0">
                                          <a:latin typeface="Cambria Math"/>
                                        </a:rPr>
                                        <m:t>Edd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 sz="3300" i="1">
                                      <a:latin typeface="Cambria Math"/>
                                    </a:rPr>
                                    <m:t>𝛥</m:t>
                                  </m:r>
                                  <m:r>
                                    <a:rPr lang="en-US" sz="3300" i="1">
                                      <a:latin typeface="Cambria Math"/>
                                    </a:rPr>
                                    <m:t>𝑡</m:t>
                                  </m:r>
                                </m:den>
                              </m:f>
                              <m:func>
                                <m:funcPr>
                                  <m:ctrlPr>
                                    <a:rPr lang="en-US" sz="3300" i="0">
                                      <a:latin typeface="Cambria Math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3300" i="0">
                                      <a:latin typeface="Cambria Math"/>
                                    </a:rPr>
                                    <m:t>ln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33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sz="33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sz="3300" i="1">
                                                  <a:latin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3300" i="1">
                                                  <a:latin typeface="Cambria Math"/>
                                                </a:rPr>
                                                <m:t>𝑀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3300" i="0">
                                                  <a:latin typeface="Cambria Math"/>
                                                </a:rPr>
                                                <m:t>BH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sSub>
                                            <m:sSubPr>
                                              <m:ctrlPr>
                                                <a:rPr lang="en-US" sz="3300" i="1">
                                                  <a:latin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3300" i="1">
                                                  <a:latin typeface="Cambria Math"/>
                                                </a:rPr>
                                                <m:t>𝐵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3300" i="0">
                                                  <a:latin typeface="Cambria Math"/>
                                                </a:rPr>
                                                <m:t>merge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lang="en-US" sz="3300" i="1">
                                                  <a:latin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3300" i="1">
                                                  <a:latin typeface="Cambria Math"/>
                                                </a:rPr>
                                                <m:t>𝑀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3300" i="0">
                                                  <a:latin typeface="Cambria Math"/>
                                                </a:rPr>
                                                <m:t>seed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func>
                    </m:oMath>
                  </m:oMathPara>
                </a14:m>
                <a:endParaRPr lang="en-CA" sz="3300" b="1" dirty="0">
                  <a:latin typeface="Aptos"/>
                </a:endParaRP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Symbols: </a:t>
                </a:r>
                <a:r>
                  <a:rPr lang="en-CA" sz="3300" b="0" dirty="0">
                    <a:latin typeface="Aptos"/>
                  </a:rPr>
                  <a:t>M⊙: solar mass. M</a:t>
                </a:r>
                <a:r>
                  <a:rPr lang="en-CA" sz="2200" b="0" baseline="-25000" dirty="0">
                    <a:latin typeface="Aptos"/>
                  </a:rPr>
                  <a:t>BH</a:t>
                </a:r>
                <a:r>
                  <a:rPr lang="en-CA" sz="3300" b="0" dirty="0">
                    <a:latin typeface="Aptos"/>
                  </a:rPr>
                  <a:t>: observed mass. </a:t>
                </a:r>
                <a:r>
                  <a:rPr lang="en-CA" sz="3300" b="0" dirty="0" err="1">
                    <a:latin typeface="Aptos"/>
                  </a:rPr>
                  <a:t>M</a:t>
                </a:r>
                <a:r>
                  <a:rPr lang="en-CA" sz="2200" b="0" baseline="-25000" dirty="0" err="1">
                    <a:latin typeface="Aptos"/>
                  </a:rPr>
                  <a:t>seed</a:t>
                </a:r>
                <a:r>
                  <a:rPr lang="en-CA" sz="3300" b="0" dirty="0">
                    <a:latin typeface="Aptos"/>
                  </a:rPr>
                  <a:t>: initial mass. </a:t>
                </a:r>
                <a:r>
                  <a:rPr lang="en-CA" sz="3300" b="0" dirty="0" err="1">
                    <a:latin typeface="Aptos"/>
                  </a:rPr>
                  <a:t>Δt</a:t>
                </a:r>
                <a:r>
                  <a:rPr lang="en-CA" sz="3300" b="0" dirty="0">
                    <a:latin typeface="Aptos"/>
                  </a:rPr>
                  <a:t>: growth time. </a:t>
                </a:r>
                <a:r>
                  <a:rPr lang="en-CA" sz="3300" b="0" dirty="0" err="1">
                    <a:latin typeface="Aptos"/>
                  </a:rPr>
                  <a:t>ε</a:t>
                </a:r>
                <a:r>
                  <a:rPr lang="en-CA" sz="3300" b="0" dirty="0">
                    <a:latin typeface="Aptos"/>
                  </a:rPr>
                  <a:t>: radiated fraction of inflowing rest-mass energy. Higher redshift z means earlier time.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Eddington ratio: </a:t>
                </a:r>
                <a:r>
                  <a:rPr lang="en-CA" sz="3300" b="0" dirty="0" err="1">
                    <a:latin typeface="Aptos"/>
                  </a:rPr>
                  <a:t>f</a:t>
                </a:r>
                <a:r>
                  <a:rPr lang="en-CA" sz="2200" b="0" baseline="-25000" dirty="0" err="1">
                    <a:latin typeface="Aptos"/>
                  </a:rPr>
                  <a:t>Edd</a:t>
                </a:r>
                <a:r>
                  <a:rPr lang="en-CA" sz="3300" b="0" dirty="0">
                    <a:latin typeface="Aptos"/>
                  </a:rPr>
                  <a:t> = luminosity/Eddington luminosity. Radiation force balances gravity at this luminosity. </a:t>
                </a:r>
                <a:r>
                  <a:rPr lang="en-CA" sz="3300" b="0" dirty="0" err="1">
                    <a:latin typeface="Aptos"/>
                  </a:rPr>
                  <a:t>f̄</a:t>
                </a:r>
                <a:r>
                  <a:rPr lang="en-CA" sz="2200" b="0" baseline="-25000" dirty="0" err="1">
                    <a:latin typeface="Aptos"/>
                  </a:rPr>
                  <a:t>Edd,req</a:t>
                </a:r>
                <a:r>
                  <a:rPr lang="en-CA" sz="3300" b="0" dirty="0">
                    <a:latin typeface="Aptos"/>
                  </a:rPr>
                  <a:t> is the required lifetime average, including inactive periods. An average above 1 requires periods above the Eddington limit.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Uncertainty: </a:t>
                </a:r>
                <a:r>
                  <a:rPr lang="en-CA" sz="3300" b="0" dirty="0">
                    <a:latin typeface="Aptos"/>
                  </a:rPr>
                  <a:t>Used 10,000 draws per object for reported asymmetric mass errors. The 12 objects without errors contributed only central mass estimates. Reported errors may omit calibration scatter.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Sensitivity: </a:t>
                </a:r>
                <a:r>
                  <a:rPr lang="en-CA" sz="3300" b="0" dirty="0">
                    <a:latin typeface="Aptos"/>
                  </a:rPr>
                  <a:t>Varied mass scale, seed mass, growth start time, and efficiency separately.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Earlier onset: </a:t>
                </a:r>
                <a:r>
                  <a:rPr lang="en-CA" sz="3300" b="0" dirty="0">
                    <a:latin typeface="Aptos"/>
                  </a:rPr>
                  <a:t>Solved minimum seed masses for the 4 plotted objects over 20 ≤ </a:t>
                </a:r>
                <a:r>
                  <a:rPr lang="en-CA" sz="3300" b="0" dirty="0" err="1">
                    <a:latin typeface="Aptos"/>
                  </a:rPr>
                  <a:t>z</a:t>
                </a:r>
                <a:r>
                  <a:rPr lang="en-CA" sz="2200" b="0" baseline="-25000" dirty="0" err="1">
                    <a:latin typeface="Aptos"/>
                  </a:rPr>
                  <a:t>acc</a:t>
                </a:r>
                <a:r>
                  <a:rPr lang="en-CA" sz="3300" b="0" dirty="0">
                    <a:latin typeface="Aptos"/>
                  </a:rPr>
                  <a:t> ≤ 3,400. Included radiation in cosmic ages. Assumed gas was available.</a:t>
                </a:r>
              </a:p>
            </p:txBody>
          </p:sp>
        </mc:Choice>
        <mc:Fallback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88C51BF9-B81A-ECF4-F01D-305CA1CE9D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1600" y="11567160"/>
                <a:ext cx="12573000" cy="14356080"/>
              </a:xfrm>
              <a:prstGeom prst="rect">
                <a:avLst/>
              </a:prstGeom>
              <a:blipFill>
                <a:blip r:embed="rId8"/>
                <a:stretch>
                  <a:fillRect l="-1164" t="-694" r="-1611" b="-50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4" name="Rectangle 73">
            <a:extLst>
              <a:ext uri="{FF2B5EF4-FFF2-40B4-BE49-F238E27FC236}">
                <a16:creationId xmlns:a16="http://schemas.microsoft.com/office/drawing/2014/main" id="{F5F0E6D1-7308-2846-C555-5A8981E84E43}"/>
              </a:ext>
            </a:extLst>
          </p:cNvPr>
          <p:cNvSpPr/>
          <p:nvPr/>
        </p:nvSpPr>
        <p:spPr>
          <a:xfrm>
            <a:off x="914400" y="10287000"/>
            <a:ext cx="13487400" cy="1609344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itle 18">
            <a:extLst>
              <a:ext uri="{FF2B5EF4-FFF2-40B4-BE49-F238E27FC236}">
                <a16:creationId xmlns:a16="http://schemas.microsoft.com/office/drawing/2014/main" id="{D50205E6-BF86-6F08-991C-43F597FDF8DD}"/>
              </a:ext>
            </a:extLst>
          </p:cNvPr>
          <p:cNvSpPr txBox="1">
            <a:spLocks/>
          </p:cNvSpPr>
          <p:nvPr/>
        </p:nvSpPr>
        <p:spPr>
          <a:xfrm>
            <a:off x="29260800" y="21351240"/>
            <a:ext cx="137160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Conclusions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DD5B540-2EC8-A5A1-200C-994C1D7C8BFD}"/>
              </a:ext>
            </a:extLst>
          </p:cNvPr>
          <p:cNvSpPr txBox="1"/>
          <p:nvPr/>
        </p:nvSpPr>
        <p:spPr>
          <a:xfrm>
            <a:off x="29718000" y="22631400"/>
            <a:ext cx="12801600" cy="90068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 dirty="0">
                <a:latin typeface="Aptos"/>
              </a:rPr>
              <a:t>Small seeds: </a:t>
            </a:r>
            <a:r>
              <a:rPr lang="en-CA" sz="3300" b="0" dirty="0">
                <a:latin typeface="Aptos"/>
              </a:rPr>
              <a:t>Under the reference assumptions, 100 M⊙ seeds can reach the adopted masses of 212 of 220 primary objects with lifetime-average Eddington ratios ≤ 1. The other 8 require averages above 1.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 dirty="0">
                <a:latin typeface="Aptos"/>
              </a:rPr>
              <a:t>Efficiency and masses: </a:t>
            </a:r>
            <a:r>
              <a:rPr lang="en-CA" sz="3300" b="0" dirty="0">
                <a:latin typeface="Aptos"/>
              </a:rPr>
              <a:t>At </a:t>
            </a:r>
            <a:r>
              <a:rPr lang="en-CA" sz="3300" b="0" dirty="0" err="1">
                <a:latin typeface="Aptos"/>
              </a:rPr>
              <a:t>ε</a:t>
            </a:r>
            <a:r>
              <a:rPr lang="en-CA" sz="3300" b="0" dirty="0">
                <a:latin typeface="Aptos"/>
              </a:rPr>
              <a:t> = 0.05719, all 234 central mass estimates require averages below 1. Revised masses could change which objects exceed 1. A2744-QSO1’s dynamical estimate remains consistent with an average of 1.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 dirty="0">
                <a:latin typeface="Aptos"/>
              </a:rPr>
              <a:t>Earlier growth: </a:t>
            </a:r>
            <a:r>
              <a:rPr lang="en-CA" sz="3300" b="0" dirty="0">
                <a:latin typeface="Aptos"/>
              </a:rPr>
              <a:t>Starting growth at z = 3,400 still requires 270–1,200 M⊙ seeds for the 4 targets (</a:t>
            </a:r>
            <a:r>
              <a:rPr lang="en-CA" sz="3300" b="0" dirty="0" err="1">
                <a:latin typeface="Aptos"/>
              </a:rPr>
              <a:t>ε</a:t>
            </a:r>
            <a:r>
              <a:rPr lang="en-CA" sz="3300" b="0" dirty="0">
                <a:latin typeface="Aptos"/>
              </a:rPr>
              <a:t> = 0.1, average ratio ≤ 1, no mergers). Larger seeds or super-Eddington accretion remain possible explanations.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 dirty="0">
                <a:latin typeface="Aptos"/>
              </a:rPr>
              <a:t>Catalogue: </a:t>
            </a:r>
            <a:r>
              <a:rPr lang="en-CA" sz="3300" b="0" dirty="0">
                <a:latin typeface="Aptos"/>
              </a:rPr>
              <a:t>Retained alternative measurements allow comparisons. Counts from different surveys cannot show how common these black holes are.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BBD5C8AB-335C-2E4D-00F6-4B0BF74BB013}"/>
              </a:ext>
            </a:extLst>
          </p:cNvPr>
          <p:cNvSpPr/>
          <p:nvPr/>
        </p:nvSpPr>
        <p:spPr>
          <a:xfrm>
            <a:off x="29260800" y="21351240"/>
            <a:ext cx="13716000" cy="1088136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itle 18">
            <a:extLst>
              <a:ext uri="{FF2B5EF4-FFF2-40B4-BE49-F238E27FC236}">
                <a16:creationId xmlns:a16="http://schemas.microsoft.com/office/drawing/2014/main" id="{8E773A53-2851-D565-B46F-D419BA57021E}"/>
              </a:ext>
            </a:extLst>
          </p:cNvPr>
          <p:cNvSpPr txBox="1">
            <a:spLocks/>
          </p:cNvSpPr>
          <p:nvPr/>
        </p:nvSpPr>
        <p:spPr>
          <a:xfrm>
            <a:off x="914400" y="26883360"/>
            <a:ext cx="134874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References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2B57F9D-B4AF-1E4D-7FBC-B8680CB4CAB8}"/>
              </a:ext>
            </a:extLst>
          </p:cNvPr>
          <p:cNvSpPr txBox="1"/>
          <p:nvPr/>
        </p:nvSpPr>
        <p:spPr>
          <a:xfrm>
            <a:off x="1371600" y="28163520"/>
            <a:ext cx="12573000" cy="3703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CA" sz="3300" dirty="0"/>
              <a:t>[1] Shen (2013), BASI, 41, 61.</a:t>
            </a:r>
            <a:endParaRPr lang="en-US" sz="3300" dirty="0"/>
          </a:p>
          <a:p>
            <a:r>
              <a:rPr lang="en-CA" sz="3300" dirty="0"/>
              <a:t>[2] </a:t>
            </a:r>
            <a:r>
              <a:rPr lang="en-CA" sz="3300" dirty="0" err="1"/>
              <a:t>Maiolino</a:t>
            </a:r>
            <a:r>
              <a:rPr lang="en-CA" sz="3300" dirty="0"/>
              <a:t> et al. (2024), Nature, 627, 59.</a:t>
            </a:r>
          </a:p>
          <a:p>
            <a:r>
              <a:rPr lang="en-CA" sz="3300" dirty="0"/>
              <a:t>[3] Dayal (2024), A&amp;A, 690, A182.</a:t>
            </a:r>
            <a:endParaRPr lang="en-US" sz="3300" dirty="0"/>
          </a:p>
          <a:p>
            <a:pPr>
              <a:spcBef>
                <a:spcPts val="600"/>
              </a:spcBef>
            </a:pPr>
            <a:r>
              <a:rPr lang="en-CA" sz="3300" dirty="0"/>
              <a:t>[4] Bardeen et al. (1972), </a:t>
            </a:r>
            <a:r>
              <a:rPr lang="en-CA" sz="3300" dirty="0" err="1"/>
              <a:t>ApJ</a:t>
            </a:r>
            <a:r>
              <a:rPr lang="en-CA" sz="3300" dirty="0"/>
              <a:t>, 178, 347.</a:t>
            </a:r>
            <a:endParaRPr lang="en-US" sz="3300" dirty="0"/>
          </a:p>
          <a:p>
            <a:pPr>
              <a:spcAft>
                <a:spcPts val="800"/>
              </a:spcAft>
              <a:buNone/>
            </a:pPr>
            <a:r>
              <a:rPr lang="en-CA" sz="3300" b="0" dirty="0">
                <a:latin typeface="Aptos"/>
              </a:rPr>
              <a:t>[5] </a:t>
            </a:r>
            <a:r>
              <a:rPr lang="en-CA" sz="3300" b="0" dirty="0" err="1">
                <a:latin typeface="Aptos"/>
              </a:rPr>
              <a:t>Juodzbalis</a:t>
            </a:r>
            <a:r>
              <a:rPr lang="en-CA" sz="3300" b="0" dirty="0">
                <a:latin typeface="Aptos"/>
              </a:rPr>
              <a:t> et al. (2025), arXiv:2508.21748.</a:t>
            </a:r>
          </a:p>
          <a:p>
            <a:pPr>
              <a:spcBef>
                <a:spcPts val="600"/>
              </a:spcBef>
            </a:pPr>
            <a:r>
              <a:rPr lang="en-CA" sz="3300" dirty="0"/>
              <a:t>Catalogue sources and code: QR link above.</a:t>
            </a:r>
            <a:endParaRPr lang="en-US" sz="3300" dirty="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156AF1B-4C0F-9637-8495-BA5941742B85}"/>
              </a:ext>
            </a:extLst>
          </p:cNvPr>
          <p:cNvSpPr/>
          <p:nvPr/>
        </p:nvSpPr>
        <p:spPr>
          <a:xfrm>
            <a:off x="914400" y="26883360"/>
            <a:ext cx="13487400" cy="534924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337658-2539-7C1B-497A-E1769149148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087600" y="12847320"/>
            <a:ext cx="13533120" cy="6949440"/>
          </a:xfrm>
          <a:prstGeom prst="rect">
            <a:avLst/>
          </a:prstGeom>
        </p:spPr>
      </p:pic>
      <p:pic>
        <p:nvPicPr>
          <p:cNvPr id="5" name="Picture 4" descr="File:JWST spacecraft model 1.png - Wikimedia Commons">
            <a:extLst>
              <a:ext uri="{FF2B5EF4-FFF2-40B4-BE49-F238E27FC236}">
                <a16:creationId xmlns:a16="http://schemas.microsoft.com/office/drawing/2014/main" id="{0BD845B3-DC16-6DC6-BFC8-2D65D247678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947430" y="1600199"/>
            <a:ext cx="4379909" cy="3283151"/>
          </a:xfrm>
          <a:prstGeom prst="rect">
            <a:avLst/>
          </a:prstGeom>
        </p:spPr>
      </p:pic>
      <p:pic>
        <p:nvPicPr>
          <p:cNvPr id="6" name="Picture 5" descr="Eyes open clipart clipground #31495 - Free Transparent PNG Logos">
            <a:extLst>
              <a:ext uri="{FF2B5EF4-FFF2-40B4-BE49-F238E27FC236}">
                <a16:creationId xmlns:a16="http://schemas.microsoft.com/office/drawing/2014/main" id="{9D3E6E2E-04C2-513B-0EE5-8C40F5B8F46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20443004">
            <a:off x="30817782" y="2180575"/>
            <a:ext cx="1415509" cy="681368"/>
          </a:xfrm>
          <a:prstGeom prst="rect">
            <a:avLst/>
          </a:prstGeom>
        </p:spPr>
      </p:pic>
      <p:pic>
        <p:nvPicPr>
          <p:cNvPr id="10" name="Picture 9" descr="Nebula overlay color 26548388 PNG">
            <a:extLst>
              <a:ext uri="{FF2B5EF4-FFF2-40B4-BE49-F238E27FC236}">
                <a16:creationId xmlns:a16="http://schemas.microsoft.com/office/drawing/2014/main" id="{FB4EBB94-758E-75A7-659C-BF66DBB0AEF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098715">
            <a:off x="32496336" y="-185399"/>
            <a:ext cx="8190834" cy="4608990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8F4057E1-F618-63B3-DF3A-8B3B4948305D}"/>
              </a:ext>
            </a:extLst>
          </p:cNvPr>
          <p:cNvSpPr txBox="1"/>
          <p:nvPr/>
        </p:nvSpPr>
        <p:spPr>
          <a:xfrm>
            <a:off x="29718000" y="6400800"/>
            <a:ext cx="12801600" cy="20116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/>
              </a:rPr>
              <a:t>Earlier-onset test: </a:t>
            </a:r>
            <a:r>
              <a:rPr lang="en-CA" sz="3300" b="0" dirty="0">
                <a:latin typeface="Aptos"/>
              </a:rPr>
              <a:t>Starting growth at z = 3,400 (matter–radiation equality) requires 270–1,200 M⊙ seeds for the 4 plotted objects (</a:t>
            </a:r>
            <a:r>
              <a:rPr lang="en-CA" sz="3300" b="0" dirty="0" err="1">
                <a:latin typeface="Aptos"/>
              </a:rPr>
              <a:t>ε</a:t>
            </a:r>
            <a:r>
              <a:rPr lang="en-CA" sz="3300" b="0" dirty="0">
                <a:latin typeface="Aptos"/>
              </a:rPr>
              <a:t> = 0.1, average ratio ≤ 1, no mergers).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669F8B-BE33-0C82-515C-AF8D3B759FB3}"/>
              </a:ext>
            </a:extLst>
          </p:cNvPr>
          <p:cNvSpPr txBox="1"/>
          <p:nvPr/>
        </p:nvSpPr>
        <p:spPr>
          <a:xfrm>
            <a:off x="15270480" y="6400800"/>
            <a:ext cx="13395960" cy="548640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Reference: </a:t>
            </a:r>
            <a:r>
              <a:rPr lang="en-CA" sz="3300" b="0">
                <a:latin typeface="Aptos"/>
              </a:rPr>
              <a:t>212/220 primary objects require average Eddington ratios ≤ 1. The other 8 require averages above 1, including 5 in ≥ 95% of mass-error draws.</a:t>
            </a:r>
          </a:p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Mass sensitivity: </a:t>
            </a:r>
            <a:r>
              <a:rPr lang="en-CA" sz="3300" b="0">
                <a:latin typeface="Aptos"/>
              </a:rPr>
              <a:t>After reducing masses by a factor of 3.2 (0.5 dex), UNCOVER-20466, COSMOS3D-13852, and RUBIES-EGS-55604 still require averages above 1 in ≥ 95% of mass-error draws.</a:t>
            </a:r>
          </a:p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Seed mass: </a:t>
            </a:r>
            <a:r>
              <a:rPr lang="en-CA" sz="3300" b="0">
                <a:latin typeface="Aptos"/>
              </a:rPr>
              <a:t>1,000 M⊙ seeds leave 3/220 above 1. With 100,000 M⊙ seeds, no objects in either sample require averages above 1.</a:t>
            </a:r>
          </a:p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Growth start time: </a:t>
            </a:r>
            <a:r>
              <a:rPr lang="en-CA" sz="3300" b="0">
                <a:latin typeface="Aptos"/>
              </a:rPr>
              <a:t>Starting later (z = 20) increases the primary count above 1 to 18/220. GN-z11 requires the highest average in the expanded sample.</a:t>
            </a:r>
          </a:p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Efficiency: </a:t>
            </a:r>
            <a:r>
              <a:rPr lang="en-CA" sz="3300" b="0">
                <a:latin typeface="Aptos"/>
              </a:rPr>
              <a:t>At ε = 0.05719 (non-spinning thin disc) [4], all 234 central mass estimates require averages below 1 from 100 M⊙ seeds at z = 30.</a:t>
            </a:r>
          </a:p>
        </p:txBody>
      </p:sp>
      <p:sp>
        <p:nvSpPr>
          <p:cNvPr id="7" name="Title 18">
            <a:extLst>
              <a:ext uri="{FF2B5EF4-FFF2-40B4-BE49-F238E27FC236}">
                <a16:creationId xmlns:a16="http://schemas.microsoft.com/office/drawing/2014/main" id="{3AC78928-AF13-E1B9-F802-F1FD39D07D33}"/>
              </a:ext>
            </a:extLst>
          </p:cNvPr>
          <p:cNvSpPr txBox="1">
            <a:spLocks/>
          </p:cNvSpPr>
          <p:nvPr/>
        </p:nvSpPr>
        <p:spPr>
          <a:xfrm>
            <a:off x="14950440" y="5120640"/>
            <a:ext cx="2802636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Results</a:t>
            </a:r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EDC07-606F-DD66-5973-0AE0D673B23B}"/>
              </a:ext>
            </a:extLst>
          </p:cNvPr>
          <p:cNvSpPr/>
          <p:nvPr/>
        </p:nvSpPr>
        <p:spPr>
          <a:xfrm>
            <a:off x="14950440" y="5120640"/>
            <a:ext cx="28026360" cy="1595628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igure takeaway 110"/>
          <p:cNvSpPr txBox="1"/>
          <p:nvPr/>
        </p:nvSpPr>
        <p:spPr>
          <a:xfrm>
            <a:off x="15407640" y="19842480"/>
            <a:ext cx="12801600" cy="9144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spcAft>
                <a:spcPts val="800"/>
              </a:spcAft>
              <a:buNone/>
            </a:pPr>
            <a:r>
              <a:rPr lang="en-CA" sz="2400" b="0">
                <a:latin typeface="Aptos"/>
              </a:rPr>
              <a:t>After lowering masses by 0.5 dex, 3 targets require averages above 1 in ≥ 95% of mass-error draws.</a:t>
            </a:r>
          </a:p>
        </p:txBody>
      </p:sp>
      <p:sp>
        <p:nvSpPr>
          <p:cNvPr id="111" name="Figure takeaway 111"/>
          <p:cNvSpPr txBox="1"/>
          <p:nvPr/>
        </p:nvSpPr>
        <p:spPr>
          <a:xfrm>
            <a:off x="15224760" y="31455360"/>
            <a:ext cx="13121640" cy="7772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spcAft>
                <a:spcPts val="800"/>
              </a:spcAft>
              <a:buNone/>
            </a:pPr>
            <a:r>
              <a:rPr lang="en-CA" sz="2400" b="0" dirty="0">
                <a:latin typeface="Aptos"/>
              </a:rPr>
              <a:t>Only efficiency changes between panels. Points below a curve can be reached with a lower average Eddington ratio.</a:t>
            </a:r>
          </a:p>
        </p:txBody>
      </p:sp>
      <p:sp>
        <p:nvSpPr>
          <p:cNvPr id="112" name="Figure takeaway 112"/>
          <p:cNvSpPr txBox="1"/>
          <p:nvPr/>
        </p:nvSpPr>
        <p:spPr>
          <a:xfrm>
            <a:off x="29718000" y="17830800"/>
            <a:ext cx="12801600" cy="5486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2400" b="0" dirty="0">
                <a:latin typeface="Aptos"/>
              </a:rPr>
              <a:t>Earlier starts lower the required seed mass, but the decrease becomes smaller.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1483CE-2A7E-6438-7E3B-E605C17C7099}"/>
              </a:ext>
            </a:extLst>
          </p:cNvPr>
          <p:cNvSpPr txBox="1"/>
          <p:nvPr/>
        </p:nvSpPr>
        <p:spPr>
          <a:xfrm>
            <a:off x="29718000" y="18425160"/>
            <a:ext cx="1280160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/>
              </a:rPr>
              <a:t>Independent mass check: </a:t>
            </a:r>
            <a:r>
              <a:rPr lang="en-CA" sz="3300" b="0" dirty="0">
                <a:latin typeface="Aptos"/>
              </a:rPr>
              <a:t>Under the reference model, A2744-QSO1’s broad-line mass (2.0 × 10</a:t>
            </a:r>
            <a:r>
              <a:rPr lang="en-CA" sz="2200" b="0" baseline="30000" dirty="0">
                <a:latin typeface="Aptos"/>
              </a:rPr>
              <a:t>7</a:t>
            </a:r>
            <a:r>
              <a:rPr lang="en-CA" sz="3300" b="0" dirty="0">
                <a:latin typeface="Aptos"/>
              </a:rPr>
              <a:t> M⊙) requires an average Eddington ratio of 0.929. Its dynamical mass (5.0 × 10</a:t>
            </a:r>
            <a:r>
              <a:rPr lang="en-CA" sz="2200" b="0" baseline="30000" dirty="0">
                <a:latin typeface="Aptos"/>
              </a:rPr>
              <a:t>7</a:t>
            </a:r>
            <a:r>
              <a:rPr lang="en-CA" sz="3300" b="0" dirty="0">
                <a:latin typeface="Aptos"/>
              </a:rPr>
              <a:t> M⊙) requires 0.9996 (ratio’s 16th–84th percentiles: 0.947–1.052) [5]. This interval includes 1.</a:t>
            </a:r>
          </a:p>
        </p:txBody>
      </p:sp>
      <p:sp>
        <p:nvSpPr>
          <p:cNvPr id="120" name="Efficiency comparison heading">
            <a:extLst>
              <a:ext uri="{FF2B5EF4-FFF2-40B4-BE49-F238E27FC236}">
                <a16:creationId xmlns:a16="http://schemas.microsoft.com/office/drawing/2014/main" id="{3A05E1FE-512D-49F3-9C39-22D275F0EE18}"/>
              </a:ext>
            </a:extLst>
          </p:cNvPr>
          <p:cNvSpPr>
            <a:spLocks noGrp="1"/>
          </p:cNvSpPr>
          <p:nvPr/>
        </p:nvSpPr>
        <p:spPr>
          <a:xfrm>
            <a:off x="15224760" y="21351240"/>
            <a:ext cx="13121640" cy="64008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b="1">
                <a:solidFill>
                  <a:srgbClr val="002A5C"/>
                </a:solidFill>
              </a:defRPr>
            </a:defPPr>
          </a:lstStyle>
          <a:p>
            <a:pPr>
              <a:spcAft>
                <a:spcPts val="800"/>
              </a:spcAft>
              <a:buNone/>
              <a:defRPr b="1">
                <a:solidFill>
                  <a:srgbClr val="002A5C"/>
                </a:solidFill>
              </a:defRPr>
            </a:pPr>
            <a:r>
              <a:rPr lang="en-CA" sz="3600" b="1">
                <a:solidFill>
                  <a:srgbClr val="002A5C"/>
                </a:solidFill>
                <a:latin typeface="Aptos"/>
              </a:rPr>
              <a:t>Growth at two radiative efficiencies</a:t>
            </a:r>
          </a:p>
        </p:txBody>
      </p:sp>
    </p:spTree>
    <p:extLst>
      <p:ext uri="{BB962C8B-B14F-4D97-AF65-F5344CB8AC3E}">
        <p14:creationId xmlns:p14="http://schemas.microsoft.com/office/powerpoint/2010/main" val="8684871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169</TotalTime>
  <Words>988</Words>
  <Application>Microsoft Macintosh PowerPoint</Application>
  <PresentationFormat>Custom</PresentationFormat>
  <Paragraphs>40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 Early Black-Hole Growth Constraints from JWST Nicole Jiang; University of Toronto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Nicole Jiang</dc:creator>
  <cp:lastModifiedBy>Nicole Jiang</cp:lastModifiedBy>
  <cp:revision>1</cp:revision>
  <dcterms:created xsi:type="dcterms:W3CDTF">2026-09-30T19:05:59Z</dcterms:created>
  <dcterms:modified xsi:type="dcterms:W3CDTF">2026-10-14T03:47:32Z</dcterms:modified>
</cp:coreProperties>
</file>
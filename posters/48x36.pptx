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"/>
  </p:notesMasterIdLst>
  <p:sldIdLst>
    <p:sldId id="261" r:id="rId3"/>
  </p:sldIdLst>
  <p:sldSz cx="43891200" cy="3291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A5C"/>
    <a:srgbClr val="002F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915"/>
    <p:restoredTop sz="94701"/>
  </p:normalViewPr>
  <p:slideViewPr>
    <p:cSldViewPr snapToGrid="0">
      <p:cViewPr>
        <p:scale>
          <a:sx n="21" d="100"/>
          <a:sy n="21" d="100"/>
        </p:scale>
        <p:origin x="1264" y="-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?>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providerId="Windows Live" clId="Web-{6473874E-BB57-4884-5C66-EE1C81F1FB1F}"/>
    <pc:docChg chg="modSld">
      <pc:chgData name="Guest User" userId="" providerId="Windows Live" clId="Web-{6473874E-BB57-4884-5C66-EE1C81F1FB1F}" dt="2026-10-06T18:07:50.156" v="49" actId="14100"/>
      <pc:docMkLst>
        <pc:docMk/>
      </pc:docMkLst>
    </pc:docChg>
  </pc:docChgLst>
  <pc:docChgLst>
    <pc:chgData name="Nicole Jiang" userId="09ef0fc0f6f473b5" providerId="LiveId" clId="{EB8F4A53-0964-5BF1-90AD-931457E28E1A}"/>
    <pc:docChg chg="undo redo custSel addSld delSld modSld">
      <pc:chgData name="Nicole Jiang" userId="09ef0fc0f6f473b5" providerId="LiveId" clId="{EB8F4A53-0964-5BF1-90AD-931457E28E1A}" dt="2026-10-14T19:31:17.778" v="2469" actId="478"/>
      <pc:docMkLst>
        <pc:docMk/>
      </pc:docMkLst>
      <pc:sldChg chg="addSp delSp modSp add del mod">
        <pc:chgData name="Nicole Jiang" userId="09ef0fc0f6f473b5" providerId="LiveId" clId="{EB8F4A53-0964-5BF1-90AD-931457E28E1A}" dt="2026-10-13T20:04:12.431" v="2363" actId="2696"/>
        <pc:sldMkLst>
          <pc:docMk/>
          <pc:sldMk cId="868487171" sldId="259"/>
        </pc:sldMkLst>
      </pc:sldChg>
      <pc:sldChg chg="modSp mod">
        <pc:chgData name="Nicole Jiang" userId="09ef0fc0f6f473b5" providerId="LiveId" clId="{EB8F4A53-0964-5BF1-90AD-931457E28E1A}" dt="2026-10-14T03:47:30.465" v="2450" actId="1076"/>
        <pc:sldMkLst>
          <pc:docMk/>
          <pc:sldMk cId="868487171" sldId="260"/>
        </pc:sldMkLst>
        <pc:spChg chg="mod">
          <ac:chgData name="Nicole Jiang" userId="09ef0fc0f6f473b5" providerId="LiveId" clId="{EB8F4A53-0964-5BF1-90AD-931457E28E1A}" dt="2026-10-13T21:08:14.362" v="2384" actId="255"/>
          <ac:spMkLst>
            <pc:docMk/>
            <pc:sldMk cId="868487171" sldId="260"/>
            <ac:spMk id="2" creationId="{6F669F8B-BE33-0C82-515C-AF8D3B759FB3}"/>
          </ac:spMkLst>
        </pc:spChg>
        <pc:spChg chg="mod">
          <ac:chgData name="Nicole Jiang" userId="09ef0fc0f6f473b5" providerId="LiveId" clId="{EB8F4A53-0964-5BF1-90AD-931457E28E1A}" dt="2026-10-13T21:08:49.323" v="2392" actId="1076"/>
          <ac:spMkLst>
            <pc:docMk/>
            <pc:sldMk cId="868487171" sldId="260"/>
            <ac:spMk id="15" creationId="{B71483CE-2A7E-6438-7E3B-E605C17C7099}"/>
          </ac:spMkLst>
        </pc:spChg>
        <pc:spChg chg="mod">
          <ac:chgData name="Nicole Jiang" userId="09ef0fc0f6f473b5" providerId="LiveId" clId="{EB8F4A53-0964-5BF1-90AD-931457E28E1A}" dt="2026-10-14T03:47:11.525" v="2445" actId="1076"/>
          <ac:spMkLst>
            <pc:docMk/>
            <pc:sldMk cId="868487171" sldId="260"/>
            <ac:spMk id="32" creationId="{F8D50A2A-9B61-AD34-B9C2-8944BB27426C}"/>
          </ac:spMkLst>
        </pc:spChg>
        <pc:spChg chg="mod">
          <ac:chgData name="Nicole Jiang" userId="09ef0fc0f6f473b5" providerId="LiveId" clId="{EB8F4A53-0964-5BF1-90AD-931457E28E1A}" dt="2026-10-13T21:08:26.352" v="2387" actId="255"/>
          <ac:spMkLst>
            <pc:docMk/>
            <pc:sldMk cId="868487171" sldId="260"/>
            <ac:spMk id="70" creationId="{7842EAEC-0FF9-516A-6712-19E0D19D0354}"/>
          </ac:spMkLst>
        </pc:spChg>
        <pc:spChg chg="mod">
          <ac:chgData name="Nicole Jiang" userId="09ef0fc0f6f473b5" providerId="LiveId" clId="{EB8F4A53-0964-5BF1-90AD-931457E28E1A}" dt="2026-10-14T01:47:21.679" v="2444" actId="20577"/>
          <ac:spMkLst>
            <pc:docMk/>
            <pc:sldMk cId="868487171" sldId="260"/>
            <ac:spMk id="73" creationId="{88C51BF9-B81A-ECF4-F01D-305CA1CE9DD1}"/>
          </ac:spMkLst>
        </pc:spChg>
        <pc:spChg chg="mod">
          <ac:chgData name="Nicole Jiang" userId="09ef0fc0f6f473b5" providerId="LiveId" clId="{EB8F4A53-0964-5BF1-90AD-931457E28E1A}" dt="2026-10-13T21:08:17.671" v="2385" actId="255"/>
          <ac:spMkLst>
            <pc:docMk/>
            <pc:sldMk cId="868487171" sldId="260"/>
            <ac:spMk id="76" creationId="{8F4057E1-F618-63B3-DF3A-8B3B4948305D}"/>
          </ac:spMkLst>
        </pc:spChg>
        <pc:spChg chg="mod">
          <ac:chgData name="Nicole Jiang" userId="09ef0fc0f6f473b5" providerId="LiveId" clId="{EB8F4A53-0964-5BF1-90AD-931457E28E1A}" dt="2026-10-13T21:09:01.692" v="2393" actId="1076"/>
          <ac:spMkLst>
            <pc:docMk/>
            <pc:sldMk cId="868487171" sldId="260"/>
            <ac:spMk id="79" creationId="{3DD5B540-2EC8-A5A1-200C-994C1D7C8BFD}"/>
          </ac:spMkLst>
        </pc:spChg>
        <pc:spChg chg="mod">
          <ac:chgData name="Nicole Jiang" userId="09ef0fc0f6f473b5" providerId="LiveId" clId="{EB8F4A53-0964-5BF1-90AD-931457E28E1A}" dt="2026-10-13T21:08:38.029" v="2390" actId="1076"/>
          <ac:spMkLst>
            <pc:docMk/>
            <pc:sldMk cId="868487171" sldId="260"/>
            <ac:spMk id="82" creationId="{82B57F9D-B4AF-1E4D-7FBC-B8680CB4CAB8}"/>
          </ac:spMkLst>
        </pc:spChg>
        <pc:picChg chg="mod">
          <ac:chgData name="Nicole Jiang" userId="09ef0fc0f6f473b5" providerId="LiveId" clId="{EB8F4A53-0964-5BF1-90AD-931457E28E1A}" dt="2026-10-14T03:47:25.307" v="2448" actId="14100"/>
          <ac:picMkLst>
            <pc:docMk/>
            <pc:sldMk cId="868487171" sldId="260"/>
            <ac:picMk id="5" creationId="{0BD845B3-DC16-6DC6-BFC8-2D65D247678D}"/>
          </ac:picMkLst>
        </pc:picChg>
        <pc:picChg chg="mod">
          <ac:chgData name="Nicole Jiang" userId="09ef0fc0f6f473b5" providerId="LiveId" clId="{EB8F4A53-0964-5BF1-90AD-931457E28E1A}" dt="2026-10-14T03:47:30.465" v="2450" actId="1076"/>
          <ac:picMkLst>
            <pc:docMk/>
            <pc:sldMk cId="868487171" sldId="260"/>
            <ac:picMk id="6" creationId="{9D3E6E2E-04C2-513B-0EE5-8C40F5B8F46A}"/>
          </ac:picMkLst>
        </pc:picChg>
      </pc:sldChg>
      <pc:sldChg chg="addSp delSp modSp mod">
        <pc:chgData name="Nicole Jiang" userId="09ef0fc0f6f473b5" providerId="LiveId" clId="{EB8F4A53-0964-5BF1-90AD-931457E28E1A}" dt="2026-10-14T19:31:17.778" v="2469" actId="478"/>
        <pc:sldMkLst>
          <pc:docMk/>
          <pc:sldMk cId="868487171" sldId="261"/>
        </pc:sldMkLst>
        <pc:spChg chg="mod">
          <ac:chgData name="Nicole Jiang" userId="09ef0fc0f6f473b5" providerId="LiveId" clId="{EB8F4A53-0964-5BF1-90AD-931457E28E1A}" dt="2026-10-14T19:31:16.008" v="2466" actId="14100"/>
          <ac:spMkLst>
            <pc:docMk/>
            <pc:sldMk cId="868487171" sldId="261"/>
            <ac:spMk id="74" creationId="{F5F0E6D1-7308-2846-C555-5A8981E84E43}"/>
          </ac:spMkLst>
        </pc:spChg>
        <pc:spChg chg="mod">
          <ac:chgData name="Nicole Jiang" userId="09ef0fc0f6f473b5" providerId="LiveId" clId="{EB8F4A53-0964-5BF1-90AD-931457E28E1A}" dt="2026-10-14T17:31:52.763" v="2458" actId="1076"/>
          <ac:spMkLst>
            <pc:docMk/>
            <pc:sldMk cId="868487171" sldId="261"/>
            <ac:spMk id="78" creationId="{D50205E6-BF86-6F08-991C-43F597FDF8DD}"/>
          </ac:spMkLst>
        </pc:spChg>
        <pc:spChg chg="mod">
          <ac:chgData name="Nicole Jiang" userId="09ef0fc0f6f473b5" providerId="LiveId" clId="{EB8F4A53-0964-5BF1-90AD-931457E28E1A}" dt="2026-10-14T17:32:02.402" v="2460" actId="1076"/>
          <ac:spMkLst>
            <pc:docMk/>
            <pc:sldMk cId="868487171" sldId="261"/>
            <ac:spMk id="79" creationId="{3DD5B540-2EC8-A5A1-200C-994C1D7C8BFD}"/>
          </ac:spMkLst>
        </pc:spChg>
        <pc:spChg chg="mod">
          <ac:chgData name="Nicole Jiang" userId="09ef0fc0f6f473b5" providerId="LiveId" clId="{EB8F4A53-0964-5BF1-90AD-931457E28E1A}" dt="2026-10-14T17:31:29.998" v="2454" actId="14100"/>
          <ac:spMkLst>
            <pc:docMk/>
            <pc:sldMk cId="868487171" sldId="261"/>
            <ac:spMk id="80" creationId="{BBD5C8AB-335C-2E4D-00F6-4B0BF74BB013}"/>
          </ac:spMkLst>
        </pc:spChg>
        <pc:spChg chg="add del">
          <ac:chgData name="Nicole Jiang" userId="09ef0fc0f6f473b5" providerId="LiveId" clId="{EB8F4A53-0964-5BF1-90AD-931457E28E1A}" dt="2026-10-14T19:31:17.778" v="2469" actId="478"/>
          <ac:spMkLst>
            <pc:docMk/>
            <pc:sldMk cId="868487171" sldId="261"/>
            <ac:spMk id="81" creationId="{8E773A53-2851-D565-B46F-D419BA57021E}"/>
          </ac:spMkLst>
        </pc:spChg>
        <pc:spChg chg="add del">
          <ac:chgData name="Nicole Jiang" userId="09ef0fc0f6f473b5" providerId="LiveId" clId="{EB8F4A53-0964-5BF1-90AD-931457E28E1A}" dt="2026-10-14T19:31:17.373" v="2468" actId="478"/>
          <ac:spMkLst>
            <pc:docMk/>
            <pc:sldMk cId="868487171" sldId="261"/>
            <ac:spMk id="82" creationId="{82B57F9D-B4AF-1E4D-7FBC-B8680CB4CAB8}"/>
          </ac:spMkLst>
        </pc:spChg>
        <pc:spChg chg="add del">
          <ac:chgData name="Nicole Jiang" userId="09ef0fc0f6f473b5" providerId="LiveId" clId="{EB8F4A53-0964-5BF1-90AD-931457E28E1A}" dt="2026-10-14T19:31:16.742" v="2467" actId="478"/>
          <ac:spMkLst>
            <pc:docMk/>
            <pc:sldMk cId="868487171" sldId="261"/>
            <ac:spMk id="83" creationId="{7156AF1B-4C0F-9637-8495-BA5941742B85}"/>
          </ac:spMkLst>
        </pc:spChg>
        <pc:spChg chg="mod">
          <ac:chgData name="Nicole Jiang" userId="09ef0fc0f6f473b5" providerId="LiveId" clId="{EB8F4A53-0964-5BF1-90AD-931457E28E1A}" dt="2026-10-14T17:32:29.141" v="2461" actId="1076"/>
          <ac:spMkLst>
            <pc:docMk/>
            <pc:sldMk cId="868487171" sldId="261"/>
            <ac:spMk id="120" creationId="{3A05E1FE-512D-49F3-9C39-22D275F0EE18}"/>
          </ac:spMkLst>
        </pc:spChg>
      </pc:sldChg>
    </pc:docChg>
  </pc:docChgLst>
  <pc:docChgLst>
    <pc:chgData name="Nicole Jiang" userId="09ef0fc0f6f473b5" providerId="Windows Live" clId="Web-{00000000-0000-0000-0000-000000000000}"/>
    <pc:docChg chg="modSld">
      <pc:chgData name="Nicole Jiang" userId="09ef0fc0f6f473b5" providerId="Windows Live" clId="Web-{00000000-0000-0000-0000-000000000000}" dt="2026-10-06T17:56:42.980" v="36" actId="1076"/>
      <pc:docMkLst>
        <pc:docMk/>
      </pc:docMkLst>
    </pc:docChg>
  </pc:docChgLst>
  <pc:docChgLst>
    <pc:chgData name="Guest User" providerId="Windows Live" clId="Web-{00000000-0000-0000-0000-000000000000}"/>
    <pc:docChg chg="modSld">
      <pc:chgData name="Guest User" userId="" providerId="Windows Live" clId="Web-{00000000-0000-0000-0000-000000000000}" dt="2026-10-06T18:59:37.821" v="16" actId="14100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D8F461-2A77-BA43-9B12-25195C3EB239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0DA246-DE01-5046-81A0-D7E93C8740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751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2.xml><?xml version="1.0" encoding="utf-8"?>
<ns0:notes xmlns:ns0="http://schemas.openxmlformats.org/presentationml/2006/main" xmlns:ns1="http://schemas.openxmlformats.org/drawingml/2006/main" xmlns:ns2="http://schemas.microsoft.com/office/drawing/2014/main" xmlns:ns3="http://schemas.microsoft.com/office/powerpoint/2010/main">
  <ns0:cSld>
    <ns0:spTree>
      <ns0:nvGrpSpPr>
        <ns0:cNvPr id="1" name="">
          <ns1:extLst>
            <ns1:ext uri="{FF2B5EF4-FFF2-40B4-BE49-F238E27FC236}">
              <ns2:creationId id="{9FC4C11B-3281-61F5-AEEC-E5F2B2984717}"/>
            </ns1:ext>
          </ns1:extLst>
        </ns0:cNvPr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>
            <ns1:extLst>
              <ns1:ext uri="{FF2B5EF4-FFF2-40B4-BE49-F238E27FC236}">
                <ns2:creationId id="{C975FC8B-F564-04EA-26FD-6F8FBA438751}"/>
              </ns1:ext>
            </ns1:extLst>
          </ns0:cNvPr>
          <ns0:cNvSpPr>
            <ns1:spLocks noGrp="1" noRot="1" noChangeAspect="1"/>
          </ns0:cNvSpPr>
          <ns0:nvPr>
            <ns0:ph type="sldImg"/>
          </ns0:nvPr>
        </ns0:nvSpPr>
        <ns0:spPr>
          <ns1:xfrm>
            <ns1:off x="2271713" y="1143000"/>
            <ns1:ext cx="2314575" cy="3086100"/>
          </ns1:xfrm>
        </ns0:spPr>
      </ns0:sp>
      <ns0:sp>
        <ns0:nvSpPr>
          <ns0:cNvPr id="3" name="Notes Placeholder 2">
            <ns1:extLst>
              <ns1:ext uri="{FF2B5EF4-FFF2-40B4-BE49-F238E27FC236}">
                <ns2:creationId id="{78ACB9E4-9956-85CD-1D61-2F397B472319}"/>
              </ns1:ext>
            </ns1:extLst>
          </ns0:cNvPr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sz="1200"/>
              <ns1:t>Poster figure inputs: results/for_manuscript/tables/publication_object_selection.csv; results/for_manuscript/tables/mass_offset_object_sensitivity.csv; results/v3/tables/v3_object_point_ranking.csv; results/v3/tables/v3_object_uncertainty_ranking.csv; results/v4/tables/v4_minimum_seed_mass.csv. Scientific inputs are pinned in data/poster_inputs.json. The uncertainty panel is generated by src.internal.poster_figures. The earlier-onset panel holds the stated average cap and radiative efficiency constant along each track. The external dynamical comparison uses the adopted arXiv v2 measurement; the required ratios and intervals are calculated by this project.</ns1:t>
            </ns1:r>
          </ns1:p>
          <ns1:p>
            <ns1:r>
              <ns1:rPr sz="1200"/>
              <ns1:t>[1] Shen (2013), The Mass of Quasars: https://arxiv.org/abs/1302.2643 — broad-line virial mass methods and calibration scatter.</ns1:t>
            </ns1:r>
          </ns1:p>
          <ns1:p>
            <ns1:r>
              <ns1:rPr sz="1200"/>
              <ns1:t>[2] Maiolino et al. (2024), A small and vigorous black hole in the early Universe: https://doi.org/10.1038/s41586-024-07052-5 — GN-z11 ultraviolet-line mass and early JWST context.</ns1:t>
            </ns1:r>
          </ns1:p>
          <ns1:p>
            <ns1:r>
              <ns1:rPr sz="1200"/>
              <ns1:t>[3] Dayal (2024), Exploring a primordial solution for early black holes detected with JWST: https://doi.org/10.1051/0004-6361/202451481 — exponential accretion growth relation. The project inverts the growth relation; its reference seed and growth-test thresholds are analysis assumptions.</ns1:t>
            </ns1:r>
          </ns1:p>
          <ns1:p>
            <ns1:r>
              <ns1:rPr sz="1200"/>
              <ns1:t>[4] Bardeen, Press &amp; Teukolsky (1972): https://doi.org/10.1086/151796 — ideal thin-disc efficiency for a non-spinning black hole, 1-sqrt(8/9).</ns1:t>
            </ns1:r>
          </ns1:p>
          <ns1:p>
            <ns1:r>
              <ns1:rPr sz="1200"/>
              <ns1:t>[5] Juodzbalis et al. (2025): https://arxiv.org/abs/2508.21748v2 — adopted independent A2744-QSO1 dynamical mass. The poster's average Eddington ratios are project calculations, not measurements quoted from this paper.</ns1:t>
            </ns1:r>
          </ns1:p>
        </ns0:txBody>
      </ns0:sp>
      <ns0:sp>
        <ns0:nvSpPr>
          <ns0:cNvPr id="4" name="Slide Number Placeholder 3">
            <ns1:extLst>
              <ns1:ext uri="{FF2B5EF4-FFF2-40B4-BE49-F238E27FC236}">
                <ns2:creationId id="{A8B3E2F2-BDDF-9490-DE7B-11CDCE91017C}"/>
              </ns1:ext>
            </ns1:extLst>
          </ns0:cNvPr>
          <ns0:cNvSpPr>
            <ns1:spLocks noGrp="1"/>
          </ns0:cNvSpPr>
          <ns0:nvPr>
            <ns0:ph type="sldNum" sz="quarter" idx="5"/>
          </ns0:nvPr>
        </ns0:nvSpPr>
        <ns0:spPr/>
        <ns0:txBody>
          <ns1:bodyPr/>
          <ns1:lstStyle/>
          <ns1:p>
            <ns1:fld id="{490DA246-DE01-5046-81A0-D7E93C87400D}" type="slidenum">
              <ns1:rPr lang="en-US" smtClean="0"/>
              <ns1:t>1</ns1:t>
            </ns1:fld>
            <ns1:endParaRPr lang="en-US"/>
          </ns1:p>
        </ns0:txBody>
      </ns0:sp>
    </ns0:spTree>
    <ns0:extLst>
      <ns0:ext uri="{BB962C8B-B14F-4D97-AF65-F5344CB8AC3E}">
        <ns3:creationId val="3600152407"/>
      </ns0:ext>
    </ns0:extLst>
  </ns0:cSld>
  <ns0:clrMapOvr>
    <ns1:masterClrMapping/>
  </ns0:clrMapOvr>
</ns0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1840" y="5387342"/>
            <a:ext cx="37307520" cy="11460480"/>
          </a:xfrm>
        </p:spPr>
        <p:txBody>
          <a:bodyPr anchor="b"/>
          <a:lstStyle>
            <a:lvl1pPr algn="ctr">
              <a:defRPr sz="2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0" y="17289782"/>
            <a:ext cx="32918400" cy="7947658"/>
          </a:xfrm>
        </p:spPr>
        <p:txBody>
          <a:bodyPr/>
          <a:lstStyle>
            <a:lvl1pPr marL="0" indent="0" algn="ctr">
              <a:buNone/>
              <a:defRPr sz="11520"/>
            </a:lvl1pPr>
            <a:lvl2pPr marL="2194560" indent="0" algn="ctr">
              <a:buNone/>
              <a:defRPr sz="9600"/>
            </a:lvl2pPr>
            <a:lvl3pPr marL="4389120" indent="0" algn="ctr">
              <a:buNone/>
              <a:defRPr sz="8640"/>
            </a:lvl3pPr>
            <a:lvl4pPr marL="6583680" indent="0" algn="ctr">
              <a:buNone/>
              <a:defRPr sz="7680"/>
            </a:lvl4pPr>
            <a:lvl5pPr marL="8778240" indent="0" algn="ctr">
              <a:buNone/>
              <a:defRPr sz="7680"/>
            </a:lvl5pPr>
            <a:lvl6pPr marL="10972800" indent="0" algn="ctr">
              <a:buNone/>
              <a:defRPr sz="7680"/>
            </a:lvl6pPr>
            <a:lvl7pPr marL="13167360" indent="0" algn="ctr">
              <a:buNone/>
              <a:defRPr sz="7680"/>
            </a:lvl7pPr>
            <a:lvl8pPr marL="15361920" indent="0" algn="ctr">
              <a:buNone/>
              <a:defRPr sz="7680"/>
            </a:lvl8pPr>
            <a:lvl9pPr marL="17556480" indent="0" algn="ctr">
              <a:buNone/>
              <a:defRPr sz="768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6755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034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94662" y="8206749"/>
            <a:ext cx="37856160" cy="13693138"/>
          </a:xfrm>
        </p:spPr>
        <p:txBody>
          <a:bodyPr anchor="b"/>
          <a:lstStyle>
            <a:lvl1pPr>
              <a:defRPr sz="2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94662" y="22029429"/>
            <a:ext cx="37856160" cy="7200898"/>
          </a:xfrm>
        </p:spPr>
        <p:txBody>
          <a:bodyPr/>
          <a:lstStyle>
            <a:lvl1pPr marL="0" indent="0">
              <a:buNone/>
              <a:defRPr sz="11520">
                <a:solidFill>
                  <a:schemeClr val="tx1">
                    <a:tint val="82000"/>
                  </a:schemeClr>
                </a:solidFill>
              </a:defRPr>
            </a:lvl1pPr>
            <a:lvl2pPr marL="2194560" indent="0">
              <a:buNone/>
              <a:defRPr sz="9600">
                <a:solidFill>
                  <a:schemeClr val="tx1">
                    <a:tint val="82000"/>
                  </a:schemeClr>
                </a:solidFill>
              </a:defRPr>
            </a:lvl2pPr>
            <a:lvl3pPr marL="4389120" indent="0">
              <a:buNone/>
              <a:defRPr sz="8640">
                <a:solidFill>
                  <a:schemeClr val="tx1">
                    <a:tint val="82000"/>
                  </a:schemeClr>
                </a:solidFill>
              </a:defRPr>
            </a:lvl3pPr>
            <a:lvl4pPr marL="65836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4pPr>
            <a:lvl5pPr marL="877824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5pPr>
            <a:lvl6pPr marL="1097280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6pPr>
            <a:lvl7pPr marL="1316736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7pPr>
            <a:lvl8pPr marL="1536192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8pPr>
            <a:lvl9pPr marL="175564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9180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175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2199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3010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1752607"/>
            <a:ext cx="37856160" cy="636270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23242" y="8069582"/>
            <a:ext cx="18568032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23242" y="12024360"/>
            <a:ext cx="18568032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19922" y="8069582"/>
            <a:ext cx="18659477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19922" y="12024360"/>
            <a:ext cx="18659477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9228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9548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133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59477" y="4739647"/>
            <a:ext cx="22219920" cy="23393400"/>
          </a:xfrm>
        </p:spPr>
        <p:txBody>
          <a:bodyPr/>
          <a:lstStyle>
            <a:lvl1pPr>
              <a:defRPr sz="15360"/>
            </a:lvl1pPr>
            <a:lvl2pPr>
              <a:defRPr sz="13440"/>
            </a:lvl2pPr>
            <a:lvl3pPr>
              <a:defRPr sz="11520"/>
            </a:lvl3pPr>
            <a:lvl4pPr>
              <a:defRPr sz="9600"/>
            </a:lvl4pPr>
            <a:lvl5pPr>
              <a:defRPr sz="9600"/>
            </a:lvl5pPr>
            <a:lvl6pPr>
              <a:defRPr sz="9600"/>
            </a:lvl6pPr>
            <a:lvl7pPr>
              <a:defRPr sz="9600"/>
            </a:lvl7pPr>
            <a:lvl8pPr>
              <a:defRPr sz="9600"/>
            </a:lvl8pPr>
            <a:lvl9pPr>
              <a:defRPr sz="9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184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8659477" y="4739647"/>
            <a:ext cx="22219920" cy="23393400"/>
          </a:xfrm>
        </p:spPr>
        <p:txBody>
          <a:bodyPr anchor="t"/>
          <a:lstStyle>
            <a:lvl1pPr marL="0" indent="0">
              <a:buNone/>
              <a:defRPr sz="15360"/>
            </a:lvl1pPr>
            <a:lvl2pPr marL="2194560" indent="0">
              <a:buNone/>
              <a:defRPr sz="13440"/>
            </a:lvl2pPr>
            <a:lvl3pPr marL="4389120" indent="0">
              <a:buNone/>
              <a:defRPr sz="11520"/>
            </a:lvl3pPr>
            <a:lvl4pPr marL="6583680" indent="0">
              <a:buNone/>
              <a:defRPr sz="9600"/>
            </a:lvl4pPr>
            <a:lvl5pPr marL="8778240" indent="0">
              <a:buNone/>
              <a:defRPr sz="9600"/>
            </a:lvl5pPr>
            <a:lvl6pPr marL="10972800" indent="0">
              <a:buNone/>
              <a:defRPr sz="9600"/>
            </a:lvl6pPr>
            <a:lvl7pPr marL="13167360" indent="0">
              <a:buNone/>
              <a:defRPr sz="9600"/>
            </a:lvl7pPr>
            <a:lvl8pPr marL="15361920" indent="0">
              <a:buNone/>
              <a:defRPr sz="9600"/>
            </a:lvl8pPr>
            <a:lvl9pPr marL="17556480" indent="0">
              <a:buNone/>
              <a:defRPr sz="9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677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9889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409642" y="1752600"/>
            <a:ext cx="9464040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17522" y="1752600"/>
            <a:ext cx="27843480" cy="2789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8348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6&quot; x 48&quot; Po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 hasCustomPrompt="1"/>
          </p:nvPr>
        </p:nvSpPr>
        <p:spPr>
          <a:xfrm>
            <a:off x="696687" y="609600"/>
            <a:ext cx="42497830" cy="3352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 anchor="ctr" anchorCtr="1"/>
          <a:lstStyle>
            <a:lvl1pPr>
              <a:defRPr sz="6200" b="1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Poster Presentation Title</a:t>
            </a:r>
            <a:br>
              <a:rPr lang="en-US"/>
            </a:br>
            <a: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List Author Name(s)</a:t>
            </a:r>
            <a:b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</a:br>
            <a: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List Affiliated Institutions</a:t>
            </a:r>
            <a:endParaRPr lang="en-US"/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0" hasCustomPrompt="1"/>
          </p:nvPr>
        </p:nvSpPr>
        <p:spPr>
          <a:xfrm>
            <a:off x="696687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Abstract or Introduction</a:t>
            </a:r>
            <a:endParaRPr lang="en-US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1" hasCustomPrompt="1"/>
          </p:nvPr>
        </p:nvSpPr>
        <p:spPr>
          <a:xfrm>
            <a:off x="696687" y="5638800"/>
            <a:ext cx="13585370" cy="86868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 baseline="0"/>
            </a:lvl1pPr>
            <a:lvl2pPr marL="397308" indent="0">
              <a:buNone/>
              <a:defRPr sz="2800" baseline="0"/>
            </a:lvl2pPr>
            <a:lvl3pPr marL="772848" indent="0">
              <a:buNone/>
              <a:defRPr sz="2800" baseline="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Any element of this template (colors, fonts, layouts, etc.) can be edited to suit your needs. To change the color of a title bar: right click the text box, select format shape, edit the “Fill” and “Line” your desired specifications.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696687" y="146304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Objectives</a:t>
            </a:r>
            <a:endParaRPr lang="en-US"/>
          </a:p>
        </p:txBody>
      </p:sp>
      <p:sp>
        <p:nvSpPr>
          <p:cNvPr id="26" name="Text Placeholder 23"/>
          <p:cNvSpPr>
            <a:spLocks noGrp="1"/>
          </p:cNvSpPr>
          <p:nvPr>
            <p:ph type="body" sz="quarter" idx="13" hasCustomPrompt="1"/>
          </p:nvPr>
        </p:nvSpPr>
        <p:spPr>
          <a:xfrm>
            <a:off x="696687" y="160020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marR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0" marR="0" lvl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/>
              <a:t>To change the color of a title bar: right click the text box, select format shape, edit the “Fill” and “Line” your desired specifications.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4" hasCustomPrompt="1"/>
          </p:nvPr>
        </p:nvSpPr>
        <p:spPr>
          <a:xfrm>
            <a:off x="696687" y="236220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Methods</a:t>
            </a:r>
            <a:endParaRPr lang="en-US"/>
          </a:p>
        </p:txBody>
      </p:sp>
      <p:sp>
        <p:nvSpPr>
          <p:cNvPr id="28" name="Text Placeholder 23"/>
          <p:cNvSpPr>
            <a:spLocks noGrp="1"/>
          </p:cNvSpPr>
          <p:nvPr>
            <p:ph type="body" sz="quarter" idx="15" hasCustomPrompt="1"/>
          </p:nvPr>
        </p:nvSpPr>
        <p:spPr>
          <a:xfrm>
            <a:off x="696687" y="249936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marR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0" marR="0" lvl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/>
              <a:t>Copy and paste title bars and text boxes to create additional sections.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6" hasCustomPrompt="1"/>
          </p:nvPr>
        </p:nvSpPr>
        <p:spPr>
          <a:xfrm>
            <a:off x="15152917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Results</a:t>
            </a:r>
            <a:endParaRPr lang="en-US"/>
          </a:p>
        </p:txBody>
      </p:sp>
      <p:sp>
        <p:nvSpPr>
          <p:cNvPr id="30" name="Text Placeholder 23"/>
          <p:cNvSpPr>
            <a:spLocks noGrp="1"/>
          </p:cNvSpPr>
          <p:nvPr>
            <p:ph type="body" sz="quarter" idx="17"/>
          </p:nvPr>
        </p:nvSpPr>
        <p:spPr>
          <a:xfrm>
            <a:off x="29609145" y="249936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8" hasCustomPrompt="1"/>
          </p:nvPr>
        </p:nvSpPr>
        <p:spPr>
          <a:xfrm>
            <a:off x="29609145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Conclusion</a:t>
            </a:r>
            <a:endParaRPr lang="en-US"/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19"/>
          </p:nvPr>
        </p:nvSpPr>
        <p:spPr>
          <a:xfrm>
            <a:off x="29609145" y="5638800"/>
            <a:ext cx="13585370" cy="17678400"/>
          </a:xfrm>
          <a:prstGeom prst="rect">
            <a:avLst/>
          </a:prstGeom>
        </p:spPr>
        <p:txBody>
          <a:bodyPr vert="horz" lIns="78373" tIns="39187" rIns="78373" bIns="39187"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20" hasCustomPrompt="1"/>
          </p:nvPr>
        </p:nvSpPr>
        <p:spPr>
          <a:xfrm>
            <a:off x="29609145" y="236220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References</a:t>
            </a:r>
            <a:endParaRPr lang="en-US"/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1" hasCustomPrompt="1"/>
          </p:nvPr>
        </p:nvSpPr>
        <p:spPr>
          <a:xfrm>
            <a:off x="15152917" y="5638800"/>
            <a:ext cx="13585370" cy="266700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 baseline="0"/>
            </a:lvl1pPr>
            <a:lvl2pPr marL="397308" indent="0">
              <a:buNone/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Remember to save all charts, graphs, and tables as 300DPI images prior to inserting them into your posters. Doing so will ensure the best results when printing your posters.</a:t>
            </a:r>
          </a:p>
        </p:txBody>
      </p:sp>
      <p:sp>
        <p:nvSpPr>
          <p:cNvPr id="36" name="Picture Placeholder 35"/>
          <p:cNvSpPr>
            <a:spLocks noGrp="1"/>
          </p:cNvSpPr>
          <p:nvPr>
            <p:ph type="pic" sz="quarter" idx="22" hasCustomPrompt="1"/>
          </p:nvPr>
        </p:nvSpPr>
        <p:spPr>
          <a:xfrm>
            <a:off x="1219205" y="914400"/>
            <a:ext cx="3135086" cy="2743200"/>
          </a:xfrm>
          <a:prstGeom prst="rect">
            <a:avLst/>
          </a:prstGeom>
          <a:solidFill>
            <a:schemeClr val="bg1"/>
          </a:solidFill>
        </p:spPr>
        <p:txBody>
          <a:bodyPr vert="horz" lIns="78373" tIns="39187" rIns="78373" bIns="39187"/>
          <a:lstStyle>
            <a:lvl1pPr marL="0" indent="0">
              <a:buNone/>
              <a:defRPr sz="2000"/>
            </a:lvl1pPr>
          </a:lstStyle>
          <a:p>
            <a:r>
              <a:rPr lang="en-US"/>
              <a:t>LOGO</a:t>
            </a:r>
          </a:p>
        </p:txBody>
      </p:sp>
      <p:sp>
        <p:nvSpPr>
          <p:cNvPr id="37" name="Picture Placeholder 35"/>
          <p:cNvSpPr>
            <a:spLocks noGrp="1"/>
          </p:cNvSpPr>
          <p:nvPr>
            <p:ph type="pic" sz="quarter" idx="23" hasCustomPrompt="1"/>
          </p:nvPr>
        </p:nvSpPr>
        <p:spPr>
          <a:xfrm>
            <a:off x="39711091" y="914400"/>
            <a:ext cx="3135086" cy="2743200"/>
          </a:xfrm>
          <a:prstGeom prst="rect">
            <a:avLst/>
          </a:prstGeom>
          <a:solidFill>
            <a:schemeClr val="bg1"/>
          </a:solidFill>
        </p:spPr>
        <p:txBody>
          <a:bodyPr vert="horz" lIns="78373" tIns="39187" rIns="78373" bIns="39187"/>
          <a:lstStyle>
            <a:lvl1pPr marL="0" indent="0">
              <a:buNone/>
              <a:defRPr sz="2000"/>
            </a:lvl1pPr>
          </a:lstStyle>
          <a:p>
            <a:r>
              <a:rPr lang="en-US"/>
              <a:t>LOGO</a:t>
            </a:r>
          </a:p>
        </p:txBody>
      </p:sp>
      <p:sp>
        <p:nvSpPr>
          <p:cNvPr id="39" name="Chart Placeholder 38"/>
          <p:cNvSpPr>
            <a:spLocks noGrp="1"/>
          </p:cNvSpPr>
          <p:nvPr>
            <p:ph type="chart" sz="quarter" idx="24"/>
          </p:nvPr>
        </p:nvSpPr>
        <p:spPr>
          <a:xfrm>
            <a:off x="16197949" y="16154400"/>
            <a:ext cx="11495314" cy="67056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/>
            </a:lvl1pPr>
          </a:lstStyle>
          <a:p>
            <a:endParaRPr lang="en-US"/>
          </a:p>
        </p:txBody>
      </p:sp>
      <p:sp>
        <p:nvSpPr>
          <p:cNvPr id="40" name="Chart Placeholder 38"/>
          <p:cNvSpPr>
            <a:spLocks noGrp="1"/>
          </p:cNvSpPr>
          <p:nvPr>
            <p:ph type="chart" sz="quarter" idx="25"/>
          </p:nvPr>
        </p:nvSpPr>
        <p:spPr>
          <a:xfrm>
            <a:off x="16197949" y="24536400"/>
            <a:ext cx="11495314" cy="67056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/>
            </a:lvl1pPr>
          </a:lstStyle>
          <a:p>
            <a:endParaRPr lang="en-US"/>
          </a:p>
        </p:txBody>
      </p:sp>
      <p:pic>
        <p:nvPicPr>
          <p:cNvPr id="4" name="Picture 3" descr="Logo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38400" y="32416772"/>
            <a:ext cx="2743200" cy="43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2744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17520" y="1752607"/>
            <a:ext cx="3785616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17520" y="8763000"/>
            <a:ext cx="3785616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1752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38960" y="30510487"/>
            <a:ext cx="1481328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99816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8051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4389120" rtl="0" eaLnBrk="1" latinLnBrk="0" hangingPunct="1">
        <a:lnSpc>
          <a:spcPct val="90000"/>
        </a:lnSpc>
        <a:spcBef>
          <a:spcPct val="0"/>
        </a:spcBef>
        <a:buNone/>
        <a:defRPr sz="211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97280" indent="-1097280" algn="l" defTabSz="4389120" rtl="0" eaLnBrk="1" latinLnBrk="0" hangingPunct="1">
        <a:lnSpc>
          <a:spcPct val="90000"/>
        </a:lnSpc>
        <a:spcBef>
          <a:spcPts val="480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1pPr>
      <a:lvl2pPr marL="32918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1152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987552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42646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64592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86537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"1.0" encoding="UTF-8"?><Relationships xmlns="http://schemas.openxmlformats.org/package/2006/relationships"><Relationship Id="rId8" Type="http://schemas.openxmlformats.org/officeDocument/2006/relationships/image" Target="../media/landscape_current_image7.png"/><Relationship Id="rId3" Type="http://schemas.openxmlformats.org/officeDocument/2006/relationships/image" Target="../media/landscape_current_image2.png"/><Relationship Id="rId7" Type="http://schemas.openxmlformats.org/officeDocument/2006/relationships/image" Target="../media/landscape_current_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landscape_current_image5.png"/><Relationship Id="rId5" Type="http://schemas.openxmlformats.org/officeDocument/2006/relationships/image" Target="../media/landscape_current_image4.png"/><Relationship Id="rId10" Type="http://schemas.openxmlformats.org/officeDocument/2006/relationships/image" Target="../media/landscape_current_image9.png"/><Relationship Id="rId4" Type="http://schemas.openxmlformats.org/officeDocument/2006/relationships/image" Target="../media/landscape_current_image3.png"/><Relationship Id="rId9" Type="http://schemas.openxmlformats.org/officeDocument/2006/relationships/image" Target="../media/landscape_current_image8.pn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17601-38BA-EEC6-B535-6199F2F27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Minimum seed mass versus accretion onset" descr="Manuscript minimum seed masses under fixed growth caps for UNCOVER-20466, COSMOS3D-13852, RUBIES-EGS-55604, and GN-z11.">
            <a:extLst>
              <a:ext uri="{FF2B5EF4-FFF2-40B4-BE49-F238E27FC236}">
                <a16:creationId xmlns:a16="http://schemas.microsoft.com/office/drawing/2014/main" id="{C3CA3027-10C5-D39A-05B0-82DB2540F9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18000" y="8595360"/>
            <a:ext cx="13533120" cy="9134856"/>
          </a:xfrm>
          <a:prstGeom prst="rect">
            <a:avLst/>
          </a:prstGeom>
        </p:spPr>
      </p:pic>
      <p:sp>
        <p:nvSpPr>
          <p:cNvPr id="32" name="Title 18">
            <a:extLst>
              <a:ext uri="{FF2B5EF4-FFF2-40B4-BE49-F238E27FC236}">
                <a16:creationId xmlns:a16="http://schemas.microsoft.com/office/drawing/2014/main" id="{F8D50A2A-9B61-AD34-B9C2-8944BB27426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0"/>
            <a:ext cx="43891200" cy="4389120"/>
          </a:xfrm>
          <a:solidFill>
            <a:srgbClr val="002A5C"/>
          </a:solidFill>
          <a:ln>
            <a:solidFill>
              <a:srgbClr val="09306B"/>
            </a:solidFill>
          </a:ln>
        </p:spPr>
        <p:txBody>
          <a:bodyPr lIns="9418320" tIns="91440" rIns="11887200">
            <a:normAutofit/>
          </a:bodyPr>
          <a:lstStyle/>
          <a:p>
            <a:pPr algn="ctr"/>
            <a:br>
              <a:rPr lang="en-US" sz="42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Early Black-Hole Growth Constraints from JWST</a:t>
            </a:r>
            <a:br>
              <a:rPr lang="en-US" sz="6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Nicole Jiang; University of Toronto</a:t>
            </a:r>
            <a:br>
              <a:rPr lang="en-US" sz="42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6800" b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3" name="Picture 32" descr="University of Toronto - Wikipedia">
            <a:extLst>
              <a:ext uri="{FF2B5EF4-FFF2-40B4-BE49-F238E27FC236}">
                <a16:creationId xmlns:a16="http://schemas.microsoft.com/office/drawing/2014/main" id="{42BD33B9-86B6-8B04-8AA1-E72E855435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548640"/>
            <a:ext cx="2834640" cy="2834640"/>
          </a:xfrm>
          <a:prstGeom prst="rect">
            <a:avLst/>
          </a:prstGeom>
        </p:spPr>
      </p:pic>
      <p:pic>
        <p:nvPicPr>
          <p:cNvPr id="36" name="Picture 35" descr="University of Toronto profile | Powered by Inpart">
            <a:extLst>
              <a:ext uri="{FF2B5EF4-FFF2-40B4-BE49-F238E27FC236}">
                <a16:creationId xmlns:a16="http://schemas.microsoft.com/office/drawing/2014/main" id="{8C2E503F-9CF2-EBE6-29B0-458691A7DFB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3902" t="38725" b="33824"/>
          <a:stretch>
            <a:fillRect/>
          </a:stretch>
        </p:blipFill>
        <p:spPr>
          <a:xfrm>
            <a:off x="3291840" y="1051560"/>
            <a:ext cx="6035040" cy="2177031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2C65ED58-816C-A2B5-F6CB-4326B0858D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867840" y="457200"/>
            <a:ext cx="3108960" cy="3108960"/>
          </a:xfrm>
          <a:prstGeom prst="rect">
            <a:avLst/>
          </a:prstGeom>
        </p:spPr>
      </p:pic>
      <p:sp>
        <p:nvSpPr>
          <p:cNvPr id="69" name="Title 18">
            <a:extLst>
              <a:ext uri="{FF2B5EF4-FFF2-40B4-BE49-F238E27FC236}">
                <a16:creationId xmlns:a16="http://schemas.microsoft.com/office/drawing/2014/main" id="{D8B6836B-DAF1-F68F-D717-73D3A454BC2E}"/>
              </a:ext>
            </a:extLst>
          </p:cNvPr>
          <p:cNvSpPr txBox="1">
            <a:spLocks/>
          </p:cNvSpPr>
          <p:nvPr/>
        </p:nvSpPr>
        <p:spPr>
          <a:xfrm>
            <a:off x="914400" y="5120640"/>
            <a:ext cx="146304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842EAEC-0FF9-516A-6712-19E0D19D0354}"/>
              </a:ext>
            </a:extLst>
          </p:cNvPr>
          <p:cNvSpPr txBox="1"/>
          <p:nvPr/>
        </p:nvSpPr>
        <p:spPr>
          <a:xfrm>
            <a:off x="1371600" y="6400800"/>
            <a:ext cx="13716000" cy="32461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3300" b="1">
                <a:latin typeface="Aptos"/>
              </a:rPr>
              <a:t>How did early black holes grow so big, so fast? </a:t>
            </a:r>
            <a:r>
              <a:rPr lang="en-CA" sz="3300" b="0">
                <a:latin typeface="Aptos"/>
              </a:rPr>
              <a:t>The James Webb Space Telescope (JWST) has revealed massive black holes with little time to grow.</a:t>
            </a:r>
            <a:r>
              <a:rPr lang="en-CA" sz="2200" b="0" baseline="30000">
                <a:latin typeface="Aptos"/>
              </a:rPr>
              <a:t>[2]</a:t>
            </a:r>
            <a:r>
              <a:rPr lang="en-CA" sz="3300" b="0">
                <a:latin typeface="Aptos"/>
              </a:rPr>
              <a:t> I compiled published mass estimates and calculated the average accretion needed to reach each mass under different seed masses (initial masses), start times, and radiative efficiencies.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BB03D82-A209-1440-3180-9DD4419EFCBF}"/>
              </a:ext>
            </a:extLst>
          </p:cNvPr>
          <p:cNvSpPr/>
          <p:nvPr/>
        </p:nvSpPr>
        <p:spPr>
          <a:xfrm>
            <a:off x="914400" y="5120640"/>
            <a:ext cx="14630400" cy="466344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itle 18">
            <a:extLst>
              <a:ext uri="{FF2B5EF4-FFF2-40B4-BE49-F238E27FC236}">
                <a16:creationId xmlns:a16="http://schemas.microsoft.com/office/drawing/2014/main" id="{6D9DC137-E8CF-8FC7-F26F-A7759AD2C396}"/>
              </a:ext>
            </a:extLst>
          </p:cNvPr>
          <p:cNvSpPr txBox="1">
            <a:spLocks/>
          </p:cNvSpPr>
          <p:nvPr/>
        </p:nvSpPr>
        <p:spPr>
          <a:xfrm>
            <a:off x="914400" y="10287000"/>
            <a:ext cx="146304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Methods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8C51BF9-B81A-ECF4-F01D-305CA1CE9DD1}"/>
              </a:ext>
            </a:extLst>
          </p:cNvPr>
          <p:cNvSpPr txBox="1"/>
          <p:nvPr/>
        </p:nvSpPr>
        <p:spPr>
          <a:xfrm>
            <a:off x="1371600" y="18288000"/>
            <a:ext cx="13990320" cy="3291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  <a:spcAft>
                <a:spcPts val="1600"/>
              </a:spcAft>
              <a:buNone/>
            </a:pPr>
            <a:r>
              <a:rPr lang="en-CA" sz="3300" b="1" dirty="0">
                <a:latin typeface="Aptos"/>
              </a:rPr>
              <a:t>Symbols: </a:t>
            </a:r>
            <a:r>
              <a:rPr lang="en-CA" sz="3300" b="0" dirty="0">
                <a:latin typeface="Aptos"/>
              </a:rPr>
              <a:t>M⊙ denotes solar mass. Higher redshift z means earlier times. </a:t>
            </a:r>
            <a:r>
              <a:rPr lang="en-CA" sz="3300" b="0" dirty="0" err="1">
                <a:latin typeface="Aptos"/>
              </a:rPr>
              <a:t>ε</a:t>
            </a:r>
            <a:r>
              <a:rPr lang="en-CA" sz="3300" b="0" dirty="0">
                <a:latin typeface="Aptos"/>
              </a:rPr>
              <a:t> is the radiated fraction of accreted rest-mass energy.</a:t>
            </a:r>
          </a:p>
          <a:p>
            <a:pPr>
              <a:lnSpc>
                <a:spcPct val="120000"/>
              </a:lnSpc>
              <a:spcAft>
                <a:spcPts val="1600"/>
              </a:spcAft>
              <a:buNone/>
            </a:pPr>
            <a:r>
              <a:rPr lang="en-CA" sz="3300" b="1" dirty="0">
                <a:latin typeface="Aptos"/>
              </a:rPr>
              <a:t>Eddington ratio: </a:t>
            </a:r>
            <a:r>
              <a:rPr lang="en-CA" sz="3300" b="0" dirty="0" err="1">
                <a:latin typeface="Aptos"/>
              </a:rPr>
              <a:t>f</a:t>
            </a:r>
            <a:r>
              <a:rPr lang="en-CA" sz="2200" b="0" baseline="-25000" dirty="0" err="1">
                <a:latin typeface="Aptos"/>
              </a:rPr>
              <a:t>Edd</a:t>
            </a:r>
            <a:r>
              <a:rPr lang="en-CA" sz="3300" b="0" dirty="0">
                <a:latin typeface="Aptos"/>
              </a:rPr>
              <a:t> = luminosity/Eddington luminosity, where radiation force balances gravity. Averages above 1 require super-Eddington episodes.</a:t>
            </a:r>
            <a:r>
              <a:rPr lang="en-CA" sz="2200" b="0" dirty="0" baseline="30000">
                <a:latin typeface="Aptos"/>
              </a:rPr>
              <a:t>[3]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F5F0E6D1-7308-2846-C555-5A8981E84E43}"/>
              </a:ext>
            </a:extLst>
          </p:cNvPr>
          <p:cNvSpPr/>
          <p:nvPr/>
        </p:nvSpPr>
        <p:spPr>
          <a:xfrm>
            <a:off x="914400" y="10287000"/>
            <a:ext cx="14630400" cy="2221992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itle 18">
            <a:extLst>
              <a:ext uri="{FF2B5EF4-FFF2-40B4-BE49-F238E27FC236}">
                <a16:creationId xmlns:a16="http://schemas.microsoft.com/office/drawing/2014/main" id="{D50205E6-BF86-6F08-991C-43F597FDF8DD}"/>
              </a:ext>
            </a:extLst>
          </p:cNvPr>
          <p:cNvSpPr txBox="1">
            <a:spLocks/>
          </p:cNvSpPr>
          <p:nvPr/>
        </p:nvSpPr>
        <p:spPr>
          <a:xfrm>
            <a:off x="16002000" y="21808440"/>
            <a:ext cx="269748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Conclusions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DD5B540-2EC8-A5A1-200C-994C1D7C8BFD}"/>
              </a:ext>
            </a:extLst>
          </p:cNvPr>
          <p:cNvSpPr txBox="1"/>
          <p:nvPr/>
        </p:nvSpPr>
        <p:spPr>
          <a:xfrm>
            <a:off x="16459200" y="23088600"/>
            <a:ext cx="26060400" cy="40233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Seed masses: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Most adopted masses allow growth from 100 M⊙ seeds under the reference assumptions.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Accretion physics: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Lower radiative efficiency leaves more accreted mass in the black hole, allowing faster growth at the same Eddington ratio.</a:t>
            </a:r>
            <a:r>
              <a:rPr lang="en-CA" sz="2200" b="0" dirty="0" baseline="30000">
                <a:solidFill>
                  <a:srgbClr val="000000"/>
                </a:solidFill>
                <a:latin typeface="Aptos"/>
              </a:rPr>
              <a:t>[3]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Earlier growth: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Even the earliest tested start leaves 100 M⊙ seeds insufficient for the 4 targets at </a:t>
            </a:r>
            <a:r>
              <a:rPr lang="en-CA" sz="3300" b="0" dirty="0" err="1">
                <a:solidFill>
                  <a:srgbClr val="000000"/>
                </a:solidFill>
                <a:latin typeface="Aptos"/>
              </a:rPr>
              <a:t>ε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 = 0.1 and average ratio ≤ 1. Larger seeds or super-Eddington episodes remain possible.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Further observations: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Independent mass measurements could change which objects require averages above 1. Counts from different surveys cannot establish how common these black holes are.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BBD5C8AB-335C-2E4D-00F6-4B0BF74BB013}"/>
              </a:ext>
            </a:extLst>
          </p:cNvPr>
          <p:cNvSpPr/>
          <p:nvPr/>
        </p:nvSpPr>
        <p:spPr>
          <a:xfrm>
            <a:off x="16002000" y="21808440"/>
            <a:ext cx="26974800" cy="539496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itle 18">
            <a:extLst>
              <a:ext uri="{FF2B5EF4-FFF2-40B4-BE49-F238E27FC236}">
                <a16:creationId xmlns:a16="http://schemas.microsoft.com/office/drawing/2014/main" id="{8E773A53-2851-D565-B46F-D419BA57021E}"/>
              </a:ext>
            </a:extLst>
          </p:cNvPr>
          <p:cNvSpPr txBox="1">
            <a:spLocks/>
          </p:cNvSpPr>
          <p:nvPr/>
        </p:nvSpPr>
        <p:spPr>
          <a:xfrm>
            <a:off x="16002000" y="27432000"/>
            <a:ext cx="269748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References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2B57F9D-B4AF-1E4D-7FBC-B8680CB4CAB8}"/>
              </a:ext>
            </a:extLst>
          </p:cNvPr>
          <p:cNvSpPr txBox="1"/>
          <p:nvPr/>
        </p:nvSpPr>
        <p:spPr>
          <a:xfrm>
            <a:off x="16459200" y="28712160"/>
            <a:ext cx="26060400" cy="31546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CA" sz="3300" dirty="0"/>
              <a:t>[1] Shen (2013), BASI, 41, 61.</a:t>
            </a:r>
            <a:endParaRPr lang="en-US" sz="3300" dirty="0"/>
          </a:p>
          <a:p>
            <a:r>
              <a:rPr lang="en-CA" sz="3300" dirty="0"/>
              <a:t>[2] </a:t>
            </a:r>
            <a:r>
              <a:rPr lang="en-CA" sz="3300" dirty="0" err="1"/>
              <a:t>Maiolino</a:t>
            </a:r>
            <a:r>
              <a:rPr lang="en-CA" sz="3300" dirty="0"/>
              <a:t> et al. (2024), Nature, 627, 59.</a:t>
            </a:r>
          </a:p>
          <a:p>
            <a:r>
              <a:rPr lang="en-CA" sz="3300" dirty="0"/>
              <a:t>[3] Dayal (2024), A&amp;A, 690, A182.</a:t>
            </a:r>
            <a:endParaRPr lang="en-US" sz="3300" dirty="0"/>
          </a:p>
          <a:p>
            <a:pPr>
              <a:spcBef>
                <a:spcPts val="600"/>
              </a:spcBef>
            </a:pPr>
            <a:r>
              <a:rPr lang="en-CA" sz="3300" dirty="0"/>
              <a:t>[4] Bardeen et al. (1972), </a:t>
            </a:r>
            <a:r>
              <a:rPr lang="en-CA" sz="3300" dirty="0" err="1"/>
              <a:t>ApJ</a:t>
            </a:r>
            <a:r>
              <a:rPr lang="en-CA" sz="3300" dirty="0"/>
              <a:t>, 178, 347.</a:t>
            </a:r>
            <a:endParaRPr lang="en-US" sz="3300" dirty="0"/>
          </a:p>
          <a:p>
            <a:pPr>
              <a:spcAft>
                <a:spcPts val="800"/>
              </a:spcAft>
              <a:buNone/>
            </a:pPr>
            <a:r>
              <a:rPr lang="en-CA" sz="3300" b="0" dirty="0">
                <a:latin typeface="Aptos"/>
              </a:rPr>
              <a:t>[5] </a:t>
            </a:r>
            <a:r>
              <a:rPr lang="en-CA" sz="3300" b="0" dirty="0" err="1">
                <a:latin typeface="Aptos"/>
              </a:rPr>
              <a:t>Juodzbalis</a:t>
            </a:r>
            <a:r>
              <a:rPr lang="en-CA" sz="3300" b="0" dirty="0">
                <a:latin typeface="Aptos"/>
              </a:rPr>
              <a:t> et al. (2025), arXiv:2508.21748v2.</a:t>
            </a:r>
          </a:p>
          <a:p>
            <a:pPr>
              <a:spcBef>
                <a:spcPts val="600"/>
              </a:spcBef>
            </a:pPr>
            <a:r>
              <a:rPr lang="en-CA" sz="3300" dirty="0"/>
              <a:t>Catalogue sources and code: QR link above.</a:t>
            </a:r>
            <a:endParaRPr lang="en-US" sz="3300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156AF1B-4C0F-9637-8495-BA5941742B85}"/>
              </a:ext>
            </a:extLst>
          </p:cNvPr>
          <p:cNvSpPr/>
          <p:nvPr/>
        </p:nvSpPr>
        <p:spPr>
          <a:xfrm>
            <a:off x="16002000" y="27432000"/>
            <a:ext cx="26974800" cy="480060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337658-2539-7C1B-497A-E1769149148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6709"/>
          <a:stretch>
            <a:fillRect/>
          </a:stretch>
        </p:blipFill>
        <p:spPr>
          <a:xfrm>
            <a:off x="16139160" y="13761720"/>
            <a:ext cx="13533120" cy="6949440"/>
          </a:xfrm>
          <a:prstGeom prst="rect">
            <a:avLst/>
          </a:prstGeom>
        </p:spPr>
      </p:pic>
      <p:pic>
        <p:nvPicPr>
          <p:cNvPr id="5" name="Picture 4" descr="File:JWST spacecraft model 1.png - Wikimedia Commons">
            <a:extLst>
              <a:ext uri="{FF2B5EF4-FFF2-40B4-BE49-F238E27FC236}">
                <a16:creationId xmlns:a16="http://schemas.microsoft.com/office/drawing/2014/main" id="{0BD845B3-DC16-6DC6-BFC8-2D65D247678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947430" y="1600199"/>
            <a:ext cx="4379909" cy="3283151"/>
          </a:xfrm>
          <a:prstGeom prst="rect">
            <a:avLst/>
          </a:prstGeom>
        </p:spPr>
      </p:pic>
      <p:pic>
        <p:nvPicPr>
          <p:cNvPr id="6" name="Picture 5" descr="Eyes open clipart clipground #31495 - Free Transparent PNG Logos">
            <a:extLst>
              <a:ext uri="{FF2B5EF4-FFF2-40B4-BE49-F238E27FC236}">
                <a16:creationId xmlns:a16="http://schemas.microsoft.com/office/drawing/2014/main" id="{9D3E6E2E-04C2-513B-0EE5-8C40F5B8F46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20443004">
            <a:off x="30817782" y="2180575"/>
            <a:ext cx="1415509" cy="681368"/>
          </a:xfrm>
          <a:prstGeom prst="rect">
            <a:avLst/>
          </a:prstGeom>
        </p:spPr>
      </p:pic>
      <p:pic>
        <p:nvPicPr>
          <p:cNvPr id="10" name="Picture 9" descr="Nebula overlay color 26548388 PNG">
            <a:extLst>
              <a:ext uri="{FF2B5EF4-FFF2-40B4-BE49-F238E27FC236}">
                <a16:creationId xmlns:a16="http://schemas.microsoft.com/office/drawing/2014/main" id="{FB4EBB94-758E-75A7-659C-BF66DBB0AEF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2098715">
            <a:off x="32496336" y="-185399"/>
            <a:ext cx="8190834" cy="4608990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8F4057E1-F618-63B3-DF3A-8B3B4948305D}"/>
              </a:ext>
            </a:extLst>
          </p:cNvPr>
          <p:cNvSpPr txBox="1"/>
          <p:nvPr/>
        </p:nvSpPr>
        <p:spPr>
          <a:xfrm>
            <a:off x="30175200" y="6400800"/>
            <a:ext cx="12435840" cy="20116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Earlier-onset test: </a:t>
            </a:r>
            <a:r>
              <a:rPr lang="en-CA" sz="3300" b="0" dirty="0">
                <a:latin typeface="Aptos"/>
              </a:rPr>
              <a:t>Starting at matter–radiation equality (z = 3,400) still requires 270–1,200 M⊙ seeds for the 4 plotted objects (ε = 0.1, average ratio ≤ 1, no mergers).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669F8B-BE33-0C82-515C-AF8D3B759FB3}"/>
              </a:ext>
            </a:extLst>
          </p:cNvPr>
          <p:cNvSpPr txBox="1"/>
          <p:nvPr/>
        </p:nvSpPr>
        <p:spPr>
          <a:xfrm>
            <a:off x="16322040" y="6400800"/>
            <a:ext cx="13167360" cy="71323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28600"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Reference model: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8/220 primary objects require average Eddington ratios above 1, including 5 in ≥ 95% of mass-error draws.</a:t>
            </a:r>
          </a:p>
          <a:p>
            <a:pPr marL="285750" indent="-228600"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Mass sensitivity: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Lowering masses by 0.5 </a:t>
            </a:r>
            <a:r>
              <a:rPr lang="en-CA" sz="3300" b="0" dirty="0" err="1">
                <a:solidFill>
                  <a:srgbClr val="000000"/>
                </a:solidFill>
                <a:latin typeface="Aptos"/>
              </a:rPr>
              <a:t>dex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 (a factor of 3.2) leaves 3 primary objects requiring averages above 1 in ≥ 95% of draws.</a:t>
            </a:r>
          </a:p>
          <a:p>
            <a:pPr marL="285750" indent="-228600"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Seed mass: </a:t>
            </a:r>
            <a:r>
              <a:rPr lang="en-CA" sz="3300" dirty="0">
                <a:solidFill>
                  <a:srgbClr val="000000"/>
                </a:solidFill>
                <a:latin typeface="Aptos"/>
              </a:rPr>
              <a:t>1,000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M⊙ seeds leave 3/220 above 1. With 100,000 M⊙ seeds, neither sample has objects above 1.</a:t>
            </a:r>
          </a:p>
          <a:p>
            <a:pPr marL="285750" indent="-228600"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Growth start time: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At z = 20, 18/220 primary objects require averages above 1, and GN-z11 requires the highest average in the expanded sample.</a:t>
            </a:r>
          </a:p>
          <a:p>
            <a:pPr marL="285750" indent="-228600"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Efficiency: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At </a:t>
            </a:r>
            <a:r>
              <a:rPr lang="en-CA" sz="3300" b="0" dirty="0" err="1">
                <a:solidFill>
                  <a:srgbClr val="000000"/>
                </a:solidFill>
                <a:latin typeface="Aptos"/>
              </a:rPr>
              <a:t>ε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 = 0.05719 (non-spinning thin disc) </a:t>
            </a:r>
            <a:r>
              <a:rPr lang="en-CA" sz="2200" b="0" dirty="0" baseline="30000">
                <a:solidFill>
                  <a:srgbClr val="000000"/>
                </a:solidFill>
                <a:latin typeface="Aptos"/>
              </a:rPr>
              <a:t>[4]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, all 234 central mass estimates require averages below 1 under the other reference assumptions.</a:t>
            </a:r>
          </a:p>
        </p:txBody>
      </p:sp>
      <p:sp>
        <p:nvSpPr>
          <p:cNvPr id="7" name="Title 18">
            <a:extLst>
              <a:ext uri="{FF2B5EF4-FFF2-40B4-BE49-F238E27FC236}">
                <a16:creationId xmlns:a16="http://schemas.microsoft.com/office/drawing/2014/main" id="{3AC78928-AF13-E1B9-F802-F1FD39D07D33}"/>
              </a:ext>
            </a:extLst>
          </p:cNvPr>
          <p:cNvSpPr txBox="1">
            <a:spLocks/>
          </p:cNvSpPr>
          <p:nvPr/>
        </p:nvSpPr>
        <p:spPr>
          <a:xfrm>
            <a:off x="16002000" y="5120640"/>
            <a:ext cx="269748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Results</a:t>
            </a:r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EDC07-606F-DD66-5973-0AE0D673B23B}"/>
              </a:ext>
            </a:extLst>
          </p:cNvPr>
          <p:cNvSpPr/>
          <p:nvPr/>
        </p:nvSpPr>
        <p:spPr>
          <a:xfrm>
            <a:off x="16002000" y="5120640"/>
            <a:ext cx="26974800" cy="1613916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igure takeaway 112"/>
          <p:cNvSpPr txBox="1"/>
          <p:nvPr/>
        </p:nvSpPr>
        <p:spPr>
          <a:xfrm>
            <a:off x="30175200" y="17830800"/>
            <a:ext cx="12435840" cy="5486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2400" b="0" dirty="0">
                <a:latin typeface="Aptos"/>
              </a:rPr>
              <a:t>Earlier starts lower the required seed mass, but the decrease becomes smaller.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1483CE-2A7E-6438-7E3B-E605C17C7099}"/>
              </a:ext>
            </a:extLst>
          </p:cNvPr>
          <p:cNvSpPr txBox="1"/>
          <p:nvPr/>
        </p:nvSpPr>
        <p:spPr>
          <a:xfrm>
            <a:off x="30175200" y="18425160"/>
            <a:ext cx="1243584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Independent mass check: </a:t>
            </a:r>
            <a:r>
              <a:rPr lang="en-CA" sz="3300" b="0" dirty="0">
                <a:latin typeface="Aptos"/>
              </a:rPr>
              <a:t>A2744-QSO1’s broad-line mass (2.0 × 10</a:t>
            </a:r>
            <a:r>
              <a:rPr lang="en-CA" sz="2200" b="0" baseline="30000" dirty="0">
                <a:latin typeface="Aptos"/>
              </a:rPr>
              <a:t>7</a:t>
            </a:r>
            <a:r>
              <a:rPr lang="en-CA" sz="3300" b="0" dirty="0">
                <a:latin typeface="Aptos"/>
              </a:rPr>
              <a:t> M⊙) requires an average of 0.929 under the reference model. Its dynamical mass (5.0 × 10</a:t>
            </a:r>
            <a:r>
              <a:rPr lang="en-CA" sz="2200" b="0" baseline="30000" dirty="0">
                <a:latin typeface="Aptos"/>
              </a:rPr>
              <a:t>7</a:t>
            </a:r>
            <a:r>
              <a:rPr lang="en-CA" sz="3300" b="0" dirty="0">
                <a:latin typeface="Aptos"/>
              </a:rPr>
              <a:t> M⊙)</a:t>
            </a:r>
            <a:r>
              <a:rPr lang="en-CA" sz="2200" b="0" dirty="0" baseline="30000">
                <a:latin typeface="Aptos"/>
              </a:rPr>
              <a:t>[5]</a:t>
            </a:r>
            <a:r>
              <a:rPr lang="en-CA" sz="3300" b="0" dirty="0">
                <a:latin typeface="Aptos"/>
              </a:rPr>
              <a:t> requires 0.9996. Its required average spans 0.947–1.052 (16th–84th percentiles), including 1.</a:t>
            </a:r>
          </a:p>
        </p:txBody>
      </p:sp>
      <p:sp>
        <p:nvSpPr>
          <p:cNvPr id="120" name="Efficiency comparison heading">
            <a:extLst>
              <a:ext uri="{FF2B5EF4-FFF2-40B4-BE49-F238E27FC236}">
                <a16:creationId xmlns:a16="http://schemas.microsoft.com/office/drawing/2014/main" id="{3A05E1FE-512D-49F3-9C39-22D275F0EE18}"/>
              </a:ext>
            </a:extLst>
          </p:cNvPr>
          <p:cNvSpPr>
            <a:spLocks noGrp="1"/>
          </p:cNvSpPr>
          <p:nvPr/>
        </p:nvSpPr>
        <p:spPr>
          <a:xfrm>
            <a:off x="1371600" y="21762720"/>
            <a:ext cx="13990320" cy="64008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b="1">
                <a:solidFill>
                  <a:srgbClr val="002A5C"/>
                </a:solidFill>
              </a:defRPr>
            </a:defPPr>
          </a:lstStyle>
          <a:p>
            <a:pPr>
              <a:spcAft>
                <a:spcPts val="800"/>
              </a:spcAft>
              <a:buNone/>
              <a:defRPr b="1">
                <a:solidFill>
                  <a:srgbClr val="002A5C"/>
                </a:solidFill>
              </a:defRPr>
            </a:pPr>
            <a:r>
              <a:rPr lang="en-CA" sz="3600" b="1" dirty="0">
                <a:solidFill>
                  <a:srgbClr val="002A5C"/>
                </a:solidFill>
                <a:latin typeface="Aptos"/>
              </a:rPr>
              <a:t>Growth test and uncertainty</a:t>
            </a:r>
          </a:p>
        </p:txBody>
      </p:sp>
      <p:sp>
        <p:nvSpPr>
          <p:cNvPr id="200" name="Poster diagram 200">
            <a:extLst>
              <a:ext uri="{FF2B5EF4-FFF2-40B4-BE49-F238E27FC236}">
                <a16:creationId xmlns:a16="http://schemas.microsoft.com/office/drawing/2014/main" id="{F979C9B9-C3CA-480F-BB52-CC7D4B02CE22}"/>
              </a:ext>
            </a:extLst>
          </p:cNvPr>
          <p:cNvSpPr>
            <a:spLocks noGrp="1"/>
          </p:cNvSpPr>
          <p:nvPr/>
        </p:nvSpPr>
        <p:spPr>
          <a:xfrm>
            <a:off x="1371600" y="12161520"/>
            <a:ext cx="13990320" cy="777240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3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300" b="1">
                <a:solidFill>
                  <a:srgbClr val="111111"/>
                </a:solidFill>
                <a:latin typeface="Aptos"/>
              </a:defRPr>
            </a:pPr>
            <a:r>
              <a:rPr sz="3300" b="1" dirty="0">
                <a:solidFill>
                  <a:srgbClr val="111111"/>
                </a:solidFill>
                <a:latin typeface="Aptos"/>
              </a:rPr>
              <a:t>350 measurements from 32 source families at z ≥ 4</a:t>
            </a:r>
          </a:p>
        </p:txBody>
      </p:sp>
      <p:sp>
        <p:nvSpPr>
          <p:cNvPr id="201" name="Poster diagram 201">
            <a:extLst>
              <a:ext uri="{FF2B5EF4-FFF2-40B4-BE49-F238E27FC236}">
                <a16:creationId xmlns:a16="http://schemas.microsoft.com/office/drawing/2014/main" id="{A5654399-0386-420B-B69B-49326884E1BD}"/>
              </a:ext>
            </a:extLst>
          </p:cNvPr>
          <p:cNvSpPr>
            <a:spLocks noGrp="1"/>
          </p:cNvSpPr>
          <p:nvPr/>
        </p:nvSpPr>
        <p:spPr>
          <a:xfrm>
            <a:off x="8193024" y="12984480"/>
            <a:ext cx="347472" cy="256032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" name="Poster diagram 202">
            <a:extLst>
              <a:ext uri="{FF2B5EF4-FFF2-40B4-BE49-F238E27FC236}">
                <a16:creationId xmlns:a16="http://schemas.microsoft.com/office/drawing/2014/main" id="{A4F32B50-A70B-4AAD-866D-8A9AFB77BA97}"/>
              </a:ext>
            </a:extLst>
          </p:cNvPr>
          <p:cNvSpPr>
            <a:spLocks noGrp="1"/>
          </p:cNvSpPr>
          <p:nvPr/>
        </p:nvSpPr>
        <p:spPr>
          <a:xfrm>
            <a:off x="1371600" y="13304520"/>
            <a:ext cx="13990320" cy="640080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33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300" b="1">
                <a:solidFill>
                  <a:srgbClr val="111111"/>
                </a:solidFill>
                <a:latin typeface="Aptos"/>
              </a:defRPr>
            </a:pPr>
            <a:r>
              <a:rPr sz="3300" b="1">
                <a:solidFill>
                  <a:srgbClr val="111111"/>
                </a:solidFill>
                <a:latin typeface="Aptos"/>
              </a:rPr>
              <a:t>338 provisional objects</a:t>
            </a:r>
          </a:p>
        </p:txBody>
      </p:sp>
      <p:sp>
        <p:nvSpPr>
          <p:cNvPr id="203" name="Poster diagram 203">
            <a:extLst>
              <a:ext uri="{FF2B5EF4-FFF2-40B4-BE49-F238E27FC236}">
                <a16:creationId xmlns:a16="http://schemas.microsoft.com/office/drawing/2014/main" id="{4B9D32E4-35CC-401A-84F3-9B0E93812FF3}"/>
              </a:ext>
            </a:extLst>
          </p:cNvPr>
          <p:cNvSpPr>
            <a:spLocks noGrp="1"/>
          </p:cNvSpPr>
          <p:nvPr/>
        </p:nvSpPr>
        <p:spPr>
          <a:xfrm>
            <a:off x="5532120" y="13990320"/>
            <a:ext cx="347472" cy="256032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4" name="Poster diagram 204">
            <a:extLst>
              <a:ext uri="{FF2B5EF4-FFF2-40B4-BE49-F238E27FC236}">
                <a16:creationId xmlns:a16="http://schemas.microsoft.com/office/drawing/2014/main" id="{D840C234-8C7B-423E-87DF-1C2EC82BD5EA}"/>
              </a:ext>
            </a:extLst>
          </p:cNvPr>
          <p:cNvSpPr>
            <a:spLocks noGrp="1"/>
          </p:cNvSpPr>
          <p:nvPr/>
        </p:nvSpPr>
        <p:spPr>
          <a:xfrm>
            <a:off x="12733020" y="13990320"/>
            <a:ext cx="347472" cy="256032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5" name="Poster diagram 205">
            <a:extLst>
              <a:ext uri="{FF2B5EF4-FFF2-40B4-BE49-F238E27FC236}">
                <a16:creationId xmlns:a16="http://schemas.microsoft.com/office/drawing/2014/main" id="{B0440D7D-E739-420F-ABED-4E5D214838EC}"/>
              </a:ext>
            </a:extLst>
          </p:cNvPr>
          <p:cNvSpPr>
            <a:spLocks noGrp="1"/>
          </p:cNvSpPr>
          <p:nvPr/>
        </p:nvSpPr>
        <p:spPr>
          <a:xfrm>
            <a:off x="1371600" y="14337792"/>
            <a:ext cx="8673998" cy="3749040"/>
          </a:xfrm>
          <a:prstGeom prst="rect">
            <a:avLst/>
          </a:prstGeom>
          <a:noFill/>
          <a:ln w="17145">
            <a:solidFill>
              <a:srgbClr val="07346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6" name="Poster diagram 206">
            <a:extLst>
              <a:ext uri="{FF2B5EF4-FFF2-40B4-BE49-F238E27FC236}">
                <a16:creationId xmlns:a16="http://schemas.microsoft.com/office/drawing/2014/main" id="{C0DEFAC9-EF02-4B42-B474-17FA97D60021}"/>
              </a:ext>
            </a:extLst>
          </p:cNvPr>
          <p:cNvSpPr>
            <a:spLocks noGrp="1"/>
          </p:cNvSpPr>
          <p:nvPr/>
        </p:nvSpPr>
        <p:spPr>
          <a:xfrm>
            <a:off x="1426464" y="14356080"/>
            <a:ext cx="8564270" cy="640080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100" b="1">
                <a:solidFill>
                  <a:srgbClr val="073463"/>
                </a:solidFill>
                <a:latin typeface="Aptos"/>
              </a:defRPr>
            </a:defPPr>
          </a:lstStyle>
          <a:p>
            <a:pPr algn="ctr">
              <a:defRPr sz="3100" b="1">
                <a:solidFill>
                  <a:srgbClr val="073463"/>
                </a:solidFill>
                <a:latin typeface="Aptos"/>
              </a:defRPr>
            </a:pPr>
            <a:r>
              <a:rPr sz="3100" b="1">
                <a:solidFill>
                  <a:srgbClr val="073463"/>
                </a:solidFill>
                <a:latin typeface="Aptos"/>
              </a:rPr>
              <a:t>234 expanded-sample objects</a:t>
            </a:r>
          </a:p>
        </p:txBody>
      </p:sp>
      <p:sp>
        <p:nvSpPr>
          <p:cNvPr id="207" name="Poster diagram 207">
            <a:extLst>
              <a:ext uri="{FF2B5EF4-FFF2-40B4-BE49-F238E27FC236}">
                <a16:creationId xmlns:a16="http://schemas.microsoft.com/office/drawing/2014/main" id="{0810806D-B188-4E18-8185-C1F9716B0663}"/>
              </a:ext>
            </a:extLst>
          </p:cNvPr>
          <p:cNvSpPr>
            <a:spLocks noGrp="1"/>
          </p:cNvSpPr>
          <p:nvPr/>
        </p:nvSpPr>
        <p:spPr>
          <a:xfrm>
            <a:off x="1554480" y="15041880"/>
            <a:ext cx="8308238" cy="914400"/>
          </a:xfrm>
          <a:prstGeom prst="rect">
            <a:avLst/>
          </a:prstGeom>
          <a:solidFill>
            <a:srgbClr val="F1F4F7"/>
          </a:solidFill>
          <a:ln w="0">
            <a:noFill/>
          </a:ln>
        </p:spPr>
        <p:txBody>
          <a:bodyPr lIns="114300" tIns="76200" rIns="114300" bIns="76200" anchor="ctr"/>
          <a:lstStyle>
            <a:defPPr algn="ctr">
              <a:defRPr sz="30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 dirty="0">
                <a:solidFill>
                  <a:srgbClr val="111111"/>
                </a:solidFill>
                <a:latin typeface="Aptos"/>
              </a:rPr>
              <a:t>220 primary</a:t>
            </a:r>
          </a:p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 dirty="0">
                <a:solidFill>
                  <a:srgbClr val="111111"/>
                </a:solidFill>
                <a:latin typeface="Aptos"/>
              </a:rPr>
              <a:t>Broad hydrogen (Balmer) line masses</a:t>
            </a:r>
            <a:r>
              <a:rPr lang="en-CA" sz="3000" b="1" dirty="0">
                <a:solidFill>
                  <a:srgbClr val="111111"/>
                </a:solidFill>
                <a:latin typeface="Aptos"/>
              </a:rPr>
              <a:t> </a:t>
            </a:r>
            <a:r>
              <a:rPr lang="en-CA" sz="2000" b="0" dirty="0" baseline="30000">
                <a:solidFill>
                  <a:srgbClr val="111111"/>
                </a:solidFill>
                <a:latin typeface="Aptos"/>
              </a:rPr>
              <a:t>[1]</a:t>
            </a:r>
            <a:endParaRPr sz="3000" b="1" dirty="0">
              <a:solidFill>
                <a:srgbClr val="111111"/>
              </a:solidFill>
              <a:latin typeface="Aptos"/>
            </a:endParaRPr>
          </a:p>
        </p:txBody>
      </p:sp>
      <p:sp>
        <p:nvSpPr>
          <p:cNvPr id="208" name="Poster diagram 208">
            <a:extLst>
              <a:ext uri="{FF2B5EF4-FFF2-40B4-BE49-F238E27FC236}">
                <a16:creationId xmlns:a16="http://schemas.microsoft.com/office/drawing/2014/main" id="{FAA325B6-AF3F-4391-B001-5CEA6C0D3BA1}"/>
              </a:ext>
            </a:extLst>
          </p:cNvPr>
          <p:cNvSpPr>
            <a:spLocks noGrp="1"/>
          </p:cNvSpPr>
          <p:nvPr/>
        </p:nvSpPr>
        <p:spPr>
          <a:xfrm>
            <a:off x="1554480" y="16002000"/>
            <a:ext cx="8308238" cy="2011680"/>
          </a:xfrm>
          <a:prstGeom prst="rect">
            <a:avLst/>
          </a:prstGeom>
          <a:solidFill>
            <a:srgbClr val="F4F0F8"/>
          </a:solidFill>
          <a:ln w="0">
            <a:noFill/>
          </a:ln>
        </p:spPr>
        <p:txBody>
          <a:bodyPr lIns="114300" tIns="76200" rIns="114300" bIns="76200" anchor="ctr"/>
          <a:lstStyle>
            <a:defPPr algn="ctr">
              <a:defRPr sz="27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 dirty="0">
                <a:solidFill>
                  <a:srgbClr val="111111"/>
                </a:solidFill>
                <a:latin typeface="Aptos"/>
              </a:rPr>
              <a:t>14 additional</a:t>
            </a:r>
          </a:p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 dirty="0">
                <a:solidFill>
                  <a:srgbClr val="111111"/>
                </a:solidFill>
                <a:latin typeface="Aptos"/>
              </a:rPr>
              <a:t>7 masses with uncertain line origins, assuming gas orbiting the black hole</a:t>
            </a:r>
          </a:p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 dirty="0">
                <a:solidFill>
                  <a:srgbClr val="111111"/>
                </a:solidFill>
                <a:latin typeface="Aptos"/>
              </a:rPr>
              <a:t>6 tentative broad-line detections</a:t>
            </a:r>
          </a:p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 dirty="0">
                <a:solidFill>
                  <a:srgbClr val="111111"/>
                </a:solidFill>
                <a:latin typeface="Aptos"/>
              </a:rPr>
              <a:t>GN-z11: ultraviolet-line mass </a:t>
            </a:r>
            <a:r>
              <a:rPr sz="1800" b="0" dirty="0" baseline="30000">
                <a:solidFill>
                  <a:srgbClr val="111111"/>
                </a:solidFill>
                <a:latin typeface="Aptos"/>
              </a:rPr>
              <a:t>[2]</a:t>
            </a:r>
          </a:p>
        </p:txBody>
      </p:sp>
      <p:sp>
        <p:nvSpPr>
          <p:cNvPr id="209" name="Poster diagram 209">
            <a:extLst>
              <a:ext uri="{FF2B5EF4-FFF2-40B4-BE49-F238E27FC236}">
                <a16:creationId xmlns:a16="http://schemas.microsoft.com/office/drawing/2014/main" id="{67E72EF7-28FB-420D-A9DC-6606EEB93072}"/>
              </a:ext>
            </a:extLst>
          </p:cNvPr>
          <p:cNvSpPr>
            <a:spLocks noGrp="1"/>
          </p:cNvSpPr>
          <p:nvPr/>
        </p:nvSpPr>
        <p:spPr>
          <a:xfrm>
            <a:off x="10457078" y="14337792"/>
            <a:ext cx="4904842" cy="3749040"/>
          </a:xfrm>
          <a:prstGeom prst="rect">
            <a:avLst/>
          </a:prstGeom>
          <a:solidFill>
            <a:srgbClr val="F5F5F5"/>
          </a:solidFill>
          <a:ln w="17145">
            <a:solidFill>
              <a:srgbClr val="AAAEB3"/>
            </a:solidFill>
          </a:ln>
        </p:spPr>
        <p:txBody>
          <a:bodyPr lIns="114300" tIns="76200" rIns="114300" bIns="76200" anchor="ctr"/>
          <a:lstStyle>
            <a:defPPr algn="ctr">
              <a:defRPr sz="29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Outside the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growth sample</a:t>
            </a:r>
          </a:p>
          <a:p>
            <a:endParaRPr sz="2900" b="0" dirty="0">
              <a:solidFill>
                <a:srgbClr val="111111"/>
              </a:solidFill>
              <a:latin typeface="Aptos"/>
            </a:endParaRP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98 without an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eligible mass</a:t>
            </a:r>
          </a:p>
          <a:p>
            <a:endParaRPr sz="2900" b="0" dirty="0">
              <a:solidFill>
                <a:srgbClr val="111111"/>
              </a:solidFill>
              <a:latin typeface="Aptos"/>
            </a:endParaRP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6 with uncertain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identity</a:t>
            </a:r>
          </a:p>
        </p:txBody>
      </p:sp>
      <p:sp>
        <p:nvSpPr>
          <p:cNvPr id="210" name="Poster diagram 210">
            <a:extLst>
              <a:ext uri="{FF2B5EF4-FFF2-40B4-BE49-F238E27FC236}">
                <a16:creationId xmlns:a16="http://schemas.microsoft.com/office/drawing/2014/main" id="{7A12F45B-766A-479C-A513-DC305E768B18}"/>
              </a:ext>
            </a:extLst>
          </p:cNvPr>
          <p:cNvSpPr>
            <a:spLocks noGrp="1"/>
          </p:cNvSpPr>
          <p:nvPr/>
        </p:nvSpPr>
        <p:spPr>
          <a:xfrm>
            <a:off x="1371600" y="22631400"/>
            <a:ext cx="13990320" cy="1051560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0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 dirty="0">
                <a:solidFill>
                  <a:srgbClr val="111111"/>
                </a:solidFill>
                <a:latin typeface="Aptos"/>
              </a:rPr>
              <a:t>Standardized mass, redshift and reported errors</a:t>
            </a:r>
            <a:r>
              <a:rPr lang="en-CA" sz="3000" b="1" dirty="0">
                <a:solidFill>
                  <a:srgbClr val="111111"/>
                </a:solidFill>
                <a:latin typeface="Aptos"/>
              </a:rPr>
              <a:t>;</a:t>
            </a:r>
            <a:endParaRPr sz="3000" b="1" dirty="0">
              <a:solidFill>
                <a:srgbClr val="111111"/>
              </a:solidFill>
              <a:latin typeface="Aptos"/>
            </a:endParaRPr>
          </a:p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 dirty="0">
                <a:solidFill>
                  <a:srgbClr val="111111"/>
                </a:solidFill>
                <a:latin typeface="Aptos"/>
              </a:rPr>
              <a:t>Checked identity, adopted one mass per object, retained alternatives</a:t>
            </a:r>
          </a:p>
        </p:txBody>
      </p:sp>
      <p:sp>
        <p:nvSpPr>
          <p:cNvPr id="211" name="Poster diagram 211">
            <a:extLst>
              <a:ext uri="{FF2B5EF4-FFF2-40B4-BE49-F238E27FC236}">
                <a16:creationId xmlns:a16="http://schemas.microsoft.com/office/drawing/2014/main" id="{7CA63206-32AF-4739-9D5D-3109B2CFE243}"/>
              </a:ext>
            </a:extLst>
          </p:cNvPr>
          <p:cNvSpPr>
            <a:spLocks noGrp="1"/>
          </p:cNvSpPr>
          <p:nvPr/>
        </p:nvSpPr>
        <p:spPr>
          <a:xfrm>
            <a:off x="4558284" y="23710392"/>
            <a:ext cx="347472" cy="23774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2" name="Poster diagram 212">
            <a:extLst>
              <a:ext uri="{FF2B5EF4-FFF2-40B4-BE49-F238E27FC236}">
                <a16:creationId xmlns:a16="http://schemas.microsoft.com/office/drawing/2014/main" id="{F0E4059E-8B12-4811-AB13-DD1F53C26AA3}"/>
              </a:ext>
            </a:extLst>
          </p:cNvPr>
          <p:cNvSpPr>
            <a:spLocks noGrp="1"/>
          </p:cNvSpPr>
          <p:nvPr/>
        </p:nvSpPr>
        <p:spPr>
          <a:xfrm>
            <a:off x="11827764" y="23710392"/>
            <a:ext cx="347472" cy="23774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3" name="Poster diagram 213">
            <a:extLst>
              <a:ext uri="{FF2B5EF4-FFF2-40B4-BE49-F238E27FC236}">
                <a16:creationId xmlns:a16="http://schemas.microsoft.com/office/drawing/2014/main" id="{58F78FE0-91A9-45C2-B422-70C8CA0D6647}"/>
              </a:ext>
            </a:extLst>
          </p:cNvPr>
          <p:cNvSpPr>
            <a:spLocks noGrp="1"/>
          </p:cNvSpPr>
          <p:nvPr/>
        </p:nvSpPr>
        <p:spPr>
          <a:xfrm>
            <a:off x="1371600" y="24003000"/>
            <a:ext cx="6720840" cy="914400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30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0">
                <a:solidFill>
                  <a:srgbClr val="111111"/>
                </a:solidFill>
                <a:latin typeface="Aptos"/>
              </a:defRPr>
            </a:pPr>
            <a:r>
              <a:rPr sz="3000" b="0">
                <a:solidFill>
                  <a:srgbClr val="111111"/>
                </a:solidFill>
                <a:latin typeface="Aptos"/>
              </a:rPr>
              <a:t>Central mass estimate</a:t>
            </a:r>
          </a:p>
        </p:txBody>
      </p:sp>
      <p:sp>
        <p:nvSpPr>
          <p:cNvPr id="214" name="Poster diagram 214">
            <a:extLst>
              <a:ext uri="{FF2B5EF4-FFF2-40B4-BE49-F238E27FC236}">
                <a16:creationId xmlns:a16="http://schemas.microsoft.com/office/drawing/2014/main" id="{E0DF1478-840F-4BDD-B29E-A5B229B3783E}"/>
              </a:ext>
            </a:extLst>
          </p:cNvPr>
          <p:cNvSpPr>
            <a:spLocks noGrp="1"/>
          </p:cNvSpPr>
          <p:nvPr/>
        </p:nvSpPr>
        <p:spPr>
          <a:xfrm>
            <a:off x="8641080" y="24003000"/>
            <a:ext cx="6720840" cy="914400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28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800" b="0">
                <a:solidFill>
                  <a:srgbClr val="111111"/>
                </a:solidFill>
                <a:latin typeface="Aptos"/>
              </a:defRPr>
            </a:pPr>
            <a:r>
              <a:rPr sz="2800" b="0">
                <a:solidFill>
                  <a:srgbClr val="111111"/>
                </a:solidFill>
                <a:latin typeface="Aptos"/>
              </a:rPr>
              <a:t>10,000 mass-error draws</a:t>
            </a:r>
          </a:p>
          <a:p>
            <a:pPr algn="ctr">
              <a:defRPr sz="2800" b="0">
                <a:solidFill>
                  <a:srgbClr val="111111"/>
                </a:solidFill>
                <a:latin typeface="Aptos"/>
              </a:defRPr>
            </a:pPr>
            <a:r>
              <a:rPr sz="2800" b="0">
                <a:solidFill>
                  <a:srgbClr val="111111"/>
                </a:solidFill>
                <a:latin typeface="Aptos"/>
              </a:rPr>
              <a:t>per object with reported errors</a:t>
            </a:r>
          </a:p>
        </p:txBody>
      </p:sp>
      <p:sp>
        <p:nvSpPr>
          <p:cNvPr id="215" name="Poster diagram 215">
            <a:extLst>
              <a:ext uri="{FF2B5EF4-FFF2-40B4-BE49-F238E27FC236}">
                <a16:creationId xmlns:a16="http://schemas.microsoft.com/office/drawing/2014/main" id="{F3106931-3BF4-4F12-9726-6C63FA258C0A}"/>
              </a:ext>
            </a:extLst>
          </p:cNvPr>
          <p:cNvSpPr>
            <a:spLocks noGrp="1"/>
          </p:cNvSpPr>
          <p:nvPr/>
        </p:nvSpPr>
        <p:spPr>
          <a:xfrm>
            <a:off x="4558284" y="24963120"/>
            <a:ext cx="347472" cy="23774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6" name="Poster diagram 216">
            <a:extLst>
              <a:ext uri="{FF2B5EF4-FFF2-40B4-BE49-F238E27FC236}">
                <a16:creationId xmlns:a16="http://schemas.microsoft.com/office/drawing/2014/main" id="{336C5316-EC48-42CE-8537-8453628B7D8C}"/>
              </a:ext>
            </a:extLst>
          </p:cNvPr>
          <p:cNvSpPr>
            <a:spLocks noGrp="1"/>
          </p:cNvSpPr>
          <p:nvPr/>
        </p:nvSpPr>
        <p:spPr>
          <a:xfrm>
            <a:off x="11827764" y="24963120"/>
            <a:ext cx="347472" cy="23774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7" name="Poster diagram 217">
            <a:extLst>
              <a:ext uri="{FF2B5EF4-FFF2-40B4-BE49-F238E27FC236}">
                <a16:creationId xmlns:a16="http://schemas.microsoft.com/office/drawing/2014/main" id="{971DBA1A-D2E6-408F-AF7C-16AF667673EA}"/>
              </a:ext>
            </a:extLst>
          </p:cNvPr>
          <p:cNvSpPr>
            <a:spLocks noGrp="1"/>
          </p:cNvSpPr>
          <p:nvPr/>
        </p:nvSpPr>
        <p:spPr>
          <a:xfrm>
            <a:off x="1371600" y="25283160"/>
            <a:ext cx="13990320" cy="2057400"/>
          </a:xfrm>
          <a:prstGeom prst="rect">
            <a:avLst/>
          </a:prstGeom>
          <a:solidFill>
            <a:srgbClr val="EAF1F8"/>
          </a:solidFill>
          <a:ln w="17145">
            <a:solidFill>
              <a:srgbClr val="073463"/>
            </a:solidFill>
          </a:ln>
        </p:spPr>
        <p:txBody>
          <a:bodyPr lIns="114300" tIns="76200" rIns="114300" bIns="76200" anchor="t"/>
          <a:lstStyle>
            <a:defPPr algn="ctr">
              <a:defRPr sz="31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100" b="1">
                <a:solidFill>
                  <a:srgbClr val="111111"/>
                </a:solidFill>
                <a:latin typeface="Aptos"/>
              </a:defRPr>
            </a:pPr>
            <a:r>
              <a:rPr sz="3100" b="1">
                <a:solidFill>
                  <a:srgbClr val="111111"/>
                </a:solidFill>
                <a:latin typeface="Aptos"/>
              </a:rPr>
              <a:t>Calculated the required lifetime-average</a:t>
            </a:r>
          </a:p>
          <a:p>
            <a:pPr algn="ctr">
              <a:defRPr sz="3100" b="1">
                <a:solidFill>
                  <a:srgbClr val="111111"/>
                </a:solidFill>
                <a:latin typeface="Aptos"/>
              </a:defRPr>
            </a:pPr>
            <a:r>
              <a:rPr sz="3100" b="1">
                <a:solidFill>
                  <a:srgbClr val="111111"/>
                </a:solidFill>
                <a:latin typeface="Aptos"/>
              </a:rPr>
              <a:t>Eddington ratio, including inactive periods </a:t>
            </a:r>
            <a:r>
              <a:rPr sz="2067" b="0" baseline="30000">
                <a:solidFill>
                  <a:srgbClr val="111111"/>
                </a:solidFill>
                <a:latin typeface="Aptos"/>
              </a:rPr>
              <a:t>[3]</a:t>
            </a:r>
          </a:p>
        </p:txBody>
      </p:sp>
      <p:sp>
        <p:nvSpPr>
          <p:cNvPr id="218" name="Poster diagram 218">
            <a:extLst>
              <a:ext uri="{FF2B5EF4-FFF2-40B4-BE49-F238E27FC236}">
                <a16:creationId xmlns:a16="http://schemas.microsoft.com/office/drawing/2014/main" id="{C320C512-3791-4B48-9B61-7FD45A4601D4}"/>
              </a:ext>
            </a:extLst>
          </p:cNvPr>
          <p:cNvSpPr>
            <a:spLocks noGrp="1"/>
          </p:cNvSpPr>
          <p:nvPr/>
        </p:nvSpPr>
        <p:spPr>
          <a:xfrm>
            <a:off x="1371600" y="26380440"/>
            <a:ext cx="13990320" cy="914400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0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0">
                <a:solidFill>
                  <a:srgbClr val="111111"/>
                </a:solidFill>
                <a:latin typeface="Aptos"/>
              </a:defRPr>
            </a:pPr>
            <a:r>
              <a:rPr sz="3000" b="0" dirty="0">
                <a:solidFill>
                  <a:srgbClr val="111111"/>
                </a:solidFill>
                <a:latin typeface="Aptos"/>
              </a:rPr>
              <a:t>Reference: 100 M⊙ seeds at z = 30</a:t>
            </a:r>
          </a:p>
          <a:p>
            <a:pPr algn="ctr">
              <a:defRPr sz="3000" b="0">
                <a:solidFill>
                  <a:srgbClr val="111111"/>
                </a:solidFill>
                <a:latin typeface="Aptos"/>
              </a:defRPr>
            </a:pPr>
            <a:r>
              <a:rPr sz="3000" b="0" dirty="0" err="1">
                <a:solidFill>
                  <a:srgbClr val="111111"/>
                </a:solidFill>
                <a:latin typeface="Aptos"/>
              </a:rPr>
              <a:t>ε</a:t>
            </a:r>
            <a:r>
              <a:rPr sz="3000" b="0" dirty="0">
                <a:solidFill>
                  <a:srgbClr val="111111"/>
                </a:solidFill>
                <a:latin typeface="Aptos"/>
              </a:rPr>
              <a:t> = 0.1, no mergers</a:t>
            </a:r>
          </a:p>
        </p:txBody>
      </p:sp>
      <p:sp>
        <p:nvSpPr>
          <p:cNvPr id="219" name="Poster diagram 219">
            <a:extLst>
              <a:ext uri="{FF2B5EF4-FFF2-40B4-BE49-F238E27FC236}">
                <a16:creationId xmlns:a16="http://schemas.microsoft.com/office/drawing/2014/main" id="{A3C5BCD3-C05E-4CC3-AF1A-0840F4394EE3}"/>
              </a:ext>
            </a:extLst>
          </p:cNvPr>
          <p:cNvSpPr>
            <a:spLocks noGrp="1"/>
          </p:cNvSpPr>
          <p:nvPr/>
        </p:nvSpPr>
        <p:spPr>
          <a:xfrm>
            <a:off x="4558284" y="27386280"/>
            <a:ext cx="347472" cy="23774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0" name="Poster diagram 220">
            <a:extLst>
              <a:ext uri="{FF2B5EF4-FFF2-40B4-BE49-F238E27FC236}">
                <a16:creationId xmlns:a16="http://schemas.microsoft.com/office/drawing/2014/main" id="{8529AA9E-ACC8-495E-8075-1D2F4EF9602E}"/>
              </a:ext>
            </a:extLst>
          </p:cNvPr>
          <p:cNvSpPr>
            <a:spLocks noGrp="1"/>
          </p:cNvSpPr>
          <p:nvPr/>
        </p:nvSpPr>
        <p:spPr>
          <a:xfrm>
            <a:off x="11827764" y="27386280"/>
            <a:ext cx="347472" cy="23774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1" name="Poster diagram 221">
            <a:extLst>
              <a:ext uri="{FF2B5EF4-FFF2-40B4-BE49-F238E27FC236}">
                <a16:creationId xmlns:a16="http://schemas.microsoft.com/office/drawing/2014/main" id="{03BB0CC6-89F0-4BB8-91C2-A18697FB4691}"/>
              </a:ext>
            </a:extLst>
          </p:cNvPr>
          <p:cNvSpPr>
            <a:spLocks noGrp="1"/>
          </p:cNvSpPr>
          <p:nvPr/>
        </p:nvSpPr>
        <p:spPr>
          <a:xfrm>
            <a:off x="1371600" y="27706320"/>
            <a:ext cx="6720840" cy="1143000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29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Ranked central estimates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Compared required average with 1</a:t>
            </a:r>
          </a:p>
        </p:txBody>
      </p:sp>
      <p:sp>
        <p:nvSpPr>
          <p:cNvPr id="222" name="Poster diagram 222">
            <a:extLst>
              <a:ext uri="{FF2B5EF4-FFF2-40B4-BE49-F238E27FC236}">
                <a16:creationId xmlns:a16="http://schemas.microsoft.com/office/drawing/2014/main" id="{28773224-ED00-4347-B2C6-7FB30A5D9C9B}"/>
              </a:ext>
            </a:extLst>
          </p:cNvPr>
          <p:cNvSpPr>
            <a:spLocks noGrp="1"/>
          </p:cNvSpPr>
          <p:nvPr/>
        </p:nvSpPr>
        <p:spPr>
          <a:xfrm>
            <a:off x="8641080" y="27706320"/>
            <a:ext cx="6720840" cy="1143000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29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Calculated the fraction of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mass-error draws above 1</a:t>
            </a:r>
          </a:p>
        </p:txBody>
      </p:sp>
      <p:sp>
        <p:nvSpPr>
          <p:cNvPr id="223" name="Poster diagram 223">
            <a:extLst>
              <a:ext uri="{FF2B5EF4-FFF2-40B4-BE49-F238E27FC236}">
                <a16:creationId xmlns:a16="http://schemas.microsoft.com/office/drawing/2014/main" id="{86A37956-8DA5-40AE-A03E-2CE429C5454A}"/>
              </a:ext>
            </a:extLst>
          </p:cNvPr>
          <p:cNvSpPr>
            <a:spLocks noGrp="1"/>
          </p:cNvSpPr>
          <p:nvPr/>
        </p:nvSpPr>
        <p:spPr>
          <a:xfrm>
            <a:off x="1371600" y="29123640"/>
            <a:ext cx="13990320" cy="1508760"/>
          </a:xfrm>
          <a:prstGeom prst="rect">
            <a:avLst/>
          </a:prstGeom>
          <a:noFill/>
          <a:ln w="0">
            <a:noFill/>
          </a:ln>
        </p:spPr>
        <p:txBody>
          <a:bodyPr lIns="0" tIns="27432" rIns="0" bIns="27432" anchor="t"/>
          <a:lstStyle/>
          <a:p>
            <a:pPr algn="l">
              <a:lnSpc>
                <a:spcPct val="100000"/>
              </a:lnSpc>
              <a:buNone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Uncertainty: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208 primary / 222 expanded objects. The other 12 enter central-mass tests only. Reported errors may omit calibration scatter.</a:t>
            </a:r>
            <a:r>
              <a:rPr lang="en-CA" sz="2200" b="0" dirty="0" baseline="30000">
                <a:solidFill>
                  <a:srgbClr val="000000"/>
                </a:solidFill>
                <a:latin typeface="Aptos"/>
              </a:rPr>
              <a:t>[1]</a:t>
            </a:r>
          </a:p>
        </p:txBody>
      </p:sp>
      <p:sp>
        <p:nvSpPr>
          <p:cNvPr id="224" name="Poster diagram 224">
            <a:extLst>
              <a:ext uri="{FF2B5EF4-FFF2-40B4-BE49-F238E27FC236}">
                <a16:creationId xmlns:a16="http://schemas.microsoft.com/office/drawing/2014/main" id="{39DA12D1-0D37-445A-9028-17994BB6BD07}"/>
              </a:ext>
            </a:extLst>
          </p:cNvPr>
          <p:cNvSpPr>
            <a:spLocks noGrp="1"/>
          </p:cNvSpPr>
          <p:nvPr/>
        </p:nvSpPr>
        <p:spPr>
          <a:xfrm>
            <a:off x="1371600" y="30861000"/>
            <a:ext cx="13990320" cy="1508760"/>
          </a:xfrm>
          <a:prstGeom prst="rect">
            <a:avLst/>
          </a:prstGeom>
          <a:noFill/>
          <a:ln w="0">
            <a:noFill/>
          </a:ln>
        </p:spPr>
        <p:txBody>
          <a:bodyPr lIns="0" tIns="27432" rIns="0" bIns="27432" anchor="t"/>
          <a:lstStyle/>
          <a:p>
            <a:pPr algn="l">
              <a:lnSpc>
                <a:spcPct val="100000"/>
              </a:lnSpc>
              <a:buNone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Earlier onset: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Solved minimum seed masses for 4 targets at start redshifts 20–3,400. Included radiation in cosmic ages and assumed gas was available.</a:t>
            </a:r>
          </a:p>
        </p:txBody>
      </p:sp>
      <p:sp>
        <p:nvSpPr>
          <p:cNvPr id="3" name="Efficiency comparison heading">
            <a:extLst>
              <a:ext uri="{FF2B5EF4-FFF2-40B4-BE49-F238E27FC236}">
                <a16:creationId xmlns:a16="http://schemas.microsoft.com/office/drawing/2014/main" id="{9C7CDCE8-5361-4FEF-24D8-015D90D4280A}"/>
              </a:ext>
            </a:extLst>
          </p:cNvPr>
          <p:cNvSpPr>
            <a:spLocks noGrp="1"/>
          </p:cNvSpPr>
          <p:nvPr/>
        </p:nvSpPr>
        <p:spPr>
          <a:xfrm>
            <a:off x="1371600" y="11475720"/>
            <a:ext cx="13990320" cy="64008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b="1">
                <a:solidFill>
                  <a:srgbClr val="002A5C"/>
                </a:solidFill>
              </a:defRPr>
            </a:defPPr>
          </a:lstStyle>
          <a:p>
            <a:pPr>
              <a:spcAft>
                <a:spcPts val="800"/>
              </a:spcAft>
              <a:buNone/>
              <a:defRPr b="1">
                <a:solidFill>
                  <a:srgbClr val="002A5C"/>
                </a:solidFill>
              </a:defRPr>
            </a:pPr>
            <a:r>
              <a:rPr lang="en-CA" sz="3600" b="1" dirty="0">
                <a:solidFill>
                  <a:srgbClr val="002A5C"/>
                </a:solidFill>
                <a:latin typeface="Aptos"/>
              </a:rPr>
              <a:t>Catalogue creation and sampling</a:t>
            </a:r>
          </a:p>
        </p:txBody>
      </p:sp>
    </p:spTree>
    <p:extLst>
      <p:ext uri="{BB962C8B-B14F-4D97-AF65-F5344CB8AC3E}">
        <p14:creationId xmlns:p14="http://schemas.microsoft.com/office/powerpoint/2010/main" val="8684871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181</TotalTime>
  <Words>1864</Words>
  <Application>Microsoft Macintosh PowerPoint</Application>
  <PresentationFormat>Custom</PresentationFormat>
  <Paragraphs>104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Office Theme</vt:lpstr>
      <vt:lpstr> Early Black-Hole Growth Constraints from JWST Nicole Jiang; University of Toronto </vt:lpstr>
      <vt:lpstr> Early Black-Hole Growth Constraints from JWST Nicole Jiang; University of Toronto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Nicole Jiang</dc:creator>
  <cp:lastModifiedBy>Nicole Jiang</cp:lastModifiedBy>
  <cp:revision>1</cp:revision>
  <dcterms:created xsi:type="dcterms:W3CDTF">2026-09-30T19:05:59Z</dcterms:created>
  <dcterms:modified xsi:type="dcterms:W3CDTF">2026-10-14T19:31:19Z</dcterms:modified>
</cp:coreProperties>
</file>
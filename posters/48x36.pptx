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60" r:id="rId2"/>
    <p:sldId id="261" r:id="rId3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15"/>
    <p:restoredTop sz="94701"/>
  </p:normalViewPr>
  <p:slideViewPr>
    <p:cSldViewPr snapToGrid="0">
      <p:cViewPr>
        <p:scale>
          <a:sx n="25" d="100"/>
          <a:sy n="25" d="100"/>
        </p:scale>
        <p:origin x="688" y="-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4T17:32:29.141" v="2461" actId="1076"/>
      <pc:docMkLst>
        <pc:docMk/>
      </pc:docMkLst>
      <pc:sldChg chg="addSp delSp modSp add del mod">
        <pc:chgData name="Nicole Jiang" userId="09ef0fc0f6f473b5" providerId="LiveId" clId="{EB8F4A53-0964-5BF1-90AD-931457E28E1A}" dt="2026-10-13T20:04:12.431" v="2363" actId="2696"/>
        <pc:sldMkLst>
          <pc:docMk/>
          <pc:sldMk cId="868487171" sldId="259"/>
        </pc:sldMkLst>
      </pc:sldChg>
      <pc:sldChg chg="modSp mod">
        <pc:chgData name="Nicole Jiang" userId="09ef0fc0f6f473b5" providerId="LiveId" clId="{EB8F4A53-0964-5BF1-90AD-931457E28E1A}" dt="2026-10-14T03:47:30.465" v="2450" actId="1076"/>
        <pc:sldMkLst>
          <pc:docMk/>
          <pc:sldMk cId="868487171" sldId="260"/>
        </pc:sldMkLst>
        <pc:spChg chg="mod">
          <ac:chgData name="Nicole Jiang" userId="09ef0fc0f6f473b5" providerId="LiveId" clId="{EB8F4A53-0964-5BF1-90AD-931457E28E1A}" dt="2026-10-13T21:08:14.362" v="2384" actId="255"/>
          <ac:spMkLst>
            <pc:docMk/>
            <pc:sldMk cId="868487171" sldId="260"/>
            <ac:spMk id="2" creationId="{6F669F8B-BE33-0C82-515C-AF8D3B759FB3}"/>
          </ac:spMkLst>
        </pc:spChg>
        <pc:spChg chg="mod">
          <ac:chgData name="Nicole Jiang" userId="09ef0fc0f6f473b5" providerId="LiveId" clId="{EB8F4A53-0964-5BF1-90AD-931457E28E1A}" dt="2026-10-13T21:08:49.323" v="2392" actId="1076"/>
          <ac:spMkLst>
            <pc:docMk/>
            <pc:sldMk cId="868487171" sldId="260"/>
            <ac:spMk id="15" creationId="{B71483CE-2A7E-6438-7E3B-E605C17C7099}"/>
          </ac:spMkLst>
        </pc:spChg>
        <pc:spChg chg="mod">
          <ac:chgData name="Nicole Jiang" userId="09ef0fc0f6f473b5" providerId="LiveId" clId="{EB8F4A53-0964-5BF1-90AD-931457E28E1A}" dt="2026-10-14T03:47:11.525" v="2445" actId="1076"/>
          <ac:spMkLst>
            <pc:docMk/>
            <pc:sldMk cId="868487171" sldId="260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3T21:08:26.352" v="2387" actId="255"/>
          <ac:spMkLst>
            <pc:docMk/>
            <pc:sldMk cId="868487171" sldId="260"/>
            <ac:spMk id="70" creationId="{7842EAEC-0FF9-516A-6712-19E0D19D0354}"/>
          </ac:spMkLst>
        </pc:spChg>
        <pc:spChg chg="mod">
          <ac:chgData name="Nicole Jiang" userId="09ef0fc0f6f473b5" providerId="LiveId" clId="{EB8F4A53-0964-5BF1-90AD-931457E28E1A}" dt="2026-10-14T01:47:21.679" v="2444" actId="20577"/>
          <ac:spMkLst>
            <pc:docMk/>
            <pc:sldMk cId="868487171" sldId="260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3T21:08:17.671" v="2385" actId="255"/>
          <ac:spMkLst>
            <pc:docMk/>
            <pc:sldMk cId="868487171" sldId="260"/>
            <ac:spMk id="76" creationId="{8F4057E1-F618-63B3-DF3A-8B3B4948305D}"/>
          </ac:spMkLst>
        </pc:spChg>
        <pc:spChg chg="mod">
          <ac:chgData name="Nicole Jiang" userId="09ef0fc0f6f473b5" providerId="LiveId" clId="{EB8F4A53-0964-5BF1-90AD-931457E28E1A}" dt="2026-10-13T21:09:01.692" v="2393" actId="1076"/>
          <ac:spMkLst>
            <pc:docMk/>
            <pc:sldMk cId="868487171" sldId="260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3T21:08:38.029" v="2390" actId="1076"/>
          <ac:spMkLst>
            <pc:docMk/>
            <pc:sldMk cId="868487171" sldId="260"/>
            <ac:spMk id="82" creationId="{82B57F9D-B4AF-1E4D-7FBC-B8680CB4CAB8}"/>
          </ac:spMkLst>
        </pc:spChg>
        <pc:picChg chg="mod">
          <ac:chgData name="Nicole Jiang" userId="09ef0fc0f6f473b5" providerId="LiveId" clId="{EB8F4A53-0964-5BF1-90AD-931457E28E1A}" dt="2026-10-14T03:47:25.307" v="2448" actId="14100"/>
          <ac:picMkLst>
            <pc:docMk/>
            <pc:sldMk cId="868487171" sldId="260"/>
            <ac:picMk id="5" creationId="{0BD845B3-DC16-6DC6-BFC8-2D65D247678D}"/>
          </ac:picMkLst>
        </pc:picChg>
        <pc:picChg chg="mod">
          <ac:chgData name="Nicole Jiang" userId="09ef0fc0f6f473b5" providerId="LiveId" clId="{EB8F4A53-0964-5BF1-90AD-931457E28E1A}" dt="2026-10-14T03:47:30.465" v="2450" actId="1076"/>
          <ac:picMkLst>
            <pc:docMk/>
            <pc:sldMk cId="868487171" sldId="260"/>
            <ac:picMk id="6" creationId="{9D3E6E2E-04C2-513B-0EE5-8C40F5B8F46A}"/>
          </ac:picMkLst>
        </pc:picChg>
      </pc:sldChg>
      <pc:sldChg chg="modSp mod">
        <pc:chgData name="Nicole Jiang" userId="09ef0fc0f6f473b5" providerId="LiveId" clId="{EB8F4A53-0964-5BF1-90AD-931457E28E1A}" dt="2026-10-14T17:32:29.141" v="2461" actId="1076"/>
        <pc:sldMkLst>
          <pc:docMk/>
          <pc:sldMk cId="868487171" sldId="261"/>
        </pc:sldMkLst>
        <pc:spChg chg="mod">
          <ac:chgData name="Nicole Jiang" userId="09ef0fc0f6f473b5" providerId="LiveId" clId="{EB8F4A53-0964-5BF1-90AD-931457E28E1A}" dt="2026-10-14T17:31:52.763" v="2458" actId="1076"/>
          <ac:spMkLst>
            <pc:docMk/>
            <pc:sldMk cId="868487171" sldId="261"/>
            <ac:spMk id="78" creationId="{D50205E6-BF86-6F08-991C-43F597FDF8DD}"/>
          </ac:spMkLst>
        </pc:spChg>
        <pc:spChg chg="mod">
          <ac:chgData name="Nicole Jiang" userId="09ef0fc0f6f473b5" providerId="LiveId" clId="{EB8F4A53-0964-5BF1-90AD-931457E28E1A}" dt="2026-10-14T17:32:02.402" v="2460" actId="1076"/>
          <ac:spMkLst>
            <pc:docMk/>
            <pc:sldMk cId="868487171" sldId="261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4T17:31:29.998" v="2454" actId="14100"/>
          <ac:spMkLst>
            <pc:docMk/>
            <pc:sldMk cId="868487171" sldId="261"/>
            <ac:spMk id="80" creationId="{BBD5C8AB-335C-2E4D-00F6-4B0BF74BB013}"/>
          </ac:spMkLst>
        </pc:spChg>
        <pc:spChg chg="mod">
          <ac:chgData name="Nicole Jiang" userId="09ef0fc0f6f473b5" providerId="LiveId" clId="{EB8F4A53-0964-5BF1-90AD-931457E28E1A}" dt="2026-10-14T17:32:29.141" v="2461" actId="1076"/>
          <ac:spMkLst>
            <pc:docMk/>
            <pc:sldMk cId="868487171" sldId="261"/>
            <ac:spMk id="120" creationId="{3A05E1FE-512D-49F3-9C39-22D275F0EE18}"/>
          </ac:spMkLst>
        </pc:sp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landscape_current_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5E2EF0-72FB-E9D0-1E82-C65E26ED9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0" y="22174200"/>
            <a:ext cx="13258800" cy="9240982"/>
          </a:xfrm>
          <a:prstGeom prst="rect">
            <a:avLst/>
          </a:prstGeom>
        </p:spPr>
      </p:pic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2240" y="8595360"/>
            <a:ext cx="13533120" cy="9134856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43891200" cy="4389120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9418320" tIns="91440" rIns="1188720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 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48640"/>
            <a:ext cx="2834640" cy="28346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3291840" y="1051560"/>
            <a:ext cx="6035040" cy="217703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67840" y="457200"/>
            <a:ext cx="3108960" cy="310896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12064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400800"/>
            <a:ext cx="12573000" cy="32461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120640"/>
            <a:ext cx="13487400" cy="466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28700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371600" y="11567160"/>
                <a:ext cx="12573000" cy="143560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Catalogue: </a:t>
                </a:r>
                <a:r>
                  <a:rPr lang="en-CA" sz="3300" b="0" dirty="0">
                    <a:latin typeface="Aptos"/>
                  </a:rPr>
                  <a:t>Compiled 350 measurements from 32 publication groups at z ≥ 4. Selected 1 mass per object and retained alternatives. Primary: 220 objects with broad Balmer-line masses [1]. Expanded: 234 objects,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Reference model: </a:t>
                </a:r>
                <a:r>
                  <a:rPr lang="en-CA" sz="3300" b="0" dirty="0">
                    <a:latin typeface="Aptos"/>
                  </a:rPr>
                  <a:t>Assumed 100 M⊙ seeds at z = 30, radiative efficiency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 = 0.1, no mergers (</a:t>
                </a:r>
                <a:r>
                  <a:rPr lang="en-CA" sz="3300" b="0" dirty="0" err="1">
                    <a:latin typeface="Aptos"/>
                  </a:rPr>
                  <a:t>B</a:t>
                </a:r>
                <a:r>
                  <a:rPr lang="en-CA" sz="3300" b="0" baseline="-25000" dirty="0" err="1">
                    <a:latin typeface="Aptos"/>
                  </a:rPr>
                  <a:t>merge</a:t>
                </a:r>
                <a:r>
                  <a:rPr lang="en-CA" sz="3300" b="0" dirty="0">
                    <a:latin typeface="Aptos"/>
                  </a:rPr>
                  <a:t> = 1), and </a:t>
                </a:r>
                <a:r>
                  <a:rPr lang="en-CA" sz="3300" b="0" dirty="0" err="1">
                    <a:latin typeface="Aptos"/>
                  </a:rPr>
                  <a:t>t</a:t>
                </a:r>
                <a:r>
                  <a:rPr lang="en-CA" sz="33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≈ 0.45 Gyr [3].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Model tests: </a:t>
                </a:r>
                <a:r>
                  <a:rPr lang="en-CA" sz="3300" b="0" dirty="0">
                    <a:latin typeface="Aptos"/>
                  </a:rPr>
                  <a:t>Calculated and ranked required lifetime-average Eddington ratios. Compared them with assumed maximum averages: 1 (reference) and 0.3, 1, or 2 (earlier onset).</a:t>
                </a:r>
              </a:p>
              <a:p>
                <a:pPr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3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bar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𝑓</m:t>
                              </m:r>
                            </m:e>
                          </m:bar>
                        </m:e>
                        <m:sub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Edd</m:t>
                          </m:r>
                          <m:r>
                            <a:rPr lang="en-US" sz="3300" i="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req</m:t>
                          </m:r>
                        </m:sub>
                      </m:sSub>
                      <m:r>
                        <a:rPr lang="en-US" sz="33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3300" i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0,</m:t>
                              </m:r>
                              <m:f>
                                <m:fPr>
                                  <m:ctrlPr>
                                    <a:rPr lang="en-US" sz="33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1−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en-US" sz="33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300" i="1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300" i="1">
                                          <a:latin typeface="Cambria Math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300" i="0">
                                          <a:latin typeface="Cambria Math"/>
                                        </a:rPr>
                                        <m:t>Edd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𝛥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3300" i="0">
                                      <a:latin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3300" i="0">
                                      <a:latin typeface="Cambria Math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3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3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BH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𝐵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merge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seed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CA" sz="3300" b="1" dirty="0">
                  <a:latin typeface="Aptos"/>
                </a:endParaRP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Symbols: </a:t>
                </a:r>
                <a:r>
                  <a:rPr lang="en-CA" sz="3300" b="0" dirty="0">
                    <a:latin typeface="Aptos"/>
                  </a:rPr>
                  <a:t>M⊙: solar mass. M</a:t>
                </a:r>
                <a:r>
                  <a:rPr lang="en-CA" sz="2200" b="0" baseline="-25000" dirty="0">
                    <a:latin typeface="Aptos"/>
                  </a:rPr>
                  <a:t>BH</a:t>
                </a:r>
                <a:r>
                  <a:rPr lang="en-CA" sz="3300" b="0" dirty="0">
                    <a:latin typeface="Aptos"/>
                  </a:rPr>
                  <a:t>: observed mass. </a:t>
                </a:r>
                <a:r>
                  <a:rPr lang="en-CA" sz="3300" b="0" dirty="0" err="1">
                    <a:latin typeface="Aptos"/>
                  </a:rPr>
                  <a:t>M</a:t>
                </a:r>
                <a:r>
                  <a:rPr lang="en-CA" sz="2200" b="0" baseline="-25000" dirty="0" err="1">
                    <a:latin typeface="Aptos"/>
                  </a:rPr>
                  <a:t>seed</a:t>
                </a:r>
                <a:r>
                  <a:rPr lang="en-CA" sz="3300" b="0" dirty="0">
                    <a:latin typeface="Aptos"/>
                  </a:rPr>
                  <a:t>: initial mass. </a:t>
                </a:r>
                <a:r>
                  <a:rPr lang="en-CA" sz="3300" b="0" dirty="0" err="1">
                    <a:latin typeface="Aptos"/>
                  </a:rPr>
                  <a:t>Δt</a:t>
                </a:r>
                <a:r>
                  <a:rPr lang="en-CA" sz="3300" b="0" dirty="0">
                    <a:latin typeface="Aptos"/>
                  </a:rPr>
                  <a:t>: growth time.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: radiated fraction of inflowing rest-mass energy. Higher redshift z means earlier time.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Eddington ratio: </a:t>
                </a:r>
                <a:r>
                  <a:rPr lang="en-CA" sz="3300" b="0" dirty="0" err="1">
                    <a:latin typeface="Aptos"/>
                  </a:rPr>
                  <a:t>f</a:t>
                </a:r>
                <a:r>
                  <a:rPr lang="en-CA" sz="22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= luminosity/Eddington luminosity. Radiation force balances gravity at this luminosity. </a:t>
                </a:r>
                <a:r>
                  <a:rPr lang="en-CA" sz="3300" b="0" dirty="0" err="1">
                    <a:latin typeface="Aptos"/>
                  </a:rPr>
                  <a:t>f̄</a:t>
                </a:r>
                <a:r>
                  <a:rPr lang="en-CA" sz="2200" b="0" baseline="-25000" dirty="0" err="1">
                    <a:latin typeface="Aptos"/>
                  </a:rPr>
                  <a:t>Edd,req</a:t>
                </a:r>
                <a:r>
                  <a:rPr lang="en-CA" sz="3300" b="0" dirty="0">
                    <a:latin typeface="Aptos"/>
                  </a:rPr>
                  <a:t> is the required lifetime average, including inactive periods. An average above 1 requires periods above the Eddington limit.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Uncertainty: </a:t>
                </a:r>
                <a:r>
                  <a:rPr lang="en-CA" sz="3300" b="0" dirty="0">
                    <a:latin typeface="Aptos"/>
                  </a:rPr>
                  <a:t>Used 10,000 draws per object for reported asymmetric mass errors. The 12 objects without errors contributed only central mass estimates.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Sensitivity: </a:t>
                </a:r>
                <a:r>
                  <a:rPr lang="en-CA" sz="3300" b="0" dirty="0">
                    <a:latin typeface="Aptos"/>
                  </a:rPr>
                  <a:t>Varied mass scale, seed mass, growth start time, and efficiency separately.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Earlier onset: </a:t>
                </a:r>
                <a:r>
                  <a:rPr lang="en-CA" sz="3300" b="0" dirty="0">
                    <a:latin typeface="Aptos"/>
                  </a:rPr>
                  <a:t>Solved minimum seed masses for the 4 plotted objects over 20 ≤ </a:t>
                </a:r>
                <a:r>
                  <a:rPr lang="en-CA" sz="3300" b="0" dirty="0" err="1">
                    <a:latin typeface="Aptos"/>
                  </a:rPr>
                  <a:t>z</a:t>
                </a:r>
                <a:r>
                  <a:rPr lang="en-CA" sz="2200" b="0" baseline="-25000" dirty="0" err="1">
                    <a:latin typeface="Aptos"/>
                  </a:rPr>
                  <a:t>acc</a:t>
                </a:r>
                <a:r>
                  <a:rPr lang="en-CA" sz="3300" b="0" dirty="0">
                    <a:latin typeface="Aptos"/>
                  </a:rPr>
                  <a:t> ≤ 3,400. Included radiation in cosmic ages. Assumed gas was available.</a:t>
                </a: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1567160"/>
                <a:ext cx="12573000" cy="14356080"/>
              </a:xfrm>
              <a:prstGeom prst="rect">
                <a:avLst/>
              </a:prstGeom>
              <a:blipFill>
                <a:blip r:embed="rId8"/>
                <a:stretch>
                  <a:fillRect l="-1164" t="-694" r="-1611" b="-50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287000"/>
            <a:ext cx="13487400" cy="1609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29260800" y="21351240"/>
            <a:ext cx="137160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29718000" y="22631400"/>
            <a:ext cx="12801600" cy="90068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Seed masses: </a:t>
            </a:r>
            <a:r>
              <a:rPr lang="en-CA" sz="3300" b="0">
                <a:latin typeface="Aptos"/>
              </a:rPr>
              <a:t>Most adopted masses are compatible with growth from small stellar seeds under the reference assumptions.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Accretion physics: </a:t>
            </a:r>
            <a:r>
              <a:rPr lang="en-CA" sz="3300" b="0">
                <a:latin typeface="Aptos"/>
              </a:rPr>
              <a:t>Lower radiative efficiency allows faster mass growth at the same Eddington ratio. Seed-mass requirements therefore depend on how efficiently accretion produces radiation.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Earlier growth: </a:t>
            </a:r>
            <a:r>
              <a:rPr lang="en-CA" sz="3300" b="0">
                <a:latin typeface="Aptos"/>
              </a:rPr>
              <a:t>Even the earliest tested start leaves 100 M⊙ seeds insufficient for the 4 targets at ε = 0.1 and average ratio ≤ 1. Larger seeds or super-Eddington episodes remain possible.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Further observations: </a:t>
            </a:r>
            <a:r>
              <a:rPr lang="en-CA" sz="3300" b="0">
                <a:latin typeface="Aptos"/>
              </a:rPr>
              <a:t>Independent mass measurements could change which objects require averages above 1. Counts from different surveys cannot establish how common these black holes are.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29260800" y="21351240"/>
            <a:ext cx="13716000" cy="108813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2688336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28163520"/>
            <a:ext cx="12573000" cy="3703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26883360"/>
            <a:ext cx="13487400" cy="53492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087600" y="12847320"/>
            <a:ext cx="13533120" cy="69494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947430" y="1600199"/>
            <a:ext cx="4379909" cy="3283151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443004">
            <a:off x="30817782" y="2180575"/>
            <a:ext cx="1415509" cy="681368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715">
            <a:off x="32496336" y="-185399"/>
            <a:ext cx="8190834" cy="460899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29718000" y="6400800"/>
            <a:ext cx="12801600" cy="2011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growth at z = 3,400 (matter–radiation equality) requires 270–1,200 M⊙ seeds for the 4 plotted objects (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5270480" y="6400800"/>
            <a:ext cx="13395960" cy="54864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Reference: </a:t>
            </a:r>
            <a:r>
              <a:rPr lang="en-CA" sz="3300" b="0">
                <a:latin typeface="Aptos"/>
              </a:rPr>
              <a:t>212/220 primary objects require average Eddington ratios ≤ 1. The other 8 require averages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Mass sensitivity: </a:t>
            </a:r>
            <a:r>
              <a:rPr lang="en-CA" sz="3300" b="0">
                <a:latin typeface="Aptos"/>
              </a:rPr>
              <a:t>After reducing masses by a factor of 3.2 (0.5 dex), UNCOVER-20466, COSMOS3D-13852, and RUBIES-EGS-55604 still require averages above 1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Seed mass: </a:t>
            </a:r>
            <a:r>
              <a:rPr lang="en-CA" sz="3300" b="0">
                <a:latin typeface="Aptos"/>
              </a:rPr>
              <a:t>1,000 M⊙ seeds leave 3/220 above 1. With 100,000 M⊙ seeds, no objects in either sample require averages above 1.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Growth start time: </a:t>
            </a:r>
            <a:r>
              <a:rPr lang="en-CA" sz="3300" b="0">
                <a:latin typeface="Aptos"/>
              </a:rPr>
              <a:t>Starting later (z = 20) increases the primary count above 1 to 18/220.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Efficiency: </a:t>
            </a:r>
            <a:r>
              <a:rPr lang="en-CA" sz="3300" b="0">
                <a:latin typeface="Aptos"/>
              </a:rPr>
              <a:t>At ε = 0.05719 (non-spinning thin disc) [4], all 234 central mass estimates require averages below 1 from 100 M⊙ seeds at z = 30.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4950440" y="5120640"/>
            <a:ext cx="28026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4950440" y="5120640"/>
            <a:ext cx="28026360" cy="1595628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5407640" y="19842480"/>
            <a:ext cx="1280160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After lowering masses by 0.5 dex, 3 targets require averages above 1 in ≥ 95% of mass-error draws.</a:t>
            </a:r>
          </a:p>
        </p:txBody>
      </p:sp>
      <p:sp>
        <p:nvSpPr>
          <p:cNvPr id="111" name="Figure takeaway 111"/>
          <p:cNvSpPr txBox="1"/>
          <p:nvPr/>
        </p:nvSpPr>
        <p:spPr>
          <a:xfrm>
            <a:off x="15224760" y="31455360"/>
            <a:ext cx="13121640" cy="7772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 dirty="0">
                <a:latin typeface="Aptos"/>
              </a:rPr>
              <a:t>Only efficiency changes between panels. Points below a curve can be reached with a lower average Eddington ratio.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29718000" y="17830800"/>
            <a:ext cx="1280160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29718000" y="18425160"/>
            <a:ext cx="12801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Under the reference model, 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Eddington ratio of 0.929.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0.9996 (ratio’s 16th–84th percentiles: 0.947–1.052) [5]. This interval includes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5224760" y="21351240"/>
            <a:ext cx="1312164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>
                <a:solidFill>
                  <a:srgbClr val="002A5C"/>
                </a:solidFill>
                <a:latin typeface="Aptos"/>
              </a:rPr>
              <a:t>Growth at two radiative efficiencies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2240" y="8595360"/>
            <a:ext cx="13533120" cy="9134856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43891200" cy="4389120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9418320" tIns="91440" rIns="1188720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 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48640"/>
            <a:ext cx="2834640" cy="28346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3291840" y="1051560"/>
            <a:ext cx="6035040" cy="217703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67840" y="457200"/>
            <a:ext cx="3108960" cy="310896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12064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400800"/>
            <a:ext cx="12573000" cy="32461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120640"/>
            <a:ext cx="13487400" cy="466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28700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C51BF9-B81A-ECF4-F01D-305CA1CE9DD1}"/>
              </a:ext>
            </a:extLst>
          </p:cNvPr>
          <p:cNvSpPr txBox="1"/>
          <p:nvPr/>
        </p:nvSpPr>
        <p:spPr>
          <a:xfrm>
            <a:off x="1371600" y="20116800"/>
            <a:ext cx="12573000" cy="5303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sz="3300" b="1" lang="en-CA">
                <a:latin typeface="Aptos"/>
              </a:rPr>
              <a:t>Symbols: </a:t>
            </a:r>
            <a:r>
              <a:rPr sz="3300" b="0" lang="en-CA">
                <a:latin typeface="Aptos"/>
              </a:rPr>
              <a:t>M⊙ denotes solar mass. Higher redshift z means earlier times. ε is the radiated fraction of accreted rest-mass energy.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sz="3300" b="1" lang="en-CA">
                <a:latin typeface="Aptos"/>
              </a:rPr>
              <a:t>Eddington ratio: </a:t>
            </a:r>
            <a:r>
              <a:rPr sz="3300" b="0" lang="en-CA">
                <a:latin typeface="Aptos"/>
              </a:rPr>
              <a:t>f</a:t>
            </a:r>
            <a:r>
              <a:rPr sz="2200" b="0" lang="en-CA" baseline="-25000">
                <a:latin typeface="Aptos"/>
              </a:rPr>
              <a:t>Edd</a:t>
            </a:r>
            <a:r>
              <a:rPr sz="3300" b="0" lang="en-CA">
                <a:latin typeface="Aptos"/>
              </a:rPr>
              <a:t> = luminosity/Eddington luminosity, where radiation force balances gravity. Averages above 1 require super-Eddington episodes.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287000"/>
            <a:ext cx="13487400" cy="1609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29260800" y="21593002"/>
            <a:ext cx="137160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29947430" y="23340060"/>
            <a:ext cx="12801600" cy="90068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Seed masses: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Most adopted masses allow growth from 100 M⊙ seeds under the reference assumptions.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Accretion physics: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Lower radiative efficiency leaves more accreted mass in the black hole, allowing faster growth at the same Eddington ratio.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Earlier growth: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Even the earliest tested start leaves 100 M⊙ seeds insufficient for the 4 targets at ε = 0.1 and average ratio ≤ 1. Larger seeds or super-Eddington episodes remain possible.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Further observations: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Independent mass measurements could change which objects require averages above 1. Counts from different surveys cannot establish how common these black holes are.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29260800" y="21593002"/>
            <a:ext cx="13716000" cy="10639598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2688336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28163520"/>
            <a:ext cx="12573000" cy="3703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26883360"/>
            <a:ext cx="13487400" cy="53492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87600" y="12847320"/>
            <a:ext cx="13533120" cy="69494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947430" y="1600199"/>
            <a:ext cx="4379909" cy="3283151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443004">
            <a:off x="30817782" y="2180575"/>
            <a:ext cx="1415509" cy="681368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98715">
            <a:off x="32496336" y="-185399"/>
            <a:ext cx="8190834" cy="460899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29718000" y="6400800"/>
            <a:ext cx="12801600" cy="2011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at matter–radiation equality (z = 3,400) still requires 270–1,200 M⊙ seeds for the 4 plotted objects (ε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5270480" y="6400800"/>
            <a:ext cx="13395960" cy="548640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Reference: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8/220 primary objects require average Eddington ratios above 1, including 5 in ≥ 95% of mass-error draws.</a:t>
            </a:r>
          </a:p>
          <a:p>
            <a:pPr marL="285750" indent="-228600"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Mass sensitivity: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Lowering masses by a factor of 3.2 leaves 3 primary objects requiring averages above 1 in ≥ 95% of draws.</a:t>
            </a:r>
          </a:p>
          <a:p>
            <a:pPr marL="285750" indent="-228600"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Seed mass: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1,000 M⊙ seeds leave 3/220 above 1. With 100,000 M⊙ seeds, neither sample has objects above 1.</a:t>
            </a:r>
          </a:p>
          <a:p>
            <a:pPr marL="285750" indent="-228600"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Growth start time: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At z = 20, 18/220 primary objects require averages above 1, and GN-z11 requires the highest average in the expanded sample.</a:t>
            </a:r>
          </a:p>
          <a:p>
            <a:pPr marL="285750" indent="-228600"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Efficiency: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At ε = 0.05719 (non-spinning thin disc) [4], all 234 central mass estimates require averages below 1 under the other reference assumptions.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4950440" y="5120640"/>
            <a:ext cx="28026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4950440" y="5120640"/>
            <a:ext cx="28026360" cy="1595628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5407640" y="19842480"/>
            <a:ext cx="1280160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Orange points show the same objects after lowering masses by a factor of 3.2.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29718000" y="17830800"/>
            <a:ext cx="1280160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29718000" y="18425160"/>
            <a:ext cx="128016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A2744-QSO1’s broad-line mass (2.0 × 10</a:t>
            </a:r>
            <a:r>
              <a:rPr lang="en-CA" sz="2200" b="0" dirty="0" baseline="3000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of 0.929 under the reference model. Its dynamical mass (5.0 × 10</a:t>
            </a:r>
            <a:r>
              <a:rPr lang="en-CA" sz="2200" b="0" dirty="0" baseline="3000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0.9996 [5]. Its required average spans 0.947–1.052 (16th–84th percentiles), including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5224760" y="21593002"/>
            <a:ext cx="1312164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Growth test and uncertainty</a:t>
            </a:r>
          </a:p>
        </p:txBody>
      </p:sp>
      <p:sp>
        <p:nvSpPr>
          <p:cNvPr id="200" name="Poster diagram 200">
            <a:extLst>
              <a:ext uri="{FF2B5EF4-FFF2-40B4-BE49-F238E27FC236}">
                <a16:creationId xmlns:a16="http://schemas.microsoft.com/office/drawing/2014/main" id="{699E157F-D92A-4991-98FC-648C3BD43D75}"/>
              </a:ext>
            </a:extLst>
          </p:cNvPr>
          <p:cNvSpPr>
            <a:spLocks noGrp="1"/>
          </p:cNvSpPr>
          <p:nvPr/>
        </p:nvSpPr>
        <p:spPr>
          <a:xfrm>
            <a:off x="1371600" y="11612880"/>
            <a:ext cx="12573000" cy="11430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350 measurements from 32 source families at z ≥ 4</a:t>
            </a:r>
          </a:p>
        </p:txBody>
      </p:sp>
      <p:sp>
        <p:nvSpPr>
          <p:cNvPr id="201" name="Poster diagram 201">
            <a:extLst>
              <a:ext uri="{FF2B5EF4-FFF2-40B4-BE49-F238E27FC236}">
                <a16:creationId xmlns:a16="http://schemas.microsoft.com/office/drawing/2014/main" id="{5DBF8BE7-B1E4-448E-A58E-05E47AA1B6BF}"/>
              </a:ext>
            </a:extLst>
          </p:cNvPr>
          <p:cNvSpPr>
            <a:spLocks noGrp="1"/>
          </p:cNvSpPr>
          <p:nvPr/>
        </p:nvSpPr>
        <p:spPr>
          <a:xfrm>
            <a:off x="7484364" y="12838176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02" name="Poster diagram 202">
            <a:extLst>
              <a:ext uri="{FF2B5EF4-FFF2-40B4-BE49-F238E27FC236}">
                <a16:creationId xmlns:a16="http://schemas.microsoft.com/office/drawing/2014/main" id="{13455C7A-1969-4193-8FCE-1C4BF57AF011}"/>
              </a:ext>
            </a:extLst>
          </p:cNvPr>
          <p:cNvSpPr>
            <a:spLocks noGrp="1"/>
          </p:cNvSpPr>
          <p:nvPr/>
        </p:nvSpPr>
        <p:spPr>
          <a:xfrm>
            <a:off x="1371600" y="13286232"/>
            <a:ext cx="1257300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338 provisional objects</a:t>
            </a:r>
          </a:p>
        </p:txBody>
      </p:sp>
      <p:sp>
        <p:nvSpPr>
          <p:cNvPr id="203" name="Poster diagram 203">
            <a:extLst>
              <a:ext uri="{FF2B5EF4-FFF2-40B4-BE49-F238E27FC236}">
                <a16:creationId xmlns:a16="http://schemas.microsoft.com/office/drawing/2014/main" id="{EAA1C549-274B-423F-829F-29353AE1D53A}"/>
              </a:ext>
            </a:extLst>
          </p:cNvPr>
          <p:cNvSpPr>
            <a:spLocks noGrp="1"/>
          </p:cNvSpPr>
          <p:nvPr/>
        </p:nvSpPr>
        <p:spPr>
          <a:xfrm>
            <a:off x="5095494" y="14310360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04" name="Poster diagram 204">
            <a:extLst>
              <a:ext uri="{FF2B5EF4-FFF2-40B4-BE49-F238E27FC236}">
                <a16:creationId xmlns:a16="http://schemas.microsoft.com/office/drawing/2014/main" id="{C109BC12-FDD0-491E-8C8A-2687CF138CCA}"/>
              </a:ext>
            </a:extLst>
          </p:cNvPr>
          <p:cNvSpPr>
            <a:spLocks noGrp="1"/>
          </p:cNvSpPr>
          <p:nvPr/>
        </p:nvSpPr>
        <p:spPr>
          <a:xfrm>
            <a:off x="11587734" y="14310360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05" name="Poster diagram 205">
            <a:extLst>
              <a:ext uri="{FF2B5EF4-FFF2-40B4-BE49-F238E27FC236}">
                <a16:creationId xmlns:a16="http://schemas.microsoft.com/office/drawing/2014/main" id="{478ABDB6-0B96-4A0D-A2AF-9FAC0E20999C}"/>
              </a:ext>
            </a:extLst>
          </p:cNvPr>
          <p:cNvSpPr>
            <a:spLocks noGrp="1"/>
          </p:cNvSpPr>
          <p:nvPr/>
        </p:nvSpPr>
        <p:spPr>
          <a:xfrm>
            <a:off x="1371600" y="14813280"/>
            <a:ext cx="7795260" cy="4709160"/>
          </a:xfrm>
          <a:prstGeom prst="rect">
            <a:avLst/>
          </a:prstGeom>
          <a:noFill/>
          <a:ln w="17145">
            <a:solidFill>
              <a:srgbClr val="073463"/>
            </a:solidFill>
          </a:ln>
        </p:spPr>
      </p:sp>
      <p:sp>
        <p:nvSpPr>
          <p:cNvPr id="206" name="Poster diagram 206">
            <a:extLst>
              <a:ext uri="{FF2B5EF4-FFF2-40B4-BE49-F238E27FC236}">
                <a16:creationId xmlns:a16="http://schemas.microsoft.com/office/drawing/2014/main" id="{D11B0026-3AB5-4B4F-84C2-4956D6F75635}"/>
              </a:ext>
            </a:extLst>
          </p:cNvPr>
          <p:cNvSpPr>
            <a:spLocks noGrp="1"/>
          </p:cNvSpPr>
          <p:nvPr/>
        </p:nvSpPr>
        <p:spPr>
          <a:xfrm>
            <a:off x="1426464" y="14886432"/>
            <a:ext cx="7685532" cy="8229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100" b="1">
                <a:solidFill>
                  <a:srgbClr val="073463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073463"/>
                </a:solidFill>
                <a:latin typeface="Aptos"/>
              </a:defRPr>
            </a:pPr>
            <a:r>
              <a:rPr sz="3100" b="1">
                <a:solidFill>
                  <a:srgbClr val="073463"/>
                </a:solidFill>
                <a:latin typeface="Aptos"/>
              </a:rPr>
              <a:t>234 expanded-sample objects</a:t>
            </a:r>
          </a:p>
        </p:txBody>
      </p:sp>
      <p:sp>
        <p:nvSpPr>
          <p:cNvPr id="207" name="Poster diagram 207">
            <a:extLst>
              <a:ext uri="{FF2B5EF4-FFF2-40B4-BE49-F238E27FC236}">
                <a16:creationId xmlns:a16="http://schemas.microsoft.com/office/drawing/2014/main" id="{CFB55C1A-2745-4795-A511-49FE34102BDE}"/>
              </a:ext>
            </a:extLst>
          </p:cNvPr>
          <p:cNvSpPr>
            <a:spLocks noGrp="1"/>
          </p:cNvSpPr>
          <p:nvPr/>
        </p:nvSpPr>
        <p:spPr>
          <a:xfrm>
            <a:off x="1554480" y="15892272"/>
            <a:ext cx="7429500" cy="1261872"/>
          </a:xfrm>
          <a:prstGeom prst="rect">
            <a:avLst/>
          </a:prstGeom>
          <a:solidFill>
            <a:srgbClr val="F1F4F7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>
                <a:solidFill>
                  <a:srgbClr val="111111"/>
                </a:solidFill>
                <a:latin typeface="Aptos"/>
              </a:rPr>
              <a:t>220 primary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>
                <a:solidFill>
                  <a:srgbClr val="111111"/>
                </a:solidFill>
                <a:latin typeface="Aptos"/>
              </a:rPr>
              <a:t>Broad hydrogen (Balmer) line masses</a:t>
            </a:r>
          </a:p>
        </p:txBody>
      </p:sp>
      <p:sp>
        <p:nvSpPr>
          <p:cNvPr id="208" name="Poster diagram 208">
            <a:extLst>
              <a:ext uri="{FF2B5EF4-FFF2-40B4-BE49-F238E27FC236}">
                <a16:creationId xmlns:a16="http://schemas.microsoft.com/office/drawing/2014/main" id="{3017308C-0697-4E37-A2DE-C225A0163F7E}"/>
              </a:ext>
            </a:extLst>
          </p:cNvPr>
          <p:cNvSpPr>
            <a:spLocks noGrp="1"/>
          </p:cNvSpPr>
          <p:nvPr/>
        </p:nvSpPr>
        <p:spPr>
          <a:xfrm>
            <a:off x="1554480" y="17309592"/>
            <a:ext cx="7429500" cy="1920240"/>
          </a:xfrm>
          <a:prstGeom prst="rect">
            <a:avLst/>
          </a:prstGeom>
          <a:solidFill>
            <a:srgbClr val="F4F0F8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14 additional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7 masses with uncertain line origins, assuming gas orbiting the black hole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6 tentative broad-line detections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GN-z11: ultraviolet-line mass [2]</a:t>
            </a:r>
          </a:p>
        </p:txBody>
      </p:sp>
      <p:sp>
        <p:nvSpPr>
          <p:cNvPr id="209" name="Poster diagram 209">
            <a:extLst>
              <a:ext uri="{FF2B5EF4-FFF2-40B4-BE49-F238E27FC236}">
                <a16:creationId xmlns:a16="http://schemas.microsoft.com/office/drawing/2014/main" id="{83384E18-F6A1-4415-B6AD-8D310D36F76D}"/>
              </a:ext>
            </a:extLst>
          </p:cNvPr>
          <p:cNvSpPr>
            <a:spLocks noGrp="1"/>
          </p:cNvSpPr>
          <p:nvPr/>
        </p:nvSpPr>
        <p:spPr>
          <a:xfrm>
            <a:off x="9578340" y="14813280"/>
            <a:ext cx="4366260" cy="4709160"/>
          </a:xfrm>
          <a:prstGeom prst="rect">
            <a:avLst/>
          </a:prstGeom>
          <a:solidFill>
            <a:srgbClr val="F5F5F5"/>
          </a:solidFill>
          <a:ln w="17145">
            <a:solidFill>
              <a:srgbClr val="AAAEB3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Outside the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growth sample</a:t>
            </a:r>
          </a:p>
          <a:p>
            <a:r>
              <a:rPr sz="2900">
                <a:latin typeface="Aptos"/>
              </a:rPr>
              <a:t/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98 without an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eligible mass</a:t>
            </a:r>
          </a:p>
          <a:p>
            <a:r>
              <a:rPr sz="2900">
                <a:latin typeface="Aptos"/>
              </a:rPr>
              <a:t/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6 with uncertain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identity</a:t>
            </a:r>
          </a:p>
        </p:txBody>
      </p:sp>
      <p:sp>
        <p:nvSpPr>
          <p:cNvPr id="210" name="Poster diagram 210">
            <a:extLst>
              <a:ext uri="{FF2B5EF4-FFF2-40B4-BE49-F238E27FC236}">
                <a16:creationId xmlns:a16="http://schemas.microsoft.com/office/drawing/2014/main" id="{FC2FBDF4-26D3-4EB9-91DD-DF6E6C80D892}"/>
              </a:ext>
            </a:extLst>
          </p:cNvPr>
          <p:cNvSpPr>
            <a:spLocks noGrp="1"/>
          </p:cNvSpPr>
          <p:nvPr/>
        </p:nvSpPr>
        <p:spPr>
          <a:xfrm>
            <a:off x="15224760" y="22448520"/>
            <a:ext cx="13121640" cy="10515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>
                <a:solidFill>
                  <a:srgbClr val="111111"/>
                </a:solidFill>
                <a:latin typeface="Aptos"/>
              </a:rPr>
              <a:t>Standardized mass, redshift and reported errors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>
                <a:solidFill>
                  <a:srgbClr val="111111"/>
                </a:solidFill>
                <a:latin typeface="Aptos"/>
              </a:rPr>
              <a:t>Checked identity, adopted one mass per object, retained alternatives</a:t>
            </a:r>
          </a:p>
        </p:txBody>
      </p:sp>
      <p:sp>
        <p:nvSpPr>
          <p:cNvPr id="211" name="Poster diagram 211">
            <a:extLst>
              <a:ext uri="{FF2B5EF4-FFF2-40B4-BE49-F238E27FC236}">
                <a16:creationId xmlns:a16="http://schemas.microsoft.com/office/drawing/2014/main" id="{5BCCA90D-B247-4C43-814D-3F33FA0060AF}"/>
              </a:ext>
            </a:extLst>
          </p:cNvPr>
          <p:cNvSpPr>
            <a:spLocks noGrp="1"/>
          </p:cNvSpPr>
          <p:nvPr/>
        </p:nvSpPr>
        <p:spPr>
          <a:xfrm>
            <a:off x="18194274" y="23545800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12" name="Poster diagram 212">
            <a:extLst>
              <a:ext uri="{FF2B5EF4-FFF2-40B4-BE49-F238E27FC236}">
                <a16:creationId xmlns:a16="http://schemas.microsoft.com/office/drawing/2014/main" id="{3917DDD1-8042-4AA2-8AD5-11B2F4BE63EA}"/>
              </a:ext>
            </a:extLst>
          </p:cNvPr>
          <p:cNvSpPr>
            <a:spLocks noGrp="1"/>
          </p:cNvSpPr>
          <p:nvPr/>
        </p:nvSpPr>
        <p:spPr>
          <a:xfrm>
            <a:off x="25029414" y="23545800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13" name="Poster diagram 213">
            <a:extLst>
              <a:ext uri="{FF2B5EF4-FFF2-40B4-BE49-F238E27FC236}">
                <a16:creationId xmlns:a16="http://schemas.microsoft.com/office/drawing/2014/main" id="{4E8C6044-EF62-4751-B025-2C17DAD8AEF5}"/>
              </a:ext>
            </a:extLst>
          </p:cNvPr>
          <p:cNvSpPr>
            <a:spLocks noGrp="1"/>
          </p:cNvSpPr>
          <p:nvPr/>
        </p:nvSpPr>
        <p:spPr>
          <a:xfrm>
            <a:off x="15224760" y="24021288"/>
            <a:ext cx="628650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Central mass estimate</a:t>
            </a:r>
          </a:p>
        </p:txBody>
      </p:sp>
      <p:sp>
        <p:nvSpPr>
          <p:cNvPr id="214" name="Poster diagram 214">
            <a:extLst>
              <a:ext uri="{FF2B5EF4-FFF2-40B4-BE49-F238E27FC236}">
                <a16:creationId xmlns:a16="http://schemas.microsoft.com/office/drawing/2014/main" id="{DAC20B4A-A658-4E92-B13B-380145428A3B}"/>
              </a:ext>
            </a:extLst>
          </p:cNvPr>
          <p:cNvSpPr>
            <a:spLocks noGrp="1"/>
          </p:cNvSpPr>
          <p:nvPr/>
        </p:nvSpPr>
        <p:spPr>
          <a:xfrm>
            <a:off x="22059900" y="24021288"/>
            <a:ext cx="628650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8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10,000 mass-error draws</a:t>
            </a:r>
          </a:p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per object with reported errors</a:t>
            </a:r>
          </a:p>
        </p:txBody>
      </p:sp>
      <p:sp>
        <p:nvSpPr>
          <p:cNvPr id="215" name="Poster diagram 215">
            <a:extLst>
              <a:ext uri="{FF2B5EF4-FFF2-40B4-BE49-F238E27FC236}">
                <a16:creationId xmlns:a16="http://schemas.microsoft.com/office/drawing/2014/main" id="{D7E65BAE-A999-431D-B9B3-80E79DD35FE0}"/>
              </a:ext>
            </a:extLst>
          </p:cNvPr>
          <p:cNvSpPr>
            <a:spLocks noGrp="1"/>
          </p:cNvSpPr>
          <p:nvPr/>
        </p:nvSpPr>
        <p:spPr>
          <a:xfrm>
            <a:off x="18194274" y="25072848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16" name="Poster diagram 216">
            <a:extLst>
              <a:ext uri="{FF2B5EF4-FFF2-40B4-BE49-F238E27FC236}">
                <a16:creationId xmlns:a16="http://schemas.microsoft.com/office/drawing/2014/main" id="{DCEE644A-F16E-4A42-AD30-DE3878F3B770}"/>
              </a:ext>
            </a:extLst>
          </p:cNvPr>
          <p:cNvSpPr>
            <a:spLocks noGrp="1"/>
          </p:cNvSpPr>
          <p:nvPr/>
        </p:nvSpPr>
        <p:spPr>
          <a:xfrm>
            <a:off x="25029414" y="25072848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17" name="Poster diagram 217">
            <a:extLst>
              <a:ext uri="{FF2B5EF4-FFF2-40B4-BE49-F238E27FC236}">
                <a16:creationId xmlns:a16="http://schemas.microsoft.com/office/drawing/2014/main" id="{83BE33FA-0BE4-4E6E-9671-91960EE5F8B8}"/>
              </a:ext>
            </a:extLst>
          </p:cNvPr>
          <p:cNvSpPr>
            <a:spLocks noGrp="1"/>
          </p:cNvSpPr>
          <p:nvPr/>
        </p:nvSpPr>
        <p:spPr>
          <a:xfrm>
            <a:off x="15224760" y="25575768"/>
            <a:ext cx="13121640" cy="2057400"/>
          </a:xfrm>
          <a:prstGeom prst="rect">
            <a:avLst/>
          </a:prstGeom>
          <a:solidFill>
            <a:srgbClr val="EAF1F8"/>
          </a:solidFill>
          <a:ln w="17145">
            <a:solidFill>
              <a:srgbClr val="073463"/>
            </a:solidFill>
          </a:ln>
        </p:spPr>
        <p:txBody>
          <a:bodyPr lIns="114300" tIns="76200" rIns="114300" bIns="76200" anchor="t"/>
          <a:lstStyle>
            <a:defPPr algn="ctr">
              <a:defRPr sz="31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Calculated the required lifetime-average</a:t>
            </a:r>
          </a:p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Eddington ratio, including inactive periods</a:t>
            </a:r>
          </a:p>
        </p:txBody>
      </p:sp>
      <p:sp>
        <p:nvSpPr>
          <p:cNvPr id="218" name="Poster diagram 218">
            <a:extLst>
              <a:ext uri="{FF2B5EF4-FFF2-40B4-BE49-F238E27FC236}">
                <a16:creationId xmlns:a16="http://schemas.microsoft.com/office/drawing/2014/main" id="{CA38D446-83F8-4993-A092-27D80A515CCA}"/>
              </a:ext>
            </a:extLst>
          </p:cNvPr>
          <p:cNvSpPr>
            <a:spLocks noGrp="1"/>
          </p:cNvSpPr>
          <p:nvPr/>
        </p:nvSpPr>
        <p:spPr>
          <a:xfrm>
            <a:off x="15224760" y="26673048"/>
            <a:ext cx="13121640" cy="9144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Reference: 100 M⊙ seeds at z = 30</a:t>
            </a:r>
          </a:p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ε = 0.1, no mergers [3]</a:t>
            </a:r>
          </a:p>
        </p:txBody>
      </p:sp>
      <p:sp>
        <p:nvSpPr>
          <p:cNvPr id="219" name="Poster diagram 219">
            <a:extLst>
              <a:ext uri="{FF2B5EF4-FFF2-40B4-BE49-F238E27FC236}">
                <a16:creationId xmlns:a16="http://schemas.microsoft.com/office/drawing/2014/main" id="{B0628F24-9EF4-4DE9-BECB-ADFC3A58B166}"/>
              </a:ext>
            </a:extLst>
          </p:cNvPr>
          <p:cNvSpPr>
            <a:spLocks noGrp="1"/>
          </p:cNvSpPr>
          <p:nvPr/>
        </p:nvSpPr>
        <p:spPr>
          <a:xfrm>
            <a:off x="18194274" y="27733752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20" name="Poster diagram 220">
            <a:extLst>
              <a:ext uri="{FF2B5EF4-FFF2-40B4-BE49-F238E27FC236}">
                <a16:creationId xmlns:a16="http://schemas.microsoft.com/office/drawing/2014/main" id="{E7284162-1248-4C50-B8BF-BE53AF794261}"/>
              </a:ext>
            </a:extLst>
          </p:cNvPr>
          <p:cNvSpPr>
            <a:spLocks noGrp="1"/>
          </p:cNvSpPr>
          <p:nvPr/>
        </p:nvSpPr>
        <p:spPr>
          <a:xfrm>
            <a:off x="25029414" y="27733752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</p:sp>
      <p:sp>
        <p:nvSpPr>
          <p:cNvPr id="221" name="Poster diagram 221">
            <a:extLst>
              <a:ext uri="{FF2B5EF4-FFF2-40B4-BE49-F238E27FC236}">
                <a16:creationId xmlns:a16="http://schemas.microsoft.com/office/drawing/2014/main" id="{7AE6533C-DEBF-46B3-8658-BD2DC6AE2CA0}"/>
              </a:ext>
            </a:extLst>
          </p:cNvPr>
          <p:cNvSpPr>
            <a:spLocks noGrp="1"/>
          </p:cNvSpPr>
          <p:nvPr/>
        </p:nvSpPr>
        <p:spPr>
          <a:xfrm>
            <a:off x="15224760" y="28209240"/>
            <a:ext cx="628650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Ranked central estimates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Compared required average with 1</a:t>
            </a:r>
          </a:p>
        </p:txBody>
      </p:sp>
      <p:sp>
        <p:nvSpPr>
          <p:cNvPr id="222" name="Poster diagram 222">
            <a:extLst>
              <a:ext uri="{FF2B5EF4-FFF2-40B4-BE49-F238E27FC236}">
                <a16:creationId xmlns:a16="http://schemas.microsoft.com/office/drawing/2014/main" id="{D26B3176-767C-4316-80CE-C57B87C92DA0}"/>
              </a:ext>
            </a:extLst>
          </p:cNvPr>
          <p:cNvSpPr>
            <a:spLocks noGrp="1"/>
          </p:cNvSpPr>
          <p:nvPr/>
        </p:nvSpPr>
        <p:spPr>
          <a:xfrm>
            <a:off x="22059900" y="28209240"/>
            <a:ext cx="628650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Calculated the fraction of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mass-error draws above 1</a:t>
            </a:r>
          </a:p>
        </p:txBody>
      </p:sp>
      <p:sp>
        <p:nvSpPr>
          <p:cNvPr id="223" name="Poster diagram 223">
            <a:extLst>
              <a:ext uri="{FF2B5EF4-FFF2-40B4-BE49-F238E27FC236}">
                <a16:creationId xmlns:a16="http://schemas.microsoft.com/office/drawing/2014/main" id="{2882665A-D6D9-423A-A054-7B52C6BCF1E0}"/>
              </a:ext>
            </a:extLst>
          </p:cNvPr>
          <p:cNvSpPr>
            <a:spLocks noGrp="1"/>
          </p:cNvSpPr>
          <p:nvPr/>
        </p:nvSpPr>
        <p:spPr>
          <a:xfrm>
            <a:off x="15224760" y="29507688"/>
            <a:ext cx="13121640" cy="1600200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Uncertainty: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208 primary / 222 expanded objects. The other 12 enter central-mass tests only. Reported errors may omit calibration scatter.</a:t>
            </a:r>
          </a:p>
        </p:txBody>
      </p:sp>
      <p:sp>
        <p:nvSpPr>
          <p:cNvPr id="224" name="Poster diagram 224">
            <a:extLst>
              <a:ext uri="{FF2B5EF4-FFF2-40B4-BE49-F238E27FC236}">
                <a16:creationId xmlns:a16="http://schemas.microsoft.com/office/drawing/2014/main" id="{57EE3F94-1D51-4430-BA71-93AF37DFF9D4}"/>
              </a:ext>
            </a:extLst>
          </p:cNvPr>
          <p:cNvSpPr>
            <a:spLocks noGrp="1"/>
          </p:cNvSpPr>
          <p:nvPr/>
        </p:nvSpPr>
        <p:spPr>
          <a:xfrm>
            <a:off x="15224760" y="31135320"/>
            <a:ext cx="13121640" cy="1508760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Earlier onset: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Solved minimum seed masses for 4 targets at start redshifts 20–3,400. Included radiation in cosmic ages and assumed gas was available.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179</TotalTime>
  <Words>1872</Words>
  <Application>Microsoft Macintosh PowerPoint</Application>
  <PresentationFormat>Custom</PresentationFormat>
  <Paragraphs>77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 Early Black-Hole Growth Constraints from JWST Nicole Jiang; University of Toronto </vt:lpstr>
      <vt:lpstr> Early Black-Hole Growth 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2026-10-14T17:32:39Z</dcterms:modified>
</cp:coreProperties>
</file>
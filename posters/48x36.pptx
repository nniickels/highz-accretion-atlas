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61" r:id="rId2"/>
  </p:sldIdLst>
  <p:sldSz cx="438912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A5C"/>
    <a:srgbClr val="002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082"/>
    <p:restoredTop sz="94701"/>
  </p:normalViewPr>
  <p:slideViewPr>
    <p:cSldViewPr snapToGrid="0">
      <p:cViewPr>
        <p:scale>
          <a:sx n="10" d="100"/>
          <a:sy n="10" d="100"/>
        </p:scale>
        <p:origin x="2600" y="1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473874E-BB57-4884-5C66-EE1C81F1FB1F}"/>
    <pc:docChg chg="modSld">
      <pc:chgData name="Guest User" userId="" providerId="Windows Live" clId="Web-{6473874E-BB57-4884-5C66-EE1C81F1FB1F}" dt="2026-10-06T18:07:50.156" v="49" actId="14100"/>
      <pc:docMkLst>
        <pc:docMk/>
      </pc:docMkLst>
    </pc:docChg>
  </pc:docChgLst>
  <pc:docChgLst>
    <pc:chgData name="Nicole Jiang" userId="09ef0fc0f6f473b5" providerId="LiveId" clId="{EB8F4A53-0964-5BF1-90AD-931457E28E1A}"/>
    <pc:docChg chg="undo redo custSel addSld delSld modSld">
      <pc:chgData name="Nicole Jiang" userId="09ef0fc0f6f473b5" providerId="LiveId" clId="{EB8F4A53-0964-5BF1-90AD-931457E28E1A}" dt="2026-10-15T19:31:41.552" v="2563" actId="767"/>
      <pc:docMkLst>
        <pc:docMk/>
      </pc:docMkLst>
      <pc:sldChg chg="modSp mod">
        <pc:chgData name="Nicole Jiang" userId="09ef0fc0f6f473b5" providerId="LiveId" clId="{EB8F4A53-0964-5BF1-90AD-931457E28E1A}" dt="2026-10-14T03:47:30.465" v="2450" actId="1076"/>
        <pc:sldMkLst>
          <pc:docMk/>
          <pc:sldMk cId="868487171" sldId="260"/>
        </pc:sldMkLst>
        <pc:spChg chg="mod">
          <ac:chgData name="Nicole Jiang" userId="09ef0fc0f6f473b5" providerId="LiveId" clId="{EB8F4A53-0964-5BF1-90AD-931457E28E1A}" dt="2026-10-14T03:47:11.525" v="2445" actId="1076"/>
          <ac:spMkLst>
            <pc:docMk/>
            <pc:sldMk cId="868487171" sldId="260"/>
            <ac:spMk id="32" creationId="{F8D50A2A-9B61-AD34-B9C2-8944BB27426C}"/>
          </ac:spMkLst>
        </pc:spChg>
        <pc:spChg chg="mod">
          <ac:chgData name="Nicole Jiang" userId="09ef0fc0f6f473b5" providerId="LiveId" clId="{EB8F4A53-0964-5BF1-90AD-931457E28E1A}" dt="2026-10-14T01:47:21.679" v="2444" actId="20577"/>
          <ac:spMkLst>
            <pc:docMk/>
            <pc:sldMk cId="868487171" sldId="260"/>
            <ac:spMk id="73" creationId="{88C51BF9-B81A-ECF4-F01D-305CA1CE9DD1}"/>
          </ac:spMkLst>
        </pc:spChg>
        <pc:picChg chg="mod">
          <ac:chgData name="Nicole Jiang" userId="09ef0fc0f6f473b5" providerId="LiveId" clId="{EB8F4A53-0964-5BF1-90AD-931457E28E1A}" dt="2026-10-14T03:47:25.307" v="2448" actId="14100"/>
          <ac:picMkLst>
            <pc:docMk/>
            <pc:sldMk cId="868487171" sldId="260"/>
            <ac:picMk id="5" creationId="{0BD845B3-DC16-6DC6-BFC8-2D65D247678D}"/>
          </ac:picMkLst>
        </pc:picChg>
        <pc:picChg chg="mod">
          <ac:chgData name="Nicole Jiang" userId="09ef0fc0f6f473b5" providerId="LiveId" clId="{EB8F4A53-0964-5BF1-90AD-931457E28E1A}" dt="2026-10-14T03:47:30.465" v="2450" actId="1076"/>
          <ac:picMkLst>
            <pc:docMk/>
            <pc:sldMk cId="868487171" sldId="260"/>
            <ac:picMk id="6" creationId="{9D3E6E2E-04C2-513B-0EE5-8C40F5B8F46A}"/>
          </ac:picMkLst>
        </pc:picChg>
      </pc:sldChg>
      <pc:sldChg chg="addSp delSp modSp mod">
        <pc:chgData name="Nicole Jiang" userId="09ef0fc0f6f473b5" providerId="LiveId" clId="{EB8F4A53-0964-5BF1-90AD-931457E28E1A}" dt="2026-10-15T19:31:41.552" v="2563" actId="767"/>
        <pc:sldMkLst>
          <pc:docMk/>
          <pc:sldMk cId="868487171" sldId="261"/>
        </pc:sldMkLst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2" creationId="{6F669F8B-BE33-0C82-515C-AF8D3B759FB3}"/>
          </ac:spMkLst>
        </pc:spChg>
        <pc:spChg chg="add mod">
          <ac:chgData name="Nicole Jiang" userId="09ef0fc0f6f473b5" providerId="LiveId" clId="{EB8F4A53-0964-5BF1-90AD-931457E28E1A}" dt="2026-10-15T03:53:22.610" v="2552" actId="14100"/>
          <ac:spMkLst>
            <pc:docMk/>
            <pc:sldMk cId="868487171" sldId="261"/>
            <ac:spMk id="8" creationId="{9C3531A0-DA17-4C0D-FBA9-F5FDB919A1B0}"/>
          </ac:spMkLst>
        </pc:spChg>
        <pc:spChg chg="add 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9" creationId="{FDB40514-F485-5888-F9CA-4FD66F13751C}"/>
          </ac:spMkLst>
        </pc:spChg>
        <pc:spChg chg="add mod">
          <ac:chgData name="Nicole Jiang" userId="09ef0fc0f6f473b5" providerId="LiveId" clId="{EB8F4A53-0964-5BF1-90AD-931457E28E1A}" dt="2026-10-15T19:31:41.552" v="2563" actId="767"/>
          <ac:spMkLst>
            <pc:docMk/>
            <pc:sldMk cId="868487171" sldId="261"/>
            <ac:spMk id="12" creationId="{5DC72718-6C60-2C90-968B-10AEC28AEEA4}"/>
          </ac:spMkLst>
        </pc:spChg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15" creationId="{B71483CE-2A7E-6438-7E3B-E605C17C7099}"/>
          </ac:spMkLst>
        </pc:spChg>
        <pc:spChg chg="mod">
          <ac:chgData name="Nicole Jiang" userId="09ef0fc0f6f473b5" providerId="LiveId" clId="{EB8F4A53-0964-5BF1-90AD-931457E28E1A}" dt="2026-10-15T19:31:40.471" v="2562" actId="122"/>
          <ac:spMkLst>
            <pc:docMk/>
            <pc:sldMk cId="868487171" sldId="261"/>
            <ac:spMk id="32" creationId="{F8D50A2A-9B61-AD34-B9C2-8944BB27426C}"/>
          </ac:spMkLst>
        </pc:spChg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69" creationId="{D8B6836B-DAF1-F68F-D717-73D3A454BC2E}"/>
          </ac:spMkLst>
        </pc:spChg>
        <pc:spChg chg="mod">
          <ac:chgData name="Nicole Jiang" userId="09ef0fc0f6f473b5" providerId="LiveId" clId="{EB8F4A53-0964-5BF1-90AD-931457E28E1A}" dt="2026-10-15T01:51:55.418" v="2502" actId="1076"/>
          <ac:spMkLst>
            <pc:docMk/>
            <pc:sldMk cId="868487171" sldId="261"/>
            <ac:spMk id="73" creationId="{88C51BF9-B81A-ECF4-F01D-305CA1CE9DD1}"/>
          </ac:spMkLst>
        </pc:spChg>
        <pc:spChg chg="mod">
          <ac:chgData name="Nicole Jiang" userId="09ef0fc0f6f473b5" providerId="LiveId" clId="{EB8F4A53-0964-5BF1-90AD-931457E28E1A}" dt="2026-10-14T19:31:16.008" v="2466" actId="14100"/>
          <ac:spMkLst>
            <pc:docMk/>
            <pc:sldMk cId="868487171" sldId="261"/>
            <ac:spMk id="74" creationId="{F5F0E6D1-7308-2846-C555-5A8981E84E43}"/>
          </ac:spMkLst>
        </pc:spChg>
        <pc:spChg chg="mod">
          <ac:chgData name="Nicole Jiang" userId="09ef0fc0f6f473b5" providerId="LiveId" clId="{EB8F4A53-0964-5BF1-90AD-931457E28E1A}" dt="2026-10-14T17:31:52.763" v="2458" actId="1076"/>
          <ac:spMkLst>
            <pc:docMk/>
            <pc:sldMk cId="868487171" sldId="261"/>
            <ac:spMk id="78" creationId="{D50205E6-BF86-6F08-991C-43F597FDF8DD}"/>
          </ac:spMkLst>
        </pc:spChg>
        <pc:spChg chg="del mod">
          <ac:chgData name="Nicole Jiang" userId="09ef0fc0f6f473b5" providerId="LiveId" clId="{EB8F4A53-0964-5BF1-90AD-931457E28E1A}" dt="2026-10-15T03:17:28.402" v="2532"/>
          <ac:spMkLst>
            <pc:docMk/>
            <pc:sldMk cId="868487171" sldId="261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5T03:53:09.849" v="2549" actId="14100"/>
          <ac:spMkLst>
            <pc:docMk/>
            <pc:sldMk cId="868487171" sldId="261"/>
            <ac:spMk id="80" creationId="{BBD5C8AB-335C-2E4D-00F6-4B0BF74BB013}"/>
          </ac:spMkLst>
        </pc:spChg>
        <pc:spChg chg="add del mod">
          <ac:chgData name="Nicole Jiang" userId="09ef0fc0f6f473b5" providerId="LiveId" clId="{EB8F4A53-0964-5BF1-90AD-931457E28E1A}" dt="2026-10-15T03:53:03.465" v="2547" actId="1076"/>
          <ac:spMkLst>
            <pc:docMk/>
            <pc:sldMk cId="868487171" sldId="261"/>
            <ac:spMk id="81" creationId="{8E773A53-2851-D565-B46F-D419BA57021E}"/>
          </ac:spMkLst>
        </pc:spChg>
        <pc:spChg chg="add del mod">
          <ac:chgData name="Nicole Jiang" userId="09ef0fc0f6f473b5" providerId="LiveId" clId="{EB8F4A53-0964-5BF1-90AD-931457E28E1A}" dt="2026-10-15T03:53:26.839" v="2553" actId="1076"/>
          <ac:spMkLst>
            <pc:docMk/>
            <pc:sldMk cId="868487171" sldId="261"/>
            <ac:spMk id="82" creationId="{82B57F9D-B4AF-1E4D-7FBC-B8680CB4CAB8}"/>
          </ac:spMkLst>
        </pc:spChg>
        <pc:spChg chg="add del mod">
          <ac:chgData name="Nicole Jiang" userId="09ef0fc0f6f473b5" providerId="LiveId" clId="{EB8F4A53-0964-5BF1-90AD-931457E28E1A}" dt="2026-10-15T19:25:45.133" v="2558" actId="14100"/>
          <ac:spMkLst>
            <pc:docMk/>
            <pc:sldMk cId="868487171" sldId="261"/>
            <ac:spMk id="83" creationId="{7156AF1B-4C0F-9637-8495-BA5941742B85}"/>
          </ac:spMkLst>
        </pc:spChg>
        <pc:spChg chg="mod">
          <ac:chgData name="Nicole Jiang" userId="09ef0fc0f6f473b5" providerId="LiveId" clId="{EB8F4A53-0964-5BF1-90AD-931457E28E1A}" dt="2026-10-15T01:37:06.203" v="2471" actId="1076"/>
          <ac:spMkLst>
            <pc:docMk/>
            <pc:sldMk cId="868487171" sldId="261"/>
            <ac:spMk id="112" creationId="{00000000-0000-0000-0000-000000000000}"/>
          </ac:spMkLst>
        </pc:spChg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120" creationId="{3A05E1FE-512D-49F3-9C39-22D275F0EE18}"/>
          </ac:spMkLst>
        </pc:spChg>
        <pc:spChg chg="mod">
          <ac:chgData name="Nicole Jiang" userId="09ef0fc0f6f473b5" providerId="LiveId" clId="{EB8F4A53-0964-5BF1-90AD-931457E28E1A}" dt="2026-10-15T03:18:24.947" v="2540" actId="14100"/>
          <ac:spMkLst>
            <pc:docMk/>
            <pc:sldMk cId="868487171" sldId="261"/>
            <ac:spMk id="202" creationId="{A4F32B50-A70B-4AAD-866D-8A9AFB77BA97}"/>
          </ac:spMkLst>
        </pc:spChg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203" creationId="{4B9D32E4-35CC-401A-84F3-9B0E93812FF3}"/>
          </ac:spMkLst>
        </pc:spChg>
        <pc:spChg chg="mod">
          <ac:chgData name="Nicole Jiang" userId="09ef0fc0f6f473b5" providerId="LiveId" clId="{EB8F4A53-0964-5BF1-90AD-931457E28E1A}" dt="2026-10-15T01:46:04.408" v="2500" actId="5793"/>
          <ac:spMkLst>
            <pc:docMk/>
            <pc:sldMk cId="868487171" sldId="261"/>
            <ac:spMk id="208" creationId="{FAA325B6-AF3F-4391-B001-5CEA6C0D3BA1}"/>
          </ac:spMkLst>
        </pc:spChg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209" creationId="{67E72EF7-28FB-420D-A9DC-6606EEB93072}"/>
          </ac:spMkLst>
        </pc:spChg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210" creationId="{7A12F45B-766A-479C-A513-DC305E768B18}"/>
          </ac:spMkLst>
        </pc:spChg>
        <pc:spChg chg="mod">
          <ac:chgData name="Nicole Jiang" userId="09ef0fc0f6f473b5" providerId="LiveId" clId="{EB8F4A53-0964-5BF1-90AD-931457E28E1A}" dt="2026-10-15T03:18:07.379" v="2538" actId="1076"/>
          <ac:spMkLst>
            <pc:docMk/>
            <pc:sldMk cId="868487171" sldId="261"/>
            <ac:spMk id="212" creationId="{F0E4059E-8B12-4811-AB13-DD1F53C26AA3}"/>
          </ac:spMkLst>
        </pc:spChg>
        <pc:spChg chg="mod">
          <ac:chgData name="Nicole Jiang" userId="09ef0fc0f6f473b5" providerId="LiveId" clId="{EB8F4A53-0964-5BF1-90AD-931457E28E1A}" dt="2026-10-15T03:17:42.606" v="2533" actId="14100"/>
          <ac:spMkLst>
            <pc:docMk/>
            <pc:sldMk cId="868487171" sldId="261"/>
            <ac:spMk id="214" creationId="{E0DF1478-840F-4BDD-B29E-A5B229B3783E}"/>
          </ac:spMkLst>
        </pc:spChg>
        <pc:spChg chg="mod">
          <ac:chgData name="Nicole Jiang" userId="09ef0fc0f6f473b5" providerId="LiveId" clId="{EB8F4A53-0964-5BF1-90AD-931457E28E1A}" dt="2026-10-15T03:18:02.124" v="2537" actId="1076"/>
          <ac:spMkLst>
            <pc:docMk/>
            <pc:sldMk cId="868487171" sldId="261"/>
            <ac:spMk id="216" creationId="{336C5316-EC48-42CE-8537-8453628B7D8C}"/>
          </ac:spMkLst>
        </pc:spChg>
        <pc:spChg chg="mod">
          <ac:chgData name="Nicole Jiang" userId="09ef0fc0f6f473b5" providerId="LiveId" clId="{EB8F4A53-0964-5BF1-90AD-931457E28E1A}" dt="2026-10-15T03:17:45.098" v="2534" actId="14100"/>
          <ac:spMkLst>
            <pc:docMk/>
            <pc:sldMk cId="868487171" sldId="261"/>
            <ac:spMk id="217" creationId="{971DBA1A-D2E6-408F-AF7C-16AF667673EA}"/>
          </ac:spMkLst>
        </pc:spChg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219" creationId="{A3C5BCD3-C05E-4CC3-AF1A-0840F4394EE3}"/>
          </ac:spMkLst>
        </pc:spChg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220" creationId="{8529AA9E-ACC8-495E-8075-1D2F4EF9602E}"/>
          </ac:spMkLst>
        </pc:spChg>
        <pc:spChg chg="mod">
          <ac:chgData name="Nicole Jiang" userId="09ef0fc0f6f473b5" providerId="LiveId" clId="{EB8F4A53-0964-5BF1-90AD-931457E28E1A}" dt="2026-10-15T01:46:28.605" v="2501" actId="20577"/>
          <ac:spMkLst>
            <pc:docMk/>
            <pc:sldMk cId="868487171" sldId="261"/>
            <ac:spMk id="221" creationId="{03BB0CC6-89F0-4BB8-91C2-A18697FB4691}"/>
          </ac:spMkLst>
        </pc:spChg>
        <pc:spChg chg="mod">
          <ac:chgData name="Nicole Jiang" userId="09ef0fc0f6f473b5" providerId="LiveId" clId="{EB8F4A53-0964-5BF1-90AD-931457E28E1A}" dt="2026-10-15T03:17:48.411" v="2535" actId="14100"/>
          <ac:spMkLst>
            <pc:docMk/>
            <pc:sldMk cId="868487171" sldId="261"/>
            <ac:spMk id="222" creationId="{28773224-ED00-4347-B2C6-7FB30A5D9C9B}"/>
          </ac:spMkLst>
        </pc:spChg>
        <pc:spChg chg="mod">
          <ac:chgData name="Nicole Jiang" userId="09ef0fc0f6f473b5" providerId="LiveId" clId="{EB8F4A53-0964-5BF1-90AD-931457E28E1A}" dt="2026-10-15T01:52:04.929" v="2503" actId="1076"/>
          <ac:spMkLst>
            <pc:docMk/>
            <pc:sldMk cId="868487171" sldId="261"/>
            <ac:spMk id="223" creationId="{86A37956-8DA5-40AE-A03E-2CE429C5454A}"/>
          </ac:spMkLst>
        </pc:spChg>
        <pc:picChg chg="mod modCrop">
          <ac:chgData name="Nicole Jiang" userId="09ef0fc0f6f473b5" providerId="LiveId" clId="{EB8F4A53-0964-5BF1-90AD-931457E28E1A}" dt="2026-10-15T03:18:33.760" v="2541" actId="1076"/>
          <ac:picMkLst>
            <pc:docMk/>
            <pc:sldMk cId="868487171" sldId="261"/>
            <ac:picMk id="4" creationId="{C4337658-2539-7C1B-497A-E1769149148E}"/>
          </ac:picMkLst>
        </pc:picChg>
        <pc:picChg chg="add mod">
          <ac:chgData name="Nicole Jiang" userId="09ef0fc0f6f473b5" providerId="LiveId" clId="{EB8F4A53-0964-5BF1-90AD-931457E28E1A}" dt="2026-10-15T01:37:29.639" v="2476" actId="571"/>
          <ac:picMkLst>
            <pc:docMk/>
            <pc:sldMk cId="868487171" sldId="261"/>
            <ac:picMk id="8" creationId="{2930BF46-B72C-5909-E11B-55747986219E}"/>
          </ac:picMkLst>
        </pc:picChg>
        <pc:picChg chg="mod">
          <ac:chgData name="Nicole Jiang" userId="09ef0fc0f6f473b5" providerId="LiveId" clId="{EB8F4A53-0964-5BF1-90AD-931457E28E1A}" dt="2026-10-15T01:37:01.377" v="2470" actId="1076"/>
          <ac:picMkLst>
            <pc:docMk/>
            <pc:sldMk cId="868487171" sldId="261"/>
            <ac:picMk id="14" creationId="{C3CA3027-10C5-D39A-05B0-82DB2540F9D3}"/>
          </ac:picMkLst>
        </pc:picChg>
      </pc:sldChg>
    </pc:docChg>
  </pc:docChgLst>
  <pc:docChgLst>
    <pc:chgData name="Nicole Jiang" userId="09ef0fc0f6f473b5" providerId="Windows Live" clId="Web-{00000000-0000-0000-0000-000000000000}"/>
    <pc:docChg chg="modSld">
      <pc:chgData name="Nicole Jiang" userId="09ef0fc0f6f473b5" providerId="Windows Live" clId="Web-{00000000-0000-0000-0000-000000000000}" dt="2026-10-06T17:56:42.980" v="36" actId="1076"/>
      <pc:docMkLst>
        <pc:docMk/>
      </pc:docMkLst>
    </pc:docChg>
  </pc:docChgLst>
  <pc:docChgLst>
    <pc:chgData name="Guest User" providerId="Windows Live" clId="Web-{00000000-0000-0000-0000-000000000000}"/>
    <pc:docChg chg="modSld">
      <pc:chgData name="Guest User" userId="" providerId="Windows Live" clId="Web-{00000000-0000-0000-0000-000000000000}" dt="2026-10-06T18:59:37.821" v="16" actId="14100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D8F461-2A77-BA43-9B12-25195C3EB239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0DA246-DE01-5046-81A0-D7E93C874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51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Poster figure inputs: results/for_manuscript/tables/publication_object_selection.csv; results/for_manuscript/tables/mass_offset_object_sensitivity.csv; results/v3/tables/v3_object_point_ranking.csv; results/v3/tables/v3_object_uncertainty_ranking.csv; results/v4/tables/v4_minimum_seed_mass.csv. Scientific inputs are pinned in data/poster_inputs.json. The uncertainty panel is generated by src.internal.poster_figures. The earlier-onset panel holds the stated average cap and radiative efficiency constant along each track. The external dynamical comparison uses the adopted arXiv v2 measurement; the required ratios and intervals are calculated by this project.</a:t>
            </a:r>
          </a:p>
          <a:p>
            <a:r>
              <a:rPr sz="1200"/>
              <a:t>[1] Shen (2013), The Mass of Quasars: https://arxiv.org/abs/1302.2643 — broad-line virial mass methods and calibration scatter.</a:t>
            </a:r>
          </a:p>
          <a:p>
            <a:r>
              <a:rPr sz="1200"/>
              <a:t>[2] Maiolino et al. (2024), A small and vigorous black hole in the early Universe: https://doi.org/10.1038/s41586-024-07052-5 — GN-z11 ultraviolet-line mass and early JWST context.</a:t>
            </a:r>
          </a:p>
          <a:p>
            <a:r>
              <a:rPr sz="1200"/>
              <a:t>[3] Dayal (2024), Exploring a primordial solution for early black holes detected with JWST: https://doi.org/10.1051/0004-6361/202451481 — exponential accretion growth relation. The project inverts the growth relation; its reference seed and growth-test thresholds are analysis assumptions.</a:t>
            </a:r>
          </a:p>
          <a:p>
            <a:r>
              <a:rPr sz="1200"/>
              <a:t>[4] Bardeen, Press &amp; Teukolsky (1972): https://doi.org/10.1086/151796 — ideal thin-disc efficiency for a non-spinning black hole, 1-sqrt(8/9).</a:t>
            </a:r>
          </a:p>
          <a:p>
            <a:r>
              <a:rPr sz="1200"/>
              <a:t>[5] Juodzbalis et al. (2025): https://arxiv.org/abs/2508.21748v2 — adopted independent A2744-QSO1 dynamical mass. The poster's average Eddington ratios are project calculations, not measurements quoted from this paper.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75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34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918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01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2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54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3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18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7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988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48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&quot; x 48&quot; Po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 hasCustomPrompt="1"/>
          </p:nvPr>
        </p:nvSpPr>
        <p:spPr>
          <a:xfrm>
            <a:off x="696687" y="609600"/>
            <a:ext cx="42497830" cy="3352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 anchor="ctr" anchorCtr="1"/>
          <a:lstStyle>
            <a:lvl1pPr>
              <a:defRPr sz="6200" b="1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Poster Presentation Title</a:t>
            </a:r>
            <a:br>
              <a:rPr lang="en-US"/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Author Name(s)</a:t>
            </a:r>
            <a:b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Affiliated Institutions</a:t>
            </a:r>
            <a:endParaRPr lang="en-US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0" hasCustomPrompt="1"/>
          </p:nvPr>
        </p:nvSpPr>
        <p:spPr>
          <a:xfrm>
            <a:off x="69668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Abstract or Introduction</a:t>
            </a:r>
            <a:endParaRPr lang="en-US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696687" y="5638800"/>
            <a:ext cx="13585370" cy="86868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 baseline="0"/>
            </a:lvl2pPr>
            <a:lvl3pPr marL="772848" indent="0">
              <a:buNone/>
              <a:defRPr sz="2800" baseline="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Any element of this template (colors, fonts, layouts, etc.) can be edited to suit your needs. To change the color of a title bar: right click the text box, select format shape, edit the “Fill” and “Line” your desired specifications.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96687" y="146304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Objectives</a:t>
            </a:r>
            <a:endParaRPr lang="en-US"/>
          </a:p>
        </p:txBody>
      </p:sp>
      <p:sp>
        <p:nvSpPr>
          <p:cNvPr id="26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696687" y="160020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To change the color of a title bar: right click the text box, select format shape, edit the “Fill” and “Line” your desired specifications.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696687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Methods</a:t>
            </a:r>
            <a:endParaRPr lang="en-US"/>
          </a:p>
        </p:txBody>
      </p:sp>
      <p:sp>
        <p:nvSpPr>
          <p:cNvPr id="28" name="Text Placeholder 23"/>
          <p:cNvSpPr>
            <a:spLocks noGrp="1"/>
          </p:cNvSpPr>
          <p:nvPr>
            <p:ph type="body" sz="quarter" idx="15" hasCustomPrompt="1"/>
          </p:nvPr>
        </p:nvSpPr>
        <p:spPr>
          <a:xfrm>
            <a:off x="696687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Copy and paste title bars and text boxes to create additional sections.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1515291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Results</a:t>
            </a:r>
            <a:endParaRPr lang="en-US"/>
          </a:p>
        </p:txBody>
      </p:sp>
      <p:sp>
        <p:nvSpPr>
          <p:cNvPr id="30" name="Text Placeholder 23"/>
          <p:cNvSpPr>
            <a:spLocks noGrp="1"/>
          </p:cNvSpPr>
          <p:nvPr>
            <p:ph type="body" sz="quarter" idx="17"/>
          </p:nvPr>
        </p:nvSpPr>
        <p:spPr>
          <a:xfrm>
            <a:off x="29609145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29609145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Conclusion</a:t>
            </a:r>
            <a:endParaRPr lang="en-US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19"/>
          </p:nvPr>
        </p:nvSpPr>
        <p:spPr>
          <a:xfrm>
            <a:off x="29609145" y="5638800"/>
            <a:ext cx="13585370" cy="176784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20" hasCustomPrompt="1"/>
          </p:nvPr>
        </p:nvSpPr>
        <p:spPr>
          <a:xfrm>
            <a:off x="29609145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References</a:t>
            </a:r>
            <a:endParaRPr lang="en-US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1" hasCustomPrompt="1"/>
          </p:nvPr>
        </p:nvSpPr>
        <p:spPr>
          <a:xfrm>
            <a:off x="15152917" y="5638800"/>
            <a:ext cx="13585370" cy="266700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Remember to save all charts, graphs, and tables as 300DPI images prior to inserting them into your posters. Doing so will ensure the best results when printing your posters.</a:t>
            </a:r>
          </a:p>
        </p:txBody>
      </p:sp>
      <p:sp>
        <p:nvSpPr>
          <p:cNvPr id="36" name="Picture Placeholder 35"/>
          <p:cNvSpPr>
            <a:spLocks noGrp="1"/>
          </p:cNvSpPr>
          <p:nvPr>
            <p:ph type="pic" sz="quarter" idx="22" hasCustomPrompt="1"/>
          </p:nvPr>
        </p:nvSpPr>
        <p:spPr>
          <a:xfrm>
            <a:off x="1219205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7" name="Picture Placeholder 35"/>
          <p:cNvSpPr>
            <a:spLocks noGrp="1"/>
          </p:cNvSpPr>
          <p:nvPr>
            <p:ph type="pic" sz="quarter" idx="23" hasCustomPrompt="1"/>
          </p:nvPr>
        </p:nvSpPr>
        <p:spPr>
          <a:xfrm>
            <a:off x="39711091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9" name="Chart Placeholder 38"/>
          <p:cNvSpPr>
            <a:spLocks noGrp="1"/>
          </p:cNvSpPr>
          <p:nvPr>
            <p:ph type="chart" sz="quarter" idx="24"/>
          </p:nvPr>
        </p:nvSpPr>
        <p:spPr>
          <a:xfrm>
            <a:off x="16197949" y="16154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sp>
        <p:nvSpPr>
          <p:cNvPr id="40" name="Chart Placeholder 38"/>
          <p:cNvSpPr>
            <a:spLocks noGrp="1"/>
          </p:cNvSpPr>
          <p:nvPr>
            <p:ph type="chart" sz="quarter" idx="25"/>
          </p:nvPr>
        </p:nvSpPr>
        <p:spPr>
          <a:xfrm>
            <a:off x="16197949" y="24536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pic>
        <p:nvPicPr>
          <p:cNvPr id="4" name="Picture 3" descr="Logo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8400" y="32416772"/>
            <a:ext cx="2743200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274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80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43680" y="8010143"/>
            <a:ext cx="13533120" cy="9134856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43891200" cy="4389120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9418320" tIns="91440" rIns="11887200">
            <a:normAutofit/>
          </a:bodyPr>
          <a:lstStyle/>
          <a:p>
            <a:pPr algn="ctr"/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 Constraints from JWST</a:t>
            </a:r>
            <a:b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8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48640"/>
            <a:ext cx="2834640" cy="283464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902" t="38725" b="33824"/>
          <a:stretch>
            <a:fillRect/>
          </a:stretch>
        </p:blipFill>
        <p:spPr>
          <a:xfrm>
            <a:off x="3291840" y="1051560"/>
            <a:ext cx="6035040" cy="2177031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867840" y="457200"/>
            <a:ext cx="3108960" cy="3108960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868680" y="5029199"/>
            <a:ext cx="14630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1325880" y="6309359"/>
            <a:ext cx="13716000" cy="32461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300" b="1" dirty="0">
                <a:latin typeface="Aptos"/>
              </a:rPr>
              <a:t>How did early black holes grow so big, so fast? </a:t>
            </a:r>
            <a:r>
              <a:rPr lang="en-CA" sz="3300" b="0" dirty="0">
                <a:latin typeface="Aptos"/>
              </a:rPr>
              <a:t>The James Webb Space Telescope (JWST) has revealed massive black holes with little time to grow.</a:t>
            </a:r>
            <a:r>
              <a:rPr lang="en-CA" sz="2200" b="0" baseline="30000" dirty="0">
                <a:latin typeface="Aptos"/>
              </a:rPr>
              <a:t>[1]</a:t>
            </a:r>
            <a:r>
              <a:rPr lang="en-CA" sz="3300" b="0" dirty="0">
                <a:latin typeface="Aptos"/>
              </a:rPr>
              <a:t> I compiled a catalogue of published black-hole mass estimates and compared their growth requirements, testing sensitivity to mass errors, seed mass, growth onset, and radiative efficiency.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868680" y="5029199"/>
            <a:ext cx="14630400" cy="46634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868680" y="10195559"/>
            <a:ext cx="14630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8C51BF9-B81A-ECF4-F01D-305CA1CE9DD1}"/>
              </a:ext>
            </a:extLst>
          </p:cNvPr>
          <p:cNvSpPr txBox="1"/>
          <p:nvPr/>
        </p:nvSpPr>
        <p:spPr>
          <a:xfrm>
            <a:off x="1313389" y="18493739"/>
            <a:ext cx="13990320" cy="3291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lang="en-CA" sz="3300" b="1" dirty="0">
                <a:latin typeface="Aptos"/>
              </a:rPr>
              <a:t>Symbols: </a:t>
            </a:r>
            <a:r>
              <a:rPr lang="en-CA" sz="3300" b="0" dirty="0">
                <a:latin typeface="Aptos"/>
              </a:rPr>
              <a:t>M⊙ denotes solar mass. Higher redshift z means earlier times. 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is the radiated fraction of accreted rest-mass energy.</a:t>
            </a:r>
          </a:p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lang="en-CA" sz="3300" b="1" dirty="0">
                <a:latin typeface="Aptos"/>
              </a:rPr>
              <a:t>Eddington ratio: </a:t>
            </a:r>
            <a:r>
              <a:rPr lang="en-CA" sz="3300" b="0" dirty="0" err="1">
                <a:latin typeface="Aptos"/>
              </a:rPr>
              <a:t>f</a:t>
            </a:r>
            <a:r>
              <a:rPr lang="en-CA" sz="2200" b="0" baseline="-25000" dirty="0" err="1">
                <a:latin typeface="Aptos"/>
              </a:rPr>
              <a:t>Edd</a:t>
            </a:r>
            <a:r>
              <a:rPr lang="en-CA" sz="3300" b="0" dirty="0">
                <a:latin typeface="Aptos"/>
              </a:rPr>
              <a:t> = luminosity/Eddington luminosity, where radiation force balances gravity. Averages above 1 require super-Eddington episodes.</a:t>
            </a:r>
            <a:r>
              <a:rPr lang="en-CA" sz="2200" b="0" baseline="30000" dirty="0">
                <a:latin typeface="Aptos"/>
              </a:rPr>
              <a:t>[3]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868680" y="10195559"/>
            <a:ext cx="14630400" cy="2221992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15956280" y="21716999"/>
            <a:ext cx="269748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15956280" y="21716999"/>
            <a:ext cx="26974800" cy="6267476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15956280" y="28433171"/>
            <a:ext cx="269748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7327880" y="29961645"/>
            <a:ext cx="955287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Maiolino et al. (2024), Nature, 627, 59.</a:t>
            </a:r>
            <a:endParaRPr lang="en-US" sz="3300" dirty="0"/>
          </a:p>
          <a:p>
            <a:r>
              <a:rPr lang="en-CA" sz="3300" dirty="0"/>
              <a:t>[2] Shen (2013), BASI, 41, 61.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15956280" y="28433171"/>
            <a:ext cx="26974800" cy="3982308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709" r="1260"/>
          <a:stretch>
            <a:fillRect/>
          </a:stretch>
        </p:blipFill>
        <p:spPr>
          <a:xfrm>
            <a:off x="15760909" y="13213079"/>
            <a:ext cx="13350240" cy="694944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947430" y="1600199"/>
            <a:ext cx="4379909" cy="3283151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443004">
            <a:off x="30817782" y="2180575"/>
            <a:ext cx="1415509" cy="681368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098715">
            <a:off x="32496336" y="-185399"/>
            <a:ext cx="8190834" cy="460899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30129480" y="6309359"/>
            <a:ext cx="12435840" cy="20116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Starting at matter–radiation equality (z = 3,400) still requires 270–1,200 M⊙ seeds for the 4 plotted objects (ε = 0.1, average ratio ≤ 1, no mergers).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6276320" y="6309359"/>
            <a:ext cx="13167360" cy="7132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Reference model: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8/220 primary objects require average Eddington ratios above 1, including 5 in ≥ 95% of mass-error draws.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Mass sensitivity: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Lowering masses by 0.5 </a:t>
            </a:r>
            <a:r>
              <a:rPr lang="en-CA" sz="3300" b="0" dirty="0" err="1">
                <a:solidFill>
                  <a:srgbClr val="000000"/>
                </a:solidFill>
                <a:latin typeface="Aptos"/>
              </a:rPr>
              <a:t>dex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 (a factor of 3.2) leaves 3 primary objects requiring averages above 1 in ≥ 95% of draws.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Seed mass: </a:t>
            </a:r>
            <a:r>
              <a:rPr lang="en-CA" sz="3300" dirty="0">
                <a:solidFill>
                  <a:srgbClr val="000000"/>
                </a:solidFill>
                <a:latin typeface="Aptos"/>
              </a:rPr>
              <a:t>1,000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M⊙ seeds leave 3/220 above 1. With 100,000 M⊙ seeds, neither sample has objects above 1.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Growth start time: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At z = 20, 18/220 primary objects require averages above 1, and GN-z11 requires the highest average in the expanded sample.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Efficiency: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At </a:t>
            </a:r>
            <a:r>
              <a:rPr lang="en-CA" sz="3300" b="0" dirty="0" err="1">
                <a:solidFill>
                  <a:srgbClr val="000000"/>
                </a:solidFill>
                <a:latin typeface="Aptos"/>
              </a:rPr>
              <a:t>ε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 = 0.05719 (non-spinning thin disc) </a:t>
            </a:r>
            <a:r>
              <a:rPr lang="en-CA" sz="2200" b="0" baseline="30000" dirty="0">
                <a:solidFill>
                  <a:srgbClr val="000000"/>
                </a:solidFill>
                <a:latin typeface="Aptos"/>
              </a:rPr>
              <a:t>[4]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, all 234 central mass estimates require averages below 1 under the other reference assumptions.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5956280" y="5029199"/>
            <a:ext cx="269748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5956280" y="5029199"/>
            <a:ext cx="26974800" cy="1613916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igure takeaway 112"/>
          <p:cNvSpPr txBox="1"/>
          <p:nvPr/>
        </p:nvSpPr>
        <p:spPr>
          <a:xfrm>
            <a:off x="29901710" y="17419319"/>
            <a:ext cx="12435840" cy="5486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29788702" y="18082259"/>
            <a:ext cx="124358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Independent mass check: </a:t>
            </a:r>
            <a:r>
              <a:rPr lang="en-CA" sz="3300" b="0" dirty="0">
                <a:latin typeface="Aptos"/>
              </a:rPr>
              <a:t>A2744-QSO1’s broad-line mass (2.0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an average of 0.929 under the reference model. Its dynamical mass (5.0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</a:t>
            </a:r>
            <a:r>
              <a:rPr lang="en-CA" sz="2200" b="0" baseline="30000" dirty="0">
                <a:latin typeface="Aptos"/>
              </a:rPr>
              <a:t>[5]</a:t>
            </a:r>
            <a:r>
              <a:rPr lang="en-CA" sz="3300" b="0" dirty="0">
                <a:latin typeface="Aptos"/>
              </a:rPr>
              <a:t> requires 0.9996. Its required average spans 0.947–1.052 (16th–84th percentiles), including 1.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1325880" y="21671279"/>
            <a:ext cx="1399032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 dirty="0">
                <a:solidFill>
                  <a:srgbClr val="002A5C"/>
                </a:solidFill>
                <a:latin typeface="Aptos"/>
              </a:rPr>
              <a:t>Growth test and uncertainty</a:t>
            </a:r>
          </a:p>
        </p:txBody>
      </p:sp>
      <p:sp>
        <p:nvSpPr>
          <p:cNvPr id="200" name="Poster diagram 200">
            <a:extLst>
              <a:ext uri="{FF2B5EF4-FFF2-40B4-BE49-F238E27FC236}">
                <a16:creationId xmlns:a16="http://schemas.microsoft.com/office/drawing/2014/main" id="{F979C9B9-C3CA-480F-BB52-CC7D4B02CE22}"/>
              </a:ext>
            </a:extLst>
          </p:cNvPr>
          <p:cNvSpPr>
            <a:spLocks noGrp="1"/>
          </p:cNvSpPr>
          <p:nvPr/>
        </p:nvSpPr>
        <p:spPr>
          <a:xfrm>
            <a:off x="1325880" y="12070079"/>
            <a:ext cx="13990320" cy="77724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 dirty="0">
                <a:solidFill>
                  <a:srgbClr val="111111"/>
                </a:solidFill>
                <a:latin typeface="Aptos"/>
              </a:rPr>
              <a:t>350 measurements from 32 source families at z ≥ 4</a:t>
            </a:r>
          </a:p>
        </p:txBody>
      </p:sp>
      <p:sp>
        <p:nvSpPr>
          <p:cNvPr id="201" name="Poster diagram 201">
            <a:extLst>
              <a:ext uri="{FF2B5EF4-FFF2-40B4-BE49-F238E27FC236}">
                <a16:creationId xmlns:a16="http://schemas.microsoft.com/office/drawing/2014/main" id="{A5654399-0386-420B-B69B-49326884E1BD}"/>
              </a:ext>
            </a:extLst>
          </p:cNvPr>
          <p:cNvSpPr>
            <a:spLocks noGrp="1"/>
          </p:cNvSpPr>
          <p:nvPr/>
        </p:nvSpPr>
        <p:spPr>
          <a:xfrm>
            <a:off x="8147304" y="12893039"/>
            <a:ext cx="347472" cy="256032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Poster diagram 202">
            <a:extLst>
              <a:ext uri="{FF2B5EF4-FFF2-40B4-BE49-F238E27FC236}">
                <a16:creationId xmlns:a16="http://schemas.microsoft.com/office/drawing/2014/main" id="{A4F32B50-A70B-4AAD-866D-8A9AFB77BA97}"/>
              </a:ext>
            </a:extLst>
          </p:cNvPr>
          <p:cNvSpPr>
            <a:spLocks noGrp="1"/>
          </p:cNvSpPr>
          <p:nvPr/>
        </p:nvSpPr>
        <p:spPr>
          <a:xfrm>
            <a:off x="1325880" y="13213079"/>
            <a:ext cx="13716000" cy="64008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>
                <a:solidFill>
                  <a:srgbClr val="111111"/>
                </a:solidFill>
                <a:latin typeface="Aptos"/>
              </a:rPr>
              <a:t>338 provisional objects</a:t>
            </a:r>
          </a:p>
        </p:txBody>
      </p:sp>
      <p:sp>
        <p:nvSpPr>
          <p:cNvPr id="203" name="Poster diagram 203">
            <a:extLst>
              <a:ext uri="{FF2B5EF4-FFF2-40B4-BE49-F238E27FC236}">
                <a16:creationId xmlns:a16="http://schemas.microsoft.com/office/drawing/2014/main" id="{4B9D32E4-35CC-401A-84F3-9B0E93812FF3}"/>
              </a:ext>
            </a:extLst>
          </p:cNvPr>
          <p:cNvSpPr>
            <a:spLocks noGrp="1"/>
          </p:cNvSpPr>
          <p:nvPr/>
        </p:nvSpPr>
        <p:spPr>
          <a:xfrm>
            <a:off x="5486400" y="13898879"/>
            <a:ext cx="347472" cy="256032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Poster diagram 204">
            <a:extLst>
              <a:ext uri="{FF2B5EF4-FFF2-40B4-BE49-F238E27FC236}">
                <a16:creationId xmlns:a16="http://schemas.microsoft.com/office/drawing/2014/main" id="{D840C234-8C7B-423E-87DF-1C2EC82BD5EA}"/>
              </a:ext>
            </a:extLst>
          </p:cNvPr>
          <p:cNvSpPr>
            <a:spLocks noGrp="1"/>
          </p:cNvSpPr>
          <p:nvPr/>
        </p:nvSpPr>
        <p:spPr>
          <a:xfrm>
            <a:off x="12687300" y="13898879"/>
            <a:ext cx="347472" cy="256032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Poster diagram 205">
            <a:extLst>
              <a:ext uri="{FF2B5EF4-FFF2-40B4-BE49-F238E27FC236}">
                <a16:creationId xmlns:a16="http://schemas.microsoft.com/office/drawing/2014/main" id="{B0440D7D-E739-420F-ABED-4E5D214838EC}"/>
              </a:ext>
            </a:extLst>
          </p:cNvPr>
          <p:cNvSpPr>
            <a:spLocks noGrp="1"/>
          </p:cNvSpPr>
          <p:nvPr/>
        </p:nvSpPr>
        <p:spPr>
          <a:xfrm>
            <a:off x="1325880" y="14246351"/>
            <a:ext cx="8673998" cy="3749040"/>
          </a:xfrm>
          <a:prstGeom prst="rect">
            <a:avLst/>
          </a:prstGeom>
          <a:noFill/>
          <a:ln w="17145">
            <a:solidFill>
              <a:srgbClr val="07346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6" name="Poster diagram 206">
            <a:extLst>
              <a:ext uri="{FF2B5EF4-FFF2-40B4-BE49-F238E27FC236}">
                <a16:creationId xmlns:a16="http://schemas.microsoft.com/office/drawing/2014/main" id="{C0DEFAC9-EF02-4B42-B474-17FA97D60021}"/>
              </a:ext>
            </a:extLst>
          </p:cNvPr>
          <p:cNvSpPr>
            <a:spLocks noGrp="1"/>
          </p:cNvSpPr>
          <p:nvPr/>
        </p:nvSpPr>
        <p:spPr>
          <a:xfrm>
            <a:off x="1380744" y="14264639"/>
            <a:ext cx="8564270" cy="64008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100" b="1">
                <a:solidFill>
                  <a:srgbClr val="073463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073463"/>
                </a:solidFill>
                <a:latin typeface="Aptos"/>
              </a:defRPr>
            </a:pPr>
            <a:r>
              <a:rPr sz="3100" b="1">
                <a:solidFill>
                  <a:srgbClr val="073463"/>
                </a:solidFill>
                <a:latin typeface="Aptos"/>
              </a:rPr>
              <a:t>234 expanded-sample objects</a:t>
            </a:r>
          </a:p>
        </p:txBody>
      </p:sp>
      <p:sp>
        <p:nvSpPr>
          <p:cNvPr id="207" name="Poster diagram 207">
            <a:extLst>
              <a:ext uri="{FF2B5EF4-FFF2-40B4-BE49-F238E27FC236}">
                <a16:creationId xmlns:a16="http://schemas.microsoft.com/office/drawing/2014/main" id="{0810806D-B188-4E18-8185-C1F9716B0663}"/>
              </a:ext>
            </a:extLst>
          </p:cNvPr>
          <p:cNvSpPr>
            <a:spLocks noGrp="1"/>
          </p:cNvSpPr>
          <p:nvPr/>
        </p:nvSpPr>
        <p:spPr>
          <a:xfrm>
            <a:off x="1508760" y="14950439"/>
            <a:ext cx="8308238" cy="914400"/>
          </a:xfrm>
          <a:prstGeom prst="rect">
            <a:avLst/>
          </a:prstGeom>
          <a:solidFill>
            <a:srgbClr val="F1F4F7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220 primary</a:t>
            </a: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Broad hydrogen (Balmer) line masses</a:t>
            </a:r>
            <a:r>
              <a:rPr lang="en-CA" sz="3000" b="1" dirty="0">
                <a:solidFill>
                  <a:srgbClr val="111111"/>
                </a:solidFill>
                <a:latin typeface="Aptos"/>
              </a:rPr>
              <a:t> </a:t>
            </a:r>
            <a:r>
              <a:rPr lang="en-CA" sz="2000" b="0" baseline="30000" dirty="0">
                <a:solidFill>
                  <a:srgbClr val="111111"/>
                </a:solidFill>
                <a:latin typeface="Aptos"/>
              </a:rPr>
              <a:t>[2]</a:t>
            </a:r>
            <a:endParaRPr sz="3000" b="1" dirty="0">
              <a:solidFill>
                <a:srgbClr val="111111"/>
              </a:solidFill>
              <a:latin typeface="Aptos"/>
            </a:endParaRPr>
          </a:p>
        </p:txBody>
      </p:sp>
      <p:sp>
        <p:nvSpPr>
          <p:cNvPr id="208" name="Poster diagram 208">
            <a:extLst>
              <a:ext uri="{FF2B5EF4-FFF2-40B4-BE49-F238E27FC236}">
                <a16:creationId xmlns:a16="http://schemas.microsoft.com/office/drawing/2014/main" id="{FAA325B6-AF3F-4391-B001-5CEA6C0D3BA1}"/>
              </a:ext>
            </a:extLst>
          </p:cNvPr>
          <p:cNvSpPr>
            <a:spLocks noGrp="1"/>
          </p:cNvSpPr>
          <p:nvPr/>
        </p:nvSpPr>
        <p:spPr>
          <a:xfrm>
            <a:off x="1508760" y="15910559"/>
            <a:ext cx="8308238" cy="2011680"/>
          </a:xfrm>
          <a:prstGeom prst="rect">
            <a:avLst/>
          </a:prstGeom>
          <a:solidFill>
            <a:srgbClr val="F4F0F8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27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14 additional</a:t>
            </a:r>
            <a:r>
              <a:rPr lang="en-CA" sz="2700" b="0" dirty="0">
                <a:solidFill>
                  <a:srgbClr val="111111"/>
                </a:solidFill>
                <a:latin typeface="Aptos"/>
              </a:rPr>
              <a:t>:</a:t>
            </a:r>
            <a:endParaRPr sz="27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7 masses with uncertain line origins, </a:t>
            </a:r>
            <a:endParaRPr lang="en-CA" sz="2700" dirty="0">
              <a:solidFill>
                <a:srgbClr val="111111"/>
              </a:solidFill>
              <a:latin typeface="Aptos"/>
            </a:endParaRP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assuming gas orbiting the black hole</a:t>
            </a:r>
            <a:endParaRPr lang="en-CA" sz="270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6 tentative broad-line detections</a:t>
            </a:r>
            <a:endParaRPr lang="en-CA" sz="27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GN-z11: ultraviolet-line mass </a:t>
            </a:r>
            <a:r>
              <a:rPr sz="1800" b="0" baseline="30000" dirty="0">
                <a:solidFill>
                  <a:srgbClr val="111111"/>
                </a:solidFill>
                <a:latin typeface="Aptos"/>
              </a:rPr>
              <a:t>[1]</a:t>
            </a:r>
          </a:p>
        </p:txBody>
      </p:sp>
      <p:sp>
        <p:nvSpPr>
          <p:cNvPr id="209" name="Poster diagram 209">
            <a:extLst>
              <a:ext uri="{FF2B5EF4-FFF2-40B4-BE49-F238E27FC236}">
                <a16:creationId xmlns:a16="http://schemas.microsoft.com/office/drawing/2014/main" id="{67E72EF7-28FB-420D-A9DC-6606EEB93072}"/>
              </a:ext>
            </a:extLst>
          </p:cNvPr>
          <p:cNvSpPr>
            <a:spLocks noGrp="1"/>
          </p:cNvSpPr>
          <p:nvPr/>
        </p:nvSpPr>
        <p:spPr>
          <a:xfrm>
            <a:off x="10411358" y="14246351"/>
            <a:ext cx="4630522" cy="3749040"/>
          </a:xfrm>
          <a:prstGeom prst="rect">
            <a:avLst/>
          </a:prstGeom>
          <a:solidFill>
            <a:srgbClr val="F5F5F5"/>
          </a:solidFill>
          <a:ln w="17145">
            <a:solidFill>
              <a:srgbClr val="AAAEB3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Outside the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growth sample</a:t>
            </a:r>
            <a:r>
              <a:rPr lang="en-CA" sz="2900" b="0" dirty="0">
                <a:solidFill>
                  <a:srgbClr val="111111"/>
                </a:solidFill>
                <a:latin typeface="Aptos"/>
              </a:rPr>
              <a:t>:</a:t>
            </a:r>
            <a:endParaRPr sz="2900" b="0" dirty="0">
              <a:solidFill>
                <a:srgbClr val="111111"/>
              </a:solidFill>
              <a:latin typeface="Aptos"/>
            </a:endParaRPr>
          </a:p>
          <a:p>
            <a:endParaRPr sz="29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98 without an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eligible mass</a:t>
            </a:r>
          </a:p>
          <a:p>
            <a:endParaRPr sz="29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6 with uncertain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identity</a:t>
            </a:r>
          </a:p>
        </p:txBody>
      </p:sp>
      <p:sp>
        <p:nvSpPr>
          <p:cNvPr id="210" name="Poster diagram 210">
            <a:extLst>
              <a:ext uri="{FF2B5EF4-FFF2-40B4-BE49-F238E27FC236}">
                <a16:creationId xmlns:a16="http://schemas.microsoft.com/office/drawing/2014/main" id="{7A12F45B-766A-479C-A513-DC305E768B18}"/>
              </a:ext>
            </a:extLst>
          </p:cNvPr>
          <p:cNvSpPr>
            <a:spLocks noGrp="1"/>
          </p:cNvSpPr>
          <p:nvPr/>
        </p:nvSpPr>
        <p:spPr>
          <a:xfrm>
            <a:off x="1325880" y="22539959"/>
            <a:ext cx="13990320" cy="105156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Standardized mass, redshift and reported errors</a:t>
            </a:r>
            <a:r>
              <a:rPr lang="en-CA" sz="3000" b="1" dirty="0">
                <a:solidFill>
                  <a:srgbClr val="111111"/>
                </a:solidFill>
                <a:latin typeface="Aptos"/>
              </a:rPr>
              <a:t>;</a:t>
            </a:r>
            <a:endParaRPr sz="3000" b="1" dirty="0">
              <a:solidFill>
                <a:srgbClr val="111111"/>
              </a:solidFill>
              <a:latin typeface="Aptos"/>
            </a:endParaRP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Checked identity, adopted one mass per object, retained alternatives</a:t>
            </a:r>
          </a:p>
        </p:txBody>
      </p:sp>
      <p:sp>
        <p:nvSpPr>
          <p:cNvPr id="211" name="Poster diagram 211">
            <a:extLst>
              <a:ext uri="{FF2B5EF4-FFF2-40B4-BE49-F238E27FC236}">
                <a16:creationId xmlns:a16="http://schemas.microsoft.com/office/drawing/2014/main" id="{7CA63206-32AF-4739-9D5D-3109B2CFE243}"/>
              </a:ext>
            </a:extLst>
          </p:cNvPr>
          <p:cNvSpPr>
            <a:spLocks noGrp="1"/>
          </p:cNvSpPr>
          <p:nvPr/>
        </p:nvSpPr>
        <p:spPr>
          <a:xfrm>
            <a:off x="4512564" y="23618951"/>
            <a:ext cx="347472" cy="23774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2" name="Poster diagram 212">
            <a:extLst>
              <a:ext uri="{FF2B5EF4-FFF2-40B4-BE49-F238E27FC236}">
                <a16:creationId xmlns:a16="http://schemas.microsoft.com/office/drawing/2014/main" id="{F0E4059E-8B12-4811-AB13-DD1F53C26AA3}"/>
              </a:ext>
            </a:extLst>
          </p:cNvPr>
          <p:cNvSpPr>
            <a:spLocks noGrp="1"/>
          </p:cNvSpPr>
          <p:nvPr/>
        </p:nvSpPr>
        <p:spPr>
          <a:xfrm>
            <a:off x="11644884" y="23582375"/>
            <a:ext cx="347472" cy="23774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3" name="Poster diagram 213">
            <a:extLst>
              <a:ext uri="{FF2B5EF4-FFF2-40B4-BE49-F238E27FC236}">
                <a16:creationId xmlns:a16="http://schemas.microsoft.com/office/drawing/2014/main" id="{58F78FE0-91A9-45C2-B422-70C8CA0D6647}"/>
              </a:ext>
            </a:extLst>
          </p:cNvPr>
          <p:cNvSpPr>
            <a:spLocks noGrp="1"/>
          </p:cNvSpPr>
          <p:nvPr/>
        </p:nvSpPr>
        <p:spPr>
          <a:xfrm>
            <a:off x="1325880" y="23911559"/>
            <a:ext cx="6720840" cy="9144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>
                <a:solidFill>
                  <a:srgbClr val="111111"/>
                </a:solidFill>
                <a:latin typeface="Aptos"/>
              </a:rPr>
              <a:t>Central mass estimate</a:t>
            </a:r>
          </a:p>
        </p:txBody>
      </p:sp>
      <p:sp>
        <p:nvSpPr>
          <p:cNvPr id="214" name="Poster diagram 214">
            <a:extLst>
              <a:ext uri="{FF2B5EF4-FFF2-40B4-BE49-F238E27FC236}">
                <a16:creationId xmlns:a16="http://schemas.microsoft.com/office/drawing/2014/main" id="{E0DF1478-840F-4BDD-B29E-A5B229B3783E}"/>
              </a:ext>
            </a:extLst>
          </p:cNvPr>
          <p:cNvSpPr>
            <a:spLocks noGrp="1"/>
          </p:cNvSpPr>
          <p:nvPr/>
        </p:nvSpPr>
        <p:spPr>
          <a:xfrm>
            <a:off x="8595360" y="23911559"/>
            <a:ext cx="6446520" cy="9144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8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10,000 mass-error draws</a:t>
            </a:r>
          </a:p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per object with reported errors</a:t>
            </a:r>
          </a:p>
        </p:txBody>
      </p:sp>
      <p:sp>
        <p:nvSpPr>
          <p:cNvPr id="215" name="Poster diagram 215">
            <a:extLst>
              <a:ext uri="{FF2B5EF4-FFF2-40B4-BE49-F238E27FC236}">
                <a16:creationId xmlns:a16="http://schemas.microsoft.com/office/drawing/2014/main" id="{F3106931-3BF4-4F12-9726-6C63FA258C0A}"/>
              </a:ext>
            </a:extLst>
          </p:cNvPr>
          <p:cNvSpPr>
            <a:spLocks noGrp="1"/>
          </p:cNvSpPr>
          <p:nvPr/>
        </p:nvSpPr>
        <p:spPr>
          <a:xfrm>
            <a:off x="4512564" y="24871679"/>
            <a:ext cx="347472" cy="23774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6" name="Poster diagram 216">
            <a:extLst>
              <a:ext uri="{FF2B5EF4-FFF2-40B4-BE49-F238E27FC236}">
                <a16:creationId xmlns:a16="http://schemas.microsoft.com/office/drawing/2014/main" id="{336C5316-EC48-42CE-8537-8453628B7D8C}"/>
              </a:ext>
            </a:extLst>
          </p:cNvPr>
          <p:cNvSpPr>
            <a:spLocks noGrp="1"/>
          </p:cNvSpPr>
          <p:nvPr/>
        </p:nvSpPr>
        <p:spPr>
          <a:xfrm>
            <a:off x="11644884" y="24880823"/>
            <a:ext cx="347472" cy="23774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Poster diagram 217">
            <a:extLst>
              <a:ext uri="{FF2B5EF4-FFF2-40B4-BE49-F238E27FC236}">
                <a16:creationId xmlns:a16="http://schemas.microsoft.com/office/drawing/2014/main" id="{971DBA1A-D2E6-408F-AF7C-16AF667673EA}"/>
              </a:ext>
            </a:extLst>
          </p:cNvPr>
          <p:cNvSpPr>
            <a:spLocks noGrp="1"/>
          </p:cNvSpPr>
          <p:nvPr/>
        </p:nvSpPr>
        <p:spPr>
          <a:xfrm>
            <a:off x="1325880" y="25191719"/>
            <a:ext cx="13716000" cy="2057400"/>
          </a:xfrm>
          <a:prstGeom prst="rect">
            <a:avLst/>
          </a:prstGeom>
          <a:solidFill>
            <a:srgbClr val="EAF1F8"/>
          </a:solidFill>
          <a:ln w="17145">
            <a:solidFill>
              <a:srgbClr val="073463"/>
            </a:solidFill>
          </a:ln>
        </p:spPr>
        <p:txBody>
          <a:bodyPr lIns="114300" tIns="76200" rIns="114300" bIns="76200" anchor="t"/>
          <a:lstStyle>
            <a:defPPr algn="ctr">
              <a:defRPr sz="31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Calculated the required lifetime-average</a:t>
            </a:r>
          </a:p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Eddington ratio, including inactive periods </a:t>
            </a:r>
            <a:r>
              <a:rPr sz="2067" b="0" baseline="30000">
                <a:solidFill>
                  <a:srgbClr val="111111"/>
                </a:solidFill>
                <a:latin typeface="Aptos"/>
              </a:rPr>
              <a:t>[3]</a:t>
            </a:r>
          </a:p>
        </p:txBody>
      </p:sp>
      <p:sp>
        <p:nvSpPr>
          <p:cNvPr id="218" name="Poster diagram 218">
            <a:extLst>
              <a:ext uri="{FF2B5EF4-FFF2-40B4-BE49-F238E27FC236}">
                <a16:creationId xmlns:a16="http://schemas.microsoft.com/office/drawing/2014/main" id="{C320C512-3791-4B48-9B61-7FD45A4601D4}"/>
              </a:ext>
            </a:extLst>
          </p:cNvPr>
          <p:cNvSpPr>
            <a:spLocks noGrp="1"/>
          </p:cNvSpPr>
          <p:nvPr/>
        </p:nvSpPr>
        <p:spPr>
          <a:xfrm>
            <a:off x="1325880" y="26288999"/>
            <a:ext cx="13990320" cy="91440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 dirty="0">
                <a:solidFill>
                  <a:srgbClr val="111111"/>
                </a:solidFill>
                <a:latin typeface="Aptos"/>
              </a:rPr>
              <a:t>Reference: 100 M⊙ seeds at z = 30</a:t>
            </a:r>
          </a:p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 dirty="0" err="1">
                <a:solidFill>
                  <a:srgbClr val="111111"/>
                </a:solidFill>
                <a:latin typeface="Aptos"/>
              </a:rPr>
              <a:t>ε</a:t>
            </a:r>
            <a:r>
              <a:rPr sz="3000" b="0" dirty="0">
                <a:solidFill>
                  <a:srgbClr val="111111"/>
                </a:solidFill>
                <a:latin typeface="Aptos"/>
              </a:rPr>
              <a:t> = 0.1, no mergers</a:t>
            </a:r>
          </a:p>
        </p:txBody>
      </p:sp>
      <p:sp>
        <p:nvSpPr>
          <p:cNvPr id="219" name="Poster diagram 219">
            <a:extLst>
              <a:ext uri="{FF2B5EF4-FFF2-40B4-BE49-F238E27FC236}">
                <a16:creationId xmlns:a16="http://schemas.microsoft.com/office/drawing/2014/main" id="{A3C5BCD3-C05E-4CC3-AF1A-0840F4394EE3}"/>
              </a:ext>
            </a:extLst>
          </p:cNvPr>
          <p:cNvSpPr>
            <a:spLocks noGrp="1"/>
          </p:cNvSpPr>
          <p:nvPr/>
        </p:nvSpPr>
        <p:spPr>
          <a:xfrm>
            <a:off x="4512564" y="27294839"/>
            <a:ext cx="347472" cy="23774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0" name="Poster diagram 220">
            <a:extLst>
              <a:ext uri="{FF2B5EF4-FFF2-40B4-BE49-F238E27FC236}">
                <a16:creationId xmlns:a16="http://schemas.microsoft.com/office/drawing/2014/main" id="{8529AA9E-ACC8-495E-8075-1D2F4EF9602E}"/>
              </a:ext>
            </a:extLst>
          </p:cNvPr>
          <p:cNvSpPr>
            <a:spLocks noGrp="1"/>
          </p:cNvSpPr>
          <p:nvPr/>
        </p:nvSpPr>
        <p:spPr>
          <a:xfrm>
            <a:off x="11644884" y="27303983"/>
            <a:ext cx="347472" cy="23774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1" name="Poster diagram 221">
            <a:extLst>
              <a:ext uri="{FF2B5EF4-FFF2-40B4-BE49-F238E27FC236}">
                <a16:creationId xmlns:a16="http://schemas.microsoft.com/office/drawing/2014/main" id="{03BB0CC6-89F0-4BB8-91C2-A18697FB4691}"/>
              </a:ext>
            </a:extLst>
          </p:cNvPr>
          <p:cNvSpPr>
            <a:spLocks noGrp="1"/>
          </p:cNvSpPr>
          <p:nvPr/>
        </p:nvSpPr>
        <p:spPr>
          <a:xfrm>
            <a:off x="1325880" y="27614879"/>
            <a:ext cx="6720840" cy="11430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Ranked central estimates</a:t>
            </a:r>
            <a:r>
              <a:rPr lang="en-CA" sz="2900" b="0" dirty="0">
                <a:solidFill>
                  <a:srgbClr val="111111"/>
                </a:solidFill>
                <a:latin typeface="Aptos"/>
              </a:rPr>
              <a:t>;</a:t>
            </a:r>
            <a:endParaRPr sz="2900" b="0" dirty="0">
              <a:solidFill>
                <a:srgbClr val="111111"/>
              </a:solidFill>
              <a:latin typeface="Aptos"/>
            </a:endParaRP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Compared required average with 1</a:t>
            </a:r>
          </a:p>
        </p:txBody>
      </p:sp>
      <p:sp>
        <p:nvSpPr>
          <p:cNvPr id="222" name="Poster diagram 222">
            <a:extLst>
              <a:ext uri="{FF2B5EF4-FFF2-40B4-BE49-F238E27FC236}">
                <a16:creationId xmlns:a16="http://schemas.microsoft.com/office/drawing/2014/main" id="{28773224-ED00-4347-B2C6-7FB30A5D9C9B}"/>
              </a:ext>
            </a:extLst>
          </p:cNvPr>
          <p:cNvSpPr>
            <a:spLocks noGrp="1"/>
          </p:cNvSpPr>
          <p:nvPr/>
        </p:nvSpPr>
        <p:spPr>
          <a:xfrm>
            <a:off x="8595360" y="27614879"/>
            <a:ext cx="6446520" cy="11430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Calculated the fraction of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mass-error draws above 1</a:t>
            </a:r>
          </a:p>
        </p:txBody>
      </p:sp>
      <p:sp>
        <p:nvSpPr>
          <p:cNvPr id="223" name="Poster diagram 223">
            <a:extLst>
              <a:ext uri="{FF2B5EF4-FFF2-40B4-BE49-F238E27FC236}">
                <a16:creationId xmlns:a16="http://schemas.microsoft.com/office/drawing/2014/main" id="{86A37956-8DA5-40AE-A03E-2CE429C5454A}"/>
              </a:ext>
            </a:extLst>
          </p:cNvPr>
          <p:cNvSpPr>
            <a:spLocks noGrp="1"/>
          </p:cNvSpPr>
          <p:nvPr/>
        </p:nvSpPr>
        <p:spPr>
          <a:xfrm>
            <a:off x="1313389" y="29260799"/>
            <a:ext cx="13990320" cy="1508760"/>
          </a:xfrm>
          <a:prstGeom prst="rect">
            <a:avLst/>
          </a:prstGeom>
          <a:noFill/>
          <a:ln w="0">
            <a:noFill/>
          </a:ln>
        </p:spPr>
        <p:txBody>
          <a:bodyPr lIns="0" tIns="27432" rIns="0" bIns="27432" anchor="t"/>
          <a:lstStyle/>
          <a:p>
            <a:pPr algn="l">
              <a:lnSpc>
                <a:spcPct val="100000"/>
              </a:lnSpc>
              <a:buNone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Uncertainty: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Mass errors cover 208 primary / 222 expanded objects. The other 12 enter central-mass tests only. Reported mass errors do not consistently include calibration uncertainty.</a:t>
            </a:r>
          </a:p>
        </p:txBody>
      </p:sp>
      <p:sp>
        <p:nvSpPr>
          <p:cNvPr id="224" name="Poster diagram 224">
            <a:extLst>
              <a:ext uri="{FF2B5EF4-FFF2-40B4-BE49-F238E27FC236}">
                <a16:creationId xmlns:a16="http://schemas.microsoft.com/office/drawing/2014/main" id="{39DA12D1-0D37-445A-9028-17994BB6BD07}"/>
              </a:ext>
            </a:extLst>
          </p:cNvPr>
          <p:cNvSpPr>
            <a:spLocks noGrp="1"/>
          </p:cNvSpPr>
          <p:nvPr/>
        </p:nvSpPr>
        <p:spPr>
          <a:xfrm>
            <a:off x="1325880" y="30769559"/>
            <a:ext cx="13990320" cy="1508760"/>
          </a:xfrm>
          <a:prstGeom prst="rect">
            <a:avLst/>
          </a:prstGeom>
          <a:noFill/>
          <a:ln w="0">
            <a:noFill/>
          </a:ln>
        </p:spPr>
        <p:txBody>
          <a:bodyPr lIns="0" tIns="27432" rIns="0" bIns="27432" anchor="t"/>
          <a:lstStyle/>
          <a:p>
            <a:pPr algn="l">
              <a:lnSpc>
                <a:spcPct val="100000"/>
              </a:lnSpc>
              <a:buNone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Earlier onset: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Solved minimum seed masses for 4 targets at start redshifts 20–3,400. Included radiation in cosmic ages and assumed gas was available.</a:t>
            </a:r>
          </a:p>
        </p:txBody>
      </p:sp>
      <p:sp>
        <p:nvSpPr>
          <p:cNvPr id="3" name="Efficiency comparison heading">
            <a:extLst>
              <a:ext uri="{FF2B5EF4-FFF2-40B4-BE49-F238E27FC236}">
                <a16:creationId xmlns:a16="http://schemas.microsoft.com/office/drawing/2014/main" id="{9C7CDCE8-5361-4FEF-24D8-015D90D4280A}"/>
              </a:ext>
            </a:extLst>
          </p:cNvPr>
          <p:cNvSpPr>
            <a:spLocks noGrp="1"/>
          </p:cNvSpPr>
          <p:nvPr/>
        </p:nvSpPr>
        <p:spPr>
          <a:xfrm>
            <a:off x="1325880" y="11384279"/>
            <a:ext cx="1399032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 dirty="0">
                <a:solidFill>
                  <a:srgbClr val="002A5C"/>
                </a:solidFill>
                <a:latin typeface="Aptos"/>
              </a:rPr>
              <a:t>Catalogue creation and sampling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B40514-F485-5888-F9CA-4FD66F13751C}"/>
              </a:ext>
            </a:extLst>
          </p:cNvPr>
          <p:cNvSpPr txBox="1"/>
          <p:nvPr/>
        </p:nvSpPr>
        <p:spPr>
          <a:xfrm>
            <a:off x="27337956" y="30017951"/>
            <a:ext cx="9552876" cy="17184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arXiv:2508.21748v2.</a:t>
            </a:r>
          </a:p>
          <a:p>
            <a:pPr>
              <a:spcAft>
                <a:spcPts val="800"/>
              </a:spcAft>
              <a:buNone/>
            </a:pPr>
            <a:r>
              <a:rPr lang="en-CA" sz="3300" dirty="0"/>
              <a:t>Catalogue sources and code: QR link above.</a:t>
            </a:r>
            <a:endParaRPr lang="en-US" sz="33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3531A0-DA17-4C0D-FBA9-F5FDB919A1B0}"/>
              </a:ext>
            </a:extLst>
          </p:cNvPr>
          <p:cNvSpPr txBox="1"/>
          <p:nvPr/>
        </p:nvSpPr>
        <p:spPr>
          <a:xfrm>
            <a:off x="16276320" y="23056916"/>
            <a:ext cx="26454038" cy="449353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 panose="020B0004020202020204" pitchFamily="34" charset="0"/>
              </a:rPr>
              <a:t>Catalogue:</a:t>
            </a:r>
            <a:r>
              <a:rPr lang="en-CA" sz="3300" dirty="0">
                <a:latin typeface="Aptos" panose="020B0004020202020204" pitchFamily="34" charset="0"/>
              </a:rPr>
              <a:t> The reproducible catalogue identifies the strongest targets for growth tests by comparing published masses under the same assumptions.</a:t>
            </a:r>
          </a:p>
          <a:p>
            <a:pPr marL="45720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CA" sz="500" dirty="0">
              <a:latin typeface="Aptos" panose="020B0004020202020204" pitchFamily="34" charset="0"/>
            </a:endParaRPr>
          </a:p>
          <a:p>
            <a:pPr marL="45720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 panose="020B0004020202020204" pitchFamily="34" charset="0"/>
              </a:rPr>
              <a:t>Growth physics:</a:t>
            </a:r>
            <a:r>
              <a:rPr lang="en-CA" sz="3300" dirty="0">
                <a:latin typeface="Aptos" panose="020B0004020202020204" pitchFamily="34" charset="0"/>
              </a:rPr>
              <a:t> The efficiency test shows that difficulty growing from small seeds does not imply a need for heavier seeds or super-Eddington accretion.</a:t>
            </a:r>
          </a:p>
          <a:p>
            <a:pPr marL="45720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CA" sz="500" dirty="0">
              <a:latin typeface="Aptos" panose="020B0004020202020204" pitchFamily="34" charset="0"/>
            </a:endParaRPr>
          </a:p>
          <a:p>
            <a:pPr marL="45720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solidFill>
                  <a:srgbClr val="000000"/>
                </a:solidFill>
              </a:rPr>
              <a:t>Earlier growth: </a:t>
            </a:r>
            <a:r>
              <a:rPr lang="en-CA" sz="3300" dirty="0">
                <a:solidFill>
                  <a:srgbClr val="000000"/>
                </a:solidFill>
              </a:rPr>
              <a:t>Earlier onset alone cannot explain the four target masses from 100 M⊙ seeds at </a:t>
            </a:r>
            <a:r>
              <a:rPr lang="en-CA" sz="3300" dirty="0" err="1">
                <a:solidFill>
                  <a:srgbClr val="000000"/>
                </a:solidFill>
              </a:rPr>
              <a:t>ε</a:t>
            </a:r>
            <a:r>
              <a:rPr lang="en-CA" sz="3300" dirty="0">
                <a:solidFill>
                  <a:srgbClr val="000000"/>
                </a:solidFill>
              </a:rPr>
              <a:t> = 0.1 and average ratio ≤ 1, without mergers.</a:t>
            </a:r>
          </a:p>
          <a:p>
            <a:pPr marL="45720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CA" sz="500" dirty="0">
              <a:solidFill>
                <a:srgbClr val="000000"/>
              </a:solidFill>
            </a:endParaRPr>
          </a:p>
          <a:p>
            <a:pPr marL="45720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solidFill>
                  <a:srgbClr val="000000"/>
                </a:solidFill>
              </a:rPr>
              <a:t>Future observations: </a:t>
            </a:r>
            <a:r>
              <a:rPr lang="en-CA" sz="3300" dirty="0">
                <a:solidFill>
                  <a:srgbClr val="000000"/>
                </a:solidFill>
              </a:rPr>
              <a:t>The independent </a:t>
            </a:r>
            <a:r>
              <a:rPr lang="en-CA" sz="3300" dirty="0">
                <a:solidFill>
                  <a:srgbClr val="000000"/>
                </a:solidFill>
                <a:latin typeface="Aptos" panose="020B0004020202020204" pitchFamily="34" charset="0"/>
              </a:rPr>
              <a:t>mass check shows that the inferred growth difficulty depends on the mass estimate. </a:t>
            </a:r>
            <a:r>
              <a:rPr lang="en-CA" sz="3300" dirty="0">
                <a:latin typeface="Aptos" panose="020B0004020202020204" pitchFamily="34" charset="0"/>
              </a:rPr>
              <a:t>Independent masses and checks on lensing and line broadening would test whether the strongest outliers </a:t>
            </a:r>
            <a:r>
              <a:rPr lang="en-CA" sz="3300" dirty="0">
                <a:solidFill>
                  <a:srgbClr val="000000"/>
                </a:solidFill>
                <a:latin typeface="Aptos" panose="020B0004020202020204" pitchFamily="34" charset="0"/>
              </a:rPr>
              <a:t>truly challenge the reference growth model.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C72718-6C60-2C90-968B-10AEC28AEEA4}"/>
              </a:ext>
            </a:extLst>
          </p:cNvPr>
          <p:cNvSpPr txBox="1"/>
          <p:nvPr/>
        </p:nvSpPr>
        <p:spPr>
          <a:xfrm>
            <a:off x="57737829" y="1031965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211</TotalTime>
  <Words>1126</Words>
  <Application>Microsoft Macintosh PowerPoint</Application>
  <PresentationFormat>Custom</PresentationFormat>
  <Paragraphs>72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 Early Black-Hole Growth Constraints from JWST Nicole Jiang; University of Toronto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Jiang</dc:creator>
  <cp:lastModifiedBy>Nicole Jiang</cp:lastModifiedBy>
  <cp:revision>1</cp:revision>
  <dcterms:created xsi:type="dcterms:W3CDTF">2026-09-30T19:05:59Z</dcterms:created>
  <dcterms:modified xsi:type="dcterms:W3CDTF">2026-10-15T19:31:43Z</dcterms:modified>
</cp:coreProperties>
</file>
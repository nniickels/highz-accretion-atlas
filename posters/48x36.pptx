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4"/>
  </p:notesMasterIdLst>
  <p:sldIdLst>
    <p:sldId id="260" r:id="rId2"/>
    <p:sldId id="261" r:id="rId3"/>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A5C"/>
    <a:srgbClr val="002F6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15"/>
    <p:restoredTop sz="94701"/>
  </p:normalViewPr>
  <p:slideViewPr>
    <p:cSldViewPr snapToGrid="0">
      <p:cViewPr>
        <p:scale>
          <a:sx n="25" d="100"/>
          <a:sy n="25" d="100"/>
        </p:scale>
        <p:origin x="688"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6473874E-BB57-4884-5C66-EE1C81F1FB1F}"/>
    <pc:docChg chg="modSld">
      <pc:chgData name="Guest User" userId="" providerId="Windows Live" clId="Web-{6473874E-BB57-4884-5C66-EE1C81F1FB1F}" dt="2026-10-06T18:07:50.156" v="49" actId="14100"/>
      <pc:docMkLst>
        <pc:docMk/>
      </pc:docMkLst>
    </pc:docChg>
  </pc:docChgLst>
  <pc:docChgLst>
    <pc:chgData name="Nicole Jiang" userId="09ef0fc0f6f473b5" providerId="LiveId" clId="{EB8F4A53-0964-5BF1-90AD-931457E28E1A}"/>
    <pc:docChg chg="undo redo custSel addSld delSld modSld">
      <pc:chgData name="Nicole Jiang" userId="09ef0fc0f6f473b5" providerId="LiveId" clId="{EB8F4A53-0964-5BF1-90AD-931457E28E1A}" dt="2026-10-14T17:32:29.141" v="2461" actId="1076"/>
      <pc:docMkLst>
        <pc:docMk/>
      </pc:docMkLst>
      <pc:sldChg chg="addSp delSp modSp add del mod">
        <pc:chgData name="Nicole Jiang" userId="09ef0fc0f6f473b5" providerId="LiveId" clId="{EB8F4A53-0964-5BF1-90AD-931457E28E1A}" dt="2026-10-13T20:04:12.431" v="2363" actId="2696"/>
        <pc:sldMkLst>
          <pc:docMk/>
          <pc:sldMk cId="868487171" sldId="259"/>
        </pc:sldMkLst>
      </pc:sldChg>
      <pc:sldChg chg="modSp mod">
        <pc:chgData name="Nicole Jiang" userId="09ef0fc0f6f473b5" providerId="LiveId" clId="{EB8F4A53-0964-5BF1-90AD-931457E28E1A}" dt="2026-10-14T03:47:30.465" v="2450" actId="1076"/>
        <pc:sldMkLst>
          <pc:docMk/>
          <pc:sldMk cId="868487171" sldId="260"/>
        </pc:sldMkLst>
        <pc:spChg chg="mod">
          <ac:chgData name="Nicole Jiang" userId="09ef0fc0f6f473b5" providerId="LiveId" clId="{EB8F4A53-0964-5BF1-90AD-931457E28E1A}" dt="2026-10-13T21:08:14.362" v="2384" actId="255"/>
          <ac:spMkLst>
            <pc:docMk/>
            <pc:sldMk cId="868487171" sldId="260"/>
            <ac:spMk id="2" creationId="{6F669F8B-BE33-0C82-515C-AF8D3B759FB3}"/>
          </ac:spMkLst>
        </pc:spChg>
        <pc:spChg chg="mod">
          <ac:chgData name="Nicole Jiang" userId="09ef0fc0f6f473b5" providerId="LiveId" clId="{EB8F4A53-0964-5BF1-90AD-931457E28E1A}" dt="2026-10-13T21:08:49.323" v="2392" actId="1076"/>
          <ac:spMkLst>
            <pc:docMk/>
            <pc:sldMk cId="868487171" sldId="260"/>
            <ac:spMk id="15" creationId="{B71483CE-2A7E-6438-7E3B-E605C17C7099}"/>
          </ac:spMkLst>
        </pc:spChg>
        <pc:spChg chg="mod">
          <ac:chgData name="Nicole Jiang" userId="09ef0fc0f6f473b5" providerId="LiveId" clId="{EB8F4A53-0964-5BF1-90AD-931457E28E1A}" dt="2026-10-14T03:47:11.525" v="2445" actId="1076"/>
          <ac:spMkLst>
            <pc:docMk/>
            <pc:sldMk cId="868487171" sldId="260"/>
            <ac:spMk id="32" creationId="{F8D50A2A-9B61-AD34-B9C2-8944BB27426C}"/>
          </ac:spMkLst>
        </pc:spChg>
        <pc:spChg chg="mod">
          <ac:chgData name="Nicole Jiang" userId="09ef0fc0f6f473b5" providerId="LiveId" clId="{EB8F4A53-0964-5BF1-90AD-931457E28E1A}" dt="2026-10-13T21:08:26.352" v="2387" actId="255"/>
          <ac:spMkLst>
            <pc:docMk/>
            <pc:sldMk cId="868487171" sldId="260"/>
            <ac:spMk id="70" creationId="{7842EAEC-0FF9-516A-6712-19E0D19D0354}"/>
          </ac:spMkLst>
        </pc:spChg>
        <pc:spChg chg="mod">
          <ac:chgData name="Nicole Jiang" userId="09ef0fc0f6f473b5" providerId="LiveId" clId="{EB8F4A53-0964-5BF1-90AD-931457E28E1A}" dt="2026-10-14T01:47:21.679" v="2444" actId="20577"/>
          <ac:spMkLst>
            <pc:docMk/>
            <pc:sldMk cId="868487171" sldId="260"/>
            <ac:spMk id="73" creationId="{88C51BF9-B81A-ECF4-F01D-305CA1CE9DD1}"/>
          </ac:spMkLst>
        </pc:spChg>
        <pc:spChg chg="mod">
          <ac:chgData name="Nicole Jiang" userId="09ef0fc0f6f473b5" providerId="LiveId" clId="{EB8F4A53-0964-5BF1-90AD-931457E28E1A}" dt="2026-10-13T21:08:17.671" v="2385" actId="255"/>
          <ac:spMkLst>
            <pc:docMk/>
            <pc:sldMk cId="868487171" sldId="260"/>
            <ac:spMk id="76" creationId="{8F4057E1-F618-63B3-DF3A-8B3B4948305D}"/>
          </ac:spMkLst>
        </pc:spChg>
        <pc:spChg chg="mod">
          <ac:chgData name="Nicole Jiang" userId="09ef0fc0f6f473b5" providerId="LiveId" clId="{EB8F4A53-0964-5BF1-90AD-931457E28E1A}" dt="2026-10-13T21:09:01.692" v="2393" actId="1076"/>
          <ac:spMkLst>
            <pc:docMk/>
            <pc:sldMk cId="868487171" sldId="260"/>
            <ac:spMk id="79" creationId="{3DD5B540-2EC8-A5A1-200C-994C1D7C8BFD}"/>
          </ac:spMkLst>
        </pc:spChg>
        <pc:spChg chg="mod">
          <ac:chgData name="Nicole Jiang" userId="09ef0fc0f6f473b5" providerId="LiveId" clId="{EB8F4A53-0964-5BF1-90AD-931457E28E1A}" dt="2026-10-13T21:08:38.029" v="2390" actId="1076"/>
          <ac:spMkLst>
            <pc:docMk/>
            <pc:sldMk cId="868487171" sldId="260"/>
            <ac:spMk id="82" creationId="{82B57F9D-B4AF-1E4D-7FBC-B8680CB4CAB8}"/>
          </ac:spMkLst>
        </pc:spChg>
        <pc:picChg chg="mod">
          <ac:chgData name="Nicole Jiang" userId="09ef0fc0f6f473b5" providerId="LiveId" clId="{EB8F4A53-0964-5BF1-90AD-931457E28E1A}" dt="2026-10-14T03:47:25.307" v="2448" actId="14100"/>
          <ac:picMkLst>
            <pc:docMk/>
            <pc:sldMk cId="868487171" sldId="260"/>
            <ac:picMk id="5" creationId="{0BD845B3-DC16-6DC6-BFC8-2D65D247678D}"/>
          </ac:picMkLst>
        </pc:picChg>
        <pc:picChg chg="mod">
          <ac:chgData name="Nicole Jiang" userId="09ef0fc0f6f473b5" providerId="LiveId" clId="{EB8F4A53-0964-5BF1-90AD-931457E28E1A}" dt="2026-10-14T03:47:30.465" v="2450" actId="1076"/>
          <ac:picMkLst>
            <pc:docMk/>
            <pc:sldMk cId="868487171" sldId="260"/>
            <ac:picMk id="6" creationId="{9D3E6E2E-04C2-513B-0EE5-8C40F5B8F46A}"/>
          </ac:picMkLst>
        </pc:picChg>
      </pc:sldChg>
      <pc:sldChg chg="modSp mod">
        <pc:chgData name="Nicole Jiang" userId="09ef0fc0f6f473b5" providerId="LiveId" clId="{EB8F4A53-0964-5BF1-90AD-931457E28E1A}" dt="2026-10-14T17:32:29.141" v="2461" actId="1076"/>
        <pc:sldMkLst>
          <pc:docMk/>
          <pc:sldMk cId="868487171" sldId="261"/>
        </pc:sldMkLst>
        <pc:spChg chg="mod">
          <ac:chgData name="Nicole Jiang" userId="09ef0fc0f6f473b5" providerId="LiveId" clId="{EB8F4A53-0964-5BF1-90AD-931457E28E1A}" dt="2026-10-14T17:31:52.763" v="2458" actId="1076"/>
          <ac:spMkLst>
            <pc:docMk/>
            <pc:sldMk cId="868487171" sldId="261"/>
            <ac:spMk id="78" creationId="{D50205E6-BF86-6F08-991C-43F597FDF8DD}"/>
          </ac:spMkLst>
        </pc:spChg>
        <pc:spChg chg="mod">
          <ac:chgData name="Nicole Jiang" userId="09ef0fc0f6f473b5" providerId="LiveId" clId="{EB8F4A53-0964-5BF1-90AD-931457E28E1A}" dt="2026-10-14T17:32:02.402" v="2460" actId="1076"/>
          <ac:spMkLst>
            <pc:docMk/>
            <pc:sldMk cId="868487171" sldId="261"/>
            <ac:spMk id="79" creationId="{3DD5B540-2EC8-A5A1-200C-994C1D7C8BFD}"/>
          </ac:spMkLst>
        </pc:spChg>
        <pc:spChg chg="mod">
          <ac:chgData name="Nicole Jiang" userId="09ef0fc0f6f473b5" providerId="LiveId" clId="{EB8F4A53-0964-5BF1-90AD-931457E28E1A}" dt="2026-10-14T17:31:29.998" v="2454" actId="14100"/>
          <ac:spMkLst>
            <pc:docMk/>
            <pc:sldMk cId="868487171" sldId="261"/>
            <ac:spMk id="80" creationId="{BBD5C8AB-335C-2E4D-00F6-4B0BF74BB013}"/>
          </ac:spMkLst>
        </pc:spChg>
        <pc:spChg chg="mod">
          <ac:chgData name="Nicole Jiang" userId="09ef0fc0f6f473b5" providerId="LiveId" clId="{EB8F4A53-0964-5BF1-90AD-931457E28E1A}" dt="2026-10-14T17:32:29.141" v="2461" actId="1076"/>
          <ac:spMkLst>
            <pc:docMk/>
            <pc:sldMk cId="868487171" sldId="261"/>
            <ac:spMk id="120" creationId="{3A05E1FE-512D-49F3-9C39-22D275F0EE18}"/>
          </ac:spMkLst>
        </pc:spChg>
      </pc:sldChg>
    </pc:docChg>
  </pc:docChgLst>
  <pc:docChgLst>
    <pc:chgData name="Nicole Jiang" userId="09ef0fc0f6f473b5" providerId="Windows Live" clId="Web-{00000000-0000-0000-0000-000000000000}"/>
    <pc:docChg chg="modSld">
      <pc:chgData name="Nicole Jiang" userId="09ef0fc0f6f473b5" providerId="Windows Live" clId="Web-{00000000-0000-0000-0000-000000000000}" dt="2026-10-06T17:56:42.980" v="36" actId="1076"/>
      <pc:docMkLst>
        <pc:docMk/>
      </pc:docMkLst>
    </pc:docChg>
  </pc:docChgLst>
  <pc:docChgLst>
    <pc:chgData name="Guest User" providerId="Windows Live" clId="Web-{00000000-0000-0000-0000-000000000000}"/>
    <pc:docChg chg="modSld">
      <pc:chgData name="Guest User" userId="" providerId="Windows Live" clId="Web-{00000000-0000-0000-0000-000000000000}" dt="2026-10-06T18:59:37.821" v="16" actId="14100"/>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D8F461-2A77-BA43-9B12-25195C3EB239}" type="datetimeFigureOut">
              <a:rPr lang="en-US" smtClean="0"/>
              <a:t>10/14/26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DA246-DE01-5046-81A0-D7E93C87400D}" type="slidenum">
              <a:rPr lang="en-US" smtClean="0"/>
              <a:t>‹#›</a:t>
            </a:fld>
            <a:endParaRPr lang="en-US"/>
          </a:p>
        </p:txBody>
      </p:sp>
    </p:spTree>
    <p:extLst>
      <p:ext uri="{BB962C8B-B14F-4D97-AF65-F5344CB8AC3E}">
        <p14:creationId xmlns:p14="http://schemas.microsoft.com/office/powerpoint/2010/main" val="1539751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4C11B-3281-61F5-AEEC-E5F2B2984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5FC8B-F564-04EA-26FD-6F8FBA438751}"/>
              </a:ext>
            </a:extLst>
          </p:cNvPr>
          <p:cNvSpPr>
            <a:spLocks noGrp="1" noRot="1" noChangeAspect="1"/>
          </p:cNvSpPr>
          <p:nvPr>
            <p:ph type="sldImg"/>
          </p:nvPr>
        </p:nvSpPr>
        <p:spPr>
          <a:xfrm>
            <a:off x="2271713" y="1143000"/>
            <a:ext cx="2314575" cy="3086100"/>
          </a:xfrm>
        </p:spPr>
      </p:sp>
      <p:sp>
        <p:nvSpPr>
          <p:cNvPr id="3" name="Notes Placeholder 2">
            <a:extLst>
              <a:ext uri="{FF2B5EF4-FFF2-40B4-BE49-F238E27FC236}">
                <a16:creationId xmlns:a16="http://schemas.microsoft.com/office/drawing/2014/main" id="{78ACB9E4-9956-85CD-1D61-2F397B472319}"/>
              </a:ext>
            </a:extLst>
          </p:cNvPr>
          <p:cNvSpPr>
            <a:spLocks noGrp="1"/>
          </p:cNvSpPr>
          <p:nvPr>
            <p:ph type="body" idx="1"/>
          </p:nvPr>
        </p:nvSpPr>
        <p:spPr/>
        <p:txBody>
          <a:bodyPr/>
          <a:lstStyle/>
          <a:p>
            <a:endParaRPr lang="en-US"/>
          </a:p>
          <a:p>
            <a:pPr>
              <a:spcAft>
                <a:spcPts val="800"/>
              </a:spcAft>
              <a:buNone/>
            </a:pPr>
            <a:r>
              <a:rPr lang="en-CA" sz="1200" b="0">
                <a:latin typeface="Aptos"/>
              </a:rPr>
              <a:t>Poster figure inputs: results/manuscript/tables/publication_object_selection.csv; mass_offset_object_sensitivity.csv; results/v3/tables/v3_object_point_ranking.csv and v3_object_uncertainty_ranking.csv; results/v4/tables/v4_minimum_seed_mass.csv. Controlled growth comparison uses src.models.predicted_log_mbh with mean ratio 1, z_seed=30, B_merge=1 and efficiencies 0.1 and 1-sqrt(8/9). Independent dynamical mass: https://arxiv.org/abs/2508.21748.</a:t>
            </a:r>
          </a:p>
        </p:txBody>
      </p:sp>
      <p:sp>
        <p:nvSpPr>
          <p:cNvPr id="4" name="Slide Number Placeholder 3">
            <a:extLst>
              <a:ext uri="{FF2B5EF4-FFF2-40B4-BE49-F238E27FC236}">
                <a16:creationId xmlns:a16="http://schemas.microsoft.com/office/drawing/2014/main" id="{A8B3E2F2-BDDF-9490-DE7B-11CDCE91017C}"/>
              </a:ext>
            </a:extLst>
          </p:cNvPr>
          <p:cNvSpPr>
            <a:spLocks noGrp="1"/>
          </p:cNvSpPr>
          <p:nvPr>
            <p:ph type="sldNum" sz="quarter" idx="5"/>
          </p:nvPr>
        </p:nvSpPr>
        <p:spPr/>
        <p:txBody>
          <a:bodyPr/>
          <a:lstStyle/>
          <a:p>
            <a:fld id="{490DA246-DE01-5046-81A0-D7E93C87400D}" type="slidenum">
              <a:rPr lang="en-US" smtClean="0"/>
              <a:t>1</a:t>
            </a:fld>
            <a:endParaRPr lang="en-US"/>
          </a:p>
        </p:txBody>
      </p:sp>
    </p:spTree>
    <p:extLst>
      <p:ext uri="{BB962C8B-B14F-4D97-AF65-F5344CB8AC3E}">
        <p14:creationId xmlns:p14="http://schemas.microsoft.com/office/powerpoint/2010/main" val="36001524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4C11B-3281-61F5-AEEC-E5F2B2984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5FC8B-F564-04EA-26FD-6F8FBA438751}"/>
              </a:ext>
            </a:extLst>
          </p:cNvPr>
          <p:cNvSpPr>
            <a:spLocks noGrp="1" noRot="1" noChangeAspect="1"/>
          </p:cNvSpPr>
          <p:nvPr>
            <p:ph type="sldImg"/>
          </p:nvPr>
        </p:nvSpPr>
        <p:spPr>
          <a:xfrm>
            <a:off x="1371600" y="1143000"/>
            <a:ext cx="4114800" cy="3086100"/>
          </a:xfrm>
        </p:spPr>
      </p:sp>
      <p:sp>
        <p:nvSpPr>
          <p:cNvPr id="3" name="Notes Placeholder 2">
            <a:extLst>
              <a:ext uri="{FF2B5EF4-FFF2-40B4-BE49-F238E27FC236}">
                <a16:creationId xmlns:a16="http://schemas.microsoft.com/office/drawing/2014/main" id="{78ACB9E4-9956-85CD-1D61-2F397B472319}"/>
              </a:ext>
            </a:extLst>
          </p:cNvPr>
          <p:cNvSpPr>
            <a:spLocks noGrp="1"/>
          </p:cNvSpPr>
          <p:nvPr>
            <p:ph type="body" idx="1"/>
          </p:nvPr>
        </p:nvSpPr>
        <p:spPr/>
        <p:txBody>
          <a:bodyPr/>
          <a:lstStyle/>
          <a:p>
            <a:endParaRPr lang="en-US"/>
          </a:p>
          <a:p>
            <a:pPr>
              <a:spcAft>
                <a:spcPts val="800"/>
              </a:spcAft>
              <a:buNone/>
            </a:pPr>
            <a:r>
              <a:rPr lang="en-CA" sz="1200" b="0">
                <a:latin typeface="Aptos"/>
              </a:rPr>
              <a:t>Poster figure inputs: results/manuscript/tables/publication_object_selection.csv; mass_offset_object_sensitivity.csv; results/v3/tables/v3_object_point_ranking.csv and v3_object_uncertainty_ranking.csv; results/v4/tables/v4_minimum_seed_mass.csv. Controlled growth comparison uses src.models.predicted_log_mbh with mean ratio 1, z_seed=30, B_merge=1 and efficiencies 0.1 and 1-sqrt(8/9). Independent dynamical mass: https://arxiv.org/abs/2508.21748.</a:t>
            </a:r>
          </a:p>
        </p:txBody>
      </p:sp>
      <p:sp>
        <p:nvSpPr>
          <p:cNvPr id="4" name="Slide Number Placeholder 3">
            <a:extLst>
              <a:ext uri="{FF2B5EF4-FFF2-40B4-BE49-F238E27FC236}">
                <a16:creationId xmlns:a16="http://schemas.microsoft.com/office/drawing/2014/main" id="{A8B3E2F2-BDDF-9490-DE7B-11CDCE91017C}"/>
              </a:ext>
            </a:extLst>
          </p:cNvPr>
          <p:cNvSpPr>
            <a:spLocks noGrp="1"/>
          </p:cNvSpPr>
          <p:nvPr>
            <p:ph type="sldNum" sz="quarter" idx="5"/>
          </p:nvPr>
        </p:nvSpPr>
        <p:spPr/>
        <p:txBody>
          <a:bodyPr/>
          <a:lstStyle/>
          <a:p>
            <a:fld id="{490DA246-DE01-5046-81A0-D7E93C87400D}" type="slidenum">
              <a:rPr lang="en-US" smtClean="0"/>
              <a:t>2</a:t>
            </a:fld>
            <a:endParaRPr lang="en-US"/>
          </a:p>
        </p:txBody>
      </p:sp>
    </p:spTree>
    <p:extLst>
      <p:ext uri="{BB962C8B-B14F-4D97-AF65-F5344CB8AC3E}">
        <p14:creationId xmlns:p14="http://schemas.microsoft.com/office/powerpoint/2010/main" val="36001524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p>
        </p:txBody>
      </p:sp>
      <p:sp>
        <p:nvSpPr>
          <p:cNvPr id="4" name="Date Placeholder 3"/>
          <p:cNvSpPr>
            <a:spLocks noGrp="1"/>
          </p:cNvSpPr>
          <p:nvPr>
            <p:ph type="dt" sz="half" idx="10"/>
          </p:nvPr>
        </p:nvSpPr>
        <p:spPr/>
        <p:txBody>
          <a:bodyPr/>
          <a:lstStyle/>
          <a:p>
            <a:fld id="{9ED62D96-B761-444F-9627-07D69EF59102}"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0116755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D62D96-B761-444F-9627-07D69EF59102}"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3580340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ED62D96-B761-444F-9627-07D69EF59102}"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7149180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ED62D96-B761-444F-9627-07D69EF59102}" type="datetimeFigureOut">
              <a:rPr lang="en-US" smtClean="0"/>
              <a:t>10/14/26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37463010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ED62D96-B761-444F-9627-07D69EF59102}" type="datetimeFigureOut">
              <a:rPr lang="en-US" smtClean="0"/>
              <a:t>10/14/26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3747922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ED62D96-B761-444F-9627-07D69EF59102}" type="datetimeFigureOut">
              <a:rPr lang="en-US" smtClean="0"/>
              <a:t>10/14/26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1839548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ED62D96-B761-444F-9627-07D69EF59102}" type="datetimeFigureOut">
              <a:rPr lang="en-US" smtClean="0"/>
              <a:t>10/14/26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5481339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ED62D96-B761-444F-9627-07D69EF59102}" type="datetimeFigureOut">
              <a:rPr lang="en-US" smtClean="0"/>
              <a:t>10/14/26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1153184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endParaRPr lang="en-US"/>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ED62D96-B761-444F-9627-07D69EF59102}" type="datetimeFigureOut">
              <a:rPr lang="en-US" smtClean="0"/>
              <a:t>10/14/26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1305677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D62D96-B761-444F-9627-07D69EF59102}"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41019889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D62D96-B761-444F-9627-07D69EF59102}"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3118348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6&quot; x 48&quot; Poster">
    <p:spTree>
      <p:nvGrpSpPr>
        <p:cNvPr id="1" name=""/>
        <p:cNvGrpSpPr/>
        <p:nvPr/>
      </p:nvGrpSpPr>
      <p:grpSpPr>
        <a:xfrm>
          <a:off x="0" y="0"/>
          <a:ext cx="0" cy="0"/>
          <a:chOff x="0" y="0"/>
          <a:chExt cx="0" cy="0"/>
        </a:xfrm>
      </p:grpSpPr>
      <p:sp>
        <p:nvSpPr>
          <p:cNvPr id="20" name="Title 19"/>
          <p:cNvSpPr>
            <a:spLocks noGrp="1"/>
          </p:cNvSpPr>
          <p:nvPr>
            <p:ph type="title" hasCustomPrompt="1"/>
          </p:nvPr>
        </p:nvSpPr>
        <p:spPr>
          <a:xfrm>
            <a:off x="696687" y="609600"/>
            <a:ext cx="42497830" cy="3352800"/>
          </a:xfrm>
          <a:prstGeom prst="rect">
            <a:avLst/>
          </a:prstGeom>
          <a:solidFill>
            <a:srgbClr val="C4172F"/>
          </a:solidFill>
          <a:ln>
            <a:solidFill>
              <a:srgbClr val="C4172F"/>
            </a:solidFill>
          </a:ln>
        </p:spPr>
        <p:txBody>
          <a:bodyPr vert="horz" lIns="78373" tIns="39187" rIns="78373" bIns="39187" anchor="ctr" anchorCtr="1"/>
          <a:lstStyle>
            <a:lvl1pPr>
              <a:defRPr sz="6200" b="1">
                <a:solidFill>
                  <a:schemeClr val="bg1"/>
                </a:solidFill>
                <a:latin typeface="Arial"/>
                <a:cs typeface="Arial"/>
              </a:defRPr>
            </a:lvl1pPr>
          </a:lstStyle>
          <a:p>
            <a:r>
              <a:rPr lang="en-US"/>
              <a:t>Poster Presentation Title</a:t>
            </a:r>
            <a:br>
              <a:rPr lang="en-US"/>
            </a:br>
            <a:r>
              <a:rPr lang="en-US" sz="4200" b="1">
                <a:solidFill>
                  <a:schemeClr val="bg1"/>
                </a:solidFill>
                <a:latin typeface="Arial" pitchFamily="34" charset="0"/>
                <a:cs typeface="Arial" pitchFamily="34" charset="0"/>
              </a:rPr>
              <a:t>List Author Name(s)</a:t>
            </a:r>
            <a:br>
              <a:rPr lang="en-US" sz="4200" b="1">
                <a:solidFill>
                  <a:schemeClr val="bg1"/>
                </a:solidFill>
                <a:latin typeface="Arial" pitchFamily="34" charset="0"/>
                <a:cs typeface="Arial" pitchFamily="34" charset="0"/>
              </a:rPr>
            </a:br>
            <a:r>
              <a:rPr lang="en-US" sz="4200" b="1">
                <a:solidFill>
                  <a:schemeClr val="bg1"/>
                </a:solidFill>
                <a:latin typeface="Arial" pitchFamily="34" charset="0"/>
                <a:cs typeface="Arial" pitchFamily="34" charset="0"/>
              </a:rPr>
              <a:t>List Affiliated Institutions</a:t>
            </a:r>
            <a:endParaRPr lang="en-US"/>
          </a:p>
        </p:txBody>
      </p:sp>
      <p:sp>
        <p:nvSpPr>
          <p:cNvPr id="22" name="Text Placeholder 21"/>
          <p:cNvSpPr>
            <a:spLocks noGrp="1"/>
          </p:cNvSpPr>
          <p:nvPr>
            <p:ph type="body" sz="quarter" idx="10" hasCustomPrompt="1"/>
          </p:nvPr>
        </p:nvSpPr>
        <p:spPr>
          <a:xfrm>
            <a:off x="696687" y="42672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Abstract or Introduction</a:t>
            </a:r>
            <a:endParaRPr lang="en-US"/>
          </a:p>
        </p:txBody>
      </p:sp>
      <p:sp>
        <p:nvSpPr>
          <p:cNvPr id="24" name="Text Placeholder 23"/>
          <p:cNvSpPr>
            <a:spLocks noGrp="1"/>
          </p:cNvSpPr>
          <p:nvPr>
            <p:ph type="body" sz="quarter" idx="11" hasCustomPrompt="1"/>
          </p:nvPr>
        </p:nvSpPr>
        <p:spPr>
          <a:xfrm>
            <a:off x="696687" y="5638800"/>
            <a:ext cx="13585370" cy="8686800"/>
          </a:xfrm>
          <a:prstGeom prst="rect">
            <a:avLst/>
          </a:prstGeom>
        </p:spPr>
        <p:txBody>
          <a:bodyPr vert="horz" lIns="78373" tIns="39187" rIns="78373" bIns="39187"/>
          <a:lstStyle>
            <a:lvl1pPr marL="0" indent="0">
              <a:buNone/>
              <a:defRPr sz="2800" baseline="0"/>
            </a:lvl1pPr>
            <a:lvl2pPr marL="397308" indent="0">
              <a:buNone/>
              <a:defRPr sz="2800" baseline="0"/>
            </a:lvl2pPr>
            <a:lvl3pPr marL="772848" indent="0">
              <a:buNone/>
              <a:defRPr sz="2800" baseline="0"/>
            </a:lvl3pPr>
            <a:lvl4pPr>
              <a:defRPr sz="2800"/>
            </a:lvl4pPr>
            <a:lvl5pPr>
              <a:defRPr sz="2800"/>
            </a:lvl5pPr>
          </a:lstStyle>
          <a:p>
            <a:pPr lvl="0"/>
            <a:r>
              <a:rPr lang="en-US"/>
              <a:t>Any element of this template (colors, fonts, layouts, etc.) can be edited to suit your needs. To change the color of a title bar: right click the text box, select format shape, edit the “Fill” and “Line” your desired specifications.</a:t>
            </a:r>
          </a:p>
        </p:txBody>
      </p:sp>
      <p:sp>
        <p:nvSpPr>
          <p:cNvPr id="25" name="Text Placeholder 21"/>
          <p:cNvSpPr>
            <a:spLocks noGrp="1"/>
          </p:cNvSpPr>
          <p:nvPr>
            <p:ph type="body" sz="quarter" idx="12" hasCustomPrompt="1"/>
          </p:nvPr>
        </p:nvSpPr>
        <p:spPr>
          <a:xfrm>
            <a:off x="696687" y="146304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Objectives</a:t>
            </a:r>
            <a:endParaRPr lang="en-US"/>
          </a:p>
        </p:txBody>
      </p:sp>
      <p:sp>
        <p:nvSpPr>
          <p:cNvPr id="26" name="Text Placeholder 23"/>
          <p:cNvSpPr>
            <a:spLocks noGrp="1"/>
          </p:cNvSpPr>
          <p:nvPr>
            <p:ph type="body" sz="quarter" idx="13" hasCustomPrompt="1"/>
          </p:nvPr>
        </p:nvSpPr>
        <p:spPr>
          <a:xfrm>
            <a:off x="696687" y="16002000"/>
            <a:ext cx="13585370" cy="7315200"/>
          </a:xfrm>
          <a:prstGeom prst="rect">
            <a:avLst/>
          </a:prstGeom>
        </p:spPr>
        <p:txBody>
          <a:bodyPr vert="horz" lIns="78373" tIns="39187" rIns="78373" bIns="39187"/>
          <a:lstStyle>
            <a:lvl1pPr marL="0" marR="0" indent="0" algn="l" defTabSz="3493094" rtl="0" eaLnBrk="1" fontAlgn="auto" latinLnBrk="0" hangingPunct="1">
              <a:lnSpc>
                <a:spcPct val="100000"/>
              </a:lnSpc>
              <a:spcBef>
                <a:spcPct val="20000"/>
              </a:spcBef>
              <a:spcAft>
                <a:spcPts val="0"/>
              </a:spcAft>
              <a:buClrTx/>
              <a:buSzTx/>
              <a:buFont typeface="Arial" pitchFamily="34" charset="0"/>
              <a:buNone/>
              <a:tabLst/>
              <a:defRPr sz="2800"/>
            </a:lvl1pPr>
            <a:lvl2pPr>
              <a:defRPr sz="2800"/>
            </a:lvl2pPr>
            <a:lvl3pPr>
              <a:defRPr sz="2800"/>
            </a:lvl3pPr>
            <a:lvl4pPr>
              <a:defRPr sz="2800"/>
            </a:lvl4pPr>
            <a:lvl5pPr>
              <a:defRPr sz="2800"/>
            </a:lvl5pPr>
          </a:lstStyle>
          <a:p>
            <a:pPr marL="0" marR="0" lvl="0" indent="0" algn="l" defTabSz="3493094" rtl="0" eaLnBrk="1" fontAlgn="auto" latinLnBrk="0" hangingPunct="1">
              <a:lnSpc>
                <a:spcPct val="100000"/>
              </a:lnSpc>
              <a:spcBef>
                <a:spcPct val="20000"/>
              </a:spcBef>
              <a:spcAft>
                <a:spcPts val="0"/>
              </a:spcAft>
              <a:buClrTx/>
              <a:buSzTx/>
              <a:buFont typeface="Arial" pitchFamily="34" charset="0"/>
              <a:buNone/>
              <a:tabLst/>
              <a:defRPr/>
            </a:pPr>
            <a:r>
              <a:rPr lang="en-US"/>
              <a:t>To change the color of a title bar: right click the text box, select format shape, edit the “Fill” and “Line” your desired specifications.</a:t>
            </a:r>
          </a:p>
        </p:txBody>
      </p:sp>
      <p:sp>
        <p:nvSpPr>
          <p:cNvPr id="27" name="Text Placeholder 21"/>
          <p:cNvSpPr>
            <a:spLocks noGrp="1"/>
          </p:cNvSpPr>
          <p:nvPr>
            <p:ph type="body" sz="quarter" idx="14" hasCustomPrompt="1"/>
          </p:nvPr>
        </p:nvSpPr>
        <p:spPr>
          <a:xfrm>
            <a:off x="696687" y="236220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Methods</a:t>
            </a:r>
            <a:endParaRPr lang="en-US"/>
          </a:p>
        </p:txBody>
      </p:sp>
      <p:sp>
        <p:nvSpPr>
          <p:cNvPr id="28" name="Text Placeholder 23"/>
          <p:cNvSpPr>
            <a:spLocks noGrp="1"/>
          </p:cNvSpPr>
          <p:nvPr>
            <p:ph type="body" sz="quarter" idx="15" hasCustomPrompt="1"/>
          </p:nvPr>
        </p:nvSpPr>
        <p:spPr>
          <a:xfrm>
            <a:off x="696687" y="24993600"/>
            <a:ext cx="13585370" cy="7315200"/>
          </a:xfrm>
          <a:prstGeom prst="rect">
            <a:avLst/>
          </a:prstGeom>
        </p:spPr>
        <p:txBody>
          <a:bodyPr vert="horz" lIns="78373" tIns="39187" rIns="78373" bIns="39187"/>
          <a:lstStyle>
            <a:lvl1pPr marL="0" marR="0" indent="0" algn="l" defTabSz="3493094" rtl="0" eaLnBrk="1" fontAlgn="auto" latinLnBrk="0" hangingPunct="1">
              <a:lnSpc>
                <a:spcPct val="100000"/>
              </a:lnSpc>
              <a:spcBef>
                <a:spcPct val="20000"/>
              </a:spcBef>
              <a:spcAft>
                <a:spcPts val="0"/>
              </a:spcAft>
              <a:buClrTx/>
              <a:buSzTx/>
              <a:buFont typeface="Arial" pitchFamily="34" charset="0"/>
              <a:buNone/>
              <a:tabLst/>
              <a:defRPr sz="2800"/>
            </a:lvl1pPr>
            <a:lvl2pPr>
              <a:defRPr sz="2800"/>
            </a:lvl2pPr>
            <a:lvl3pPr>
              <a:defRPr sz="2800"/>
            </a:lvl3pPr>
            <a:lvl4pPr>
              <a:defRPr sz="2800"/>
            </a:lvl4pPr>
            <a:lvl5pPr>
              <a:defRPr sz="2800"/>
            </a:lvl5pPr>
          </a:lstStyle>
          <a:p>
            <a:pPr marL="0" marR="0" lvl="0" indent="0" algn="l" defTabSz="3493094" rtl="0" eaLnBrk="1" fontAlgn="auto" latinLnBrk="0" hangingPunct="1">
              <a:lnSpc>
                <a:spcPct val="100000"/>
              </a:lnSpc>
              <a:spcBef>
                <a:spcPct val="20000"/>
              </a:spcBef>
              <a:spcAft>
                <a:spcPts val="0"/>
              </a:spcAft>
              <a:buClrTx/>
              <a:buSzTx/>
              <a:buFont typeface="Arial" pitchFamily="34" charset="0"/>
              <a:buNone/>
              <a:tabLst/>
              <a:defRPr/>
            </a:pPr>
            <a:r>
              <a:rPr lang="en-US"/>
              <a:t>Copy and paste title bars and text boxes to create additional sections.</a:t>
            </a:r>
          </a:p>
        </p:txBody>
      </p:sp>
      <p:sp>
        <p:nvSpPr>
          <p:cNvPr id="29" name="Text Placeholder 21"/>
          <p:cNvSpPr>
            <a:spLocks noGrp="1"/>
          </p:cNvSpPr>
          <p:nvPr>
            <p:ph type="body" sz="quarter" idx="16" hasCustomPrompt="1"/>
          </p:nvPr>
        </p:nvSpPr>
        <p:spPr>
          <a:xfrm>
            <a:off x="15152917" y="42672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Results</a:t>
            </a:r>
            <a:endParaRPr lang="en-US"/>
          </a:p>
        </p:txBody>
      </p:sp>
      <p:sp>
        <p:nvSpPr>
          <p:cNvPr id="30" name="Text Placeholder 23"/>
          <p:cNvSpPr>
            <a:spLocks noGrp="1"/>
          </p:cNvSpPr>
          <p:nvPr>
            <p:ph type="body" sz="quarter" idx="17"/>
          </p:nvPr>
        </p:nvSpPr>
        <p:spPr>
          <a:xfrm>
            <a:off x="29609145" y="24993600"/>
            <a:ext cx="13585370" cy="7315200"/>
          </a:xfrm>
          <a:prstGeom prst="rect">
            <a:avLst/>
          </a:prstGeom>
        </p:spPr>
        <p:txBody>
          <a:bodyPr vert="horz" lIns="78373" tIns="39187" rIns="78373" bIns="39187"/>
          <a:lstStyle>
            <a:lvl1pPr>
              <a:defRPr sz="2800"/>
            </a:lvl1pPr>
            <a:lvl2pPr>
              <a:defRPr sz="2800"/>
            </a:lvl2pPr>
            <a:lvl3pPr>
              <a:defRPr sz="2800"/>
            </a:lvl3pPr>
            <a:lvl4pPr>
              <a:defRPr sz="2800"/>
            </a:lvl4pPr>
            <a:lvl5pPr>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Text Placeholder 21"/>
          <p:cNvSpPr>
            <a:spLocks noGrp="1"/>
          </p:cNvSpPr>
          <p:nvPr>
            <p:ph type="body" sz="quarter" idx="18" hasCustomPrompt="1"/>
          </p:nvPr>
        </p:nvSpPr>
        <p:spPr>
          <a:xfrm>
            <a:off x="29609145" y="42672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Conclusion</a:t>
            </a:r>
            <a:endParaRPr lang="en-US"/>
          </a:p>
        </p:txBody>
      </p:sp>
      <p:sp>
        <p:nvSpPr>
          <p:cNvPr id="32" name="Text Placeholder 23"/>
          <p:cNvSpPr>
            <a:spLocks noGrp="1"/>
          </p:cNvSpPr>
          <p:nvPr>
            <p:ph type="body" sz="quarter" idx="19"/>
          </p:nvPr>
        </p:nvSpPr>
        <p:spPr>
          <a:xfrm>
            <a:off x="29609145" y="5638800"/>
            <a:ext cx="13585370" cy="17678400"/>
          </a:xfrm>
          <a:prstGeom prst="rect">
            <a:avLst/>
          </a:prstGeom>
        </p:spPr>
        <p:txBody>
          <a:bodyPr vert="horz" lIns="78373" tIns="39187" rIns="78373" bIns="39187"/>
          <a:lstStyle>
            <a:lvl1pPr>
              <a:defRPr sz="2800"/>
            </a:lvl1pPr>
            <a:lvl2pPr>
              <a:defRPr sz="2800"/>
            </a:lvl2pPr>
            <a:lvl3pPr>
              <a:defRPr sz="2800"/>
            </a:lvl3pPr>
            <a:lvl4pPr>
              <a:defRPr sz="2800"/>
            </a:lvl4pPr>
            <a:lvl5pPr>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Text Placeholder 21"/>
          <p:cNvSpPr>
            <a:spLocks noGrp="1"/>
          </p:cNvSpPr>
          <p:nvPr>
            <p:ph type="body" sz="quarter" idx="20" hasCustomPrompt="1"/>
          </p:nvPr>
        </p:nvSpPr>
        <p:spPr>
          <a:xfrm>
            <a:off x="29609145" y="236220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References</a:t>
            </a:r>
            <a:endParaRPr lang="en-US"/>
          </a:p>
        </p:txBody>
      </p:sp>
      <p:sp>
        <p:nvSpPr>
          <p:cNvPr id="34" name="Text Placeholder 23"/>
          <p:cNvSpPr>
            <a:spLocks noGrp="1"/>
          </p:cNvSpPr>
          <p:nvPr>
            <p:ph type="body" sz="quarter" idx="21" hasCustomPrompt="1"/>
          </p:nvPr>
        </p:nvSpPr>
        <p:spPr>
          <a:xfrm>
            <a:off x="15152917" y="5638800"/>
            <a:ext cx="13585370" cy="26670000"/>
          </a:xfrm>
          <a:prstGeom prst="rect">
            <a:avLst/>
          </a:prstGeom>
        </p:spPr>
        <p:txBody>
          <a:bodyPr vert="horz" lIns="78373" tIns="39187" rIns="78373" bIns="39187"/>
          <a:lstStyle>
            <a:lvl1pPr marL="0" indent="0">
              <a:buNone/>
              <a:defRPr sz="2800" baseline="0"/>
            </a:lvl1pPr>
            <a:lvl2pPr marL="397308" indent="0">
              <a:buNone/>
              <a:defRPr sz="2800"/>
            </a:lvl2pPr>
            <a:lvl3pPr>
              <a:defRPr sz="2800"/>
            </a:lvl3pPr>
            <a:lvl4pPr>
              <a:defRPr sz="2800"/>
            </a:lvl4pPr>
            <a:lvl5pPr>
              <a:defRPr sz="2800"/>
            </a:lvl5pPr>
          </a:lstStyle>
          <a:p>
            <a:pPr lvl="0"/>
            <a:r>
              <a:rPr lang="en-US"/>
              <a:t>Remember to save all charts, graphs, and tables as 300DPI images prior to inserting them into your posters. Doing so will ensure the best results when printing your posters.</a:t>
            </a:r>
          </a:p>
        </p:txBody>
      </p:sp>
      <p:sp>
        <p:nvSpPr>
          <p:cNvPr id="36" name="Picture Placeholder 35"/>
          <p:cNvSpPr>
            <a:spLocks noGrp="1"/>
          </p:cNvSpPr>
          <p:nvPr>
            <p:ph type="pic" sz="quarter" idx="22" hasCustomPrompt="1"/>
          </p:nvPr>
        </p:nvSpPr>
        <p:spPr>
          <a:xfrm>
            <a:off x="1219205" y="914400"/>
            <a:ext cx="3135086" cy="2743200"/>
          </a:xfrm>
          <a:prstGeom prst="rect">
            <a:avLst/>
          </a:prstGeom>
          <a:solidFill>
            <a:schemeClr val="bg1"/>
          </a:solidFill>
        </p:spPr>
        <p:txBody>
          <a:bodyPr vert="horz" lIns="78373" tIns="39187" rIns="78373" bIns="39187"/>
          <a:lstStyle>
            <a:lvl1pPr marL="0" indent="0">
              <a:buNone/>
              <a:defRPr sz="2000"/>
            </a:lvl1pPr>
          </a:lstStyle>
          <a:p>
            <a:r>
              <a:rPr lang="en-US"/>
              <a:t>LOGO</a:t>
            </a:r>
          </a:p>
        </p:txBody>
      </p:sp>
      <p:sp>
        <p:nvSpPr>
          <p:cNvPr id="37" name="Picture Placeholder 35"/>
          <p:cNvSpPr>
            <a:spLocks noGrp="1"/>
          </p:cNvSpPr>
          <p:nvPr>
            <p:ph type="pic" sz="quarter" idx="23" hasCustomPrompt="1"/>
          </p:nvPr>
        </p:nvSpPr>
        <p:spPr>
          <a:xfrm>
            <a:off x="39711091" y="914400"/>
            <a:ext cx="3135086" cy="2743200"/>
          </a:xfrm>
          <a:prstGeom prst="rect">
            <a:avLst/>
          </a:prstGeom>
          <a:solidFill>
            <a:schemeClr val="bg1"/>
          </a:solidFill>
        </p:spPr>
        <p:txBody>
          <a:bodyPr vert="horz" lIns="78373" tIns="39187" rIns="78373" bIns="39187"/>
          <a:lstStyle>
            <a:lvl1pPr marL="0" indent="0">
              <a:buNone/>
              <a:defRPr sz="2000"/>
            </a:lvl1pPr>
          </a:lstStyle>
          <a:p>
            <a:r>
              <a:rPr lang="en-US"/>
              <a:t>LOGO</a:t>
            </a:r>
          </a:p>
        </p:txBody>
      </p:sp>
      <p:sp>
        <p:nvSpPr>
          <p:cNvPr id="39" name="Chart Placeholder 38"/>
          <p:cNvSpPr>
            <a:spLocks noGrp="1"/>
          </p:cNvSpPr>
          <p:nvPr>
            <p:ph type="chart" sz="quarter" idx="24"/>
          </p:nvPr>
        </p:nvSpPr>
        <p:spPr>
          <a:xfrm>
            <a:off x="16197949" y="16154400"/>
            <a:ext cx="11495314" cy="6705600"/>
          </a:xfrm>
          <a:prstGeom prst="rect">
            <a:avLst/>
          </a:prstGeom>
        </p:spPr>
        <p:txBody>
          <a:bodyPr vert="horz" lIns="78373" tIns="39187" rIns="78373" bIns="39187"/>
          <a:lstStyle>
            <a:lvl1pPr marL="0" indent="0">
              <a:buNone/>
              <a:defRPr sz="2800"/>
            </a:lvl1pPr>
          </a:lstStyle>
          <a:p>
            <a:endParaRPr lang="en-US"/>
          </a:p>
        </p:txBody>
      </p:sp>
      <p:sp>
        <p:nvSpPr>
          <p:cNvPr id="40" name="Chart Placeholder 38"/>
          <p:cNvSpPr>
            <a:spLocks noGrp="1"/>
          </p:cNvSpPr>
          <p:nvPr>
            <p:ph type="chart" sz="quarter" idx="25"/>
          </p:nvPr>
        </p:nvSpPr>
        <p:spPr>
          <a:xfrm>
            <a:off x="16197949" y="24536400"/>
            <a:ext cx="11495314" cy="6705600"/>
          </a:xfrm>
          <a:prstGeom prst="rect">
            <a:avLst/>
          </a:prstGeom>
        </p:spPr>
        <p:txBody>
          <a:bodyPr vert="horz" lIns="78373" tIns="39187" rIns="78373" bIns="39187"/>
          <a:lstStyle>
            <a:lvl1pPr marL="0" indent="0">
              <a:buNone/>
              <a:defRPr sz="2800"/>
            </a:lvl1pPr>
          </a:lstStyle>
          <a:p>
            <a:endParaRPr lang="en-US"/>
          </a:p>
        </p:txBody>
      </p:sp>
      <p:pic>
        <p:nvPicPr>
          <p:cNvPr id="4" name="Picture 3" descr="Logo.jpg"/>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0538400" y="32416772"/>
            <a:ext cx="2743200" cy="438912"/>
          </a:xfrm>
          <a:prstGeom prst="rect">
            <a:avLst/>
          </a:prstGeom>
        </p:spPr>
      </p:pic>
    </p:spTree>
    <p:extLst>
      <p:ext uri="{BB962C8B-B14F-4D97-AF65-F5344CB8AC3E}">
        <p14:creationId xmlns:p14="http://schemas.microsoft.com/office/powerpoint/2010/main" val="41872744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9ED62D96-B761-444F-9627-07D69EF59102}" type="datetimeFigureOut">
              <a:rPr lang="en-US" smtClean="0"/>
              <a:t>10/14/26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698EB7A8-E57D-FE4E-97CB-A535FD5727D1}" type="slidenum">
              <a:rPr lang="en-US" smtClean="0"/>
              <a:t>‹#›</a:t>
            </a:fld>
            <a:endParaRPr lang="en-US"/>
          </a:p>
        </p:txBody>
      </p:sp>
    </p:spTree>
    <p:extLst>
      <p:ext uri="{BB962C8B-B14F-4D97-AF65-F5344CB8AC3E}">
        <p14:creationId xmlns:p14="http://schemas.microsoft.com/office/powerpoint/2010/main" val="417580513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landscape_current_image7.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9.png"/><Relationship Id="rId5" Type="http://schemas.openxmlformats.org/officeDocument/2006/relationships/image" Target="../media/image4.png"/><Relationship Id="rId10" Type="http://schemas.openxmlformats.org/officeDocument/2006/relationships/image" Target="../media/image8.png"/><Relationship Id="rId4" Type="http://schemas.openxmlformats.org/officeDocument/2006/relationships/image" Target="../media/image3.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17601-38BA-EEC6-B535-6199F2F271C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35E2EF0-72FB-E9D0-1E82-C65E26ED9E91}"/>
              </a:ext>
            </a:extLst>
          </p:cNvPr>
          <p:cNvPicPr>
            <a:picLocks noChangeAspect="1"/>
          </p:cNvPicPr>
          <p:nvPr/>
        </p:nvPicPr>
        <p:blipFill>
          <a:blip r:embed="rId3"/>
          <a:stretch>
            <a:fillRect/>
          </a:stretch>
        </p:blipFill>
        <p:spPr>
          <a:xfrm>
            <a:off x="15179040" y="22174200"/>
            <a:ext cx="13258800" cy="9240982"/>
          </a:xfrm>
          <a:prstGeom prst="rect">
            <a:avLst/>
          </a:prstGeom>
        </p:spPr>
      </p:pic>
      <p:pic>
        <p:nvPicPr>
          <p:cNvPr id="14" name="Minimum seed mass versus accretion onset" descr="Manuscript minimum seed masses under fixed growth caps for UNCOVER-20466, COSMOS3D-13852, RUBIES-EGS-55604, and GN-z11.">
            <a:extLst>
              <a:ext uri="{FF2B5EF4-FFF2-40B4-BE49-F238E27FC236}">
                <a16:creationId xmlns:a16="http://schemas.microsoft.com/office/drawing/2014/main" id="{C3CA3027-10C5-D39A-05B0-82DB2540F9D3}"/>
              </a:ext>
            </a:extLst>
          </p:cNvPr>
          <p:cNvPicPr>
            <a:picLocks noChangeAspect="1"/>
          </p:cNvPicPr>
          <p:nvPr/>
        </p:nvPicPr>
        <p:blipFill>
          <a:blip r:embed="rId4"/>
          <a:stretch>
            <a:fillRect/>
          </a:stretch>
        </p:blipFill>
        <p:spPr>
          <a:xfrm>
            <a:off x="29352240" y="8595360"/>
            <a:ext cx="13533120" cy="9134856"/>
          </a:xfrm>
          <a:prstGeom prst="rect">
            <a:avLst/>
          </a:prstGeom>
        </p:spPr>
      </p:pic>
      <p:sp>
        <p:nvSpPr>
          <p:cNvPr id="32" name="Title 18">
            <a:extLst>
              <a:ext uri="{FF2B5EF4-FFF2-40B4-BE49-F238E27FC236}">
                <a16:creationId xmlns:a16="http://schemas.microsoft.com/office/drawing/2014/main" id="{F8D50A2A-9B61-AD34-B9C2-8944BB27426C}"/>
              </a:ext>
            </a:extLst>
          </p:cNvPr>
          <p:cNvSpPr>
            <a:spLocks noGrp="1"/>
          </p:cNvSpPr>
          <p:nvPr>
            <p:ph type="title" idx="4294967295"/>
          </p:nvPr>
        </p:nvSpPr>
        <p:spPr>
          <a:xfrm>
            <a:off x="0" y="0"/>
            <a:ext cx="43891200" cy="4389120"/>
          </a:xfrm>
          <a:solidFill>
            <a:srgbClr val="002A5C"/>
          </a:solidFill>
          <a:ln>
            <a:solidFill>
              <a:srgbClr val="09306B"/>
            </a:solidFill>
          </a:ln>
        </p:spPr>
        <p:txBody>
          <a:bodyPr lIns="9418320" tIns="91440" rIns="11887200">
            <a:normAutofit/>
          </a:bodyPr>
          <a:lstStyle/>
          <a:p>
            <a:pPr algn="ctr"/>
            <a:br>
              <a:rPr lang="en-US" sz="4200" b="0" dirty="0">
                <a:solidFill>
                  <a:schemeClr val="bg1"/>
                </a:solidFill>
                <a:latin typeface="Arial" panose="020B0604020202020204" pitchFamily="34" charset="0"/>
                <a:cs typeface="Arial" panose="020B0604020202020204" pitchFamily="34" charset="0"/>
              </a:rPr>
            </a:br>
            <a:r>
              <a:rPr lang="en-US" sz="6800" b="1" dirty="0">
                <a:solidFill>
                  <a:schemeClr val="bg1"/>
                </a:solidFill>
                <a:latin typeface="Arial" panose="020B0604020202020204" pitchFamily="34" charset="0"/>
                <a:cs typeface="Arial" panose="020B0604020202020204" pitchFamily="34" charset="0"/>
              </a:rPr>
              <a:t>Early Black-Hole Growth Constraints from JWST</a:t>
            </a:r>
            <a:br>
              <a:rPr lang="en-US" sz="6800" b="0" dirty="0">
                <a:solidFill>
                  <a:schemeClr val="bg1"/>
                </a:solidFill>
                <a:latin typeface="Arial" panose="020B0604020202020204" pitchFamily="34" charset="0"/>
                <a:cs typeface="Arial" panose="020B0604020202020204" pitchFamily="34" charset="0"/>
              </a:rPr>
            </a:br>
            <a:r>
              <a:rPr lang="en-US" sz="6800" b="0" dirty="0">
                <a:solidFill>
                  <a:schemeClr val="bg1"/>
                </a:solidFill>
                <a:latin typeface="Arial" panose="020B0604020202020204" pitchFamily="34" charset="0"/>
                <a:cs typeface="Arial" panose="020B0604020202020204" pitchFamily="34" charset="0"/>
              </a:rPr>
              <a:t>Nicole Jiang; University of Toronto</a:t>
            </a:r>
            <a:br>
              <a:rPr lang="en-US" sz="4200" b="0" dirty="0">
                <a:solidFill>
                  <a:schemeClr val="bg1"/>
                </a:solidFill>
                <a:latin typeface="Arial" panose="020B0604020202020204" pitchFamily="34" charset="0"/>
                <a:cs typeface="Arial" panose="020B0604020202020204" pitchFamily="34" charset="0"/>
              </a:rPr>
            </a:br>
            <a:endParaRPr lang="en-US" sz="6800" b="0" dirty="0">
              <a:solidFill>
                <a:schemeClr val="bg1"/>
              </a:solidFill>
              <a:latin typeface="Arial" panose="020B0604020202020204" pitchFamily="34" charset="0"/>
              <a:cs typeface="Arial" panose="020B0604020202020204" pitchFamily="34" charset="0"/>
            </a:endParaRPr>
          </a:p>
        </p:txBody>
      </p:sp>
      <p:pic>
        <p:nvPicPr>
          <p:cNvPr id="33" name="Picture 32" descr="University of Toronto - Wikipedia">
            <a:extLst>
              <a:ext uri="{FF2B5EF4-FFF2-40B4-BE49-F238E27FC236}">
                <a16:creationId xmlns:a16="http://schemas.microsoft.com/office/drawing/2014/main" id="{42BD33B9-86B6-8B04-8AA1-E72E85543563}"/>
              </a:ext>
            </a:extLst>
          </p:cNvPr>
          <p:cNvPicPr>
            <a:picLocks noChangeAspect="1"/>
          </p:cNvPicPr>
          <p:nvPr/>
        </p:nvPicPr>
        <p:blipFill>
          <a:blip r:embed="rId5"/>
          <a:stretch>
            <a:fillRect/>
          </a:stretch>
        </p:blipFill>
        <p:spPr>
          <a:xfrm>
            <a:off x="731520" y="548640"/>
            <a:ext cx="2834640" cy="2834640"/>
          </a:xfrm>
          <a:prstGeom prst="rect">
            <a:avLst/>
          </a:prstGeom>
        </p:spPr>
      </p:pic>
      <p:pic>
        <p:nvPicPr>
          <p:cNvPr id="36" name="Picture 35" descr="University of Toronto profile | Powered by Inpart">
            <a:extLst>
              <a:ext uri="{FF2B5EF4-FFF2-40B4-BE49-F238E27FC236}">
                <a16:creationId xmlns:a16="http://schemas.microsoft.com/office/drawing/2014/main" id="{8C2E503F-9CF2-EBE6-29B0-458691A7DFB1}"/>
              </a:ext>
            </a:extLst>
          </p:cNvPr>
          <p:cNvPicPr>
            <a:picLocks noChangeAspect="1"/>
          </p:cNvPicPr>
          <p:nvPr/>
        </p:nvPicPr>
        <p:blipFill>
          <a:blip r:embed="rId6"/>
          <a:srcRect l="23902" t="38725" b="33824"/>
          <a:stretch>
            <a:fillRect/>
          </a:stretch>
        </p:blipFill>
        <p:spPr>
          <a:xfrm>
            <a:off x="3291840" y="1051560"/>
            <a:ext cx="6035040" cy="2177031"/>
          </a:xfrm>
          <a:prstGeom prst="rect">
            <a:avLst/>
          </a:prstGeom>
        </p:spPr>
      </p:pic>
      <p:pic>
        <p:nvPicPr>
          <p:cNvPr id="37" name="Picture 36">
            <a:extLst>
              <a:ext uri="{FF2B5EF4-FFF2-40B4-BE49-F238E27FC236}">
                <a16:creationId xmlns:a16="http://schemas.microsoft.com/office/drawing/2014/main" id="{2C65ED58-816C-A2B5-F6CB-4326B0858DDD}"/>
              </a:ext>
            </a:extLst>
          </p:cNvPr>
          <p:cNvPicPr>
            <a:picLocks noChangeAspect="1"/>
          </p:cNvPicPr>
          <p:nvPr/>
        </p:nvPicPr>
        <p:blipFill>
          <a:blip r:embed="rId7"/>
          <a:stretch>
            <a:fillRect/>
          </a:stretch>
        </p:blipFill>
        <p:spPr>
          <a:xfrm>
            <a:off x="39867840" y="457200"/>
            <a:ext cx="3108960" cy="3108960"/>
          </a:xfrm>
          <a:prstGeom prst="rect">
            <a:avLst/>
          </a:prstGeom>
        </p:spPr>
      </p:pic>
      <p:sp>
        <p:nvSpPr>
          <p:cNvPr id="69" name="Title 18">
            <a:extLst>
              <a:ext uri="{FF2B5EF4-FFF2-40B4-BE49-F238E27FC236}">
                <a16:creationId xmlns:a16="http://schemas.microsoft.com/office/drawing/2014/main" id="{D8B6836B-DAF1-F68F-D717-73D3A454BC2E}"/>
              </a:ext>
            </a:extLst>
          </p:cNvPr>
          <p:cNvSpPr txBox="1">
            <a:spLocks/>
          </p:cNvSpPr>
          <p:nvPr/>
        </p:nvSpPr>
        <p:spPr>
          <a:xfrm>
            <a:off x="914400" y="5120640"/>
            <a:ext cx="134874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Introduction</a:t>
            </a:r>
          </a:p>
        </p:txBody>
      </p:sp>
      <p:sp>
        <p:nvSpPr>
          <p:cNvPr id="70" name="TextBox 69">
            <a:extLst>
              <a:ext uri="{FF2B5EF4-FFF2-40B4-BE49-F238E27FC236}">
                <a16:creationId xmlns:a16="http://schemas.microsoft.com/office/drawing/2014/main" id="{7842EAEC-0FF9-516A-6712-19E0D19D0354}"/>
              </a:ext>
            </a:extLst>
          </p:cNvPr>
          <p:cNvSpPr txBox="1"/>
          <p:nvPr/>
        </p:nvSpPr>
        <p:spPr>
          <a:xfrm>
            <a:off x="1371600" y="6400800"/>
            <a:ext cx="12573000" cy="3246120"/>
          </a:xfrm>
          <a:prstGeom prst="rect">
            <a:avLst/>
          </a:prstGeom>
          <a:noFill/>
        </p:spPr>
        <p:txBody>
          <a:bodyPr wrap="square" lIns="91440" tIns="45720" rIns="91440" bIns="45720" rtlCol="0" anchor="t">
            <a:spAutoFit/>
          </a:bodyPr>
          <a:lstStyle/>
          <a:p>
            <a:pPr>
              <a:buNone/>
            </a:pPr>
            <a:r>
              <a:rPr lang="en-CA" sz="3300" b="1">
                <a:latin typeface="Aptos"/>
              </a:rPr>
              <a:t>How did early black holes grow so big, so fast? </a:t>
            </a:r>
            <a:r>
              <a:rPr lang="en-CA" sz="3300" b="0">
                <a:latin typeface="Aptos"/>
              </a:rPr>
              <a:t>The James Webb Space Telescope (JWST) has revealed massive black holes with little time to grow. I compiled published mass estimates and calculated the average accretion needed to reach each mass under different seed masses (initial masses), start times, and radiative efficiencies.</a:t>
            </a:r>
          </a:p>
        </p:txBody>
      </p:sp>
      <p:sp>
        <p:nvSpPr>
          <p:cNvPr id="71" name="Rectangle 70">
            <a:extLst>
              <a:ext uri="{FF2B5EF4-FFF2-40B4-BE49-F238E27FC236}">
                <a16:creationId xmlns:a16="http://schemas.microsoft.com/office/drawing/2014/main" id="{ABB03D82-A209-1440-3180-9DD4419EFCBF}"/>
              </a:ext>
            </a:extLst>
          </p:cNvPr>
          <p:cNvSpPr/>
          <p:nvPr/>
        </p:nvSpPr>
        <p:spPr>
          <a:xfrm>
            <a:off x="914400" y="5120640"/>
            <a:ext cx="13487400" cy="466344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itle 18">
            <a:extLst>
              <a:ext uri="{FF2B5EF4-FFF2-40B4-BE49-F238E27FC236}">
                <a16:creationId xmlns:a16="http://schemas.microsoft.com/office/drawing/2014/main" id="{6D9DC137-E8CF-8FC7-F26F-A7759AD2C396}"/>
              </a:ext>
            </a:extLst>
          </p:cNvPr>
          <p:cNvSpPr txBox="1">
            <a:spLocks/>
          </p:cNvSpPr>
          <p:nvPr/>
        </p:nvSpPr>
        <p:spPr>
          <a:xfrm>
            <a:off x="914400" y="10287000"/>
            <a:ext cx="134874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Methods</a:t>
            </a:r>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8C51BF9-B81A-ECF4-F01D-305CA1CE9DD1}"/>
                  </a:ext>
                </a:extLst>
              </p:cNvPr>
              <p:cNvSpPr txBox="1"/>
              <p:nvPr/>
            </p:nvSpPr>
            <p:spPr>
              <a:xfrm>
                <a:off x="1371600" y="11567160"/>
                <a:ext cx="12573000" cy="14356080"/>
              </a:xfrm>
              <a:prstGeom prst="rect">
                <a:avLst/>
              </a:prstGeom>
              <a:noFill/>
            </p:spPr>
            <p:txBody>
              <a:bodyPr wrap="square" rtlCol="0">
                <a:spAutoFit/>
              </a:bodyPr>
              <a:lstStyle/>
              <a:p>
                <a:pPr>
                  <a:spcAft>
                    <a:spcPts val="500"/>
                  </a:spcAft>
                  <a:buNone/>
                </a:pPr>
                <a:r>
                  <a:rPr lang="en-CA" sz="3300" b="1" dirty="0">
                    <a:latin typeface="Aptos"/>
                  </a:rPr>
                  <a:t>Catalogue: </a:t>
                </a:r>
                <a:r>
                  <a:rPr lang="en-CA" sz="3300" b="0" dirty="0">
                    <a:latin typeface="Aptos"/>
                  </a:rPr>
                  <a:t>Compiled 350 measurements from 32 publication groups at z ≥ 4. Selected 1 mass per object and retained alternatives. Primary: 220 objects with broad Balmer-line masses [1]. Expanded: 234 objects, including tentative candidates and GN-z11 [2].</a:t>
                </a:r>
              </a:p>
              <a:p>
                <a:pPr>
                  <a:spcAft>
                    <a:spcPts val="500"/>
                  </a:spcAft>
                  <a:buNone/>
                </a:pPr>
                <a:r>
                  <a:rPr lang="en-CA" sz="3300" b="1" dirty="0">
                    <a:latin typeface="Aptos"/>
                  </a:rPr>
                  <a:t>Reference model: </a:t>
                </a:r>
                <a:r>
                  <a:rPr lang="en-CA" sz="3300" b="0" dirty="0">
                    <a:latin typeface="Aptos"/>
                  </a:rPr>
                  <a:t>Assumed 100 M⊙ seeds at z = 30, radiative efficiency </a:t>
                </a:r>
                <a:r>
                  <a:rPr lang="en-CA" sz="3300" b="0" dirty="0" err="1">
                    <a:latin typeface="Aptos"/>
                  </a:rPr>
                  <a:t>ε</a:t>
                </a:r>
                <a:r>
                  <a:rPr lang="en-CA" sz="3300" b="0" dirty="0">
                    <a:latin typeface="Aptos"/>
                  </a:rPr>
                  <a:t> = 0.1, no mergers (</a:t>
                </a:r>
                <a:r>
                  <a:rPr lang="en-CA" sz="3300" b="0" dirty="0" err="1">
                    <a:latin typeface="Aptos"/>
                  </a:rPr>
                  <a:t>B</a:t>
                </a:r>
                <a:r>
                  <a:rPr lang="en-CA" sz="3300" b="0" baseline="-25000" dirty="0" err="1">
                    <a:latin typeface="Aptos"/>
                  </a:rPr>
                  <a:t>merge</a:t>
                </a:r>
                <a:r>
                  <a:rPr lang="en-CA" sz="3300" b="0" dirty="0">
                    <a:latin typeface="Aptos"/>
                  </a:rPr>
                  <a:t> = 1), and </a:t>
                </a:r>
                <a:r>
                  <a:rPr lang="en-CA" sz="3300" b="0" dirty="0" err="1">
                    <a:latin typeface="Aptos"/>
                  </a:rPr>
                  <a:t>t</a:t>
                </a:r>
                <a:r>
                  <a:rPr lang="en-CA" sz="3300" b="0" baseline="-25000" dirty="0" err="1">
                    <a:latin typeface="Aptos"/>
                  </a:rPr>
                  <a:t>Edd</a:t>
                </a:r>
                <a:r>
                  <a:rPr lang="en-CA" sz="3300" b="0" dirty="0">
                    <a:latin typeface="Aptos"/>
                  </a:rPr>
                  <a:t> ≈ 0.45 Gyr [3].</a:t>
                </a:r>
              </a:p>
              <a:p>
                <a:pPr>
                  <a:spcAft>
                    <a:spcPts val="500"/>
                  </a:spcAft>
                  <a:buNone/>
                </a:pPr>
                <a:r>
                  <a:rPr lang="en-CA" sz="3300" b="1" dirty="0">
                    <a:latin typeface="Aptos"/>
                  </a:rPr>
                  <a:t>Model tests: </a:t>
                </a:r>
                <a:r>
                  <a:rPr lang="en-CA" sz="3300" b="0" dirty="0">
                    <a:latin typeface="Aptos"/>
                  </a:rPr>
                  <a:t>Calculated and ranked required lifetime-average Eddington ratios. Compared them with assumed maximum averages: 1 (reference) and 0.3, 1, or 2 (earlier onset).</a:t>
                </a:r>
              </a:p>
              <a:p>
                <a:pPr>
                  <a:spcBef>
                    <a:spcPts val="600"/>
                  </a:spcBef>
                </a:pPr>
                <a14:m>
                  <m:oMathPara xmlns:m="http://schemas.openxmlformats.org/officeDocument/2006/math">
                    <m:oMathParaPr>
                      <m:jc m:val="left"/>
                    </m:oMathParaPr>
                    <m:oMath>
                      <m:sSub>
                        <m:sSubPr>
                          <m:ctrlPr>
                            <a:rPr lang="en-US" sz="3300" i="1">
                              <a:latin typeface="Cambria Math" panose="02040503050406030204" pitchFamily="18" charset="0"/>
                            </a:rPr>
                          </m:ctrlPr>
                        </m:sSubPr>
                        <m:e>
                          <m:bar>
                            <m:barPr>
                              <m:pos m:val="top"/>
                              <m:ctrlPr>
                                <a:rPr lang="en-US" sz="3300" i="1">
                                  <a:latin typeface="Cambria Math"/>
                                </a:rPr>
                              </m:ctrlPr>
                            </m:barPr>
                            <m:e>
                              <m:r>
                                <a:rPr lang="en-US" sz="3300" i="1">
                                  <a:latin typeface="Cambria Math"/>
                                </a:rPr>
                                <m:t>𝑓</m:t>
                              </m:r>
                            </m:e>
                          </m:bar>
                        </m:e>
                        <m:sub>
                          <m:r>
                            <m:rPr>
                              <m:sty m:val="p"/>
                            </m:rPr>
                            <a:rPr lang="en-US" sz="3300" i="0">
                              <a:latin typeface="Cambria Math"/>
                            </a:rPr>
                            <m:t>Edd</m:t>
                          </m:r>
                          <m:r>
                            <a:rPr lang="en-US" sz="3300" i="0">
                              <a:latin typeface="Cambria Math"/>
                            </a:rPr>
                            <m:t>,</m:t>
                          </m:r>
                          <m:r>
                            <m:rPr>
                              <m:sty m:val="p"/>
                            </m:rPr>
                            <a:rPr lang="en-US" sz="3300" i="0">
                              <a:latin typeface="Cambria Math"/>
                            </a:rPr>
                            <m:t>req</m:t>
                          </m:r>
                        </m:sub>
                      </m:sSub>
                      <m:r>
                        <a:rPr lang="en-US" sz="3300" i="1">
                          <a:latin typeface="Cambria Math"/>
                        </a:rPr>
                        <m:t>=</m:t>
                      </m:r>
                      <m:func>
                        <m:funcPr>
                          <m:ctrlPr>
                            <a:rPr lang="en-US" sz="3300" i="0">
                              <a:latin typeface="Cambria Math"/>
                            </a:rPr>
                          </m:ctrlPr>
                        </m:funcPr>
                        <m:fName>
                          <m:r>
                            <m:rPr>
                              <m:sty m:val="p"/>
                            </m:rPr>
                            <a:rPr lang="en-US" sz="3300" i="0">
                              <a:latin typeface="Cambria Math"/>
                            </a:rPr>
                            <m:t>max</m:t>
                          </m:r>
                        </m:fName>
                        <m:e>
                          <m:d>
                            <m:dPr>
                              <m:begChr m:val="["/>
                              <m:endChr m:val="]"/>
                              <m:ctrlPr>
                                <a:rPr lang="en-US" sz="3300" i="1">
                                  <a:latin typeface="Cambria Math"/>
                                </a:rPr>
                              </m:ctrlPr>
                            </m:dPr>
                            <m:e>
                              <m:r>
                                <a:rPr lang="en-US" sz="3300" i="1">
                                  <a:latin typeface="Cambria Math"/>
                                </a:rPr>
                                <m:t>0,</m:t>
                              </m:r>
                              <m:f>
                                <m:fPr>
                                  <m:ctrlPr>
                                    <a:rPr lang="en-US" sz="3300" i="1">
                                      <a:latin typeface="Cambria Math"/>
                                    </a:rPr>
                                  </m:ctrlPr>
                                </m:fPr>
                                <m:num>
                                  <m:r>
                                    <a:rPr lang="en-US" sz="3300" i="1">
                                      <a:latin typeface="Cambria Math"/>
                                    </a:rPr>
                                    <m:t>𝜀</m:t>
                                  </m:r>
                                </m:num>
                                <m:den>
                                  <m:r>
                                    <a:rPr lang="en-US" sz="3300" i="1">
                                      <a:latin typeface="Cambria Math"/>
                                    </a:rPr>
                                    <m:t>1−</m:t>
                                  </m:r>
                                  <m:r>
                                    <a:rPr lang="en-US" sz="3300" i="1">
                                      <a:latin typeface="Cambria Math"/>
                                    </a:rPr>
                                    <m:t>𝜀</m:t>
                                  </m:r>
                                </m:den>
                              </m:f>
                              <m:f>
                                <m:fPr>
                                  <m:ctrlPr>
                                    <a:rPr lang="en-US" sz="3300" i="1">
                                      <a:latin typeface="Cambria Math" panose="02040503050406030204" pitchFamily="18" charset="0"/>
                                    </a:rPr>
                                  </m:ctrlPr>
                                </m:fPr>
                                <m:num>
                                  <m:sSub>
                                    <m:sSubPr>
                                      <m:ctrlPr>
                                        <a:rPr lang="en-US" sz="3300" i="1">
                                          <a:latin typeface="Cambria Math"/>
                                        </a:rPr>
                                      </m:ctrlPr>
                                    </m:sSubPr>
                                    <m:e>
                                      <m:r>
                                        <a:rPr lang="en-US" sz="3300" i="1">
                                          <a:latin typeface="Cambria Math"/>
                                        </a:rPr>
                                        <m:t>𝑡</m:t>
                                      </m:r>
                                    </m:e>
                                    <m:sub>
                                      <m:r>
                                        <m:rPr>
                                          <m:sty m:val="p"/>
                                        </m:rPr>
                                        <a:rPr lang="en-US" sz="3300" i="0">
                                          <a:latin typeface="Cambria Math"/>
                                        </a:rPr>
                                        <m:t>Edd</m:t>
                                      </m:r>
                                    </m:sub>
                                  </m:sSub>
                                </m:num>
                                <m:den>
                                  <m:r>
                                    <a:rPr lang="en-US" sz="3300" i="1">
                                      <a:latin typeface="Cambria Math"/>
                                    </a:rPr>
                                    <m:t>𝛥</m:t>
                                  </m:r>
                                  <m:r>
                                    <a:rPr lang="en-US" sz="3300" i="1">
                                      <a:latin typeface="Cambria Math"/>
                                    </a:rPr>
                                    <m:t>𝑡</m:t>
                                  </m:r>
                                </m:den>
                              </m:f>
                              <m:func>
                                <m:funcPr>
                                  <m:ctrlPr>
                                    <a:rPr lang="en-US" sz="3300" i="0">
                                      <a:latin typeface="Cambria Math"/>
                                    </a:rPr>
                                  </m:ctrlPr>
                                </m:funcPr>
                                <m:fName>
                                  <m:r>
                                    <m:rPr>
                                      <m:sty m:val="p"/>
                                    </m:rPr>
                                    <a:rPr lang="en-US" sz="3300" i="0">
                                      <a:latin typeface="Cambria Math"/>
                                    </a:rPr>
                                    <m:t>ln</m:t>
                                  </m:r>
                                </m:fName>
                                <m:e>
                                  <m:d>
                                    <m:dPr>
                                      <m:ctrlPr>
                                        <a:rPr lang="en-US" sz="3300" i="1">
                                          <a:latin typeface="Cambria Math" panose="02040503050406030204" pitchFamily="18" charset="0"/>
                                        </a:rPr>
                                      </m:ctrlPr>
                                    </m:dPr>
                                    <m:e>
                                      <m:f>
                                        <m:fPr>
                                          <m:ctrlPr>
                                            <a:rPr lang="en-US" sz="3300" i="1">
                                              <a:latin typeface="Cambria Math" panose="02040503050406030204" pitchFamily="18" charset="0"/>
                                            </a:rPr>
                                          </m:ctrlPr>
                                        </m:fPr>
                                        <m:num>
                                          <m:sSub>
                                            <m:sSubPr>
                                              <m:ctrlPr>
                                                <a:rPr lang="en-US" sz="3300" i="1">
                                                  <a:latin typeface="Cambria Math"/>
                                                </a:rPr>
                                              </m:ctrlPr>
                                            </m:sSubPr>
                                            <m:e>
                                              <m:r>
                                                <a:rPr lang="en-US" sz="3300" i="1">
                                                  <a:latin typeface="Cambria Math"/>
                                                </a:rPr>
                                                <m:t>𝑀</m:t>
                                              </m:r>
                                            </m:e>
                                            <m:sub>
                                              <m:r>
                                                <m:rPr>
                                                  <m:sty m:val="p"/>
                                                </m:rPr>
                                                <a:rPr lang="en-US" sz="3300" i="0">
                                                  <a:latin typeface="Cambria Math"/>
                                                </a:rPr>
                                                <m:t>BH</m:t>
                                              </m:r>
                                            </m:sub>
                                          </m:sSub>
                                        </m:num>
                                        <m:den>
                                          <m:sSub>
                                            <m:sSubPr>
                                              <m:ctrlPr>
                                                <a:rPr lang="en-US" sz="3300" i="1">
                                                  <a:latin typeface="Cambria Math"/>
                                                </a:rPr>
                                              </m:ctrlPr>
                                            </m:sSubPr>
                                            <m:e>
                                              <m:r>
                                                <a:rPr lang="en-US" sz="3300" i="1">
                                                  <a:latin typeface="Cambria Math"/>
                                                </a:rPr>
                                                <m:t>𝐵</m:t>
                                              </m:r>
                                            </m:e>
                                            <m:sub>
                                              <m:r>
                                                <m:rPr>
                                                  <m:sty m:val="p"/>
                                                </m:rPr>
                                                <a:rPr lang="en-US" sz="3300" i="0">
                                                  <a:latin typeface="Cambria Math"/>
                                                </a:rPr>
                                                <m:t>merge</m:t>
                                              </m:r>
                                            </m:sub>
                                          </m:sSub>
                                          <m:sSub>
                                            <m:sSubPr>
                                              <m:ctrlPr>
                                                <a:rPr lang="en-US" sz="3300" i="1">
                                                  <a:latin typeface="Cambria Math"/>
                                                </a:rPr>
                                              </m:ctrlPr>
                                            </m:sSubPr>
                                            <m:e>
                                              <m:r>
                                                <a:rPr lang="en-US" sz="3300" i="1">
                                                  <a:latin typeface="Cambria Math"/>
                                                </a:rPr>
                                                <m:t>𝑀</m:t>
                                              </m:r>
                                            </m:e>
                                            <m:sub>
                                              <m:r>
                                                <m:rPr>
                                                  <m:sty m:val="p"/>
                                                </m:rPr>
                                                <a:rPr lang="en-US" sz="3300" i="0">
                                                  <a:latin typeface="Cambria Math"/>
                                                </a:rPr>
                                                <m:t>seed</m:t>
                                              </m:r>
                                            </m:sub>
                                          </m:sSub>
                                        </m:den>
                                      </m:f>
                                    </m:e>
                                  </m:d>
                                </m:e>
                              </m:func>
                            </m:e>
                          </m:d>
                        </m:e>
                      </m:func>
                    </m:oMath>
                  </m:oMathPara>
                </a14:m>
                <a:endParaRPr lang="en-CA" sz="3300" b="1" dirty="0">
                  <a:latin typeface="Aptos"/>
                </a:endParaRPr>
              </a:p>
              <a:p>
                <a:pPr>
                  <a:spcAft>
                    <a:spcPts val="500"/>
                  </a:spcAft>
                  <a:buNone/>
                </a:pPr>
                <a:r>
                  <a:rPr lang="en-CA" sz="3300" b="1" dirty="0">
                    <a:latin typeface="Aptos"/>
                  </a:rPr>
                  <a:t>Symbols: </a:t>
                </a:r>
                <a:r>
                  <a:rPr lang="en-CA" sz="3300" b="0" dirty="0">
                    <a:latin typeface="Aptos"/>
                  </a:rPr>
                  <a:t>M⊙: solar mass. M</a:t>
                </a:r>
                <a:r>
                  <a:rPr lang="en-CA" sz="2200" b="0" baseline="-25000" dirty="0">
                    <a:latin typeface="Aptos"/>
                  </a:rPr>
                  <a:t>BH</a:t>
                </a:r>
                <a:r>
                  <a:rPr lang="en-CA" sz="3300" b="0" dirty="0">
                    <a:latin typeface="Aptos"/>
                  </a:rPr>
                  <a:t>: observed mass. </a:t>
                </a:r>
                <a:r>
                  <a:rPr lang="en-CA" sz="3300" b="0" dirty="0" err="1">
                    <a:latin typeface="Aptos"/>
                  </a:rPr>
                  <a:t>M</a:t>
                </a:r>
                <a:r>
                  <a:rPr lang="en-CA" sz="2200" b="0" baseline="-25000" dirty="0" err="1">
                    <a:latin typeface="Aptos"/>
                  </a:rPr>
                  <a:t>seed</a:t>
                </a:r>
                <a:r>
                  <a:rPr lang="en-CA" sz="3300" b="0" dirty="0">
                    <a:latin typeface="Aptos"/>
                  </a:rPr>
                  <a:t>: initial mass. </a:t>
                </a:r>
                <a:r>
                  <a:rPr lang="en-CA" sz="3300" b="0" dirty="0" err="1">
                    <a:latin typeface="Aptos"/>
                  </a:rPr>
                  <a:t>Δt</a:t>
                </a:r>
                <a:r>
                  <a:rPr lang="en-CA" sz="3300" b="0" dirty="0">
                    <a:latin typeface="Aptos"/>
                  </a:rPr>
                  <a:t>: growth time. </a:t>
                </a:r>
                <a:r>
                  <a:rPr lang="en-CA" sz="3300" b="0" dirty="0" err="1">
                    <a:latin typeface="Aptos"/>
                  </a:rPr>
                  <a:t>ε</a:t>
                </a:r>
                <a:r>
                  <a:rPr lang="en-CA" sz="3300" b="0" dirty="0">
                    <a:latin typeface="Aptos"/>
                  </a:rPr>
                  <a:t>: radiated fraction of inflowing rest-mass energy. Higher redshift z means earlier time.</a:t>
                </a:r>
              </a:p>
              <a:p>
                <a:pPr>
                  <a:spcAft>
                    <a:spcPts val="500"/>
                  </a:spcAft>
                  <a:buNone/>
                </a:pPr>
                <a:r>
                  <a:rPr lang="en-CA" sz="3300" b="1" dirty="0">
                    <a:latin typeface="Aptos"/>
                  </a:rPr>
                  <a:t>Eddington ratio: </a:t>
                </a:r>
                <a:r>
                  <a:rPr lang="en-CA" sz="3300" b="0" dirty="0" err="1">
                    <a:latin typeface="Aptos"/>
                  </a:rPr>
                  <a:t>f</a:t>
                </a:r>
                <a:r>
                  <a:rPr lang="en-CA" sz="2200" b="0" baseline="-25000" dirty="0" err="1">
                    <a:latin typeface="Aptos"/>
                  </a:rPr>
                  <a:t>Edd</a:t>
                </a:r>
                <a:r>
                  <a:rPr lang="en-CA" sz="3300" b="0" dirty="0">
                    <a:latin typeface="Aptos"/>
                  </a:rPr>
                  <a:t> = luminosity/Eddington luminosity. Radiation force balances gravity at this luminosity. </a:t>
                </a:r>
                <a:r>
                  <a:rPr lang="en-CA" sz="3300" b="0" dirty="0" err="1">
                    <a:latin typeface="Aptos"/>
                  </a:rPr>
                  <a:t>f̄</a:t>
                </a:r>
                <a:r>
                  <a:rPr lang="en-CA" sz="2200" b="0" baseline="-25000" dirty="0" err="1">
                    <a:latin typeface="Aptos"/>
                  </a:rPr>
                  <a:t>Edd,req</a:t>
                </a:r>
                <a:r>
                  <a:rPr lang="en-CA" sz="3300" b="0" dirty="0">
                    <a:latin typeface="Aptos"/>
                  </a:rPr>
                  <a:t> is the required lifetime average, including inactive periods. An average above 1 requires periods above the Eddington limit.</a:t>
                </a:r>
              </a:p>
              <a:p>
                <a:pPr>
                  <a:spcAft>
                    <a:spcPts val="500"/>
                  </a:spcAft>
                  <a:buNone/>
                </a:pPr>
                <a:r>
                  <a:rPr lang="en-CA" sz="3300" b="1" dirty="0">
                    <a:latin typeface="Aptos"/>
                  </a:rPr>
                  <a:t>Uncertainty: </a:t>
                </a:r>
                <a:r>
                  <a:rPr lang="en-CA" sz="3300" b="0" dirty="0">
                    <a:latin typeface="Aptos"/>
                  </a:rPr>
                  <a:t>Used 10,000 draws per object for reported asymmetric mass errors. The 12 objects without errors contributed only central mass estimates. Reported errors may omit calibration scatter.</a:t>
                </a:r>
              </a:p>
              <a:p>
                <a:pPr>
                  <a:spcAft>
                    <a:spcPts val="500"/>
                  </a:spcAft>
                  <a:buNone/>
                </a:pPr>
                <a:r>
                  <a:rPr lang="en-CA" sz="3300" b="1" dirty="0">
                    <a:latin typeface="Aptos"/>
                  </a:rPr>
                  <a:t>Sensitivity: </a:t>
                </a:r>
                <a:r>
                  <a:rPr lang="en-CA" sz="3300" b="0" dirty="0">
                    <a:latin typeface="Aptos"/>
                  </a:rPr>
                  <a:t>Varied mass scale, seed mass, growth start time, and efficiency separately.</a:t>
                </a:r>
              </a:p>
              <a:p>
                <a:pPr>
                  <a:spcAft>
                    <a:spcPts val="500"/>
                  </a:spcAft>
                  <a:buNone/>
                </a:pPr>
                <a:r>
                  <a:rPr lang="en-CA" sz="3300" b="1" dirty="0">
                    <a:latin typeface="Aptos"/>
                  </a:rPr>
                  <a:t>Earlier onset: </a:t>
                </a:r>
                <a:r>
                  <a:rPr lang="en-CA" sz="3300" b="0" dirty="0">
                    <a:latin typeface="Aptos"/>
                  </a:rPr>
                  <a:t>Solved minimum seed masses for the 4 plotted objects over 20 ≤ </a:t>
                </a:r>
                <a:r>
                  <a:rPr lang="en-CA" sz="3300" b="0" dirty="0" err="1">
                    <a:latin typeface="Aptos"/>
                  </a:rPr>
                  <a:t>z</a:t>
                </a:r>
                <a:r>
                  <a:rPr lang="en-CA" sz="2200" b="0" baseline="-25000" dirty="0" err="1">
                    <a:latin typeface="Aptos"/>
                  </a:rPr>
                  <a:t>acc</a:t>
                </a:r>
                <a:r>
                  <a:rPr lang="en-CA" sz="3300" b="0" dirty="0">
                    <a:latin typeface="Aptos"/>
                  </a:rPr>
                  <a:t> ≤ 3,400. Included radiation in cosmic ages. Assumed gas was available.</a:t>
                </a:r>
              </a:p>
            </p:txBody>
          </p:sp>
        </mc:Choice>
        <mc:Fallback xmlns="">
          <p:sp>
            <p:nvSpPr>
              <p:cNvPr id="73" name="TextBox 72">
                <a:extLst>
                  <a:ext uri="{FF2B5EF4-FFF2-40B4-BE49-F238E27FC236}">
                    <a16:creationId xmlns:a16="http://schemas.microsoft.com/office/drawing/2014/main" id="{88C51BF9-B81A-ECF4-F01D-305CA1CE9DD1}"/>
                  </a:ext>
                </a:extLst>
              </p:cNvPr>
              <p:cNvSpPr txBox="1">
                <a:spLocks noRot="1" noChangeAspect="1" noMove="1" noResize="1" noEditPoints="1" noAdjustHandles="1" noChangeArrowheads="1" noChangeShapeType="1" noTextEdit="1"/>
              </p:cNvSpPr>
              <p:nvPr/>
            </p:nvSpPr>
            <p:spPr>
              <a:xfrm>
                <a:off x="1371600" y="11567160"/>
                <a:ext cx="12573000" cy="14356080"/>
              </a:xfrm>
              <a:prstGeom prst="rect">
                <a:avLst/>
              </a:prstGeom>
              <a:blipFill>
                <a:blip r:embed="rId8"/>
                <a:stretch>
                  <a:fillRect l="-1164" t="-694" r="-1611" b="-5055"/>
                </a:stretch>
              </a:blipFill>
            </p:spPr>
            <p:txBody>
              <a:bodyPr/>
              <a:lstStyle/>
              <a:p>
                <a:r>
                  <a:rPr lang="en-US">
                    <a:noFill/>
                  </a:rPr>
                  <a:t> </a:t>
                </a:r>
              </a:p>
            </p:txBody>
          </p:sp>
        </mc:Fallback>
      </mc:AlternateContent>
      <p:sp>
        <p:nvSpPr>
          <p:cNvPr id="74" name="Rectangle 73">
            <a:extLst>
              <a:ext uri="{FF2B5EF4-FFF2-40B4-BE49-F238E27FC236}">
                <a16:creationId xmlns:a16="http://schemas.microsoft.com/office/drawing/2014/main" id="{F5F0E6D1-7308-2846-C555-5A8981E84E43}"/>
              </a:ext>
            </a:extLst>
          </p:cNvPr>
          <p:cNvSpPr/>
          <p:nvPr/>
        </p:nvSpPr>
        <p:spPr>
          <a:xfrm>
            <a:off x="914400" y="10287000"/>
            <a:ext cx="13487400" cy="1609344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itle 18">
            <a:extLst>
              <a:ext uri="{FF2B5EF4-FFF2-40B4-BE49-F238E27FC236}">
                <a16:creationId xmlns:a16="http://schemas.microsoft.com/office/drawing/2014/main" id="{D50205E6-BF86-6F08-991C-43F597FDF8DD}"/>
              </a:ext>
            </a:extLst>
          </p:cNvPr>
          <p:cNvSpPr txBox="1">
            <a:spLocks/>
          </p:cNvSpPr>
          <p:nvPr/>
        </p:nvSpPr>
        <p:spPr>
          <a:xfrm>
            <a:off x="29260800" y="21351240"/>
            <a:ext cx="137160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Conclusions</a:t>
            </a:r>
          </a:p>
        </p:txBody>
      </p:sp>
      <p:sp>
        <p:nvSpPr>
          <p:cNvPr id="79" name="TextBox 78">
            <a:extLst>
              <a:ext uri="{FF2B5EF4-FFF2-40B4-BE49-F238E27FC236}">
                <a16:creationId xmlns:a16="http://schemas.microsoft.com/office/drawing/2014/main" id="{3DD5B540-2EC8-A5A1-200C-994C1D7C8BFD}"/>
              </a:ext>
            </a:extLst>
          </p:cNvPr>
          <p:cNvSpPr txBox="1"/>
          <p:nvPr/>
        </p:nvSpPr>
        <p:spPr>
          <a:xfrm>
            <a:off x="29718000" y="22631400"/>
            <a:ext cx="12801600" cy="9006840"/>
          </a:xfrm>
          <a:prstGeom prst="rect">
            <a:avLst/>
          </a:prstGeom>
          <a:noFill/>
        </p:spPr>
        <p:txBody>
          <a:bodyPr wrap="square" lIns="91440" tIns="45720" rIns="91440" bIns="45720" rtlCol="0" anchor="t">
            <a:spAutoFit/>
          </a:bodyPr>
          <a:lstStyle/>
          <a:p>
            <a:pPr marL="285750" indent="-228600">
              <a:spcAft>
                <a:spcPts val="800"/>
              </a:spcAft>
              <a:buChar char="•"/>
            </a:pPr>
            <a:r>
              <a:rPr lang="en-CA" sz="3300" b="1">
                <a:latin typeface="Aptos"/>
              </a:rPr>
              <a:t>Seed masses: </a:t>
            </a:r>
            <a:r>
              <a:rPr lang="en-CA" sz="3300" b="0">
                <a:latin typeface="Aptos"/>
              </a:rPr>
              <a:t>Most adopted masses are compatible with growth from small stellar seeds under the reference assumptions.</a:t>
            </a:r>
          </a:p>
          <a:p>
            <a:pPr marL="285750" indent="-228600">
              <a:spcAft>
                <a:spcPts val="800"/>
              </a:spcAft>
              <a:buChar char="•"/>
            </a:pPr>
            <a:r>
              <a:rPr lang="en-CA" sz="3300" b="1">
                <a:latin typeface="Aptos"/>
              </a:rPr>
              <a:t>Accretion physics: </a:t>
            </a:r>
            <a:r>
              <a:rPr lang="en-CA" sz="3300" b="0">
                <a:latin typeface="Aptos"/>
              </a:rPr>
              <a:t>Lower radiative efficiency allows faster mass growth at the same Eddington ratio. Seed-mass requirements therefore depend on how efficiently accretion produces radiation.</a:t>
            </a:r>
          </a:p>
          <a:p>
            <a:pPr marL="285750" indent="-228600">
              <a:spcAft>
                <a:spcPts val="800"/>
              </a:spcAft>
              <a:buChar char="•"/>
            </a:pPr>
            <a:r>
              <a:rPr lang="en-CA" sz="3300" b="1">
                <a:latin typeface="Aptos"/>
              </a:rPr>
              <a:t>Earlier growth: </a:t>
            </a:r>
            <a:r>
              <a:rPr lang="en-CA" sz="3300" b="0">
                <a:latin typeface="Aptos"/>
              </a:rPr>
              <a:t>Even the earliest tested start leaves 100 M⊙ seeds insufficient for the 4 targets at ε = 0.1 and average ratio ≤ 1. Larger seeds or super-Eddington episodes remain possible.</a:t>
            </a:r>
          </a:p>
          <a:p>
            <a:pPr marL="285750" indent="-228600">
              <a:spcAft>
                <a:spcPts val="800"/>
              </a:spcAft>
              <a:buChar char="•"/>
            </a:pPr>
            <a:r>
              <a:rPr lang="en-CA" sz="3300" b="1">
                <a:latin typeface="Aptos"/>
              </a:rPr>
              <a:t>Further observations: </a:t>
            </a:r>
            <a:r>
              <a:rPr lang="en-CA" sz="3300" b="0">
                <a:latin typeface="Aptos"/>
              </a:rPr>
              <a:t>Independent mass measurements could change which objects require averages above 1. Counts from different surveys cannot establish how common these black holes are.</a:t>
            </a:r>
          </a:p>
        </p:txBody>
      </p:sp>
      <p:sp>
        <p:nvSpPr>
          <p:cNvPr id="80" name="Rectangle 79">
            <a:extLst>
              <a:ext uri="{FF2B5EF4-FFF2-40B4-BE49-F238E27FC236}">
                <a16:creationId xmlns:a16="http://schemas.microsoft.com/office/drawing/2014/main" id="{BBD5C8AB-335C-2E4D-00F6-4B0BF74BB013}"/>
              </a:ext>
            </a:extLst>
          </p:cNvPr>
          <p:cNvSpPr/>
          <p:nvPr/>
        </p:nvSpPr>
        <p:spPr>
          <a:xfrm>
            <a:off x="29260800" y="21351240"/>
            <a:ext cx="13716000" cy="1088136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itle 18">
            <a:extLst>
              <a:ext uri="{FF2B5EF4-FFF2-40B4-BE49-F238E27FC236}">
                <a16:creationId xmlns:a16="http://schemas.microsoft.com/office/drawing/2014/main" id="{8E773A53-2851-D565-B46F-D419BA57021E}"/>
              </a:ext>
            </a:extLst>
          </p:cNvPr>
          <p:cNvSpPr txBox="1">
            <a:spLocks/>
          </p:cNvSpPr>
          <p:nvPr/>
        </p:nvSpPr>
        <p:spPr>
          <a:xfrm>
            <a:off x="914400" y="26883360"/>
            <a:ext cx="134874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References</a:t>
            </a:r>
          </a:p>
        </p:txBody>
      </p:sp>
      <p:sp>
        <p:nvSpPr>
          <p:cNvPr id="82" name="TextBox 81">
            <a:extLst>
              <a:ext uri="{FF2B5EF4-FFF2-40B4-BE49-F238E27FC236}">
                <a16:creationId xmlns:a16="http://schemas.microsoft.com/office/drawing/2014/main" id="{82B57F9D-B4AF-1E4D-7FBC-B8680CB4CAB8}"/>
              </a:ext>
            </a:extLst>
          </p:cNvPr>
          <p:cNvSpPr txBox="1"/>
          <p:nvPr/>
        </p:nvSpPr>
        <p:spPr>
          <a:xfrm>
            <a:off x="1371600" y="28163520"/>
            <a:ext cx="12573000" cy="3703320"/>
          </a:xfrm>
          <a:prstGeom prst="rect">
            <a:avLst/>
          </a:prstGeom>
          <a:noFill/>
        </p:spPr>
        <p:txBody>
          <a:bodyPr wrap="square" rtlCol="0">
            <a:spAutoFit/>
          </a:bodyPr>
          <a:lstStyle/>
          <a:p>
            <a:pPr>
              <a:spcBef>
                <a:spcPts val="600"/>
              </a:spcBef>
            </a:pPr>
            <a:r>
              <a:rPr lang="en-CA" sz="3300" dirty="0"/>
              <a:t>[1] Shen (2013), BASI, 41, 61.</a:t>
            </a:r>
            <a:endParaRPr lang="en-US" sz="3300" dirty="0"/>
          </a:p>
          <a:p>
            <a:r>
              <a:rPr lang="en-CA" sz="3300" dirty="0"/>
              <a:t>[2] </a:t>
            </a:r>
            <a:r>
              <a:rPr lang="en-CA" sz="3300" dirty="0" err="1"/>
              <a:t>Maiolino</a:t>
            </a:r>
            <a:r>
              <a:rPr lang="en-CA" sz="3300" dirty="0"/>
              <a:t> et al. (2024), Nature, 627, 59.</a:t>
            </a:r>
          </a:p>
          <a:p>
            <a:r>
              <a:rPr lang="en-CA" sz="3300" dirty="0"/>
              <a:t>[3] Dayal (2024), A&amp;A, 690, A182.</a:t>
            </a:r>
            <a:endParaRPr lang="en-US" sz="3300" dirty="0"/>
          </a:p>
          <a:p>
            <a:pPr>
              <a:spcBef>
                <a:spcPts val="600"/>
              </a:spcBef>
            </a:pPr>
            <a:r>
              <a:rPr lang="en-CA" sz="3300" dirty="0"/>
              <a:t>[4] Bardeen et al. (1972), </a:t>
            </a:r>
            <a:r>
              <a:rPr lang="en-CA" sz="3300" dirty="0" err="1"/>
              <a:t>ApJ</a:t>
            </a:r>
            <a:r>
              <a:rPr lang="en-CA" sz="3300" dirty="0"/>
              <a:t>, 178, 347.</a:t>
            </a:r>
            <a:endParaRPr lang="en-US" sz="3300" dirty="0"/>
          </a:p>
          <a:p>
            <a:pPr>
              <a:spcAft>
                <a:spcPts val="800"/>
              </a:spcAft>
              <a:buNone/>
            </a:pPr>
            <a:r>
              <a:rPr lang="en-CA" sz="3300" b="0" dirty="0">
                <a:latin typeface="Aptos"/>
              </a:rPr>
              <a:t>[5] </a:t>
            </a:r>
            <a:r>
              <a:rPr lang="en-CA" sz="3300" b="0" dirty="0" err="1">
                <a:latin typeface="Aptos"/>
              </a:rPr>
              <a:t>Juodzbalis</a:t>
            </a:r>
            <a:r>
              <a:rPr lang="en-CA" sz="3300" b="0" dirty="0">
                <a:latin typeface="Aptos"/>
              </a:rPr>
              <a:t> et al. (2025), arXiv:2508.21748.</a:t>
            </a:r>
          </a:p>
          <a:p>
            <a:pPr>
              <a:spcBef>
                <a:spcPts val="600"/>
              </a:spcBef>
            </a:pPr>
            <a:r>
              <a:rPr lang="en-CA" sz="3300" dirty="0"/>
              <a:t>Catalogue sources and code: QR link above.</a:t>
            </a:r>
            <a:endParaRPr lang="en-US" sz="3300" dirty="0"/>
          </a:p>
        </p:txBody>
      </p:sp>
      <p:sp>
        <p:nvSpPr>
          <p:cNvPr id="83" name="Rectangle 82">
            <a:extLst>
              <a:ext uri="{FF2B5EF4-FFF2-40B4-BE49-F238E27FC236}">
                <a16:creationId xmlns:a16="http://schemas.microsoft.com/office/drawing/2014/main" id="{7156AF1B-4C0F-9637-8495-BA5941742B85}"/>
              </a:ext>
            </a:extLst>
          </p:cNvPr>
          <p:cNvSpPr/>
          <p:nvPr/>
        </p:nvSpPr>
        <p:spPr>
          <a:xfrm>
            <a:off x="914400" y="26883360"/>
            <a:ext cx="13487400" cy="534924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4337658-2539-7C1B-497A-E1769149148E}"/>
              </a:ext>
            </a:extLst>
          </p:cNvPr>
          <p:cNvPicPr>
            <a:picLocks noChangeAspect="1"/>
          </p:cNvPicPr>
          <p:nvPr/>
        </p:nvPicPr>
        <p:blipFill>
          <a:blip r:embed="rId9"/>
          <a:stretch>
            <a:fillRect/>
          </a:stretch>
        </p:blipFill>
        <p:spPr>
          <a:xfrm>
            <a:off x="15087600" y="12847320"/>
            <a:ext cx="13533120" cy="6949440"/>
          </a:xfrm>
          <a:prstGeom prst="rect">
            <a:avLst/>
          </a:prstGeom>
        </p:spPr>
      </p:pic>
      <p:pic>
        <p:nvPicPr>
          <p:cNvPr id="5" name="Picture 4" descr="File:JWST spacecraft model 1.png - Wikimedia Commons">
            <a:extLst>
              <a:ext uri="{FF2B5EF4-FFF2-40B4-BE49-F238E27FC236}">
                <a16:creationId xmlns:a16="http://schemas.microsoft.com/office/drawing/2014/main" id="{0BD845B3-DC16-6DC6-BFC8-2D65D247678D}"/>
              </a:ext>
            </a:extLst>
          </p:cNvPr>
          <p:cNvPicPr>
            <a:picLocks noChangeAspect="1"/>
          </p:cNvPicPr>
          <p:nvPr/>
        </p:nvPicPr>
        <p:blipFill>
          <a:blip r:embed="rId10"/>
          <a:stretch>
            <a:fillRect/>
          </a:stretch>
        </p:blipFill>
        <p:spPr>
          <a:xfrm>
            <a:off x="29947430" y="1600199"/>
            <a:ext cx="4379909" cy="3283151"/>
          </a:xfrm>
          <a:prstGeom prst="rect">
            <a:avLst/>
          </a:prstGeom>
        </p:spPr>
      </p:pic>
      <p:pic>
        <p:nvPicPr>
          <p:cNvPr id="6" name="Picture 5" descr="Eyes open clipart clipground #31495 - Free Transparent PNG Logos">
            <a:extLst>
              <a:ext uri="{FF2B5EF4-FFF2-40B4-BE49-F238E27FC236}">
                <a16:creationId xmlns:a16="http://schemas.microsoft.com/office/drawing/2014/main" id="{9D3E6E2E-04C2-513B-0EE5-8C40F5B8F46A}"/>
              </a:ext>
            </a:extLst>
          </p:cNvPr>
          <p:cNvPicPr>
            <a:picLocks noChangeAspect="1"/>
          </p:cNvPicPr>
          <p:nvPr/>
        </p:nvPicPr>
        <p:blipFill>
          <a:blip r:embed="rId11"/>
          <a:stretch>
            <a:fillRect/>
          </a:stretch>
        </p:blipFill>
        <p:spPr>
          <a:xfrm rot="20443004">
            <a:off x="30817782" y="2180575"/>
            <a:ext cx="1415509" cy="681368"/>
          </a:xfrm>
          <a:prstGeom prst="rect">
            <a:avLst/>
          </a:prstGeom>
        </p:spPr>
      </p:pic>
      <p:pic>
        <p:nvPicPr>
          <p:cNvPr id="10" name="Picture 9" descr="Nebula overlay color 26548388 PNG">
            <a:extLst>
              <a:ext uri="{FF2B5EF4-FFF2-40B4-BE49-F238E27FC236}">
                <a16:creationId xmlns:a16="http://schemas.microsoft.com/office/drawing/2014/main" id="{FB4EBB94-758E-75A7-659C-BF66DBB0AEF6}"/>
              </a:ext>
            </a:extLst>
          </p:cNvPr>
          <p:cNvPicPr>
            <a:picLocks noChangeAspect="1"/>
          </p:cNvPicPr>
          <p:nvPr/>
        </p:nvPicPr>
        <p:blipFill>
          <a:blip r:embed="rId12"/>
          <a:stretch>
            <a:fillRect/>
          </a:stretch>
        </p:blipFill>
        <p:spPr>
          <a:xfrm rot="2098715">
            <a:off x="32496336" y="-185399"/>
            <a:ext cx="8190834" cy="4608990"/>
          </a:xfrm>
          <a:prstGeom prst="rect">
            <a:avLst/>
          </a:prstGeom>
        </p:spPr>
      </p:pic>
      <p:sp>
        <p:nvSpPr>
          <p:cNvPr id="76" name="TextBox 75">
            <a:extLst>
              <a:ext uri="{FF2B5EF4-FFF2-40B4-BE49-F238E27FC236}">
                <a16:creationId xmlns:a16="http://schemas.microsoft.com/office/drawing/2014/main" id="{8F4057E1-F618-63B3-DF3A-8B3B4948305D}"/>
              </a:ext>
            </a:extLst>
          </p:cNvPr>
          <p:cNvSpPr txBox="1"/>
          <p:nvPr/>
        </p:nvSpPr>
        <p:spPr>
          <a:xfrm>
            <a:off x="29718000" y="6400800"/>
            <a:ext cx="12801600" cy="2011680"/>
          </a:xfrm>
          <a:prstGeom prst="rect">
            <a:avLst/>
          </a:prstGeom>
          <a:noFill/>
        </p:spPr>
        <p:txBody>
          <a:bodyPr wrap="square" lIns="91440" tIns="45720" rIns="91440" bIns="45720" rtlCol="0" anchor="t">
            <a:spAutoFit/>
          </a:bodyPr>
          <a:lstStyle/>
          <a:p>
            <a:pPr marL="457200" indent="-457200">
              <a:spcAft>
                <a:spcPts val="400"/>
              </a:spcAft>
              <a:buFont typeface="Arial" panose="020B0604020202020204" pitchFamily="34" charset="0"/>
              <a:buChar char="•"/>
            </a:pPr>
            <a:r>
              <a:rPr lang="en-CA" sz="3300" b="1" dirty="0">
                <a:latin typeface="Aptos"/>
              </a:rPr>
              <a:t>Earlier-onset test: </a:t>
            </a:r>
            <a:r>
              <a:rPr lang="en-CA" sz="3300" b="0" dirty="0">
                <a:latin typeface="Aptos"/>
              </a:rPr>
              <a:t>Starting growth at z = 3,400 (matter–radiation equality) requires 270–1,200 M⊙ seeds for the 4 plotted objects (</a:t>
            </a:r>
            <a:r>
              <a:rPr lang="en-CA" sz="3300" b="0" dirty="0" err="1">
                <a:latin typeface="Aptos"/>
              </a:rPr>
              <a:t>ε</a:t>
            </a:r>
            <a:r>
              <a:rPr lang="en-CA" sz="3300" b="0" dirty="0">
                <a:latin typeface="Aptos"/>
              </a:rPr>
              <a:t> = 0.1, average ratio ≤ 1, no mergers).</a:t>
            </a:r>
          </a:p>
        </p:txBody>
      </p:sp>
      <p:sp>
        <p:nvSpPr>
          <p:cNvPr id="2" name="TextBox 1">
            <a:extLst>
              <a:ext uri="{FF2B5EF4-FFF2-40B4-BE49-F238E27FC236}">
                <a16:creationId xmlns:a16="http://schemas.microsoft.com/office/drawing/2014/main" id="{6F669F8B-BE33-0C82-515C-AF8D3B759FB3}"/>
              </a:ext>
            </a:extLst>
          </p:cNvPr>
          <p:cNvSpPr txBox="1"/>
          <p:nvPr/>
        </p:nvSpPr>
        <p:spPr>
          <a:xfrm>
            <a:off x="15270480" y="6400800"/>
            <a:ext cx="13395960" cy="54864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28600">
              <a:buChar char="•"/>
            </a:pPr>
            <a:r>
              <a:rPr lang="en-CA" sz="3300" b="1">
                <a:latin typeface="Aptos"/>
              </a:rPr>
              <a:t>Reference: </a:t>
            </a:r>
            <a:r>
              <a:rPr lang="en-CA" sz="3300" b="0">
                <a:latin typeface="Aptos"/>
              </a:rPr>
              <a:t>212/220 primary objects require average Eddington ratios ≤ 1. The other 8 require averages above 1, including 5 in ≥ 95% of mass-error draws.</a:t>
            </a:r>
          </a:p>
          <a:p>
            <a:pPr marL="285750" indent="-228600">
              <a:buChar char="•"/>
            </a:pPr>
            <a:r>
              <a:rPr lang="en-CA" sz="3300" b="1">
                <a:latin typeface="Aptos"/>
              </a:rPr>
              <a:t>Mass sensitivity: </a:t>
            </a:r>
            <a:r>
              <a:rPr lang="en-CA" sz="3300" b="0">
                <a:latin typeface="Aptos"/>
              </a:rPr>
              <a:t>After reducing masses by a factor of 3.2 (0.5 dex), UNCOVER-20466, COSMOS3D-13852, and RUBIES-EGS-55604 still require averages above 1 in ≥ 95% of mass-error draws.</a:t>
            </a:r>
          </a:p>
          <a:p>
            <a:pPr marL="285750" indent="-228600">
              <a:buChar char="•"/>
            </a:pPr>
            <a:r>
              <a:rPr lang="en-CA" sz="3300" b="1">
                <a:latin typeface="Aptos"/>
              </a:rPr>
              <a:t>Seed mass: </a:t>
            </a:r>
            <a:r>
              <a:rPr lang="en-CA" sz="3300" b="0">
                <a:latin typeface="Aptos"/>
              </a:rPr>
              <a:t>1,000 M⊙ seeds leave 3/220 above 1. With 100,000 M⊙ seeds, no objects in either sample require averages above 1.</a:t>
            </a:r>
          </a:p>
          <a:p>
            <a:pPr marL="285750" indent="-228600">
              <a:buChar char="•"/>
            </a:pPr>
            <a:r>
              <a:rPr lang="en-CA" sz="3300" b="1">
                <a:latin typeface="Aptos"/>
              </a:rPr>
              <a:t>Growth start time: </a:t>
            </a:r>
            <a:r>
              <a:rPr lang="en-CA" sz="3300" b="0">
                <a:latin typeface="Aptos"/>
              </a:rPr>
              <a:t>Starting later (z = 20) increases the primary count above 1 to 18/220. GN-z11 requires the highest average in the expanded sample.</a:t>
            </a:r>
          </a:p>
          <a:p>
            <a:pPr marL="285750" indent="-228600">
              <a:buChar char="•"/>
            </a:pPr>
            <a:r>
              <a:rPr lang="en-CA" sz="3300" b="1">
                <a:latin typeface="Aptos"/>
              </a:rPr>
              <a:t>Efficiency: </a:t>
            </a:r>
            <a:r>
              <a:rPr lang="en-CA" sz="3300" b="0">
                <a:latin typeface="Aptos"/>
              </a:rPr>
              <a:t>At ε = 0.05719 (non-spinning thin disc) [4], all 234 central mass estimates require averages below 1 from 100 M⊙ seeds at z = 30.</a:t>
            </a:r>
          </a:p>
        </p:txBody>
      </p:sp>
      <p:sp>
        <p:nvSpPr>
          <p:cNvPr id="7" name="Title 18">
            <a:extLst>
              <a:ext uri="{FF2B5EF4-FFF2-40B4-BE49-F238E27FC236}">
                <a16:creationId xmlns:a16="http://schemas.microsoft.com/office/drawing/2014/main" id="{3AC78928-AF13-E1B9-F802-F1FD39D07D33}"/>
              </a:ext>
            </a:extLst>
          </p:cNvPr>
          <p:cNvSpPr txBox="1">
            <a:spLocks/>
          </p:cNvSpPr>
          <p:nvPr/>
        </p:nvSpPr>
        <p:spPr>
          <a:xfrm>
            <a:off x="14950440" y="5120640"/>
            <a:ext cx="2802636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Results</a:t>
            </a:r>
            <a:endParaRPr lang="en-US"/>
          </a:p>
        </p:txBody>
      </p:sp>
      <p:sp>
        <p:nvSpPr>
          <p:cNvPr id="11" name="Rectangle 10">
            <a:extLst>
              <a:ext uri="{FF2B5EF4-FFF2-40B4-BE49-F238E27FC236}">
                <a16:creationId xmlns:a16="http://schemas.microsoft.com/office/drawing/2014/main" id="{AF7EDC07-606F-DD66-5973-0AE0D673B23B}"/>
              </a:ext>
            </a:extLst>
          </p:cNvPr>
          <p:cNvSpPr/>
          <p:nvPr/>
        </p:nvSpPr>
        <p:spPr>
          <a:xfrm>
            <a:off x="14950440" y="5120640"/>
            <a:ext cx="28026360" cy="1595628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igure takeaway 110"/>
          <p:cNvSpPr txBox="1"/>
          <p:nvPr/>
        </p:nvSpPr>
        <p:spPr>
          <a:xfrm>
            <a:off x="15407640" y="19842480"/>
            <a:ext cx="12801600" cy="914400"/>
          </a:xfrm>
          <a:prstGeom prst="rect">
            <a:avLst/>
          </a:prstGeom>
          <a:noFill/>
        </p:spPr>
        <p:txBody>
          <a:bodyPr wrap="square" lIns="91440" tIns="45720" rIns="91440" bIns="45720" rtlCol="0" anchor="t">
            <a:spAutoFit/>
          </a:bodyPr>
          <a:lstStyle/>
          <a:p>
            <a:pPr>
              <a:spcAft>
                <a:spcPts val="800"/>
              </a:spcAft>
              <a:buNone/>
            </a:pPr>
            <a:r>
              <a:rPr lang="en-CA" sz="2400" b="0">
                <a:latin typeface="Aptos"/>
              </a:rPr>
              <a:t>After lowering masses by 0.5 dex, 3 targets require averages above 1 in ≥ 95% of mass-error draws.</a:t>
            </a:r>
          </a:p>
        </p:txBody>
      </p:sp>
      <p:sp>
        <p:nvSpPr>
          <p:cNvPr id="111" name="Figure takeaway 111"/>
          <p:cNvSpPr txBox="1"/>
          <p:nvPr/>
        </p:nvSpPr>
        <p:spPr>
          <a:xfrm>
            <a:off x="15224760" y="31455360"/>
            <a:ext cx="13121640" cy="777240"/>
          </a:xfrm>
          <a:prstGeom prst="rect">
            <a:avLst/>
          </a:prstGeom>
          <a:noFill/>
        </p:spPr>
        <p:txBody>
          <a:bodyPr wrap="square" lIns="91440" tIns="45720" rIns="91440" bIns="45720" rtlCol="0" anchor="t">
            <a:spAutoFit/>
          </a:bodyPr>
          <a:lstStyle/>
          <a:p>
            <a:pPr>
              <a:spcAft>
                <a:spcPts val="800"/>
              </a:spcAft>
              <a:buNone/>
            </a:pPr>
            <a:r>
              <a:rPr lang="en-CA" sz="2400" b="0" dirty="0">
                <a:latin typeface="Aptos"/>
              </a:rPr>
              <a:t>Only efficiency changes between panels. Points below a curve can be reached with a lower average Eddington ratio.</a:t>
            </a:r>
          </a:p>
        </p:txBody>
      </p:sp>
      <p:sp>
        <p:nvSpPr>
          <p:cNvPr id="112" name="Figure takeaway 112"/>
          <p:cNvSpPr txBox="1"/>
          <p:nvPr/>
        </p:nvSpPr>
        <p:spPr>
          <a:xfrm>
            <a:off x="29718000" y="17830800"/>
            <a:ext cx="12801600" cy="548640"/>
          </a:xfrm>
          <a:prstGeom prst="rect">
            <a:avLst/>
          </a:prstGeom>
          <a:noFill/>
        </p:spPr>
        <p:txBody>
          <a:bodyPr wrap="square" lIns="91440" tIns="45720" rIns="91440" bIns="45720" rtlCol="0" anchor="t">
            <a:spAutoFit/>
          </a:bodyPr>
          <a:lstStyle/>
          <a:p>
            <a:pPr>
              <a:buNone/>
            </a:pPr>
            <a:r>
              <a:rPr lang="en-CA" sz="2400" b="0" dirty="0">
                <a:latin typeface="Aptos"/>
              </a:rPr>
              <a:t>Earlier starts lower the required seed mass, but the decrease becomes smaller.</a:t>
            </a:r>
          </a:p>
        </p:txBody>
      </p:sp>
      <p:sp>
        <p:nvSpPr>
          <p:cNvPr id="15" name="TextBox 14">
            <a:extLst>
              <a:ext uri="{FF2B5EF4-FFF2-40B4-BE49-F238E27FC236}">
                <a16:creationId xmlns:a16="http://schemas.microsoft.com/office/drawing/2014/main" id="{B71483CE-2A7E-6438-7E3B-E605C17C7099}"/>
              </a:ext>
            </a:extLst>
          </p:cNvPr>
          <p:cNvSpPr txBox="1"/>
          <p:nvPr/>
        </p:nvSpPr>
        <p:spPr>
          <a:xfrm>
            <a:off x="29718000" y="18425160"/>
            <a:ext cx="12801600" cy="2514600"/>
          </a:xfrm>
          <a:prstGeom prst="rect">
            <a:avLst/>
          </a:prstGeom>
          <a:noFill/>
        </p:spPr>
        <p:txBody>
          <a:bodyPr wrap="square">
            <a:spAutoFit/>
          </a:bodyPr>
          <a:lstStyle/>
          <a:p>
            <a:pPr marL="457200" indent="-457200">
              <a:spcAft>
                <a:spcPts val="400"/>
              </a:spcAft>
              <a:buFont typeface="Arial" panose="020B0604020202020204" pitchFamily="34" charset="0"/>
              <a:buChar char="•"/>
            </a:pPr>
            <a:r>
              <a:rPr lang="en-CA" sz="3300" b="1" dirty="0">
                <a:latin typeface="Aptos"/>
              </a:rPr>
              <a:t>Independent mass check: </a:t>
            </a:r>
            <a:r>
              <a:rPr lang="en-CA" sz="3300" b="0" dirty="0">
                <a:latin typeface="Aptos"/>
              </a:rPr>
              <a:t>Under the reference model, A2744-QSO1’s broad-line mass (2.0 × 10</a:t>
            </a:r>
            <a:r>
              <a:rPr lang="en-CA" sz="2200" b="0" baseline="30000" dirty="0">
                <a:latin typeface="Aptos"/>
              </a:rPr>
              <a:t>7</a:t>
            </a:r>
            <a:r>
              <a:rPr lang="en-CA" sz="3300" b="0" dirty="0">
                <a:latin typeface="Aptos"/>
              </a:rPr>
              <a:t> M⊙) requires an average Eddington ratio of 0.929. Its dynamical mass (5.0 × 10</a:t>
            </a:r>
            <a:r>
              <a:rPr lang="en-CA" sz="2200" b="0" baseline="30000" dirty="0">
                <a:latin typeface="Aptos"/>
              </a:rPr>
              <a:t>7</a:t>
            </a:r>
            <a:r>
              <a:rPr lang="en-CA" sz="3300" b="0" dirty="0">
                <a:latin typeface="Aptos"/>
              </a:rPr>
              <a:t> M⊙) requires 0.9996 (ratio’s 16th–84th percentiles: 0.947–1.052) [5]. This interval includes 1.</a:t>
            </a:r>
          </a:p>
        </p:txBody>
      </p:sp>
      <p:sp>
        <p:nvSpPr>
          <p:cNvPr id="120" name="Efficiency comparison heading">
            <a:extLst>
              <a:ext uri="{FF2B5EF4-FFF2-40B4-BE49-F238E27FC236}">
                <a16:creationId xmlns:a16="http://schemas.microsoft.com/office/drawing/2014/main" id="{3A05E1FE-512D-49F3-9C39-22D275F0EE18}"/>
              </a:ext>
            </a:extLst>
          </p:cNvPr>
          <p:cNvSpPr>
            <a:spLocks noGrp="1"/>
          </p:cNvSpPr>
          <p:nvPr/>
        </p:nvSpPr>
        <p:spPr>
          <a:xfrm>
            <a:off x="15224760" y="21351240"/>
            <a:ext cx="13121640" cy="640080"/>
          </a:xfrm>
          <a:prstGeom prst="rect">
            <a:avLst/>
          </a:prstGeom>
          <a:noFill/>
        </p:spPr>
        <p:txBody>
          <a:bodyPr wrap="square" lIns="91440" tIns="45720" rIns="91440" bIns="45720" anchor="t">
            <a:spAutoFit/>
          </a:bodyPr>
          <a:lstStyle>
            <a:defPPr>
              <a:defRPr b="1">
                <a:solidFill>
                  <a:srgbClr val="002A5C"/>
                </a:solidFill>
              </a:defRPr>
            </a:defPPr>
          </a:lstStyle>
          <a:p>
            <a:pPr>
              <a:spcAft>
                <a:spcPts val="800"/>
              </a:spcAft>
              <a:buNone/>
              <a:defRPr b="1">
                <a:solidFill>
                  <a:srgbClr val="002A5C"/>
                </a:solidFill>
              </a:defRPr>
            </a:pPr>
            <a:r>
              <a:rPr lang="en-CA" sz="3600" b="1">
                <a:solidFill>
                  <a:srgbClr val="002A5C"/>
                </a:solidFill>
                <a:latin typeface="Aptos"/>
              </a:rPr>
              <a:t>Growth at two radiative efficiencies</a:t>
            </a:r>
          </a:p>
        </p:txBody>
      </p:sp>
    </p:spTree>
    <p:extLst>
      <p:ext uri="{BB962C8B-B14F-4D97-AF65-F5344CB8AC3E}">
        <p14:creationId xmlns:p14="http://schemas.microsoft.com/office/powerpoint/2010/main" val="8684871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17601-38BA-EEC6-B535-6199F2F271C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35E2EF0-72FB-E9D0-1E82-C65E26ED9E91}"/>
              </a:ext>
            </a:extLst>
          </p:cNvPr>
          <p:cNvPicPr>
            <a:picLocks noChangeAspect="1"/>
          </p:cNvPicPr>
          <p:nvPr/>
        </p:nvPicPr>
        <p:blipFill>
          <a:blip r:embed="rId3"/>
          <a:stretch>
            <a:fillRect/>
          </a:stretch>
        </p:blipFill>
        <p:spPr>
          <a:xfrm>
            <a:off x="15179040" y="22174200"/>
            <a:ext cx="13258800" cy="9240982"/>
          </a:xfrm>
          <a:prstGeom prst="rect">
            <a:avLst/>
          </a:prstGeom>
        </p:spPr>
      </p:pic>
      <p:pic>
        <p:nvPicPr>
          <p:cNvPr id="14" name="Minimum seed mass versus accretion onset" descr="Manuscript minimum seed masses under fixed growth caps for UNCOVER-20466, COSMOS3D-13852, RUBIES-EGS-55604, and GN-z11.">
            <a:extLst>
              <a:ext uri="{FF2B5EF4-FFF2-40B4-BE49-F238E27FC236}">
                <a16:creationId xmlns:a16="http://schemas.microsoft.com/office/drawing/2014/main" id="{C3CA3027-10C5-D39A-05B0-82DB2540F9D3}"/>
              </a:ext>
            </a:extLst>
          </p:cNvPr>
          <p:cNvPicPr>
            <a:picLocks noChangeAspect="1"/>
          </p:cNvPicPr>
          <p:nvPr/>
        </p:nvPicPr>
        <p:blipFill>
          <a:blip r:embed="rId4"/>
          <a:stretch>
            <a:fillRect/>
          </a:stretch>
        </p:blipFill>
        <p:spPr>
          <a:xfrm>
            <a:off x="29352240" y="8595360"/>
            <a:ext cx="13533120" cy="9134856"/>
          </a:xfrm>
          <a:prstGeom prst="rect">
            <a:avLst/>
          </a:prstGeom>
        </p:spPr>
      </p:pic>
      <p:sp>
        <p:nvSpPr>
          <p:cNvPr id="32" name="Title 18">
            <a:extLst>
              <a:ext uri="{FF2B5EF4-FFF2-40B4-BE49-F238E27FC236}">
                <a16:creationId xmlns:a16="http://schemas.microsoft.com/office/drawing/2014/main" id="{F8D50A2A-9B61-AD34-B9C2-8944BB27426C}"/>
              </a:ext>
            </a:extLst>
          </p:cNvPr>
          <p:cNvSpPr>
            <a:spLocks noGrp="1"/>
          </p:cNvSpPr>
          <p:nvPr>
            <p:ph type="title" idx="4294967295"/>
          </p:nvPr>
        </p:nvSpPr>
        <p:spPr>
          <a:xfrm>
            <a:off x="0" y="0"/>
            <a:ext cx="43891200" cy="4389120"/>
          </a:xfrm>
          <a:solidFill>
            <a:srgbClr val="002A5C"/>
          </a:solidFill>
          <a:ln>
            <a:solidFill>
              <a:srgbClr val="09306B"/>
            </a:solidFill>
          </a:ln>
        </p:spPr>
        <p:txBody>
          <a:bodyPr lIns="9418320" tIns="91440" rIns="11887200">
            <a:normAutofit/>
          </a:bodyPr>
          <a:lstStyle/>
          <a:p>
            <a:pPr algn="ctr"/>
            <a:br>
              <a:rPr lang="en-US" sz="4200" b="0" dirty="0">
                <a:solidFill>
                  <a:schemeClr val="bg1"/>
                </a:solidFill>
                <a:latin typeface="Arial" panose="020B0604020202020204" pitchFamily="34" charset="0"/>
                <a:cs typeface="Arial" panose="020B0604020202020204" pitchFamily="34" charset="0"/>
              </a:rPr>
            </a:br>
            <a:r>
              <a:rPr lang="en-US" sz="6800" b="1" dirty="0">
                <a:solidFill>
                  <a:schemeClr val="bg1"/>
                </a:solidFill>
                <a:latin typeface="Arial" panose="020B0604020202020204" pitchFamily="34" charset="0"/>
                <a:cs typeface="Arial" panose="020B0604020202020204" pitchFamily="34" charset="0"/>
              </a:rPr>
              <a:t>Early Black-Hole Growth Constraints from JWST</a:t>
            </a:r>
            <a:br>
              <a:rPr lang="en-US" sz="6800" b="0" dirty="0">
                <a:solidFill>
                  <a:schemeClr val="bg1"/>
                </a:solidFill>
                <a:latin typeface="Arial" panose="020B0604020202020204" pitchFamily="34" charset="0"/>
                <a:cs typeface="Arial" panose="020B0604020202020204" pitchFamily="34" charset="0"/>
              </a:rPr>
            </a:br>
            <a:r>
              <a:rPr lang="en-US" sz="6800" b="0" dirty="0">
                <a:solidFill>
                  <a:schemeClr val="bg1"/>
                </a:solidFill>
                <a:latin typeface="Arial" panose="020B0604020202020204" pitchFamily="34" charset="0"/>
                <a:cs typeface="Arial" panose="020B0604020202020204" pitchFamily="34" charset="0"/>
              </a:rPr>
              <a:t>Nicole Jiang; University of Toronto</a:t>
            </a:r>
            <a:br>
              <a:rPr lang="en-US" sz="4200" b="0" dirty="0">
                <a:solidFill>
                  <a:schemeClr val="bg1"/>
                </a:solidFill>
                <a:latin typeface="Arial" panose="020B0604020202020204" pitchFamily="34" charset="0"/>
                <a:cs typeface="Arial" panose="020B0604020202020204" pitchFamily="34" charset="0"/>
              </a:rPr>
            </a:br>
            <a:endParaRPr lang="en-US" sz="6800" b="0" dirty="0">
              <a:solidFill>
                <a:schemeClr val="bg1"/>
              </a:solidFill>
              <a:latin typeface="Arial" panose="020B0604020202020204" pitchFamily="34" charset="0"/>
              <a:cs typeface="Arial" panose="020B0604020202020204" pitchFamily="34" charset="0"/>
            </a:endParaRPr>
          </a:p>
        </p:txBody>
      </p:sp>
      <p:pic>
        <p:nvPicPr>
          <p:cNvPr id="33" name="Picture 32" descr="University of Toronto - Wikipedia">
            <a:extLst>
              <a:ext uri="{FF2B5EF4-FFF2-40B4-BE49-F238E27FC236}">
                <a16:creationId xmlns:a16="http://schemas.microsoft.com/office/drawing/2014/main" id="{42BD33B9-86B6-8B04-8AA1-E72E85543563}"/>
              </a:ext>
            </a:extLst>
          </p:cNvPr>
          <p:cNvPicPr>
            <a:picLocks noChangeAspect="1"/>
          </p:cNvPicPr>
          <p:nvPr/>
        </p:nvPicPr>
        <p:blipFill>
          <a:blip r:embed="rId5"/>
          <a:stretch>
            <a:fillRect/>
          </a:stretch>
        </p:blipFill>
        <p:spPr>
          <a:xfrm>
            <a:off x="731520" y="548640"/>
            <a:ext cx="2834640" cy="2834640"/>
          </a:xfrm>
          <a:prstGeom prst="rect">
            <a:avLst/>
          </a:prstGeom>
        </p:spPr>
      </p:pic>
      <p:pic>
        <p:nvPicPr>
          <p:cNvPr id="36" name="Picture 35" descr="University of Toronto profile | Powered by Inpart">
            <a:extLst>
              <a:ext uri="{FF2B5EF4-FFF2-40B4-BE49-F238E27FC236}">
                <a16:creationId xmlns:a16="http://schemas.microsoft.com/office/drawing/2014/main" id="{8C2E503F-9CF2-EBE6-29B0-458691A7DFB1}"/>
              </a:ext>
            </a:extLst>
          </p:cNvPr>
          <p:cNvPicPr>
            <a:picLocks noChangeAspect="1"/>
          </p:cNvPicPr>
          <p:nvPr/>
        </p:nvPicPr>
        <p:blipFill>
          <a:blip r:embed="rId6"/>
          <a:srcRect l="23902" t="38725" b="33824"/>
          <a:stretch>
            <a:fillRect/>
          </a:stretch>
        </p:blipFill>
        <p:spPr>
          <a:xfrm>
            <a:off x="3291840" y="1051560"/>
            <a:ext cx="6035040" cy="2177031"/>
          </a:xfrm>
          <a:prstGeom prst="rect">
            <a:avLst/>
          </a:prstGeom>
        </p:spPr>
      </p:pic>
      <p:pic>
        <p:nvPicPr>
          <p:cNvPr id="37" name="Picture 36">
            <a:extLst>
              <a:ext uri="{FF2B5EF4-FFF2-40B4-BE49-F238E27FC236}">
                <a16:creationId xmlns:a16="http://schemas.microsoft.com/office/drawing/2014/main" id="{2C65ED58-816C-A2B5-F6CB-4326B0858DDD}"/>
              </a:ext>
            </a:extLst>
          </p:cNvPr>
          <p:cNvPicPr>
            <a:picLocks noChangeAspect="1"/>
          </p:cNvPicPr>
          <p:nvPr/>
        </p:nvPicPr>
        <p:blipFill>
          <a:blip r:embed="rId7"/>
          <a:stretch>
            <a:fillRect/>
          </a:stretch>
        </p:blipFill>
        <p:spPr>
          <a:xfrm>
            <a:off x="39867840" y="457200"/>
            <a:ext cx="3108960" cy="3108960"/>
          </a:xfrm>
          <a:prstGeom prst="rect">
            <a:avLst/>
          </a:prstGeom>
        </p:spPr>
      </p:pic>
      <p:sp>
        <p:nvSpPr>
          <p:cNvPr id="69" name="Title 18">
            <a:extLst>
              <a:ext uri="{FF2B5EF4-FFF2-40B4-BE49-F238E27FC236}">
                <a16:creationId xmlns:a16="http://schemas.microsoft.com/office/drawing/2014/main" id="{D8B6836B-DAF1-F68F-D717-73D3A454BC2E}"/>
              </a:ext>
            </a:extLst>
          </p:cNvPr>
          <p:cNvSpPr txBox="1">
            <a:spLocks/>
          </p:cNvSpPr>
          <p:nvPr/>
        </p:nvSpPr>
        <p:spPr>
          <a:xfrm>
            <a:off x="914400" y="5120640"/>
            <a:ext cx="134874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Introduction</a:t>
            </a:r>
          </a:p>
        </p:txBody>
      </p:sp>
      <p:sp>
        <p:nvSpPr>
          <p:cNvPr id="70" name="TextBox 69">
            <a:extLst>
              <a:ext uri="{FF2B5EF4-FFF2-40B4-BE49-F238E27FC236}">
                <a16:creationId xmlns:a16="http://schemas.microsoft.com/office/drawing/2014/main" id="{7842EAEC-0FF9-516A-6712-19E0D19D0354}"/>
              </a:ext>
            </a:extLst>
          </p:cNvPr>
          <p:cNvSpPr txBox="1"/>
          <p:nvPr/>
        </p:nvSpPr>
        <p:spPr>
          <a:xfrm>
            <a:off x="1371600" y="6400800"/>
            <a:ext cx="12573000" cy="3246120"/>
          </a:xfrm>
          <a:prstGeom prst="rect">
            <a:avLst/>
          </a:prstGeom>
          <a:noFill/>
        </p:spPr>
        <p:txBody>
          <a:bodyPr wrap="square" lIns="91440" tIns="45720" rIns="91440" bIns="45720" rtlCol="0" anchor="t">
            <a:spAutoFit/>
          </a:bodyPr>
          <a:lstStyle/>
          <a:p>
            <a:pPr>
              <a:buNone/>
            </a:pPr>
            <a:r>
              <a:rPr lang="en-CA" sz="3300" b="1">
                <a:latin typeface="Aptos"/>
              </a:rPr>
              <a:t>How did early black holes grow so big, so fast? </a:t>
            </a:r>
            <a:r>
              <a:rPr lang="en-CA" sz="3300" b="0">
                <a:latin typeface="Aptos"/>
              </a:rPr>
              <a:t>The James Webb Space Telescope (JWST) has revealed massive black holes with little time to grow. I compiled published mass estimates and calculated the average accretion needed to reach each mass under different seed masses (initial masses), start times, and radiative efficiencies.</a:t>
            </a:r>
          </a:p>
        </p:txBody>
      </p:sp>
      <p:sp>
        <p:nvSpPr>
          <p:cNvPr id="71" name="Rectangle 70">
            <a:extLst>
              <a:ext uri="{FF2B5EF4-FFF2-40B4-BE49-F238E27FC236}">
                <a16:creationId xmlns:a16="http://schemas.microsoft.com/office/drawing/2014/main" id="{ABB03D82-A209-1440-3180-9DD4419EFCBF}"/>
              </a:ext>
            </a:extLst>
          </p:cNvPr>
          <p:cNvSpPr/>
          <p:nvPr/>
        </p:nvSpPr>
        <p:spPr>
          <a:xfrm>
            <a:off x="914400" y="5120640"/>
            <a:ext cx="13487400" cy="466344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itle 18">
            <a:extLst>
              <a:ext uri="{FF2B5EF4-FFF2-40B4-BE49-F238E27FC236}">
                <a16:creationId xmlns:a16="http://schemas.microsoft.com/office/drawing/2014/main" id="{6D9DC137-E8CF-8FC7-F26F-A7759AD2C396}"/>
              </a:ext>
            </a:extLst>
          </p:cNvPr>
          <p:cNvSpPr txBox="1">
            <a:spLocks/>
          </p:cNvSpPr>
          <p:nvPr/>
        </p:nvSpPr>
        <p:spPr>
          <a:xfrm>
            <a:off x="914400" y="10287000"/>
            <a:ext cx="134874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Methods</a:t>
            </a:r>
          </a:p>
        </p:txBody>
      </p:sp>
      <p:sp>
        <p:nvSpPr>
          <p:cNvPr id="73" name="TextBox 72">
            <a:extLst>
              <a:ext uri="{FF2B5EF4-FFF2-40B4-BE49-F238E27FC236}">
                <a16:creationId xmlns:a16="http://schemas.microsoft.com/office/drawing/2014/main" id="{88C51BF9-B81A-ECF4-F01D-305CA1CE9DD1}"/>
              </a:ext>
            </a:extLst>
          </p:cNvPr>
          <p:cNvSpPr txBox="1"/>
          <p:nvPr/>
        </p:nvSpPr>
        <p:spPr>
          <a:xfrm>
            <a:off x="1371600" y="11567160"/>
            <a:ext cx="12573000" cy="14356080"/>
          </a:xfrm>
          <a:prstGeom prst="rect">
            <a:avLst/>
          </a:prstGeom>
          <a:noFill/>
        </p:spPr>
        <p:txBody>
          <a:bodyPr wrap="square" rtlCol="0">
            <a:spAutoFit/>
          </a:bodyPr>
          <a:lstStyle/>
          <a:p>
            <a:pPr>
              <a:lnSpc>
                <a:spcPct val="120000"/>
              </a:lnSpc>
              <a:spcAft>
                <a:spcPts val="1600"/>
              </a:spcAft>
              <a:buNone/>
            </a:pPr>
            <a:r>
              <a:rPr lang="en-CA" sz="3300" b="1">
                <a:latin typeface="Aptos"/>
              </a:rPr>
              <a:t>Catalogue: </a:t>
            </a:r>
            <a:r>
              <a:rPr lang="en-CA" sz="3300" b="0">
                <a:latin typeface="Aptos"/>
              </a:rPr>
              <a:t>Compiled 350 measurements at z ≥ 4. Used 1 mass per object: 220 primary objects with broad Balmer-line masses and 234 expanded objects, including tentative candidates and GN-z11 [1,2].</a:t>
            </a:r>
          </a:p>
          <a:p>
            <a:pPr>
              <a:lnSpc>
                <a:spcPct val="120000"/>
              </a:lnSpc>
              <a:spcAft>
                <a:spcPts val="1600"/>
              </a:spcAft>
              <a:buNone/>
            </a:pPr>
            <a:r>
              <a:rPr lang="en-CA" sz="3300" b="1">
                <a:latin typeface="Aptos"/>
              </a:rPr>
              <a:t>Reference model: </a:t>
            </a:r>
            <a:r>
              <a:rPr lang="en-CA" sz="3300" b="0">
                <a:latin typeface="Aptos"/>
              </a:rPr>
              <a:t>Assumed 100 M⊙ seeds at z = 30, radiative efficiency ε = 0.1 and no mergers [3].</a:t>
            </a:r>
          </a:p>
          <a:p>
            <a:pPr>
              <a:lnSpc>
                <a:spcPct val="120000"/>
              </a:lnSpc>
              <a:spcAft>
                <a:spcPts val="1600"/>
              </a:spcAft>
              <a:buNone/>
            </a:pPr>
            <a:r>
              <a:rPr lang="en-CA" sz="3300" b="1">
                <a:latin typeface="Aptos"/>
              </a:rPr>
              <a:t>Growth test: </a:t>
            </a:r>
            <a:r>
              <a:rPr lang="en-CA" sz="3300" b="0">
                <a:latin typeface="Aptos"/>
              </a:rPr>
              <a:t>Ranked objects by f̄</a:t>
            </a:r>
            <a:r>
              <a:rPr lang="en-CA" sz="2200" b="0" baseline="-25000">
                <a:latin typeface="Aptos"/>
              </a:rPr>
              <a:t>Edd,req</a:t>
            </a:r>
            <a:r>
              <a:rPr lang="en-CA" sz="3300" b="0">
                <a:latin typeface="Aptos"/>
              </a:rPr>
              <a:t>, the required lifetime-average Eddington ratio, including inactive periods. Compared it with an assumed maximum of 1.</a:t>
            </a:r>
          </a:p>
          <a:p>
            <a:pPr>
              <a:lnSpc>
                <a:spcPct val="120000"/>
              </a:lnSpc>
              <a:spcAft>
                <a:spcPts val="1600"/>
              </a:spcAft>
              <a:buNone/>
            </a:pPr>
            <a:r>
              <a:rPr lang="en-CA" sz="3300" b="1">
                <a:latin typeface="Aptos"/>
              </a:rPr>
              <a:t>Eddington ratio: </a:t>
            </a:r>
            <a:r>
              <a:rPr lang="en-CA" sz="3300" b="0">
                <a:latin typeface="Aptos"/>
              </a:rPr>
              <a:t>f</a:t>
            </a:r>
            <a:r>
              <a:rPr lang="en-CA" sz="2200" b="0" baseline="-25000">
                <a:latin typeface="Aptos"/>
              </a:rPr>
              <a:t>Edd</a:t>
            </a:r>
            <a:r>
              <a:rPr lang="en-CA" sz="3300" b="0">
                <a:latin typeface="Aptos"/>
              </a:rPr>
              <a:t> = luminosity/Eddington luminosity, where radiation force balances gravity. Averages above 1 require periods of super-Eddington accretion.</a:t>
            </a:r>
          </a:p>
          <a:p>
            <a:pPr>
              <a:lnSpc>
                <a:spcPct val="120000"/>
              </a:lnSpc>
              <a:spcAft>
                <a:spcPts val="1600"/>
              </a:spcAft>
              <a:buNone/>
            </a:pPr>
            <a:r>
              <a:rPr lang="en-CA" sz="3300" b="1">
                <a:latin typeface="Aptos"/>
              </a:rPr>
              <a:t>Uncertainty: </a:t>
            </a:r>
            <a:r>
              <a:rPr lang="en-CA" sz="3300" b="0">
                <a:latin typeface="Aptos"/>
              </a:rPr>
              <a:t>Sampled reported mass errors 10,000 times per object. Used central estimates for objects without errors. Varied mass scale, seed mass, start time and efficiency separately. Reported errors may omit calibration scatter.</a:t>
            </a:r>
          </a:p>
          <a:p>
            <a:pPr>
              <a:lnSpc>
                <a:spcPct val="120000"/>
              </a:lnSpc>
              <a:spcAft>
                <a:spcPts val="1600"/>
              </a:spcAft>
              <a:buNone/>
            </a:pPr>
            <a:r>
              <a:rPr lang="en-CA" sz="3300" b="1">
                <a:latin typeface="Aptos"/>
              </a:rPr>
              <a:t>Earlier growth: </a:t>
            </a:r>
            <a:r>
              <a:rPr lang="en-CA" sz="3300" b="0">
                <a:latin typeface="Aptos"/>
              </a:rPr>
              <a:t>Found minimum seed masses for the 4 targets across start redshifts 20–3,400. Included radiation in cosmic ages. Assumed gas was available for accretion.</a:t>
            </a:r>
          </a:p>
        </p:txBody>
      </p:sp>
      <p:sp>
        <p:nvSpPr>
          <p:cNvPr id="74" name="Rectangle 73">
            <a:extLst>
              <a:ext uri="{FF2B5EF4-FFF2-40B4-BE49-F238E27FC236}">
                <a16:creationId xmlns:a16="http://schemas.microsoft.com/office/drawing/2014/main" id="{F5F0E6D1-7308-2846-C555-5A8981E84E43}"/>
              </a:ext>
            </a:extLst>
          </p:cNvPr>
          <p:cNvSpPr/>
          <p:nvPr/>
        </p:nvSpPr>
        <p:spPr>
          <a:xfrm>
            <a:off x="914400" y="10287000"/>
            <a:ext cx="13487400" cy="1609344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itle 18">
            <a:extLst>
              <a:ext uri="{FF2B5EF4-FFF2-40B4-BE49-F238E27FC236}">
                <a16:creationId xmlns:a16="http://schemas.microsoft.com/office/drawing/2014/main" id="{D50205E6-BF86-6F08-991C-43F597FDF8DD}"/>
              </a:ext>
            </a:extLst>
          </p:cNvPr>
          <p:cNvSpPr txBox="1">
            <a:spLocks/>
          </p:cNvSpPr>
          <p:nvPr/>
        </p:nvSpPr>
        <p:spPr>
          <a:xfrm>
            <a:off x="29260800" y="21593002"/>
            <a:ext cx="137160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Conclusions</a:t>
            </a:r>
          </a:p>
        </p:txBody>
      </p:sp>
      <p:sp>
        <p:nvSpPr>
          <p:cNvPr id="79" name="TextBox 78">
            <a:extLst>
              <a:ext uri="{FF2B5EF4-FFF2-40B4-BE49-F238E27FC236}">
                <a16:creationId xmlns:a16="http://schemas.microsoft.com/office/drawing/2014/main" id="{3DD5B540-2EC8-A5A1-200C-994C1D7C8BFD}"/>
              </a:ext>
            </a:extLst>
          </p:cNvPr>
          <p:cNvSpPr txBox="1"/>
          <p:nvPr/>
        </p:nvSpPr>
        <p:spPr>
          <a:xfrm>
            <a:off x="29947430" y="23340060"/>
            <a:ext cx="12801600" cy="9006840"/>
          </a:xfrm>
          <a:prstGeom prst="rect">
            <a:avLst/>
          </a:prstGeom>
          <a:noFill/>
        </p:spPr>
        <p:txBody>
          <a:bodyPr wrap="square" lIns="91440" tIns="45720" rIns="91440" bIns="45720" rtlCol="0" anchor="t">
            <a:spAutoFit/>
          </a:bodyPr>
          <a:lstStyle/>
          <a:p>
            <a:pPr marL="285750" indent="-228600">
              <a:spcAft>
                <a:spcPts val="800"/>
              </a:spcAft>
              <a:buChar char="•"/>
            </a:pPr>
            <a:r>
              <a:rPr lang="en-CA" sz="3300" b="1" dirty="0">
                <a:latin typeface="Aptos"/>
              </a:rPr>
              <a:t>Seed masses: </a:t>
            </a:r>
            <a:r>
              <a:rPr lang="en-CA" sz="3300" b="0" dirty="0">
                <a:latin typeface="Aptos"/>
              </a:rPr>
              <a:t>Most adopted masses are compatible with growth from small stellar seeds under the reference assumptions.</a:t>
            </a:r>
          </a:p>
          <a:p>
            <a:pPr marL="285750" indent="-228600">
              <a:spcAft>
                <a:spcPts val="800"/>
              </a:spcAft>
              <a:buChar char="•"/>
            </a:pPr>
            <a:r>
              <a:rPr lang="en-CA" sz="3300" b="1" dirty="0">
                <a:latin typeface="Aptos"/>
              </a:rPr>
              <a:t>Accretion physics: </a:t>
            </a:r>
            <a:r>
              <a:rPr lang="en-CA" sz="3300" b="0" dirty="0">
                <a:latin typeface="Aptos"/>
              </a:rPr>
              <a:t>Lower radiative efficiency allows faster mass growth at the same Eddington ratio. Seed-mass requirements therefore depend on how efficiently accretion produces radiation.</a:t>
            </a:r>
          </a:p>
          <a:p>
            <a:pPr marL="285750" indent="-228600">
              <a:spcAft>
                <a:spcPts val="800"/>
              </a:spcAft>
              <a:buChar char="•"/>
            </a:pPr>
            <a:r>
              <a:rPr lang="en-CA" sz="3300" b="1" dirty="0">
                <a:latin typeface="Aptos"/>
              </a:rPr>
              <a:t>Earlier growth: </a:t>
            </a:r>
            <a:r>
              <a:rPr lang="en-CA" sz="3300" b="0" dirty="0">
                <a:latin typeface="Aptos"/>
              </a:rPr>
              <a:t>Even the earliest tested start leaves 100 M⊙ seeds insufficient for the 4 targets at </a:t>
            </a:r>
            <a:r>
              <a:rPr lang="en-CA" sz="3300" b="0" dirty="0" err="1">
                <a:latin typeface="Aptos"/>
              </a:rPr>
              <a:t>ε</a:t>
            </a:r>
            <a:r>
              <a:rPr lang="en-CA" sz="3300" b="0" dirty="0">
                <a:latin typeface="Aptos"/>
              </a:rPr>
              <a:t> = 0.1 and average ratio ≤ 1. Larger seeds or super-Eddington episodes remain possible.</a:t>
            </a:r>
          </a:p>
          <a:p>
            <a:pPr marL="285750" indent="-228600">
              <a:spcAft>
                <a:spcPts val="800"/>
              </a:spcAft>
              <a:buChar char="•"/>
            </a:pPr>
            <a:r>
              <a:rPr lang="en-CA" sz="3300" b="1" dirty="0">
                <a:latin typeface="Aptos"/>
              </a:rPr>
              <a:t>Further observations: </a:t>
            </a:r>
            <a:r>
              <a:rPr lang="en-CA" sz="3300" b="0" dirty="0">
                <a:latin typeface="Aptos"/>
              </a:rPr>
              <a:t>Independent mass measurements could change which objects require averages above 1. Counts from different surveys cannot establish how common these black holes are.</a:t>
            </a:r>
          </a:p>
        </p:txBody>
      </p:sp>
      <p:sp>
        <p:nvSpPr>
          <p:cNvPr id="80" name="Rectangle 79">
            <a:extLst>
              <a:ext uri="{FF2B5EF4-FFF2-40B4-BE49-F238E27FC236}">
                <a16:creationId xmlns:a16="http://schemas.microsoft.com/office/drawing/2014/main" id="{BBD5C8AB-335C-2E4D-00F6-4B0BF74BB013}"/>
              </a:ext>
            </a:extLst>
          </p:cNvPr>
          <p:cNvSpPr/>
          <p:nvPr/>
        </p:nvSpPr>
        <p:spPr>
          <a:xfrm>
            <a:off x="29260800" y="21593002"/>
            <a:ext cx="13716000" cy="10639598"/>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itle 18">
            <a:extLst>
              <a:ext uri="{FF2B5EF4-FFF2-40B4-BE49-F238E27FC236}">
                <a16:creationId xmlns:a16="http://schemas.microsoft.com/office/drawing/2014/main" id="{8E773A53-2851-D565-B46F-D419BA57021E}"/>
              </a:ext>
            </a:extLst>
          </p:cNvPr>
          <p:cNvSpPr txBox="1">
            <a:spLocks/>
          </p:cNvSpPr>
          <p:nvPr/>
        </p:nvSpPr>
        <p:spPr>
          <a:xfrm>
            <a:off x="914400" y="26883360"/>
            <a:ext cx="134874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References</a:t>
            </a:r>
          </a:p>
        </p:txBody>
      </p:sp>
      <p:sp>
        <p:nvSpPr>
          <p:cNvPr id="82" name="TextBox 81">
            <a:extLst>
              <a:ext uri="{FF2B5EF4-FFF2-40B4-BE49-F238E27FC236}">
                <a16:creationId xmlns:a16="http://schemas.microsoft.com/office/drawing/2014/main" id="{82B57F9D-B4AF-1E4D-7FBC-B8680CB4CAB8}"/>
              </a:ext>
            </a:extLst>
          </p:cNvPr>
          <p:cNvSpPr txBox="1"/>
          <p:nvPr/>
        </p:nvSpPr>
        <p:spPr>
          <a:xfrm>
            <a:off x="1371600" y="28163520"/>
            <a:ext cx="12573000" cy="3703320"/>
          </a:xfrm>
          <a:prstGeom prst="rect">
            <a:avLst/>
          </a:prstGeom>
          <a:noFill/>
        </p:spPr>
        <p:txBody>
          <a:bodyPr wrap="square" rtlCol="0">
            <a:spAutoFit/>
          </a:bodyPr>
          <a:lstStyle/>
          <a:p>
            <a:pPr>
              <a:spcBef>
                <a:spcPts val="600"/>
              </a:spcBef>
            </a:pPr>
            <a:r>
              <a:rPr lang="en-CA" sz="3300" dirty="0"/>
              <a:t>[1] Shen (2013), BASI, 41, 61.</a:t>
            </a:r>
            <a:endParaRPr lang="en-US" sz="3300" dirty="0"/>
          </a:p>
          <a:p>
            <a:r>
              <a:rPr lang="en-CA" sz="3300" dirty="0"/>
              <a:t>[2] </a:t>
            </a:r>
            <a:r>
              <a:rPr lang="en-CA" sz="3300" dirty="0" err="1"/>
              <a:t>Maiolino</a:t>
            </a:r>
            <a:r>
              <a:rPr lang="en-CA" sz="3300" dirty="0"/>
              <a:t> et al. (2024), Nature, 627, 59.</a:t>
            </a:r>
          </a:p>
          <a:p>
            <a:r>
              <a:rPr lang="en-CA" sz="3300" dirty="0"/>
              <a:t>[3] Dayal (2024), A&amp;A, 690, A182.</a:t>
            </a:r>
            <a:endParaRPr lang="en-US" sz="3300" dirty="0"/>
          </a:p>
          <a:p>
            <a:pPr>
              <a:spcBef>
                <a:spcPts val="600"/>
              </a:spcBef>
            </a:pPr>
            <a:r>
              <a:rPr lang="en-CA" sz="3300" dirty="0"/>
              <a:t>[4] Bardeen et al. (1972), </a:t>
            </a:r>
            <a:r>
              <a:rPr lang="en-CA" sz="3300" dirty="0" err="1"/>
              <a:t>ApJ</a:t>
            </a:r>
            <a:r>
              <a:rPr lang="en-CA" sz="3300" dirty="0"/>
              <a:t>, 178, 347.</a:t>
            </a:r>
            <a:endParaRPr lang="en-US" sz="3300" dirty="0"/>
          </a:p>
          <a:p>
            <a:pPr>
              <a:spcAft>
                <a:spcPts val="800"/>
              </a:spcAft>
              <a:buNone/>
            </a:pPr>
            <a:r>
              <a:rPr lang="en-CA" sz="3300" b="0" dirty="0">
                <a:latin typeface="Aptos"/>
              </a:rPr>
              <a:t>[5] </a:t>
            </a:r>
            <a:r>
              <a:rPr lang="en-CA" sz="3300" b="0" dirty="0" err="1">
                <a:latin typeface="Aptos"/>
              </a:rPr>
              <a:t>Juodzbalis</a:t>
            </a:r>
            <a:r>
              <a:rPr lang="en-CA" sz="3300" b="0" dirty="0">
                <a:latin typeface="Aptos"/>
              </a:rPr>
              <a:t> et al. (2025), arXiv:2508.21748.</a:t>
            </a:r>
          </a:p>
          <a:p>
            <a:pPr>
              <a:spcBef>
                <a:spcPts val="600"/>
              </a:spcBef>
            </a:pPr>
            <a:r>
              <a:rPr lang="en-CA" sz="3300" dirty="0"/>
              <a:t>Catalogue sources and code: QR link above.</a:t>
            </a:r>
            <a:endParaRPr lang="en-US" sz="3300" dirty="0"/>
          </a:p>
        </p:txBody>
      </p:sp>
      <p:sp>
        <p:nvSpPr>
          <p:cNvPr id="83" name="Rectangle 82">
            <a:extLst>
              <a:ext uri="{FF2B5EF4-FFF2-40B4-BE49-F238E27FC236}">
                <a16:creationId xmlns:a16="http://schemas.microsoft.com/office/drawing/2014/main" id="{7156AF1B-4C0F-9637-8495-BA5941742B85}"/>
              </a:ext>
            </a:extLst>
          </p:cNvPr>
          <p:cNvSpPr/>
          <p:nvPr/>
        </p:nvSpPr>
        <p:spPr>
          <a:xfrm>
            <a:off x="914400" y="26883360"/>
            <a:ext cx="13487400" cy="534924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4337658-2539-7C1B-497A-E1769149148E}"/>
              </a:ext>
            </a:extLst>
          </p:cNvPr>
          <p:cNvPicPr>
            <a:picLocks noChangeAspect="1"/>
          </p:cNvPicPr>
          <p:nvPr/>
        </p:nvPicPr>
        <p:blipFill>
          <a:blip r:embed="rId8"/>
          <a:stretch>
            <a:fillRect/>
          </a:stretch>
        </p:blipFill>
        <p:spPr>
          <a:xfrm>
            <a:off x="15087600" y="12847320"/>
            <a:ext cx="13533120" cy="6949440"/>
          </a:xfrm>
          <a:prstGeom prst="rect">
            <a:avLst/>
          </a:prstGeom>
        </p:spPr>
      </p:pic>
      <p:pic>
        <p:nvPicPr>
          <p:cNvPr id="5" name="Picture 4" descr="File:JWST spacecraft model 1.png - Wikimedia Commons">
            <a:extLst>
              <a:ext uri="{FF2B5EF4-FFF2-40B4-BE49-F238E27FC236}">
                <a16:creationId xmlns:a16="http://schemas.microsoft.com/office/drawing/2014/main" id="{0BD845B3-DC16-6DC6-BFC8-2D65D247678D}"/>
              </a:ext>
            </a:extLst>
          </p:cNvPr>
          <p:cNvPicPr>
            <a:picLocks noChangeAspect="1"/>
          </p:cNvPicPr>
          <p:nvPr/>
        </p:nvPicPr>
        <p:blipFill>
          <a:blip r:embed="rId9"/>
          <a:stretch>
            <a:fillRect/>
          </a:stretch>
        </p:blipFill>
        <p:spPr>
          <a:xfrm>
            <a:off x="29947430" y="1600199"/>
            <a:ext cx="4379909" cy="3283151"/>
          </a:xfrm>
          <a:prstGeom prst="rect">
            <a:avLst/>
          </a:prstGeom>
        </p:spPr>
      </p:pic>
      <p:pic>
        <p:nvPicPr>
          <p:cNvPr id="6" name="Picture 5" descr="Eyes open clipart clipground #31495 - Free Transparent PNG Logos">
            <a:extLst>
              <a:ext uri="{FF2B5EF4-FFF2-40B4-BE49-F238E27FC236}">
                <a16:creationId xmlns:a16="http://schemas.microsoft.com/office/drawing/2014/main" id="{9D3E6E2E-04C2-513B-0EE5-8C40F5B8F46A}"/>
              </a:ext>
            </a:extLst>
          </p:cNvPr>
          <p:cNvPicPr>
            <a:picLocks noChangeAspect="1"/>
          </p:cNvPicPr>
          <p:nvPr/>
        </p:nvPicPr>
        <p:blipFill>
          <a:blip r:embed="rId10"/>
          <a:stretch>
            <a:fillRect/>
          </a:stretch>
        </p:blipFill>
        <p:spPr>
          <a:xfrm rot="20443004">
            <a:off x="30817782" y="2180575"/>
            <a:ext cx="1415509" cy="681368"/>
          </a:xfrm>
          <a:prstGeom prst="rect">
            <a:avLst/>
          </a:prstGeom>
        </p:spPr>
      </p:pic>
      <p:pic>
        <p:nvPicPr>
          <p:cNvPr id="10" name="Picture 9" descr="Nebula overlay color 26548388 PNG">
            <a:extLst>
              <a:ext uri="{FF2B5EF4-FFF2-40B4-BE49-F238E27FC236}">
                <a16:creationId xmlns:a16="http://schemas.microsoft.com/office/drawing/2014/main" id="{FB4EBB94-758E-75A7-659C-BF66DBB0AEF6}"/>
              </a:ext>
            </a:extLst>
          </p:cNvPr>
          <p:cNvPicPr>
            <a:picLocks noChangeAspect="1"/>
          </p:cNvPicPr>
          <p:nvPr/>
        </p:nvPicPr>
        <p:blipFill>
          <a:blip r:embed="rId11"/>
          <a:stretch>
            <a:fillRect/>
          </a:stretch>
        </p:blipFill>
        <p:spPr>
          <a:xfrm rot="2098715">
            <a:off x="32496336" y="-185399"/>
            <a:ext cx="8190834" cy="4608990"/>
          </a:xfrm>
          <a:prstGeom prst="rect">
            <a:avLst/>
          </a:prstGeom>
        </p:spPr>
      </p:pic>
      <p:sp>
        <p:nvSpPr>
          <p:cNvPr id="76" name="TextBox 75">
            <a:extLst>
              <a:ext uri="{FF2B5EF4-FFF2-40B4-BE49-F238E27FC236}">
                <a16:creationId xmlns:a16="http://schemas.microsoft.com/office/drawing/2014/main" id="{8F4057E1-F618-63B3-DF3A-8B3B4948305D}"/>
              </a:ext>
            </a:extLst>
          </p:cNvPr>
          <p:cNvSpPr txBox="1"/>
          <p:nvPr/>
        </p:nvSpPr>
        <p:spPr>
          <a:xfrm>
            <a:off x="29718000" y="6400800"/>
            <a:ext cx="12801600" cy="2011680"/>
          </a:xfrm>
          <a:prstGeom prst="rect">
            <a:avLst/>
          </a:prstGeom>
          <a:noFill/>
        </p:spPr>
        <p:txBody>
          <a:bodyPr wrap="square" lIns="91440" tIns="45720" rIns="91440" bIns="45720" rtlCol="0" anchor="t">
            <a:spAutoFit/>
          </a:bodyPr>
          <a:lstStyle/>
          <a:p>
            <a:pPr marL="457200" indent="-457200">
              <a:spcAft>
                <a:spcPts val="400"/>
              </a:spcAft>
              <a:buFont typeface="Arial" panose="020B0604020202020204" pitchFamily="34" charset="0"/>
              <a:buChar char="•"/>
            </a:pPr>
            <a:r>
              <a:rPr lang="en-CA" sz="3300" b="1" dirty="0">
                <a:latin typeface="Aptos"/>
              </a:rPr>
              <a:t>Earlier-onset test: </a:t>
            </a:r>
            <a:r>
              <a:rPr lang="en-CA" sz="3300" b="0" dirty="0">
                <a:latin typeface="Aptos"/>
              </a:rPr>
              <a:t>Even starting at z = 3,400 requires 270–1,200 M⊙ seeds for the 4 plotted objects (ε = 0.1, average ratio ≤ 1, no mergers).</a:t>
            </a:r>
          </a:p>
        </p:txBody>
      </p:sp>
      <p:sp>
        <p:nvSpPr>
          <p:cNvPr id="2" name="TextBox 1">
            <a:extLst>
              <a:ext uri="{FF2B5EF4-FFF2-40B4-BE49-F238E27FC236}">
                <a16:creationId xmlns:a16="http://schemas.microsoft.com/office/drawing/2014/main" id="{6F669F8B-BE33-0C82-515C-AF8D3B759FB3}"/>
              </a:ext>
            </a:extLst>
          </p:cNvPr>
          <p:cNvSpPr txBox="1"/>
          <p:nvPr/>
        </p:nvSpPr>
        <p:spPr>
          <a:xfrm>
            <a:off x="15270480" y="6400800"/>
            <a:ext cx="13395960" cy="54864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28600">
              <a:buChar char="•"/>
            </a:pPr>
            <a:r>
              <a:rPr lang="en-CA" sz="3300" b="1">
                <a:latin typeface="Aptos"/>
              </a:rPr>
              <a:t>Reference: </a:t>
            </a:r>
            <a:r>
              <a:rPr lang="en-CA" sz="3300" b="0">
                <a:latin typeface="Aptos"/>
              </a:rPr>
              <a:t>8/220 primary objects require average Eddington ratios above 1, including 5 in ≥ 95% of mass-error draws.</a:t>
            </a:r>
          </a:p>
          <a:p>
            <a:pPr marL="285750" indent="-228600">
              <a:buChar char="•"/>
            </a:pPr>
            <a:r>
              <a:rPr lang="en-CA" sz="3300" b="1">
                <a:latin typeface="Aptos"/>
              </a:rPr>
              <a:t>Mass sensitivity: </a:t>
            </a:r>
            <a:r>
              <a:rPr lang="en-CA" sz="3300" b="0">
                <a:latin typeface="Aptos"/>
              </a:rPr>
              <a:t>Lowering masses by a factor of 3.2 leaves 3 objects above 1 in ≥ 95% of draws.</a:t>
            </a:r>
          </a:p>
          <a:p>
            <a:pPr marL="285750" indent="-228600">
              <a:buChar char="•"/>
            </a:pPr>
            <a:r>
              <a:rPr lang="en-CA" sz="3300" b="1">
                <a:latin typeface="Aptos"/>
              </a:rPr>
              <a:t>Seed mass: </a:t>
            </a:r>
            <a:r>
              <a:rPr lang="en-CA" sz="3300" b="0">
                <a:latin typeface="Aptos"/>
              </a:rPr>
              <a:t>1,000 M⊙ seeds leave 3/220 above 1. With 100,000 M⊙ seeds, neither sample has objects above 1.</a:t>
            </a:r>
          </a:p>
          <a:p>
            <a:pPr marL="285750" indent="-228600">
              <a:buChar char="•"/>
            </a:pPr>
            <a:r>
              <a:rPr lang="en-CA" sz="3300" b="1">
                <a:latin typeface="Aptos"/>
              </a:rPr>
              <a:t>Growth start time: </a:t>
            </a:r>
            <a:r>
              <a:rPr lang="en-CA" sz="3300" b="0">
                <a:latin typeface="Aptos"/>
              </a:rPr>
              <a:t>Starting at z = 20 raises the primary count above 1 to 18/220. GN-z11 requires the highest average in the expanded sample.</a:t>
            </a:r>
          </a:p>
          <a:p>
            <a:pPr marL="285750" indent="-228600">
              <a:buChar char="•"/>
            </a:pPr>
            <a:r>
              <a:rPr lang="en-CA" sz="3300" b="1">
                <a:latin typeface="Aptos"/>
              </a:rPr>
              <a:t>Efficiency: </a:t>
            </a:r>
            <a:r>
              <a:rPr lang="en-CA" sz="3300" b="0">
                <a:latin typeface="Aptos"/>
              </a:rPr>
              <a:t>At ε = 0.05719 [4], all 234 central mass estimates require averages below 1 under the other reference assumptions.</a:t>
            </a:r>
          </a:p>
        </p:txBody>
      </p:sp>
      <p:sp>
        <p:nvSpPr>
          <p:cNvPr id="7" name="Title 18">
            <a:extLst>
              <a:ext uri="{FF2B5EF4-FFF2-40B4-BE49-F238E27FC236}">
                <a16:creationId xmlns:a16="http://schemas.microsoft.com/office/drawing/2014/main" id="{3AC78928-AF13-E1B9-F802-F1FD39D07D33}"/>
              </a:ext>
            </a:extLst>
          </p:cNvPr>
          <p:cNvSpPr txBox="1">
            <a:spLocks/>
          </p:cNvSpPr>
          <p:nvPr/>
        </p:nvSpPr>
        <p:spPr>
          <a:xfrm>
            <a:off x="14950440" y="5120640"/>
            <a:ext cx="2802636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Results</a:t>
            </a:r>
            <a:endParaRPr lang="en-US"/>
          </a:p>
        </p:txBody>
      </p:sp>
      <p:sp>
        <p:nvSpPr>
          <p:cNvPr id="11" name="Rectangle 10">
            <a:extLst>
              <a:ext uri="{FF2B5EF4-FFF2-40B4-BE49-F238E27FC236}">
                <a16:creationId xmlns:a16="http://schemas.microsoft.com/office/drawing/2014/main" id="{AF7EDC07-606F-DD66-5973-0AE0D673B23B}"/>
              </a:ext>
            </a:extLst>
          </p:cNvPr>
          <p:cNvSpPr/>
          <p:nvPr/>
        </p:nvSpPr>
        <p:spPr>
          <a:xfrm>
            <a:off x="14950440" y="5120640"/>
            <a:ext cx="28026360" cy="1595628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igure takeaway 110"/>
          <p:cNvSpPr txBox="1"/>
          <p:nvPr/>
        </p:nvSpPr>
        <p:spPr>
          <a:xfrm>
            <a:off x="15407640" y="19842480"/>
            <a:ext cx="12801600" cy="914400"/>
          </a:xfrm>
          <a:prstGeom prst="rect">
            <a:avLst/>
          </a:prstGeom>
          <a:noFill/>
        </p:spPr>
        <p:txBody>
          <a:bodyPr wrap="square" lIns="91440" tIns="45720" rIns="91440" bIns="45720" rtlCol="0" anchor="t">
            <a:spAutoFit/>
          </a:bodyPr>
          <a:lstStyle/>
          <a:p>
            <a:pPr>
              <a:spcAft>
                <a:spcPts val="800"/>
              </a:spcAft>
              <a:buNone/>
            </a:pPr>
            <a:r>
              <a:rPr lang="en-CA" sz="2400" b="0">
                <a:latin typeface="Aptos"/>
              </a:rPr>
              <a:t>Orange points show the same objects after lowering masses by a factor of 3.2.</a:t>
            </a:r>
          </a:p>
        </p:txBody>
      </p:sp>
      <p:sp>
        <p:nvSpPr>
          <p:cNvPr id="111" name="Figure takeaway 111"/>
          <p:cNvSpPr txBox="1"/>
          <p:nvPr/>
        </p:nvSpPr>
        <p:spPr>
          <a:xfrm>
            <a:off x="15224760" y="31455360"/>
            <a:ext cx="13121640" cy="777240"/>
          </a:xfrm>
          <a:prstGeom prst="rect">
            <a:avLst/>
          </a:prstGeom>
          <a:noFill/>
        </p:spPr>
        <p:txBody>
          <a:bodyPr wrap="square" lIns="91440" tIns="45720" rIns="91440" bIns="45720" rtlCol="0" anchor="t">
            <a:spAutoFit/>
          </a:bodyPr>
          <a:lstStyle/>
          <a:p>
            <a:pPr>
              <a:spcAft>
                <a:spcPts val="800"/>
              </a:spcAft>
              <a:buNone/>
            </a:pPr>
            <a:r>
              <a:rPr lang="en-CA" sz="2400" b="0" dirty="0">
                <a:latin typeface="Aptos"/>
              </a:rPr>
              <a:t>Only efficiency changes between panels. Points below a curve can be reached with a lower average Eddington ratio.</a:t>
            </a:r>
          </a:p>
        </p:txBody>
      </p:sp>
      <p:sp>
        <p:nvSpPr>
          <p:cNvPr id="112" name="Figure takeaway 112"/>
          <p:cNvSpPr txBox="1"/>
          <p:nvPr/>
        </p:nvSpPr>
        <p:spPr>
          <a:xfrm>
            <a:off x="29718000" y="17830800"/>
            <a:ext cx="12801600" cy="548640"/>
          </a:xfrm>
          <a:prstGeom prst="rect">
            <a:avLst/>
          </a:prstGeom>
          <a:noFill/>
        </p:spPr>
        <p:txBody>
          <a:bodyPr wrap="square" lIns="91440" tIns="45720" rIns="91440" bIns="45720" rtlCol="0" anchor="t">
            <a:spAutoFit/>
          </a:bodyPr>
          <a:lstStyle/>
          <a:p>
            <a:pPr>
              <a:buNone/>
            </a:pPr>
            <a:r>
              <a:rPr lang="en-CA" sz="2400" b="0" dirty="0">
                <a:latin typeface="Aptos"/>
              </a:rPr>
              <a:t>Earlier starts lower the required seed mass, but the decrease becomes smaller.</a:t>
            </a:r>
          </a:p>
        </p:txBody>
      </p:sp>
      <p:sp>
        <p:nvSpPr>
          <p:cNvPr id="15" name="TextBox 14">
            <a:extLst>
              <a:ext uri="{FF2B5EF4-FFF2-40B4-BE49-F238E27FC236}">
                <a16:creationId xmlns:a16="http://schemas.microsoft.com/office/drawing/2014/main" id="{B71483CE-2A7E-6438-7E3B-E605C17C7099}"/>
              </a:ext>
            </a:extLst>
          </p:cNvPr>
          <p:cNvSpPr txBox="1"/>
          <p:nvPr/>
        </p:nvSpPr>
        <p:spPr>
          <a:xfrm>
            <a:off x="29718000" y="18425160"/>
            <a:ext cx="12801600" cy="2514600"/>
          </a:xfrm>
          <a:prstGeom prst="rect">
            <a:avLst/>
          </a:prstGeom>
          <a:noFill/>
        </p:spPr>
        <p:txBody>
          <a:bodyPr wrap="square">
            <a:spAutoFit/>
          </a:bodyPr>
          <a:lstStyle/>
          <a:p>
            <a:pPr marL="457200" indent="-457200">
              <a:spcAft>
                <a:spcPts val="400"/>
              </a:spcAft>
              <a:buFont typeface="Arial" panose="020B0604020202020204" pitchFamily="34" charset="0"/>
              <a:buChar char="•"/>
            </a:pPr>
            <a:r>
              <a:rPr lang="en-CA" sz="3300" b="1" dirty="0">
                <a:latin typeface="Aptos"/>
              </a:rPr>
              <a:t>Independent mass check: </a:t>
            </a:r>
            <a:r>
              <a:rPr lang="en-CA" sz="3300" b="0" dirty="0">
                <a:latin typeface="Aptos"/>
              </a:rPr>
              <a:t>A2744-QSO1’s broad-line mass (2.0 × 10</a:t>
            </a:r>
            <a:r>
              <a:rPr lang="en-CA" sz="2200" b="0" dirty="0" baseline="30000">
                <a:latin typeface="Aptos"/>
              </a:rPr>
              <a:t>7</a:t>
            </a:r>
            <a:r>
              <a:rPr lang="en-CA" sz="3300" b="0" dirty="0">
                <a:latin typeface="Aptos"/>
              </a:rPr>
              <a:t> M⊙) requires an average of 0.929 under the reference model. Its dynamical mass (5.0 × 10</a:t>
            </a:r>
            <a:r>
              <a:rPr lang="en-CA" sz="2200" b="0" dirty="0" baseline="30000">
                <a:latin typeface="Aptos"/>
              </a:rPr>
              <a:t>7</a:t>
            </a:r>
            <a:r>
              <a:rPr lang="en-CA" sz="3300" b="0" dirty="0">
                <a:latin typeface="Aptos"/>
              </a:rPr>
              <a:t> M⊙) requires 0.9996 [5]. Its required average spans 0.947–1.052 (16th–84th percentiles), including 1.</a:t>
            </a:r>
          </a:p>
        </p:txBody>
      </p:sp>
      <p:sp>
        <p:nvSpPr>
          <p:cNvPr id="120" name="Efficiency comparison heading">
            <a:extLst>
              <a:ext uri="{FF2B5EF4-FFF2-40B4-BE49-F238E27FC236}">
                <a16:creationId xmlns:a16="http://schemas.microsoft.com/office/drawing/2014/main" id="{3A05E1FE-512D-49F3-9C39-22D275F0EE18}"/>
              </a:ext>
            </a:extLst>
          </p:cNvPr>
          <p:cNvSpPr>
            <a:spLocks noGrp="1"/>
          </p:cNvSpPr>
          <p:nvPr/>
        </p:nvSpPr>
        <p:spPr>
          <a:xfrm>
            <a:off x="15224760" y="21593002"/>
            <a:ext cx="13121640" cy="640080"/>
          </a:xfrm>
          <a:prstGeom prst="rect">
            <a:avLst/>
          </a:prstGeom>
          <a:noFill/>
        </p:spPr>
        <p:txBody>
          <a:bodyPr wrap="square" lIns="91440" tIns="45720" rIns="91440" bIns="45720" anchor="t">
            <a:spAutoFit/>
          </a:bodyPr>
          <a:lstStyle>
            <a:defPPr>
              <a:defRPr b="1">
                <a:solidFill>
                  <a:srgbClr val="002A5C"/>
                </a:solidFill>
              </a:defRPr>
            </a:defPPr>
          </a:lstStyle>
          <a:p>
            <a:pPr>
              <a:spcAft>
                <a:spcPts val="800"/>
              </a:spcAft>
              <a:buNone/>
              <a:defRPr b="1">
                <a:solidFill>
                  <a:srgbClr val="002A5C"/>
                </a:solidFill>
              </a:defRPr>
            </a:pPr>
            <a:r>
              <a:rPr lang="en-CA" sz="3600" b="1" dirty="0">
                <a:solidFill>
                  <a:srgbClr val="002A5C"/>
                </a:solidFill>
                <a:latin typeface="Aptos"/>
              </a:rPr>
              <a:t>Growth at two radiative efficiencies</a:t>
            </a:r>
          </a:p>
        </p:txBody>
      </p:sp>
    </p:spTree>
    <p:extLst>
      <p:ext uri="{BB962C8B-B14F-4D97-AF65-F5344CB8AC3E}">
        <p14:creationId xmlns:p14="http://schemas.microsoft.com/office/powerpoint/2010/main" val="86848717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179</TotalTime>
  <Words>1872</Words>
  <Application>Microsoft Macintosh PowerPoint</Application>
  <PresentationFormat>Custom</PresentationFormat>
  <Paragraphs>77</Paragraphs>
  <Slides>2</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Aptos</vt:lpstr>
      <vt:lpstr>Aptos Display</vt:lpstr>
      <vt:lpstr>Arial</vt:lpstr>
      <vt:lpstr>Cambria Math</vt:lpstr>
      <vt:lpstr>Office Theme</vt:lpstr>
      <vt:lpstr> Early Black-Hole Growth Constraints from JWST Nicole Jiang; University of Toronto </vt:lpstr>
      <vt:lpstr> Early Black-Hole Growth Constraints from JWST Nicole Jiang; University of Toronto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Nicole Jiang</dc:creator>
  <cp:lastModifiedBy>Nicole Jiang</cp:lastModifiedBy>
  <cp:revision>1</cp:revision>
  <dcterms:created xsi:type="dcterms:W3CDTF">2026-09-30T19:05:59Z</dcterms:created>
  <dcterms:modified xsi:type="dcterms:W3CDTF">2026-10-14T17:32:39Z</dcterms:modified>
</cp:coreProperties>
</file>
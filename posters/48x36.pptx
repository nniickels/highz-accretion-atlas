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2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15"/>
    <p:restoredTop sz="94701"/>
  </p:normalViewPr>
  <p:slideViewPr>
    <p:cSldViewPr snapToGrid="0">
      <p:cViewPr>
        <p:scale>
          <a:sx n="25" d="100"/>
          <a:sy n="25" d="100"/>
        </p:scale>
        <p:origin x="688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473874E-BB57-4884-5C66-EE1C81F1FB1F}"/>
    <pc:docChg chg="modSld">
      <pc:chgData name="Guest User" userId="" providerId="Windows Live" clId="Web-{6473874E-BB57-4884-5C66-EE1C81F1FB1F}" dt="2026-10-06T18:07:50.156" v="49" actId="14100"/>
      <pc:docMkLst>
        <pc:docMk/>
      </pc:docMkLst>
    </pc:docChg>
  </pc:docChgLst>
  <pc:docChgLst>
    <pc:chgData name="Nicole Jiang" userId="09ef0fc0f6f473b5" providerId="LiveId" clId="{EB8F4A53-0964-5BF1-90AD-931457E28E1A}"/>
    <pc:docChg chg="undo redo custSel addSld delSld modSld">
      <pc:chgData name="Nicole Jiang" userId="09ef0fc0f6f473b5" providerId="LiveId" clId="{EB8F4A53-0964-5BF1-90AD-931457E28E1A}" dt="2026-10-14T17:32:29.141" v="2461" actId="1076"/>
      <pc:docMkLst>
        <pc:docMk/>
      </pc:docMkLst>
      <pc:sldChg chg="addSp delSp modSp add del mod">
        <pc:chgData name="Nicole Jiang" userId="09ef0fc0f6f473b5" providerId="LiveId" clId="{EB8F4A53-0964-5BF1-90AD-931457E28E1A}" dt="2026-10-13T20:04:12.431" v="2363" actId="2696"/>
        <pc:sldMkLst>
          <pc:docMk/>
          <pc:sldMk cId="868487171" sldId="259"/>
        </pc:sldMkLst>
      </pc:sldChg>
      <pc:sldChg chg="modSp mod">
        <pc:chgData name="Nicole Jiang" userId="09ef0fc0f6f473b5" providerId="LiveId" clId="{EB8F4A53-0964-5BF1-90AD-931457E28E1A}" dt="2026-10-14T03:47:30.465" v="2450" actId="1076"/>
        <pc:sldMkLst>
          <pc:docMk/>
          <pc:sldMk cId="868487171" sldId="260"/>
        </pc:sldMkLst>
        <pc:spChg chg="mod">
          <ac:chgData name="Nicole Jiang" userId="09ef0fc0f6f473b5" providerId="LiveId" clId="{EB8F4A53-0964-5BF1-90AD-931457E28E1A}" dt="2026-10-13T21:08:14.362" v="2384" actId="255"/>
          <ac:spMkLst>
            <pc:docMk/>
            <pc:sldMk cId="868487171" sldId="260"/>
            <ac:spMk id="2" creationId="{6F669F8B-BE33-0C82-515C-AF8D3B759FB3}"/>
          </ac:spMkLst>
        </pc:spChg>
        <pc:spChg chg="mod">
          <ac:chgData name="Nicole Jiang" userId="09ef0fc0f6f473b5" providerId="LiveId" clId="{EB8F4A53-0964-5BF1-90AD-931457E28E1A}" dt="2026-10-13T21:08:49.323" v="2392" actId="1076"/>
          <ac:spMkLst>
            <pc:docMk/>
            <pc:sldMk cId="868487171" sldId="260"/>
            <ac:spMk id="15" creationId="{B71483CE-2A7E-6438-7E3B-E605C17C7099}"/>
          </ac:spMkLst>
        </pc:spChg>
        <pc:spChg chg="mod">
          <ac:chgData name="Nicole Jiang" userId="09ef0fc0f6f473b5" providerId="LiveId" clId="{EB8F4A53-0964-5BF1-90AD-931457E28E1A}" dt="2026-10-14T03:47:11.525" v="2445" actId="1076"/>
          <ac:spMkLst>
            <pc:docMk/>
            <pc:sldMk cId="868487171" sldId="260"/>
            <ac:spMk id="32" creationId="{F8D50A2A-9B61-AD34-B9C2-8944BB27426C}"/>
          </ac:spMkLst>
        </pc:spChg>
        <pc:spChg chg="mod">
          <ac:chgData name="Nicole Jiang" userId="09ef0fc0f6f473b5" providerId="LiveId" clId="{EB8F4A53-0964-5BF1-90AD-931457E28E1A}" dt="2026-10-13T21:08:26.352" v="2387" actId="255"/>
          <ac:spMkLst>
            <pc:docMk/>
            <pc:sldMk cId="868487171" sldId="260"/>
            <ac:spMk id="70" creationId="{7842EAEC-0FF9-516A-6712-19E0D19D0354}"/>
          </ac:spMkLst>
        </pc:spChg>
        <pc:spChg chg="mod">
          <ac:chgData name="Nicole Jiang" userId="09ef0fc0f6f473b5" providerId="LiveId" clId="{EB8F4A53-0964-5BF1-90AD-931457E28E1A}" dt="2026-10-14T01:47:21.679" v="2444" actId="20577"/>
          <ac:spMkLst>
            <pc:docMk/>
            <pc:sldMk cId="868487171" sldId="260"/>
            <ac:spMk id="73" creationId="{88C51BF9-B81A-ECF4-F01D-305CA1CE9DD1}"/>
          </ac:spMkLst>
        </pc:spChg>
        <pc:spChg chg="mod">
          <ac:chgData name="Nicole Jiang" userId="09ef0fc0f6f473b5" providerId="LiveId" clId="{EB8F4A53-0964-5BF1-90AD-931457E28E1A}" dt="2026-10-13T21:08:17.671" v="2385" actId="255"/>
          <ac:spMkLst>
            <pc:docMk/>
            <pc:sldMk cId="868487171" sldId="260"/>
            <ac:spMk id="76" creationId="{8F4057E1-F618-63B3-DF3A-8B3B4948305D}"/>
          </ac:spMkLst>
        </pc:spChg>
        <pc:spChg chg="mod">
          <ac:chgData name="Nicole Jiang" userId="09ef0fc0f6f473b5" providerId="LiveId" clId="{EB8F4A53-0964-5BF1-90AD-931457E28E1A}" dt="2026-10-13T21:09:01.692" v="2393" actId="1076"/>
          <ac:spMkLst>
            <pc:docMk/>
            <pc:sldMk cId="868487171" sldId="260"/>
            <ac:spMk id="79" creationId="{3DD5B540-2EC8-A5A1-200C-994C1D7C8BFD}"/>
          </ac:spMkLst>
        </pc:spChg>
        <pc:spChg chg="mod">
          <ac:chgData name="Nicole Jiang" userId="09ef0fc0f6f473b5" providerId="LiveId" clId="{EB8F4A53-0964-5BF1-90AD-931457E28E1A}" dt="2026-10-13T21:08:38.029" v="2390" actId="1076"/>
          <ac:spMkLst>
            <pc:docMk/>
            <pc:sldMk cId="868487171" sldId="260"/>
            <ac:spMk id="82" creationId="{82B57F9D-B4AF-1E4D-7FBC-B8680CB4CAB8}"/>
          </ac:spMkLst>
        </pc:spChg>
        <pc:picChg chg="mod">
          <ac:chgData name="Nicole Jiang" userId="09ef0fc0f6f473b5" providerId="LiveId" clId="{EB8F4A53-0964-5BF1-90AD-931457E28E1A}" dt="2026-10-14T03:47:25.307" v="2448" actId="14100"/>
          <ac:picMkLst>
            <pc:docMk/>
            <pc:sldMk cId="868487171" sldId="260"/>
            <ac:picMk id="5" creationId="{0BD845B3-DC16-6DC6-BFC8-2D65D247678D}"/>
          </ac:picMkLst>
        </pc:picChg>
        <pc:picChg chg="mod">
          <ac:chgData name="Nicole Jiang" userId="09ef0fc0f6f473b5" providerId="LiveId" clId="{EB8F4A53-0964-5BF1-90AD-931457E28E1A}" dt="2026-10-14T03:47:30.465" v="2450" actId="1076"/>
          <ac:picMkLst>
            <pc:docMk/>
            <pc:sldMk cId="868487171" sldId="260"/>
            <ac:picMk id="6" creationId="{9D3E6E2E-04C2-513B-0EE5-8C40F5B8F46A}"/>
          </ac:picMkLst>
        </pc:picChg>
      </pc:sldChg>
      <pc:sldChg chg="modSp mod">
        <pc:chgData name="Nicole Jiang" userId="09ef0fc0f6f473b5" providerId="LiveId" clId="{EB8F4A53-0964-5BF1-90AD-931457E28E1A}" dt="2026-10-14T17:32:29.141" v="2461" actId="1076"/>
        <pc:sldMkLst>
          <pc:docMk/>
          <pc:sldMk cId="868487171" sldId="261"/>
        </pc:sldMkLst>
        <pc:spChg chg="mod">
          <ac:chgData name="Nicole Jiang" userId="09ef0fc0f6f473b5" providerId="LiveId" clId="{EB8F4A53-0964-5BF1-90AD-931457E28E1A}" dt="2026-10-14T17:31:52.763" v="2458" actId="1076"/>
          <ac:spMkLst>
            <pc:docMk/>
            <pc:sldMk cId="868487171" sldId="261"/>
            <ac:spMk id="78" creationId="{D50205E6-BF86-6F08-991C-43F597FDF8DD}"/>
          </ac:spMkLst>
        </pc:spChg>
        <pc:spChg chg="mod">
          <ac:chgData name="Nicole Jiang" userId="09ef0fc0f6f473b5" providerId="LiveId" clId="{EB8F4A53-0964-5BF1-90AD-931457E28E1A}" dt="2026-10-14T17:32:02.402" v="2460" actId="1076"/>
          <ac:spMkLst>
            <pc:docMk/>
            <pc:sldMk cId="868487171" sldId="261"/>
            <ac:spMk id="79" creationId="{3DD5B540-2EC8-A5A1-200C-994C1D7C8BFD}"/>
          </ac:spMkLst>
        </pc:spChg>
        <pc:spChg chg="mod">
          <ac:chgData name="Nicole Jiang" userId="09ef0fc0f6f473b5" providerId="LiveId" clId="{EB8F4A53-0964-5BF1-90AD-931457E28E1A}" dt="2026-10-14T17:31:29.998" v="2454" actId="14100"/>
          <ac:spMkLst>
            <pc:docMk/>
            <pc:sldMk cId="868487171" sldId="261"/>
            <ac:spMk id="80" creationId="{BBD5C8AB-335C-2E4D-00F6-4B0BF74BB013}"/>
          </ac:spMkLst>
        </pc:spChg>
        <pc:spChg chg="mod">
          <ac:chgData name="Nicole Jiang" userId="09ef0fc0f6f473b5" providerId="LiveId" clId="{EB8F4A53-0964-5BF1-90AD-931457E28E1A}" dt="2026-10-14T17:32:29.141" v="2461" actId="1076"/>
          <ac:spMkLst>
            <pc:docMk/>
            <pc:sldMk cId="868487171" sldId="261"/>
            <ac:spMk id="120" creationId="{3A05E1FE-512D-49F3-9C39-22D275F0EE18}"/>
          </ac:spMkLst>
        </pc:spChg>
      </pc:sldChg>
    </pc:docChg>
  </pc:docChgLst>
  <pc:docChgLst>
    <pc:chgData name="Nicole Jiang" userId="09ef0fc0f6f473b5" providerId="Windows Live" clId="Web-{00000000-0000-0000-0000-000000000000}"/>
    <pc:docChg chg="modSld">
      <pc:chgData name="Nicole Jiang" userId="09ef0fc0f6f473b5" providerId="Windows Live" clId="Web-{00000000-0000-0000-0000-000000000000}" dt="2026-10-06T17:56:42.980" v="36" actId="1076"/>
      <pc:docMkLst>
        <pc:docMk/>
      </pc:docMkLst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06T18:59:37.821" v="16" actId="1410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F461-2A77-BA43-9B12-25195C3EB23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DA246-DE01-5046-81A0-D7E93C874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5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800"/>
              </a:spcAft>
              <a:buNone/>
            </a:pPr>
            <a:r>
              <a:rPr lang="en-CA" sz="1200" b="0">
                <a:latin typeface="Aptos"/>
              </a:rPr>
              <a:t>Poster figure inputs: results/manuscript/tables/publication_object_selection.csv; mass_offset_object_sensitivity.csv; results/v3/tables/v3_object_point_ranking.csv and v3_object_uncertainty_ranking.csv; results/v4/tables/v4_minimum_seed_mass.csv. Controlled growth comparison uses src.models.predicted_log_mbh with mean ratio 1, z_seed=30, B_merge=1 and efficiencies 0.1 and 1-sqrt(8/9). Independent dynamical mass: https://arxiv.org/abs/2508.21748.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800"/>
              </a:spcAft>
              <a:buNone/>
            </a:pPr>
            <a:r>
              <a:rPr lang="en-CA" sz="1200" b="0">
                <a:latin typeface="Aptos"/>
              </a:rPr>
              <a:t>Poster figure inputs: results/manuscript/tables/publication_object_selection.csv; mass_offset_object_sensitivity.csv; results/v3/tables/v3_object_point_ranking.csv and v3_object_uncertainty_ranking.csv; results/v4/tables/v4_minimum_seed_mass.csv. Controlled growth comparison uses src.models.predicted_log_mbh with mean ratio 1, z_seed=30, B_merge=1 and efficiencies 0.1 and 1-sqrt(8/9). Independent dynamical mass: https://arxiv.org/abs/2508.21748.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96687" y="609600"/>
            <a:ext cx="42497830" cy="3352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 anchor="ctr" anchorCtr="1"/>
          <a:lstStyle>
            <a:lvl1pPr>
              <a:defRPr sz="6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Poster Presentation Title</a:t>
            </a:r>
            <a:br>
              <a:rPr lang="en-US"/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Abstract or Introduction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96687" y="5638800"/>
            <a:ext cx="13585370" cy="86868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96687" y="146304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Objectives</a:t>
            </a:r>
            <a:endParaRPr lang="en-US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96687" y="160020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96687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Methods</a:t>
            </a:r>
            <a:endParaRPr lang="en-US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96687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515291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Results</a:t>
            </a:r>
            <a:endParaRPr lang="en-US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9609145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9609145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Conclusion</a:t>
            </a:r>
            <a:endParaRPr lang="en-US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9609145" y="5638800"/>
            <a:ext cx="13585370" cy="176784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9609145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References</a:t>
            </a:r>
            <a:endParaRPr lang="en-US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2917" y="5638800"/>
            <a:ext cx="13585370" cy="266700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1219205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39711091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16197949" y="16154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16197949" y="24536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400" y="32416772"/>
            <a:ext cx="27432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landscape_current_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22174200"/>
            <a:ext cx="13258800" cy="9240982"/>
          </a:xfrm>
          <a:prstGeom prst="rect">
            <a:avLst/>
          </a:prstGeom>
        </p:spPr>
      </p:pic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2240" y="8595360"/>
            <a:ext cx="13533120" cy="9134856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891200" cy="438912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 lIns="9418320" tIns="91440" rIns="11887200">
            <a:normAutofit/>
          </a:bodyPr>
          <a:lstStyle/>
          <a:p>
            <a:pPr algn="ctr"/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8640"/>
            <a:ext cx="2834640" cy="2834640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02" t="38725" b="33824"/>
          <a:stretch>
            <a:fillRect/>
          </a:stretch>
        </p:blipFill>
        <p:spPr>
          <a:xfrm>
            <a:off x="3291840" y="1051560"/>
            <a:ext cx="6035040" cy="21770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67840" y="457200"/>
            <a:ext cx="3108960" cy="3108960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914400" y="512064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371600" y="6400800"/>
            <a:ext cx="12573000" cy="32461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3300" b="1">
                <a:latin typeface="Aptos"/>
              </a:rPr>
              <a:t>How did early black holes grow so big, so fast? </a:t>
            </a:r>
            <a:r>
              <a:rPr lang="en-CA" sz="3300" b="0">
                <a:latin typeface="Aptos"/>
              </a:rPr>
              <a:t>The James Webb Space Telescope (JWST) has revealed massive black holes with little time to grow. I compiled published mass estimates and calculated the average accretion needed to reach each mass under different seed masses (initial masses), start times, and radiative efficiencies.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914400" y="5120640"/>
            <a:ext cx="13487400" cy="466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914400" y="1028700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371600" y="11567160"/>
                <a:ext cx="12573000" cy="14356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Catalogue: </a:t>
                </a:r>
                <a:r>
                  <a:rPr lang="en-CA" sz="3300" b="0" dirty="0">
                    <a:latin typeface="Aptos"/>
                  </a:rPr>
                  <a:t>Compiled 350 measurements from 32 publication groups at z ≥ 4. Selected 1 mass per object and retained alternatives. Primary: 220 objects with broad Balmer-line masses [1]. Expanded: 234 objects,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Reference model: </a:t>
                </a:r>
                <a:r>
                  <a:rPr lang="en-CA" sz="3300" b="0" dirty="0">
                    <a:latin typeface="Aptos"/>
                  </a:rPr>
                  <a:t>Assumed 100 M⊙ seeds at z = 30, radiative efficiency </a:t>
                </a:r>
                <a:r>
                  <a:rPr lang="en-CA" sz="3300" b="0" dirty="0" err="1">
                    <a:latin typeface="Aptos"/>
                  </a:rPr>
                  <a:t>ε</a:t>
                </a:r>
                <a:r>
                  <a:rPr lang="en-CA" sz="3300" b="0" dirty="0">
                    <a:latin typeface="Aptos"/>
                  </a:rPr>
                  <a:t> = 0.1, no mergers (</a:t>
                </a:r>
                <a:r>
                  <a:rPr lang="en-CA" sz="3300" b="0" dirty="0" err="1">
                    <a:latin typeface="Aptos"/>
                  </a:rPr>
                  <a:t>B</a:t>
                </a:r>
                <a:r>
                  <a:rPr lang="en-CA" sz="3300" b="0" baseline="-25000" dirty="0" err="1">
                    <a:latin typeface="Aptos"/>
                  </a:rPr>
                  <a:t>merge</a:t>
                </a:r>
                <a:r>
                  <a:rPr lang="en-CA" sz="3300" b="0" dirty="0">
                    <a:latin typeface="Aptos"/>
                  </a:rPr>
                  <a:t> = 1), and </a:t>
                </a:r>
                <a:r>
                  <a:rPr lang="en-CA" sz="3300" b="0" dirty="0" err="1">
                    <a:latin typeface="Aptos"/>
                  </a:rPr>
                  <a:t>t</a:t>
                </a:r>
                <a:r>
                  <a:rPr lang="en-CA" sz="3300" b="0" baseline="-25000" dirty="0" err="1">
                    <a:latin typeface="Aptos"/>
                  </a:rPr>
                  <a:t>Edd</a:t>
                </a:r>
                <a:r>
                  <a:rPr lang="en-CA" sz="3300" b="0" dirty="0">
                    <a:latin typeface="Aptos"/>
                  </a:rPr>
                  <a:t> ≈ 0.45 Gyr [3].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Model tests: </a:t>
                </a:r>
                <a:r>
                  <a:rPr lang="en-CA" sz="3300" b="0" dirty="0">
                    <a:latin typeface="Aptos"/>
                  </a:rPr>
                  <a:t>Calculated and ranked required lifetime-average Eddington ratios. Compared them with assumed maximum averages: 1 (reference) and 0.3, 1, or 2 (earlier onset).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3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3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300" i="0">
                              <a:latin typeface="Cambria Math"/>
                            </a:rPr>
                            <m:t>Edd</m:t>
                          </m:r>
                          <m:r>
                            <a:rPr lang="en-US" sz="33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3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3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3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3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3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3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3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3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3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3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3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3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3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3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3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3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3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3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3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3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3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3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3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3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3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3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3300" b="1" dirty="0">
                  <a:latin typeface="Aptos"/>
                </a:endParaRP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Symbols: </a:t>
                </a:r>
                <a:r>
                  <a:rPr lang="en-CA" sz="3300" b="0" dirty="0">
                    <a:latin typeface="Aptos"/>
                  </a:rPr>
                  <a:t>M⊙: solar mass. M</a:t>
                </a:r>
                <a:r>
                  <a:rPr lang="en-CA" sz="2200" b="0" baseline="-25000" dirty="0">
                    <a:latin typeface="Aptos"/>
                  </a:rPr>
                  <a:t>BH</a:t>
                </a:r>
                <a:r>
                  <a:rPr lang="en-CA" sz="3300" b="0" dirty="0">
                    <a:latin typeface="Aptos"/>
                  </a:rPr>
                  <a:t>: observed mass. </a:t>
                </a:r>
                <a:r>
                  <a:rPr lang="en-CA" sz="3300" b="0" dirty="0" err="1">
                    <a:latin typeface="Aptos"/>
                  </a:rPr>
                  <a:t>M</a:t>
                </a:r>
                <a:r>
                  <a:rPr lang="en-CA" sz="2200" b="0" baseline="-25000" dirty="0" err="1">
                    <a:latin typeface="Aptos"/>
                  </a:rPr>
                  <a:t>seed</a:t>
                </a:r>
                <a:r>
                  <a:rPr lang="en-CA" sz="3300" b="0" dirty="0">
                    <a:latin typeface="Aptos"/>
                  </a:rPr>
                  <a:t>: initial mass. </a:t>
                </a:r>
                <a:r>
                  <a:rPr lang="en-CA" sz="3300" b="0" dirty="0" err="1">
                    <a:latin typeface="Aptos"/>
                  </a:rPr>
                  <a:t>Δt</a:t>
                </a:r>
                <a:r>
                  <a:rPr lang="en-CA" sz="3300" b="0" dirty="0">
                    <a:latin typeface="Aptos"/>
                  </a:rPr>
                  <a:t>: growth time. </a:t>
                </a:r>
                <a:r>
                  <a:rPr lang="en-CA" sz="3300" b="0" dirty="0" err="1">
                    <a:latin typeface="Aptos"/>
                  </a:rPr>
                  <a:t>ε</a:t>
                </a:r>
                <a:r>
                  <a:rPr lang="en-CA" sz="3300" b="0" dirty="0">
                    <a:latin typeface="Aptos"/>
                  </a:rPr>
                  <a:t>: radiated fraction of inflowing rest-mass energy. Higher redshift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Eddington ratio: </a:t>
                </a:r>
                <a:r>
                  <a:rPr lang="en-CA" sz="3300" b="0" dirty="0" err="1">
                    <a:latin typeface="Aptos"/>
                  </a:rPr>
                  <a:t>f</a:t>
                </a:r>
                <a:r>
                  <a:rPr lang="en-CA" sz="2200" b="0" baseline="-25000" dirty="0" err="1">
                    <a:latin typeface="Aptos"/>
                  </a:rPr>
                  <a:t>Edd</a:t>
                </a:r>
                <a:r>
                  <a:rPr lang="en-CA" sz="3300" b="0" dirty="0">
                    <a:latin typeface="Aptos"/>
                  </a:rPr>
                  <a:t> = luminosity/Eddington luminosity. Radiation force balances gravity at this luminosity. </a:t>
                </a:r>
                <a:r>
                  <a:rPr lang="en-CA" sz="3300" b="0" dirty="0" err="1">
                    <a:latin typeface="Aptos"/>
                  </a:rPr>
                  <a:t>f̄</a:t>
                </a:r>
                <a:r>
                  <a:rPr lang="en-CA" sz="2200" b="0" baseline="-25000" dirty="0" err="1">
                    <a:latin typeface="Aptos"/>
                  </a:rPr>
                  <a:t>Edd,req</a:t>
                </a:r>
                <a:r>
                  <a:rPr lang="en-CA" sz="3300" b="0" dirty="0">
                    <a:latin typeface="Aptos"/>
                  </a:rPr>
                  <a:t> is the required lifetime average, including inactive periods. An average above 1 requires periods above the Eddington limit.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Uncertainty: </a:t>
                </a:r>
                <a:r>
                  <a:rPr lang="en-CA" sz="3300" b="0" dirty="0">
                    <a:latin typeface="Aptos"/>
                  </a:rPr>
                  <a:t>Used 10,000 draws per object for reported asymmetric mass errors. The 12 objects without errors contributed only central mass estimates.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Sensitivity: </a:t>
                </a:r>
                <a:r>
                  <a:rPr lang="en-CA" sz="3300" b="0" dirty="0">
                    <a:latin typeface="Aptos"/>
                  </a:rPr>
                  <a:t>Varied mass scale, seed mass, growth start time, and efficiency separately.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Earlier onset: </a:t>
                </a:r>
                <a:r>
                  <a:rPr lang="en-CA" sz="3300" b="0" dirty="0">
                    <a:latin typeface="Aptos"/>
                  </a:rPr>
                  <a:t>Solved minimum seed masses for the 4 plotted objects over 20 ≤ </a:t>
                </a:r>
                <a:r>
                  <a:rPr lang="en-CA" sz="3300" b="0" dirty="0" err="1">
                    <a:latin typeface="Aptos"/>
                  </a:rPr>
                  <a:t>z</a:t>
                </a:r>
                <a:r>
                  <a:rPr lang="en-CA" sz="2200" b="0" baseline="-25000" dirty="0" err="1">
                    <a:latin typeface="Aptos"/>
                  </a:rPr>
                  <a:t>acc</a:t>
                </a:r>
                <a:r>
                  <a:rPr lang="en-CA" sz="3300" b="0" dirty="0">
                    <a:latin typeface="Aptos"/>
                  </a:rPr>
                  <a:t> ≤ 3,400. Included radiation in cosmic ages. Assumed gas was available.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1567160"/>
                <a:ext cx="12573000" cy="14356080"/>
              </a:xfrm>
              <a:prstGeom prst="rect">
                <a:avLst/>
              </a:prstGeom>
              <a:blipFill>
                <a:blip r:embed="rId8"/>
                <a:stretch>
                  <a:fillRect l="-1164" t="-694" r="-1611" b="-5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914400" y="10287000"/>
            <a:ext cx="13487400" cy="1609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29260800" y="21351240"/>
            <a:ext cx="137160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29718000" y="22631400"/>
            <a:ext cx="12801600" cy="9006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>
                <a:latin typeface="Aptos"/>
              </a:rPr>
              <a:t>Seed masses: </a:t>
            </a:r>
            <a:r>
              <a:rPr lang="en-CA" sz="3300" b="0">
                <a:latin typeface="Aptos"/>
              </a:rPr>
              <a:t>Most adopted masses are compatible with growth from small stellar seeds under the reference assumptions.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>
                <a:latin typeface="Aptos"/>
              </a:rPr>
              <a:t>Accretion physics: </a:t>
            </a:r>
            <a:r>
              <a:rPr lang="en-CA" sz="3300" b="0">
                <a:latin typeface="Aptos"/>
              </a:rPr>
              <a:t>Lower radiative efficiency allows faster mass growth at the same Eddington ratio. Seed-mass requirements therefore depend on how efficiently accretion produces radiation.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>
                <a:latin typeface="Aptos"/>
              </a:rPr>
              <a:t>Earlier growth: </a:t>
            </a:r>
            <a:r>
              <a:rPr lang="en-CA" sz="3300" b="0">
                <a:latin typeface="Aptos"/>
              </a:rPr>
              <a:t>Even the earliest tested start leaves 100 M⊙ seeds insufficient for the 4 targets at ε = 0.1 and average ratio ≤ 1. Larger seeds or super-Eddington episodes remain possible.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>
                <a:latin typeface="Aptos"/>
              </a:rPr>
              <a:t>Further observations: </a:t>
            </a:r>
            <a:r>
              <a:rPr lang="en-CA" sz="3300" b="0">
                <a:latin typeface="Aptos"/>
              </a:rPr>
              <a:t>Independent mass measurements could change which objects require averages above 1. Counts from different surveys cannot establish how common these black holes are.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29260800" y="21351240"/>
            <a:ext cx="13716000" cy="1088136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914400" y="2688336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1371600" y="28163520"/>
            <a:ext cx="12573000" cy="370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300" dirty="0"/>
              <a:t>[1] Shen (2013), BASI, 41, 61.</a:t>
            </a:r>
            <a:endParaRPr lang="en-US" sz="3300" dirty="0"/>
          </a:p>
          <a:p>
            <a:r>
              <a:rPr lang="en-CA" sz="3300" dirty="0"/>
              <a:t>[2] </a:t>
            </a:r>
            <a:r>
              <a:rPr lang="en-CA" sz="3300" dirty="0" err="1"/>
              <a:t>Maiolino</a:t>
            </a:r>
            <a:r>
              <a:rPr lang="en-CA" sz="3300" dirty="0"/>
              <a:t> et al. (2024), Nature, 627, 59.</a:t>
            </a:r>
          </a:p>
          <a:p>
            <a:r>
              <a:rPr lang="en-CA" sz="3300" dirty="0"/>
              <a:t>[3] Dayal (2024), A&amp;A, 690, A182.</a:t>
            </a:r>
            <a:endParaRPr lang="en-US" sz="3300" dirty="0"/>
          </a:p>
          <a:p>
            <a:pPr>
              <a:spcBef>
                <a:spcPts val="600"/>
              </a:spcBef>
            </a:pPr>
            <a:r>
              <a:rPr lang="en-CA" sz="3300" dirty="0"/>
              <a:t>[4] Bardeen et al. (1972), </a:t>
            </a:r>
            <a:r>
              <a:rPr lang="en-CA" sz="3300" dirty="0" err="1"/>
              <a:t>ApJ</a:t>
            </a:r>
            <a:r>
              <a:rPr lang="en-CA" sz="3300" dirty="0"/>
              <a:t>, 178, 347.</a:t>
            </a:r>
            <a:endParaRPr lang="en-US" sz="3300" dirty="0"/>
          </a:p>
          <a:p>
            <a:pPr>
              <a:spcAft>
                <a:spcPts val="800"/>
              </a:spcAft>
              <a:buNone/>
            </a:pPr>
            <a:r>
              <a:rPr lang="en-CA" sz="3300" b="0" dirty="0">
                <a:latin typeface="Aptos"/>
              </a:rPr>
              <a:t>[5] </a:t>
            </a:r>
            <a:r>
              <a:rPr lang="en-CA" sz="3300" b="0" dirty="0" err="1">
                <a:latin typeface="Aptos"/>
              </a:rPr>
              <a:t>Juodzbalis</a:t>
            </a:r>
            <a:r>
              <a:rPr lang="en-CA" sz="3300" b="0" dirty="0">
                <a:latin typeface="Aptos"/>
              </a:rPr>
              <a:t> et al. (2025), arXiv:2508.21748.</a:t>
            </a:r>
          </a:p>
          <a:p>
            <a:pPr>
              <a:spcBef>
                <a:spcPts val="600"/>
              </a:spcBef>
            </a:pPr>
            <a:r>
              <a:rPr lang="en-CA" sz="3300" dirty="0"/>
              <a:t>Catalogue sources and code: QR link above.</a:t>
            </a:r>
            <a:endParaRPr lang="en-US" sz="33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914400" y="26883360"/>
            <a:ext cx="13487400" cy="53492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87600" y="12847320"/>
            <a:ext cx="13533120" cy="6949440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47430" y="1600199"/>
            <a:ext cx="4379909" cy="3283151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443004">
            <a:off x="30817782" y="2180575"/>
            <a:ext cx="1415509" cy="681368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29718000" y="6400800"/>
            <a:ext cx="12801600" cy="2011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Earlier-onset test: </a:t>
            </a:r>
            <a:r>
              <a:rPr lang="en-CA" sz="3300" b="0" dirty="0">
                <a:latin typeface="Aptos"/>
              </a:rPr>
              <a:t>Starting growth at z = 3,400 (matter–radiation equality) requires 270–1,200 M⊙ seeds for the 4 plotted objects (</a:t>
            </a:r>
            <a:r>
              <a:rPr lang="en-CA" sz="3300" b="0" dirty="0" err="1">
                <a:latin typeface="Aptos"/>
              </a:rPr>
              <a:t>ε</a:t>
            </a:r>
            <a:r>
              <a:rPr lang="en-CA" sz="3300" b="0" dirty="0">
                <a:latin typeface="Aptos"/>
              </a:rPr>
              <a:t> = 0.1, average ratio ≤ 1, no mergers).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5270480" y="6400800"/>
            <a:ext cx="13395960" cy="5486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Reference: </a:t>
            </a:r>
            <a:r>
              <a:rPr lang="en-CA" sz="3300" b="0">
                <a:latin typeface="Aptos"/>
              </a:rPr>
              <a:t>212/220 primary objects require average Eddington ratios ≤ 1. The other 8 require averages above 1, including 5 in ≥ 95% of mass-error draws.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Mass sensitivity: </a:t>
            </a:r>
            <a:r>
              <a:rPr lang="en-CA" sz="3300" b="0">
                <a:latin typeface="Aptos"/>
              </a:rPr>
              <a:t>After reducing masses by a factor of 3.2 (0.5 dex), UNCOVER-20466, COSMOS3D-13852, and RUBIES-EGS-55604 still require averages above 1 in ≥ 95% of mass-error draws.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Seed mass: </a:t>
            </a:r>
            <a:r>
              <a:rPr lang="en-CA" sz="3300" b="0">
                <a:latin typeface="Aptos"/>
              </a:rPr>
              <a:t>1,000 M⊙ seeds leave 3/220 above 1. With 100,000 M⊙ seeds, no objects in either sample require averages above 1.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Growth start time: </a:t>
            </a:r>
            <a:r>
              <a:rPr lang="en-CA" sz="3300" b="0">
                <a:latin typeface="Aptos"/>
              </a:rPr>
              <a:t>Starting later (z = 20) increases the primary count above 1 to 18/220. GN-z11 requires the highest average in the expanded sample.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Efficiency: </a:t>
            </a:r>
            <a:r>
              <a:rPr lang="en-CA" sz="3300" b="0">
                <a:latin typeface="Aptos"/>
              </a:rPr>
              <a:t>At ε = 0.05719 (non-spinning thin disc) [4], all 234 central mass estimates require averages below 1 from 100 M⊙ seeds at z = 30.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4950440" y="5120640"/>
            <a:ext cx="28026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4950440" y="5120640"/>
            <a:ext cx="28026360" cy="1595628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igure takeaway 110"/>
          <p:cNvSpPr txBox="1"/>
          <p:nvPr/>
        </p:nvSpPr>
        <p:spPr>
          <a:xfrm>
            <a:off x="15407640" y="19842480"/>
            <a:ext cx="12801600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After lowering masses by 0.5 dex, 3 targets require averages above 1 in ≥ 95% of mass-error draws.</a:t>
            </a:r>
          </a:p>
        </p:txBody>
      </p:sp>
      <p:sp>
        <p:nvSpPr>
          <p:cNvPr id="111" name="Figure takeaway 111"/>
          <p:cNvSpPr txBox="1"/>
          <p:nvPr/>
        </p:nvSpPr>
        <p:spPr>
          <a:xfrm>
            <a:off x="15224760" y="31455360"/>
            <a:ext cx="13121640" cy="777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 dirty="0">
                <a:latin typeface="Aptos"/>
              </a:rPr>
              <a:t>Only efficiency changes between panels. Points below a curve can be reached with a lower average Eddington ratio.</a:t>
            </a:r>
          </a:p>
        </p:txBody>
      </p:sp>
      <p:sp>
        <p:nvSpPr>
          <p:cNvPr id="112" name="Figure takeaway 112"/>
          <p:cNvSpPr txBox="1"/>
          <p:nvPr/>
        </p:nvSpPr>
        <p:spPr>
          <a:xfrm>
            <a:off x="29718000" y="17830800"/>
            <a:ext cx="12801600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2400" b="0" dirty="0">
                <a:latin typeface="Aptos"/>
              </a:rPr>
              <a:t>Earlier starts lower the required seed mass, but the decrease becomes smaller.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 txBox="1"/>
          <p:nvPr/>
        </p:nvSpPr>
        <p:spPr>
          <a:xfrm>
            <a:off x="29718000" y="18425160"/>
            <a:ext cx="12801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Independent mass check: </a:t>
            </a:r>
            <a:r>
              <a:rPr lang="en-CA" sz="3300" b="0" dirty="0">
                <a:latin typeface="Aptos"/>
              </a:rPr>
              <a:t>Under the reference model, A2744-QSO1’s broad-line mass (2.0 × 10</a:t>
            </a:r>
            <a:r>
              <a:rPr lang="en-CA" sz="2200" b="0" baseline="30000" dirty="0">
                <a:latin typeface="Aptos"/>
              </a:rPr>
              <a:t>7</a:t>
            </a:r>
            <a:r>
              <a:rPr lang="en-CA" sz="3300" b="0" dirty="0">
                <a:latin typeface="Aptos"/>
              </a:rPr>
              <a:t> M⊙) requires an average Eddington ratio of 0.929. Its dynamical mass (5.0 × 10</a:t>
            </a:r>
            <a:r>
              <a:rPr lang="en-CA" sz="2200" b="0" baseline="30000" dirty="0">
                <a:latin typeface="Aptos"/>
              </a:rPr>
              <a:t>7</a:t>
            </a:r>
            <a:r>
              <a:rPr lang="en-CA" sz="3300" b="0" dirty="0">
                <a:latin typeface="Aptos"/>
              </a:rPr>
              <a:t> M⊙) requires 0.9996 (ratio’s 16th–84th percentiles: 0.947–1.052) [5]. This interval includes 1.</a:t>
            </a:r>
          </a:p>
        </p:txBody>
      </p:sp>
      <p:sp>
        <p:nvSpPr>
          <p:cNvPr id="120" name="Efficiency comparison heading">
            <a:extLst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noGrp="1"/>
          </p:cNvSpPr>
          <p:nvPr/>
        </p:nvSpPr>
        <p:spPr>
          <a:xfrm>
            <a:off x="15224760" y="21351240"/>
            <a:ext cx="1312164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lang="en-CA" sz="3600" b="1">
                <a:solidFill>
                  <a:srgbClr val="002A5C"/>
                </a:solidFill>
                <a:latin typeface="Aptos"/>
              </a:rPr>
              <a:t>Growth at two radiative efficiencies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22174200"/>
            <a:ext cx="13258800" cy="9240982"/>
          </a:xfrm>
          <a:prstGeom prst="rect">
            <a:avLst/>
          </a:prstGeom>
        </p:spPr>
      </p:pic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2240" y="8595360"/>
            <a:ext cx="13533120" cy="9134856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891200" cy="438912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 lIns="9418320" tIns="91440" rIns="11887200">
            <a:normAutofit/>
          </a:bodyPr>
          <a:lstStyle/>
          <a:p>
            <a:pPr algn="ctr"/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8640"/>
            <a:ext cx="2834640" cy="2834640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02" t="38725" b="33824"/>
          <a:stretch>
            <a:fillRect/>
          </a:stretch>
        </p:blipFill>
        <p:spPr>
          <a:xfrm>
            <a:off x="3291840" y="1051560"/>
            <a:ext cx="6035040" cy="21770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67840" y="457200"/>
            <a:ext cx="3108960" cy="3108960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914400" y="512064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371600" y="6400800"/>
            <a:ext cx="12573000" cy="32461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3300" b="1">
                <a:latin typeface="Aptos"/>
              </a:rPr>
              <a:t>How did early black holes grow so big, so fast? </a:t>
            </a:r>
            <a:r>
              <a:rPr lang="en-CA" sz="3300" b="0">
                <a:latin typeface="Aptos"/>
              </a:rPr>
              <a:t>The James Webb Space Telescope (JWST) has revealed massive black holes with little time to grow. I compiled published mass estimates and calculated the average accretion needed to reach each mass under different seed masses (initial masses), start times, and radiative efficiencies.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914400" y="5120640"/>
            <a:ext cx="13487400" cy="466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914400" y="1028700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Methods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C51BF9-B81A-ECF4-F01D-305CA1CE9DD1}"/>
              </a:ext>
            </a:extLst>
          </p:cNvPr>
          <p:cNvSpPr txBox="1"/>
          <p:nvPr/>
        </p:nvSpPr>
        <p:spPr>
          <a:xfrm>
            <a:off x="1371600" y="11567160"/>
            <a:ext cx="12573000" cy="1435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>
                <a:latin typeface="Aptos"/>
              </a:rPr>
              <a:t>Catalogue: </a:t>
            </a:r>
            <a:r>
              <a:rPr lang="en-CA" sz="3300" b="0">
                <a:latin typeface="Aptos"/>
              </a:rPr>
              <a:t>Compiled 350 measurements at z ≥ 4. Selected 220 primary objects with broad hydrogen (Balmer) line masses. Expanded sample: 234 objects, including these 220, tentative candidates and GN-z11 [1,2].</a:t>
            </a:r>
          </a:p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>
                <a:latin typeface="Aptos"/>
              </a:rPr>
              <a:t>Reference model: </a:t>
            </a:r>
            <a:r>
              <a:rPr lang="en-CA" sz="3300" b="0">
                <a:latin typeface="Aptos"/>
              </a:rPr>
              <a:t>Assumed 100 M⊙ seeds at z = 30, ε = 0.1, no mergers [3]. M⊙ denotes solar mass. Higher redshift z means earlier times. ε is the radiated fraction of accreted rest-mass energy.</a:t>
            </a:r>
          </a:p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>
                <a:latin typeface="Aptos"/>
              </a:rPr>
              <a:t>Growth test: </a:t>
            </a:r>
            <a:r>
              <a:rPr lang="en-CA" sz="3300" b="0">
                <a:latin typeface="Aptos"/>
              </a:rPr>
              <a:t>Ranked objects by f̄</a:t>
            </a:r>
            <a:r>
              <a:rPr lang="en-CA" sz="2200" b="0" baseline="-25000">
                <a:latin typeface="Aptos"/>
              </a:rPr>
              <a:t>Edd,req</a:t>
            </a:r>
            <a:r>
              <a:rPr lang="en-CA" sz="3300" b="0">
                <a:latin typeface="Aptos"/>
              </a:rPr>
              <a:t>, the required lifetime-average Eddington ratio, including inactive periods. Tested against an assumed maximum of 1.</a:t>
            </a:r>
          </a:p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>
                <a:latin typeface="Aptos"/>
              </a:rPr>
              <a:t>Eddington ratio: </a:t>
            </a:r>
            <a:r>
              <a:rPr lang="en-CA" sz="3300" b="0">
                <a:latin typeface="Aptos"/>
              </a:rPr>
              <a:t>f</a:t>
            </a:r>
            <a:r>
              <a:rPr lang="en-CA" sz="2200" b="0" baseline="-25000">
                <a:latin typeface="Aptos"/>
              </a:rPr>
              <a:t>Edd</a:t>
            </a:r>
            <a:r>
              <a:rPr lang="en-CA" sz="3300" b="0">
                <a:latin typeface="Aptos"/>
              </a:rPr>
              <a:t> = luminosity/Eddington luminosity. At this limit, radiation force balances gravity. Averages above 1 require super-Eddington episodes.</a:t>
            </a:r>
          </a:p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>
                <a:latin typeface="Aptos"/>
              </a:rPr>
              <a:t>Uncertainty: </a:t>
            </a:r>
            <a:r>
              <a:rPr lang="en-CA" sz="3300" b="0">
                <a:latin typeface="Aptos"/>
              </a:rPr>
              <a:t>Sampled reported mass errors 10,000 times each. Missing errors yielded central estimates only. Reported errors may omit calibration scatter.</a:t>
            </a:r>
          </a:p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>
                <a:latin typeface="Aptos"/>
              </a:rPr>
              <a:t>Earlier growth: </a:t>
            </a:r>
            <a:r>
              <a:rPr lang="en-CA" sz="3300" b="0">
                <a:latin typeface="Aptos"/>
              </a:rPr>
              <a:t>Calculated minimum seed masses for 4 targets at start redshifts 20–3,400. Included radiation in cosmic ages and assumed gas availability.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914400" y="10287000"/>
            <a:ext cx="13487400" cy="1609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29260800" y="21593002"/>
            <a:ext cx="137160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29947430" y="23340060"/>
            <a:ext cx="12801600" cy="9006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latin typeface="Aptos"/>
              </a:rPr>
              <a:t>Main finding: </a:t>
            </a:r>
            <a:r>
              <a:rPr lang="en-CA" sz="3300" b="1" dirty="0">
                <a:latin typeface="Aptos"/>
              </a:rPr>
              <a:t>Most adopted masses allow growth from 100 M⊙ seeds under the reference assumptions. </a:t>
            </a:r>
            <a:r>
              <a:rPr lang="en-CA" sz="3300" b="0" dirty="0">
                <a:latin typeface="Aptos"/>
              </a:rPr>
              <a:t>Seed requirements depend on mass estimates and accretion efficiency.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latin typeface="Aptos"/>
              </a:rPr>
              <a:t>Accretion physics: </a:t>
            </a:r>
            <a:r>
              <a:rPr lang="en-CA" sz="3300" b="0" dirty="0">
                <a:latin typeface="Aptos"/>
              </a:rPr>
              <a:t>Lower radiative efficiency leaves more accreted mass in the black hole, allowing faster growth at the same Eddington ratio.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latin typeface="Aptos"/>
              </a:rPr>
              <a:t>Earlier growth: </a:t>
            </a:r>
            <a:r>
              <a:rPr lang="en-CA" sz="3300" b="0" dirty="0">
                <a:latin typeface="Aptos"/>
              </a:rPr>
              <a:t>Even the earliest tested start leaves 100 M⊙ seeds insufficient for the 4 targets at ε = 0.1 and average ratio ≤ 1. Larger seeds or super-Eddington episodes remain possible.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latin typeface="Aptos"/>
              </a:rPr>
              <a:t>Further observations: </a:t>
            </a:r>
            <a:r>
              <a:rPr lang="en-CA" sz="3300" b="0" dirty="0">
                <a:latin typeface="Aptos"/>
              </a:rPr>
              <a:t>Independent mass measurements could change which objects require averages above 1. Counts from different surveys cannot establish how common these black holes are.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29260800" y="21593002"/>
            <a:ext cx="13716000" cy="10639598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914400" y="2688336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1371600" y="28163520"/>
            <a:ext cx="12573000" cy="370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300" dirty="0"/>
              <a:t>[1] Shen (2013), BASI, 41, 61.</a:t>
            </a:r>
            <a:endParaRPr lang="en-US" sz="3300" dirty="0"/>
          </a:p>
          <a:p>
            <a:r>
              <a:rPr lang="en-CA" sz="3300" dirty="0"/>
              <a:t>[2] </a:t>
            </a:r>
            <a:r>
              <a:rPr lang="en-CA" sz="3300" dirty="0" err="1"/>
              <a:t>Maiolino</a:t>
            </a:r>
            <a:r>
              <a:rPr lang="en-CA" sz="3300" dirty="0"/>
              <a:t> et al. (2024), Nature, 627, 59.</a:t>
            </a:r>
          </a:p>
          <a:p>
            <a:r>
              <a:rPr lang="en-CA" sz="3300" dirty="0"/>
              <a:t>[3] Dayal (2024), A&amp;A, 690, A182.</a:t>
            </a:r>
            <a:endParaRPr lang="en-US" sz="3300" dirty="0"/>
          </a:p>
          <a:p>
            <a:pPr>
              <a:spcBef>
                <a:spcPts val="600"/>
              </a:spcBef>
            </a:pPr>
            <a:r>
              <a:rPr lang="en-CA" sz="3300" dirty="0"/>
              <a:t>[4] Bardeen et al. (1972), </a:t>
            </a:r>
            <a:r>
              <a:rPr lang="en-CA" sz="3300" dirty="0" err="1"/>
              <a:t>ApJ</a:t>
            </a:r>
            <a:r>
              <a:rPr lang="en-CA" sz="3300" dirty="0"/>
              <a:t>, 178, 347.</a:t>
            </a:r>
            <a:endParaRPr lang="en-US" sz="3300" dirty="0"/>
          </a:p>
          <a:p>
            <a:pPr>
              <a:spcAft>
                <a:spcPts val="800"/>
              </a:spcAft>
              <a:buNone/>
            </a:pPr>
            <a:r>
              <a:rPr lang="en-CA" sz="3300" b="0" dirty="0">
                <a:latin typeface="Aptos"/>
              </a:rPr>
              <a:t>[5] </a:t>
            </a:r>
            <a:r>
              <a:rPr lang="en-CA" sz="3300" b="0" dirty="0" err="1">
                <a:latin typeface="Aptos"/>
              </a:rPr>
              <a:t>Juodzbalis</a:t>
            </a:r>
            <a:r>
              <a:rPr lang="en-CA" sz="3300" b="0" dirty="0">
                <a:latin typeface="Aptos"/>
              </a:rPr>
              <a:t> et al. (2025), arXiv:2508.21748.</a:t>
            </a:r>
          </a:p>
          <a:p>
            <a:pPr>
              <a:spcBef>
                <a:spcPts val="600"/>
              </a:spcBef>
            </a:pPr>
            <a:r>
              <a:rPr lang="en-CA" sz="3300" dirty="0"/>
              <a:t>Catalogue sources and code: QR link above.</a:t>
            </a:r>
            <a:endParaRPr lang="en-US" sz="33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914400" y="26883360"/>
            <a:ext cx="13487400" cy="53492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0" y="12847320"/>
            <a:ext cx="13533120" cy="6949440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47430" y="1600199"/>
            <a:ext cx="4379909" cy="3283151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443004">
            <a:off x="30817782" y="2180575"/>
            <a:ext cx="1415509" cy="681368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29718000" y="6400800"/>
            <a:ext cx="12801600" cy="2011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Earlier-onset test: </a:t>
            </a:r>
            <a:r>
              <a:rPr lang="en-CA" sz="3300" b="0" dirty="0">
                <a:latin typeface="Aptos"/>
              </a:rPr>
              <a:t>Starting at matter–radiation equality (z = 3,400) still requires 270–1,200 M⊙ seeds for the 4 plotted objects (ε = 0.1, average ratio ≤ 1, no mergers).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5270480" y="6400800"/>
            <a:ext cx="13395960" cy="5486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Reference: </a:t>
            </a:r>
            <a:r>
              <a:rPr lang="en-CA" sz="3300" b="0">
                <a:latin typeface="Aptos"/>
              </a:rPr>
              <a:t>8/220 primary objects require average Eddington ratios above 1, including 5 in ≥ 95% of mass-error draws.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Mass sensitivity: </a:t>
            </a:r>
            <a:r>
              <a:rPr lang="en-CA" sz="3300" b="0">
                <a:latin typeface="Aptos"/>
              </a:rPr>
              <a:t>Lowering masses by a factor of 3.2 leaves 3 objects above 1 in ≥ 95% of draws.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Seed mass: </a:t>
            </a:r>
            <a:r>
              <a:rPr lang="en-CA" sz="3300" b="0">
                <a:latin typeface="Aptos"/>
              </a:rPr>
              <a:t>1,000 M⊙ seeds leave 3/220 above 1. With 100,000 M⊙ seeds, neither sample has objects above 1.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Growth start time: </a:t>
            </a:r>
            <a:r>
              <a:rPr lang="en-CA" sz="3300" b="0">
                <a:latin typeface="Aptos"/>
              </a:rPr>
              <a:t>Starting at z = 20 raises the primary count above 1 to 18/220. At this start, GN-z11 requires the highest average in the expanded sample.</a:t>
            </a:r>
          </a:p>
          <a:p>
            <a:pPr marL="285750" indent="-228600">
              <a:buChar char="•"/>
            </a:pPr>
            <a:r>
              <a:rPr lang="en-CA" sz="3300" b="1">
                <a:latin typeface="Aptos"/>
              </a:rPr>
              <a:t>Efficiency: </a:t>
            </a:r>
            <a:r>
              <a:rPr lang="en-CA" sz="3300" b="0">
                <a:latin typeface="Aptos"/>
              </a:rPr>
              <a:t>At ε = 0.05719 [4], all 234 central mass estimates require averages below 1 under the other reference assumptions.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4950440" y="5120640"/>
            <a:ext cx="28026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4950440" y="5120640"/>
            <a:ext cx="28026360" cy="1595628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igure takeaway 110"/>
          <p:cNvSpPr txBox="1"/>
          <p:nvPr/>
        </p:nvSpPr>
        <p:spPr>
          <a:xfrm>
            <a:off x="15407640" y="19842480"/>
            <a:ext cx="12801600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Orange points show the same objects after lowering masses by a factor of 3.2.</a:t>
            </a:r>
          </a:p>
        </p:txBody>
      </p:sp>
      <p:sp>
        <p:nvSpPr>
          <p:cNvPr id="111" name="Figure takeaway 111"/>
          <p:cNvSpPr txBox="1"/>
          <p:nvPr/>
        </p:nvSpPr>
        <p:spPr>
          <a:xfrm>
            <a:off x="15224760" y="31455360"/>
            <a:ext cx="13121640" cy="777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 dirty="0">
                <a:latin typeface="Aptos"/>
              </a:rPr>
              <a:t>Only efficiency changes between panels. Points below a curve can be reached with a lower average Eddington ratio.</a:t>
            </a:r>
          </a:p>
        </p:txBody>
      </p:sp>
      <p:sp>
        <p:nvSpPr>
          <p:cNvPr id="112" name="Figure takeaway 112"/>
          <p:cNvSpPr txBox="1"/>
          <p:nvPr/>
        </p:nvSpPr>
        <p:spPr>
          <a:xfrm>
            <a:off x="29718000" y="17830800"/>
            <a:ext cx="12801600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2400" b="0" dirty="0">
                <a:latin typeface="Aptos"/>
              </a:rPr>
              <a:t>Earlier starts lower the required seed mass, but the decrease becomes smaller.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 txBox="1"/>
          <p:nvPr/>
        </p:nvSpPr>
        <p:spPr>
          <a:xfrm>
            <a:off x="29718000" y="18425160"/>
            <a:ext cx="12801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Independent mass check: </a:t>
            </a:r>
            <a:r>
              <a:rPr lang="en-CA" sz="3300" b="0" dirty="0">
                <a:latin typeface="Aptos"/>
              </a:rPr>
              <a:t>A2744-QSO1’s broad-line mass (2.0 × 10</a:t>
            </a:r>
            <a:r>
              <a:rPr lang="en-CA" sz="2200" b="0" dirty="0" baseline="30000">
                <a:latin typeface="Aptos"/>
              </a:rPr>
              <a:t>7</a:t>
            </a:r>
            <a:r>
              <a:rPr lang="en-CA" sz="3300" b="0" dirty="0">
                <a:latin typeface="Aptos"/>
              </a:rPr>
              <a:t> M⊙) requires an average of 0.929 under the reference model. Its dynamical mass (5.0 × 10</a:t>
            </a:r>
            <a:r>
              <a:rPr lang="en-CA" sz="2200" b="0" dirty="0" baseline="30000">
                <a:latin typeface="Aptos"/>
              </a:rPr>
              <a:t>7</a:t>
            </a:r>
            <a:r>
              <a:rPr lang="en-CA" sz="3300" b="0" dirty="0">
                <a:latin typeface="Aptos"/>
              </a:rPr>
              <a:t> M⊙) requires 0.9996 [5]. Its required average spans 0.947–1.052 (16th–84th percentiles), including 1.</a:t>
            </a:r>
          </a:p>
        </p:txBody>
      </p:sp>
      <p:sp>
        <p:nvSpPr>
          <p:cNvPr id="120" name="Efficiency comparison heading">
            <a:extLst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noGrp="1"/>
          </p:cNvSpPr>
          <p:nvPr/>
        </p:nvSpPr>
        <p:spPr>
          <a:xfrm>
            <a:off x="15224760" y="21593002"/>
            <a:ext cx="1312164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lang="en-CA" sz="3600" b="1" dirty="0">
                <a:solidFill>
                  <a:srgbClr val="002A5C"/>
                </a:solidFill>
                <a:latin typeface="Aptos"/>
              </a:rPr>
              <a:t>Growth at two radiative efficiencies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1872</Words>
  <Application>Microsoft Macintosh PowerPoint</Application>
  <PresentationFormat>Custom</PresentationFormat>
  <Paragraphs>77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 Early Black-Hole Growth Constraints from JWST Nicole Jiang; University of Toronto </vt:lpstr>
      <vt:lpstr> Early Black-Hole Growth Constraints from JWST Nicole Jiang; University of Toronto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Jiang</dc:creator>
  <cp:lastModifiedBy>Nicole Jiang</cp:lastModifiedBy>
  <cp:revision>1</cp:revision>
  <dcterms:created xsi:type="dcterms:W3CDTF">2026-09-30T19:05:59Z</dcterms:created>
  <dcterms:modified xsi:type="dcterms:W3CDTF">2026-10-14T17:32:39Z</dcterms:modified>
</cp:coreProperties>
</file>
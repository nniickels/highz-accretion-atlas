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1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82"/>
    <p:restoredTop sz="94701"/>
  </p:normalViewPr>
  <p:slideViewPr>
    <p:cSldViewPr snapToGrid="0">
      <p:cViewPr>
        <p:scale>
          <a:sx n="10" d="100"/>
          <a:sy n="10" d="100"/>
        </p:scale>
        <p:origin x="2600" y="1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5T03:54:31.627" v="2557" actId="12"/>
      <pc:docMkLst>
        <pc:docMk/>
      </pc:docMkLst>
      <pc:sldChg chg="modSp mod">
        <pc:chgData name="Nicole Jiang" userId="09ef0fc0f6f473b5" providerId="LiveId" clId="{EB8F4A53-0964-5BF1-90AD-931457E28E1A}" dt="2026-10-14T03:47:30.465" v="2450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4T03:47:11.525" v="2445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4T01:47:21.679" v="2444" actId="20577"/>
          <ac:spMkLst>
            <pc:docMk/>
            <pc:sldMk cId="868487171" sldId="260"/>
            <ac:spMk id="73" creationId="{88C51BF9-B81A-ECF4-F01D-305CA1CE9DD1}"/>
          </ac:spMkLst>
        </pc:spChg>
        <pc:picChg chg="mod">
          <ac:chgData name="Nicole Jiang" userId="09ef0fc0f6f473b5" providerId="LiveId" clId="{EB8F4A53-0964-5BF1-90AD-931457E28E1A}" dt="2026-10-14T03:47:25.307" v="2448" actId="14100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4T03:47:30.465" v="2450" actId="1076"/>
          <ac:picMkLst>
            <pc:docMk/>
            <pc:sldMk cId="868487171" sldId="260"/>
            <ac:picMk id="6" creationId="{9D3E6E2E-04C2-513B-0EE5-8C40F5B8F46A}"/>
          </ac:picMkLst>
        </pc:picChg>
      </pc:sldChg>
      <pc:sldChg chg="addSp delSp modSp mod">
        <pc:chgData name="Nicole Jiang" userId="09ef0fc0f6f473b5" providerId="LiveId" clId="{EB8F4A53-0964-5BF1-90AD-931457E28E1A}" dt="2026-10-15T03:54:31.627" v="2557" actId="12"/>
        <pc:sldMkLst>
          <pc:docMk/>
          <pc:sldMk cId="868487171" sldId="261"/>
        </pc:sldMkLst>
        <pc:spChg chg="add mod">
          <ac:chgData name="Nicole Jiang" userId="09ef0fc0f6f473b5" providerId="LiveId" clId="{EB8F4A53-0964-5BF1-90AD-931457E28E1A}" dt="2026-10-15T03:53:22.610" v="2552" actId="14100"/>
          <ac:spMkLst>
            <pc:docMk/>
            <pc:sldMk cId="868487171" sldId="261"/>
            <ac:spMk id="8" creationId="{9C3531A0-DA17-4C0D-FBA9-F5FDB919A1B0}"/>
          </ac:spMkLst>
        </pc:spChg>
        <pc:spChg chg="add mod">
          <ac:chgData name="Nicole Jiang" userId="09ef0fc0f6f473b5" providerId="LiveId" clId="{EB8F4A53-0964-5BF1-90AD-931457E28E1A}" dt="2026-10-15T03:53:31.110" v="2554" actId="1076"/>
          <ac:spMkLst>
            <pc:docMk/>
            <pc:sldMk cId="868487171" sldId="261"/>
            <ac:spMk id="9" creationId="{FDB40514-F485-5888-F9CA-4FD66F13751C}"/>
          </ac:spMkLst>
        </pc:spChg>
        <pc:spChg chg="mod">
          <ac:chgData name="Nicole Jiang" userId="09ef0fc0f6f473b5" providerId="LiveId" clId="{EB8F4A53-0964-5BF1-90AD-931457E28E1A}" dt="2026-10-15T01:37:33.220" v="2478" actId="1076"/>
          <ac:spMkLst>
            <pc:docMk/>
            <pc:sldMk cId="868487171" sldId="261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5T01:51:55.418" v="2502" actId="1076"/>
          <ac:spMkLst>
            <pc:docMk/>
            <pc:sldMk cId="868487171" sldId="261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19:31:16.008" v="2466" actId="14100"/>
          <ac:spMkLst>
            <pc:docMk/>
            <pc:sldMk cId="868487171" sldId="261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4T17:31:52.763" v="2458" actId="1076"/>
          <ac:spMkLst>
            <pc:docMk/>
            <pc:sldMk cId="868487171" sldId="261"/>
            <ac:spMk id="78" creationId="{D50205E6-BF86-6F08-991C-43F597FDF8DD}"/>
          </ac:spMkLst>
        </pc:spChg>
        <pc:spChg chg="del mod">
          <ac:chgData name="Nicole Jiang" userId="09ef0fc0f6f473b5" providerId="LiveId" clId="{EB8F4A53-0964-5BF1-90AD-931457E28E1A}" dt="2026-10-15T03:17:28.402" v="2532"/>
          <ac:spMkLst>
            <pc:docMk/>
            <pc:sldMk cId="868487171" sldId="261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5T03:53:09.849" v="2549" actId="14100"/>
          <ac:spMkLst>
            <pc:docMk/>
            <pc:sldMk cId="868487171" sldId="261"/>
            <ac:spMk id="80" creationId="{BBD5C8AB-335C-2E4D-00F6-4B0BF74BB013}"/>
          </ac:spMkLst>
        </pc:spChg>
        <pc:spChg chg="add del mod">
          <ac:chgData name="Nicole Jiang" userId="09ef0fc0f6f473b5" providerId="LiveId" clId="{EB8F4A53-0964-5BF1-90AD-931457E28E1A}" dt="2026-10-15T03:53:03.465" v="2547" actId="1076"/>
          <ac:spMkLst>
            <pc:docMk/>
            <pc:sldMk cId="868487171" sldId="261"/>
            <ac:spMk id="81" creationId="{8E773A53-2851-D565-B46F-D419BA57021E}"/>
          </ac:spMkLst>
        </pc:spChg>
        <pc:spChg chg="add del mod">
          <ac:chgData name="Nicole Jiang" userId="09ef0fc0f6f473b5" providerId="LiveId" clId="{EB8F4A53-0964-5BF1-90AD-931457E28E1A}" dt="2026-10-15T03:53:26.839" v="2553" actId="1076"/>
          <ac:spMkLst>
            <pc:docMk/>
            <pc:sldMk cId="868487171" sldId="261"/>
            <ac:spMk id="82" creationId="{82B57F9D-B4AF-1E4D-7FBC-B8680CB4CAB8}"/>
          </ac:spMkLst>
        </pc:spChg>
        <pc:spChg chg="add del mod">
          <ac:chgData name="Nicole Jiang" userId="09ef0fc0f6f473b5" providerId="LiveId" clId="{EB8F4A53-0964-5BF1-90AD-931457E28E1A}" dt="2026-10-15T03:53:06.499" v="2548" actId="14100"/>
          <ac:spMkLst>
            <pc:docMk/>
            <pc:sldMk cId="868487171" sldId="261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5T01:37:06.203" v="2471" actId="1076"/>
          <ac:spMkLst>
            <pc:docMk/>
            <pc:sldMk cId="868487171" sldId="261"/>
            <ac:spMk id="112" creationId="{00000000-0000-0000-0000-000000000000}"/>
          </ac:spMkLst>
        </pc:spChg>
        <pc:spChg chg="mod">
          <ac:chgData name="Nicole Jiang" userId="09ef0fc0f6f473b5" providerId="LiveId" clId="{EB8F4A53-0964-5BF1-90AD-931457E28E1A}" dt="2026-10-14T17:32:29.141" v="2461" actId="1076"/>
          <ac:spMkLst>
            <pc:docMk/>
            <pc:sldMk cId="868487171" sldId="261"/>
            <ac:spMk id="120" creationId="{3A05E1FE-512D-49F3-9C39-22D275F0EE18}"/>
          </ac:spMkLst>
        </pc:spChg>
        <pc:spChg chg="mod">
          <ac:chgData name="Nicole Jiang" userId="09ef0fc0f6f473b5" providerId="LiveId" clId="{EB8F4A53-0964-5BF1-90AD-931457E28E1A}" dt="2026-10-15T03:18:24.947" v="2540" actId="14100"/>
          <ac:spMkLst>
            <pc:docMk/>
            <pc:sldMk cId="868487171" sldId="261"/>
            <ac:spMk id="202" creationId="{A4F32B50-A70B-4AAD-866D-8A9AFB77BA97}"/>
          </ac:spMkLst>
        </pc:spChg>
        <pc:spChg chg="mod">
          <ac:chgData name="Nicole Jiang" userId="09ef0fc0f6f473b5" providerId="LiveId" clId="{EB8F4A53-0964-5BF1-90AD-931457E28E1A}" dt="2026-10-15T01:46:04.408" v="2500" actId="5793"/>
          <ac:spMkLst>
            <pc:docMk/>
            <pc:sldMk cId="868487171" sldId="261"/>
            <ac:spMk id="208" creationId="{FAA325B6-AF3F-4391-B001-5CEA6C0D3BA1}"/>
          </ac:spMkLst>
        </pc:spChg>
        <pc:spChg chg="mod">
          <ac:chgData name="Nicole Jiang" userId="09ef0fc0f6f473b5" providerId="LiveId" clId="{EB8F4A53-0964-5BF1-90AD-931457E28E1A}" dt="2026-10-15T03:54:31.627" v="2557" actId="12"/>
          <ac:spMkLst>
            <pc:docMk/>
            <pc:sldMk cId="868487171" sldId="261"/>
            <ac:spMk id="209" creationId="{67E72EF7-28FB-420D-A9DC-6606EEB93072}"/>
          </ac:spMkLst>
        </pc:spChg>
        <pc:spChg chg="mod">
          <ac:chgData name="Nicole Jiang" userId="09ef0fc0f6f473b5" providerId="LiveId" clId="{EB8F4A53-0964-5BF1-90AD-931457E28E1A}" dt="2026-10-15T03:18:07.379" v="2538" actId="1076"/>
          <ac:spMkLst>
            <pc:docMk/>
            <pc:sldMk cId="868487171" sldId="261"/>
            <ac:spMk id="212" creationId="{F0E4059E-8B12-4811-AB13-DD1F53C26AA3}"/>
          </ac:spMkLst>
        </pc:spChg>
        <pc:spChg chg="mod">
          <ac:chgData name="Nicole Jiang" userId="09ef0fc0f6f473b5" providerId="LiveId" clId="{EB8F4A53-0964-5BF1-90AD-931457E28E1A}" dt="2026-10-15T03:17:42.606" v="2533" actId="14100"/>
          <ac:spMkLst>
            <pc:docMk/>
            <pc:sldMk cId="868487171" sldId="261"/>
            <ac:spMk id="214" creationId="{E0DF1478-840F-4BDD-B29E-A5B229B3783E}"/>
          </ac:spMkLst>
        </pc:spChg>
        <pc:spChg chg="mod">
          <ac:chgData name="Nicole Jiang" userId="09ef0fc0f6f473b5" providerId="LiveId" clId="{EB8F4A53-0964-5BF1-90AD-931457E28E1A}" dt="2026-10-15T03:18:02.124" v="2537" actId="1076"/>
          <ac:spMkLst>
            <pc:docMk/>
            <pc:sldMk cId="868487171" sldId="261"/>
            <ac:spMk id="216" creationId="{336C5316-EC48-42CE-8537-8453628B7D8C}"/>
          </ac:spMkLst>
        </pc:spChg>
        <pc:spChg chg="mod">
          <ac:chgData name="Nicole Jiang" userId="09ef0fc0f6f473b5" providerId="LiveId" clId="{EB8F4A53-0964-5BF1-90AD-931457E28E1A}" dt="2026-10-15T03:17:45.098" v="2534" actId="14100"/>
          <ac:spMkLst>
            <pc:docMk/>
            <pc:sldMk cId="868487171" sldId="261"/>
            <ac:spMk id="217" creationId="{971DBA1A-D2E6-408F-AF7C-16AF667673EA}"/>
          </ac:spMkLst>
        </pc:spChg>
        <pc:spChg chg="mod">
          <ac:chgData name="Nicole Jiang" userId="09ef0fc0f6f473b5" providerId="LiveId" clId="{EB8F4A53-0964-5BF1-90AD-931457E28E1A}" dt="2026-10-15T03:17:58.443" v="2536" actId="1076"/>
          <ac:spMkLst>
            <pc:docMk/>
            <pc:sldMk cId="868487171" sldId="261"/>
            <ac:spMk id="220" creationId="{8529AA9E-ACC8-495E-8075-1D2F4EF9602E}"/>
          </ac:spMkLst>
        </pc:spChg>
        <pc:spChg chg="mod">
          <ac:chgData name="Nicole Jiang" userId="09ef0fc0f6f473b5" providerId="LiveId" clId="{EB8F4A53-0964-5BF1-90AD-931457E28E1A}" dt="2026-10-15T01:46:28.605" v="2501" actId="20577"/>
          <ac:spMkLst>
            <pc:docMk/>
            <pc:sldMk cId="868487171" sldId="261"/>
            <ac:spMk id="221" creationId="{03BB0CC6-89F0-4BB8-91C2-A18697FB4691}"/>
          </ac:spMkLst>
        </pc:spChg>
        <pc:spChg chg="mod">
          <ac:chgData name="Nicole Jiang" userId="09ef0fc0f6f473b5" providerId="LiveId" clId="{EB8F4A53-0964-5BF1-90AD-931457E28E1A}" dt="2026-10-15T03:17:48.411" v="2535" actId="14100"/>
          <ac:spMkLst>
            <pc:docMk/>
            <pc:sldMk cId="868487171" sldId="261"/>
            <ac:spMk id="222" creationId="{28773224-ED00-4347-B2C6-7FB30A5D9C9B}"/>
          </ac:spMkLst>
        </pc:spChg>
        <pc:spChg chg="mod">
          <ac:chgData name="Nicole Jiang" userId="09ef0fc0f6f473b5" providerId="LiveId" clId="{EB8F4A53-0964-5BF1-90AD-931457E28E1A}" dt="2026-10-15T01:52:04.929" v="2503" actId="1076"/>
          <ac:spMkLst>
            <pc:docMk/>
            <pc:sldMk cId="868487171" sldId="261"/>
            <ac:spMk id="223" creationId="{86A37956-8DA5-40AE-A03E-2CE429C5454A}"/>
          </ac:spMkLst>
        </pc:spChg>
        <pc:picChg chg="mod modCrop">
          <ac:chgData name="Nicole Jiang" userId="09ef0fc0f6f473b5" providerId="LiveId" clId="{EB8F4A53-0964-5BF1-90AD-931457E28E1A}" dt="2026-10-15T03:18:33.760" v="2541" actId="1076"/>
          <ac:picMkLst>
            <pc:docMk/>
            <pc:sldMk cId="868487171" sldId="261"/>
            <ac:picMk id="4" creationId="{C4337658-2539-7C1B-497A-E1769149148E}"/>
          </ac:picMkLst>
        </pc:picChg>
        <pc:picChg chg="add mod">
          <ac:chgData name="Nicole Jiang" userId="09ef0fc0f6f473b5" providerId="LiveId" clId="{EB8F4A53-0964-5BF1-90AD-931457E28E1A}" dt="2026-10-15T01:37:29.639" v="2476" actId="571"/>
          <ac:picMkLst>
            <pc:docMk/>
            <pc:sldMk cId="868487171" sldId="261"/>
            <ac:picMk id="8" creationId="{2930BF46-B72C-5909-E11B-55747986219E}"/>
          </ac:picMkLst>
        </pc:picChg>
        <pc:picChg chg="mod">
          <ac:chgData name="Nicole Jiang" userId="09ef0fc0f6f473b5" providerId="LiveId" clId="{EB8F4A53-0964-5BF1-90AD-931457E28E1A}" dt="2026-10-15T01:37:01.377" v="2470" actId="1076"/>
          <ac:picMkLst>
            <pc:docMk/>
            <pc:sldMk cId="868487171" sldId="261"/>
            <ac:picMk id="14" creationId="{C3CA3027-10C5-D39A-05B0-82DB2540F9D3}"/>
          </ac:picMkLst>
        </pc:pic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Poster figure inputs: results/for_manuscript/tables/publication_object_selection.csv; results/for_manuscript/tables/mass_offset_object_sensitivity.csv; results/v3/tables/v3_object_point_ranking.csv; results/v3/tables/v3_object_uncertainty_ranking.csv; results/v4/tables/v4_minimum_seed_mass.csv. Scientific inputs are pinned in data/poster_inputs.json. The uncertainty panel is generated by src.internal.poster_figures. The earlier-onset panel holds the stated average cap and radiative efficiency constant along each track. The external dynamical comparison uses the adopted arXiv v2 measurement; the required ratios and intervals are calculated by this project.</a:t>
            </a:r>
          </a:p>
          <a:p>
            <a:r>
              <a:rPr sz="1200"/>
              <a:t>[1] Shen (2013), The Mass of Quasars: https://arxiv.org/abs/1302.2643 — broad-line virial mass methods and calibration scatter.</a:t>
            </a:r>
          </a:p>
          <a:p>
            <a:r>
              <a:rPr sz="1200"/>
              <a:t>[2] Maiolino et al. (2024), A small and vigorous black hole in the early Universe: https://doi.org/10.1038/s41586-024-07052-5 — GN-z11 ultraviolet-line mass and early JWST context.</a:t>
            </a:r>
          </a:p>
          <a:p>
            <a:r>
              <a:rPr sz="1200"/>
              <a:t>[3] Dayal (2024), Exploring a primordial solution for early black holes detected with JWST: https://doi.org/10.1051/0004-6361/202451481 — exponential accretion growth relation. The project inverts the growth relation; its reference seed and growth-test thresholds are analysis assumptions.</a:t>
            </a:r>
          </a:p>
          <a:p>
            <a:r>
              <a:rPr sz="1200"/>
              <a:t>[4] Bardeen, Press &amp; Teukolsky (1972): https://doi.org/10.1086/151796 — ideal thin-disc efficiency for a non-spinning black hole, 1-sqrt(8/9).</a:t>
            </a:r>
          </a:p>
          <a:p>
            <a:r>
              <a:rPr sz="1200"/>
              <a:t>[5] Juodzbalis et al. (2025): https://arxiv.org/abs/2508.21748v2 — adopted independent A2744-QSO1 dynamical mass. The poster's average Eddington ratios are project calculations, not measurements quoted from this paper.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89400" y="8101584"/>
            <a:ext cx="13533120" cy="9134856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43891200" cy="438912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9418320" tIns="91440" rIns="1188720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7840" y="457200"/>
            <a:ext cx="3108960" cy="310896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120640"/>
            <a:ext cx="14630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400800"/>
            <a:ext cx="13716000" cy="32461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</a:t>
            </a:r>
            <a:r>
              <a:rPr lang="en-CA" sz="2200" b="0" baseline="30000">
                <a:latin typeface="Aptos"/>
              </a:rPr>
              <a:t>[1]</a:t>
            </a:r>
            <a:r>
              <a:rPr lang="en-CA" sz="3300" b="0">
                <a:latin typeface="Aptos"/>
              </a:rPr>
              <a:t> I compiled a catalogue of published black-hole mass estimates and compared their growth requirements, testing sensitivity to mass errors, seed mass, growth onset, and radiative efficiency.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120640"/>
            <a:ext cx="1463040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287000"/>
            <a:ext cx="14630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1359109" y="18585180"/>
            <a:ext cx="13990320" cy="3291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Symbols: </a:t>
            </a:r>
            <a:r>
              <a:rPr lang="en-CA" sz="3300" b="0" dirty="0">
                <a:latin typeface="Aptos"/>
              </a:rPr>
              <a:t>M⊙ denotes solar mass. Higher redshift z means earlier times.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Eddington ratio: </a:t>
            </a:r>
            <a:r>
              <a:rPr lang="en-CA" sz="3300" b="0" dirty="0" err="1">
                <a:latin typeface="Aptos"/>
              </a:rPr>
              <a:t>f</a:t>
            </a:r>
            <a:r>
              <a:rPr lang="en-CA" sz="2200" b="0" baseline="-25000" dirty="0" err="1">
                <a:latin typeface="Aptos"/>
              </a:rPr>
              <a:t>Edd</a:t>
            </a:r>
            <a:r>
              <a:rPr lang="en-CA" sz="3300" b="0" dirty="0">
                <a:latin typeface="Aptos"/>
              </a:rPr>
              <a:t> = luminosity/Eddington luminosity, where radiation force balances gravity. Averages above 1 require super-Eddington episodes.</a:t>
            </a:r>
            <a:r>
              <a:rPr lang="en-CA" sz="2200" b="0" baseline="30000" dirty="0">
                <a:latin typeface="Aptos"/>
              </a:rPr>
              <a:t>[3]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287000"/>
            <a:ext cx="14630400" cy="2221992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002000" y="21808440"/>
            <a:ext cx="269748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002000" y="21808440"/>
            <a:ext cx="26974800" cy="626747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16002000" y="28524612"/>
            <a:ext cx="269748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7373600" y="30053086"/>
            <a:ext cx="955287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Maiolino et al. (2024), Nature, 627, 59.</a:t>
            </a:r>
            <a:endParaRPr lang="en-US" sz="3300" dirty="0"/>
          </a:p>
          <a:p>
            <a:r>
              <a:rPr lang="en-CA" sz="3300" dirty="0"/>
              <a:t>[2] Shen (2013), BASI, 41, 61.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16002000" y="28524612"/>
            <a:ext cx="26974800" cy="3707988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09" r="1260"/>
          <a:stretch>
            <a:fillRect/>
          </a:stretch>
        </p:blipFill>
        <p:spPr>
          <a:xfrm>
            <a:off x="15806629" y="13304520"/>
            <a:ext cx="13350240" cy="69494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947430" y="1600199"/>
            <a:ext cx="4379909" cy="3283151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443004">
            <a:off x="30817782" y="2180575"/>
            <a:ext cx="1415509" cy="681368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30175200" y="6400800"/>
            <a:ext cx="12435840" cy="2011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6322040" y="6400800"/>
            <a:ext cx="13167360" cy="7132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Reference model: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Mass sensitivity: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Lowering masses by 0.5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dex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(a factor of 3.2) leaves 3 primary objects requiring averages above 1 in ≥ 95% of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Seed mass: </a:t>
            </a:r>
            <a:r>
              <a:rPr lang="en-CA" sz="3300" dirty="0">
                <a:solidFill>
                  <a:srgbClr val="000000"/>
                </a:solidFill>
                <a:latin typeface="Aptos"/>
              </a:rPr>
              <a:t>1,000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Growth start time: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z = 20, 18/220 primary objects require averages above 1, and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Efficiency: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ε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= 0.05719 (non-spinning thin disc) </a:t>
            </a:r>
            <a:r>
              <a:rPr lang="en-CA" sz="2200" b="0" baseline="30000" dirty="0">
                <a:solidFill>
                  <a:srgbClr val="000000"/>
                </a:solidFill>
                <a:latin typeface="Aptos"/>
              </a:rPr>
              <a:t>[4]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002000" y="5120640"/>
            <a:ext cx="269748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002000" y="5120640"/>
            <a:ext cx="26974800" cy="161391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igure takeaway 112"/>
          <p:cNvSpPr txBox="1"/>
          <p:nvPr/>
        </p:nvSpPr>
        <p:spPr>
          <a:xfrm>
            <a:off x="29947430" y="17510760"/>
            <a:ext cx="1243584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834422" y="18173700"/>
            <a:ext cx="124358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</a:t>
            </a:r>
            <a:r>
              <a:rPr lang="en-CA" sz="2200" b="0" baseline="30000" dirty="0">
                <a:latin typeface="Aptos"/>
              </a:rPr>
              <a:t>[5]</a:t>
            </a:r>
            <a:r>
              <a:rPr lang="en-CA" sz="3300" b="0" dirty="0">
                <a:latin typeface="Aptos"/>
              </a:rPr>
              <a:t> requires 0.9996.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371600" y="21762720"/>
            <a:ext cx="1399032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F979C9B9-C3CA-480F-BB52-CC7D4B02CE22}"/>
              </a:ext>
            </a:extLst>
          </p:cNvPr>
          <p:cNvSpPr>
            <a:spLocks noGrp="1"/>
          </p:cNvSpPr>
          <p:nvPr/>
        </p:nvSpPr>
        <p:spPr>
          <a:xfrm>
            <a:off x="1371600" y="12161520"/>
            <a:ext cx="13990320" cy="77724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 dirty="0">
                <a:solidFill>
                  <a:srgbClr val="111111"/>
                </a:solidFill>
                <a:latin typeface="Aptos"/>
              </a:rPr>
              <a:t>350 measurements from 32 source families at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A5654399-0386-420B-B69B-49326884E1BD}"/>
              </a:ext>
            </a:extLst>
          </p:cNvPr>
          <p:cNvSpPr>
            <a:spLocks noGrp="1"/>
          </p:cNvSpPr>
          <p:nvPr/>
        </p:nvSpPr>
        <p:spPr>
          <a:xfrm>
            <a:off x="8193024" y="12984480"/>
            <a:ext cx="347472" cy="256032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A4F32B50-A70B-4AAD-866D-8A9AFB77BA97}"/>
              </a:ext>
            </a:extLst>
          </p:cNvPr>
          <p:cNvSpPr>
            <a:spLocks noGrp="1"/>
          </p:cNvSpPr>
          <p:nvPr/>
        </p:nvSpPr>
        <p:spPr>
          <a:xfrm>
            <a:off x="1371600" y="13304520"/>
            <a:ext cx="13716000" cy="64008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338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4B9D32E4-35CC-401A-84F3-9B0E93812FF3}"/>
              </a:ext>
            </a:extLst>
          </p:cNvPr>
          <p:cNvSpPr>
            <a:spLocks noGrp="1"/>
          </p:cNvSpPr>
          <p:nvPr/>
        </p:nvSpPr>
        <p:spPr>
          <a:xfrm>
            <a:off x="5532120" y="13990320"/>
            <a:ext cx="347472" cy="256032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D840C234-8C7B-423E-87DF-1C2EC82BD5EA}"/>
              </a:ext>
            </a:extLst>
          </p:cNvPr>
          <p:cNvSpPr>
            <a:spLocks noGrp="1"/>
          </p:cNvSpPr>
          <p:nvPr/>
        </p:nvSpPr>
        <p:spPr>
          <a:xfrm>
            <a:off x="12733020" y="13990320"/>
            <a:ext cx="347472" cy="256032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B0440D7D-E739-420F-ABED-4E5D214838EC}"/>
              </a:ext>
            </a:extLst>
          </p:cNvPr>
          <p:cNvSpPr>
            <a:spLocks noGrp="1"/>
          </p:cNvSpPr>
          <p:nvPr/>
        </p:nvSpPr>
        <p:spPr>
          <a:xfrm>
            <a:off x="1371600" y="14337792"/>
            <a:ext cx="8673998" cy="3749040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C0DEFAC9-EF02-4B42-B474-17FA97D60021}"/>
              </a:ext>
            </a:extLst>
          </p:cNvPr>
          <p:cNvSpPr>
            <a:spLocks noGrp="1"/>
          </p:cNvSpPr>
          <p:nvPr/>
        </p:nvSpPr>
        <p:spPr>
          <a:xfrm>
            <a:off x="1426464" y="14356080"/>
            <a:ext cx="8564270" cy="64008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234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0810806D-B188-4E18-8185-C1F9716B0663}"/>
              </a:ext>
            </a:extLst>
          </p:cNvPr>
          <p:cNvSpPr>
            <a:spLocks noGrp="1"/>
          </p:cNvSpPr>
          <p:nvPr/>
        </p:nvSpPr>
        <p:spPr>
          <a:xfrm>
            <a:off x="1554480" y="15041880"/>
            <a:ext cx="8308238" cy="914400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220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Broad hydrogen (Balmer) line masses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 </a:t>
            </a:r>
            <a:r>
              <a:rPr lang="en-CA" sz="2000" b="0" baseline="30000" dirty="0">
                <a:solidFill>
                  <a:srgbClr val="111111"/>
                </a:solidFill>
                <a:latin typeface="Aptos"/>
              </a:rPr>
              <a:t>[2]</a:t>
            </a:r>
            <a:endParaRPr sz="3000" b="1" dirty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FAA325B6-AF3F-4391-B001-5CEA6C0D3BA1}"/>
              </a:ext>
            </a:extLst>
          </p:cNvPr>
          <p:cNvSpPr>
            <a:spLocks noGrp="1"/>
          </p:cNvSpPr>
          <p:nvPr/>
        </p:nvSpPr>
        <p:spPr>
          <a:xfrm>
            <a:off x="1554480" y="16002000"/>
            <a:ext cx="8308238" cy="2011680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14 additional</a:t>
            </a:r>
            <a:r>
              <a:rPr lang="en-CA" sz="2700" b="0" dirty="0">
                <a:solidFill>
                  <a:srgbClr val="111111"/>
                </a:solidFill>
                <a:latin typeface="Aptos"/>
              </a:rPr>
              <a:t>:</a:t>
            </a:r>
            <a:endParaRPr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7 masses with uncertain line origins, </a:t>
            </a:r>
            <a:endParaRPr lang="en-CA" sz="2700" dirty="0">
              <a:solidFill>
                <a:srgbClr val="111111"/>
              </a:solidFill>
              <a:latin typeface="Aptos"/>
            </a:endParaRP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assuming gas orbiting the black hole</a:t>
            </a:r>
            <a:endParaRPr lang="en-CA" sz="270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6 tentative broad-line detections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GN-z11: ultraviolet-line mass </a:t>
            </a:r>
            <a:r>
              <a:rPr sz="1800" b="0" baseline="30000" dirty="0">
                <a:solidFill>
                  <a:srgbClr val="111111"/>
                </a:solidFill>
                <a:latin typeface="Aptos"/>
              </a:rPr>
              <a:t>[1]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67E72EF7-28FB-420D-A9DC-6606EEB93072}"/>
              </a:ext>
            </a:extLst>
          </p:cNvPr>
          <p:cNvSpPr>
            <a:spLocks noGrp="1"/>
          </p:cNvSpPr>
          <p:nvPr/>
        </p:nvSpPr>
        <p:spPr>
          <a:xfrm>
            <a:off x="10457078" y="14337792"/>
            <a:ext cx="4630522" cy="3749040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growth sample</a:t>
            </a:r>
            <a:r>
              <a:rPr lang="en-CA" sz="2900" b="0" dirty="0">
                <a:solidFill>
                  <a:srgbClr val="111111"/>
                </a:solidFill>
                <a:latin typeface="Aptos"/>
              </a:rPr>
              <a:t>: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98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eligible mass</a:t>
            </a: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7A12F45B-766A-479C-A513-DC305E768B18}"/>
              </a:ext>
            </a:extLst>
          </p:cNvPr>
          <p:cNvSpPr>
            <a:spLocks noGrp="1"/>
          </p:cNvSpPr>
          <p:nvPr/>
        </p:nvSpPr>
        <p:spPr>
          <a:xfrm>
            <a:off x="1371600" y="22631400"/>
            <a:ext cx="13990320" cy="10515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Standardized mass, redshift and reported errors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;</a:t>
            </a:r>
            <a:endParaRPr sz="3000" b="1" dirty="0">
              <a:solidFill>
                <a:srgbClr val="111111"/>
              </a:solidFill>
              <a:latin typeface="Aptos"/>
            </a:endParaRP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7CA63206-32AF-4739-9D5D-3109B2CFE243}"/>
              </a:ext>
            </a:extLst>
          </p:cNvPr>
          <p:cNvSpPr>
            <a:spLocks noGrp="1"/>
          </p:cNvSpPr>
          <p:nvPr/>
        </p:nvSpPr>
        <p:spPr>
          <a:xfrm>
            <a:off x="4558284" y="23710392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F0E4059E-8B12-4811-AB13-DD1F53C26AA3}"/>
              </a:ext>
            </a:extLst>
          </p:cNvPr>
          <p:cNvSpPr>
            <a:spLocks noGrp="1"/>
          </p:cNvSpPr>
          <p:nvPr/>
        </p:nvSpPr>
        <p:spPr>
          <a:xfrm>
            <a:off x="11690604" y="23673816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58F78FE0-91A9-45C2-B422-70C8CA0D6647}"/>
              </a:ext>
            </a:extLst>
          </p:cNvPr>
          <p:cNvSpPr>
            <a:spLocks noGrp="1"/>
          </p:cNvSpPr>
          <p:nvPr/>
        </p:nvSpPr>
        <p:spPr>
          <a:xfrm>
            <a:off x="1371600" y="24003000"/>
            <a:ext cx="672084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E0DF1478-840F-4BDD-B29E-A5B229B3783E}"/>
              </a:ext>
            </a:extLst>
          </p:cNvPr>
          <p:cNvSpPr>
            <a:spLocks noGrp="1"/>
          </p:cNvSpPr>
          <p:nvPr/>
        </p:nvSpPr>
        <p:spPr>
          <a:xfrm>
            <a:off x="8641080" y="24003000"/>
            <a:ext cx="644652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F3106931-3BF4-4F12-9726-6C63FA258C0A}"/>
              </a:ext>
            </a:extLst>
          </p:cNvPr>
          <p:cNvSpPr>
            <a:spLocks noGrp="1"/>
          </p:cNvSpPr>
          <p:nvPr/>
        </p:nvSpPr>
        <p:spPr>
          <a:xfrm>
            <a:off x="4558284" y="24963120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336C5316-EC48-42CE-8537-8453628B7D8C}"/>
              </a:ext>
            </a:extLst>
          </p:cNvPr>
          <p:cNvSpPr>
            <a:spLocks noGrp="1"/>
          </p:cNvSpPr>
          <p:nvPr/>
        </p:nvSpPr>
        <p:spPr>
          <a:xfrm>
            <a:off x="11690604" y="24972264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971DBA1A-D2E6-408F-AF7C-16AF667673EA}"/>
              </a:ext>
            </a:extLst>
          </p:cNvPr>
          <p:cNvSpPr>
            <a:spLocks noGrp="1"/>
          </p:cNvSpPr>
          <p:nvPr/>
        </p:nvSpPr>
        <p:spPr>
          <a:xfrm>
            <a:off x="1371600" y="25283160"/>
            <a:ext cx="13716000" cy="2057400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 </a:t>
            </a:r>
            <a:r>
              <a:rPr sz="2067" b="0" baseline="30000">
                <a:solidFill>
                  <a:srgbClr val="111111"/>
                </a:solidFill>
                <a:latin typeface="Aptos"/>
              </a:rPr>
              <a:t>[3]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320C512-3791-4B48-9B61-7FD45A4601D4}"/>
              </a:ext>
            </a:extLst>
          </p:cNvPr>
          <p:cNvSpPr>
            <a:spLocks noGrp="1"/>
          </p:cNvSpPr>
          <p:nvPr/>
        </p:nvSpPr>
        <p:spPr>
          <a:xfrm>
            <a:off x="1371600" y="26380440"/>
            <a:ext cx="13990320" cy="9144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 err="1">
                <a:solidFill>
                  <a:srgbClr val="111111"/>
                </a:solidFill>
                <a:latin typeface="Aptos"/>
              </a:rPr>
              <a:t>ε</a:t>
            </a:r>
            <a:r>
              <a:rPr sz="3000" b="0" dirty="0">
                <a:solidFill>
                  <a:srgbClr val="111111"/>
                </a:solidFill>
                <a:latin typeface="Aptos"/>
              </a:rPr>
              <a:t> = 0.1, no mergers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A3C5BCD3-C05E-4CC3-AF1A-0840F4394EE3}"/>
              </a:ext>
            </a:extLst>
          </p:cNvPr>
          <p:cNvSpPr>
            <a:spLocks noGrp="1"/>
          </p:cNvSpPr>
          <p:nvPr/>
        </p:nvSpPr>
        <p:spPr>
          <a:xfrm>
            <a:off x="4558284" y="27386280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8529AA9E-ACC8-495E-8075-1D2F4EF9602E}"/>
              </a:ext>
            </a:extLst>
          </p:cNvPr>
          <p:cNvSpPr>
            <a:spLocks noGrp="1"/>
          </p:cNvSpPr>
          <p:nvPr/>
        </p:nvSpPr>
        <p:spPr>
          <a:xfrm>
            <a:off x="11690604" y="27395424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03BB0CC6-89F0-4BB8-91C2-A18697FB4691}"/>
              </a:ext>
            </a:extLst>
          </p:cNvPr>
          <p:cNvSpPr>
            <a:spLocks noGrp="1"/>
          </p:cNvSpPr>
          <p:nvPr/>
        </p:nvSpPr>
        <p:spPr>
          <a:xfrm>
            <a:off x="1371600" y="27706320"/>
            <a:ext cx="672084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Ranked central estimates</a:t>
            </a:r>
            <a:r>
              <a:rPr lang="en-CA" sz="2900" b="0" dirty="0">
                <a:solidFill>
                  <a:srgbClr val="111111"/>
                </a:solidFill>
                <a:latin typeface="Aptos"/>
              </a:rPr>
              <a:t>;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28773224-ED00-4347-B2C6-7FB30A5D9C9B}"/>
              </a:ext>
            </a:extLst>
          </p:cNvPr>
          <p:cNvSpPr>
            <a:spLocks noGrp="1"/>
          </p:cNvSpPr>
          <p:nvPr/>
        </p:nvSpPr>
        <p:spPr>
          <a:xfrm>
            <a:off x="8641080" y="27706320"/>
            <a:ext cx="644652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86A37956-8DA5-40AE-A03E-2CE429C5454A}"/>
              </a:ext>
            </a:extLst>
          </p:cNvPr>
          <p:cNvSpPr>
            <a:spLocks noGrp="1"/>
          </p:cNvSpPr>
          <p:nvPr/>
        </p:nvSpPr>
        <p:spPr>
          <a:xfrm>
            <a:off x="1359109" y="29352240"/>
            <a:ext cx="13990320" cy="150876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Uncertainty: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Mass errors cover 208 primary / 222 expanded objects. The other 12 enter central-mass tests only. Reported mass errors do not consistently include calibration uncertainty.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39DA12D1-0D37-445A-9028-17994BB6BD07}"/>
              </a:ext>
            </a:extLst>
          </p:cNvPr>
          <p:cNvSpPr>
            <a:spLocks noGrp="1"/>
          </p:cNvSpPr>
          <p:nvPr/>
        </p:nvSpPr>
        <p:spPr>
          <a:xfrm>
            <a:off x="1371600" y="30861000"/>
            <a:ext cx="13990320" cy="150876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Earlier onset: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Solved minimum seed masses for 4 targets at start redshifts 20–3,400. Included radiation in cosmic ages and assumed gas was available.</a:t>
            </a:r>
          </a:p>
        </p:txBody>
      </p:sp>
      <p:sp>
        <p:nvSpPr>
          <p:cNvPr id="3" name="Efficiency comparison heading">
            <a:extLst>
              <a:ext uri="{FF2B5EF4-FFF2-40B4-BE49-F238E27FC236}">
                <a16:creationId xmlns:a16="http://schemas.microsoft.com/office/drawing/2014/main" id="{9C7CDCE8-5361-4FEF-24D8-015D90D4280A}"/>
              </a:ext>
            </a:extLst>
          </p:cNvPr>
          <p:cNvSpPr>
            <a:spLocks noGrp="1"/>
          </p:cNvSpPr>
          <p:nvPr/>
        </p:nvSpPr>
        <p:spPr>
          <a:xfrm>
            <a:off x="1371600" y="11475720"/>
            <a:ext cx="1399032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Catalogue creation and sampling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B40514-F485-5888-F9CA-4FD66F13751C}"/>
              </a:ext>
            </a:extLst>
          </p:cNvPr>
          <p:cNvSpPr txBox="1"/>
          <p:nvPr/>
        </p:nvSpPr>
        <p:spPr>
          <a:xfrm>
            <a:off x="27383676" y="30109392"/>
            <a:ext cx="9552876" cy="17184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arXiv:2508.21748v2.</a:t>
            </a:r>
          </a:p>
          <a:p>
            <a:pPr>
              <a:spcAft>
                <a:spcPts val="800"/>
              </a:spcAft>
              <a:buNone/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3531A0-DA17-4C0D-FBA9-F5FDB919A1B0}"/>
              </a:ext>
            </a:extLst>
          </p:cNvPr>
          <p:cNvSpPr txBox="1"/>
          <p:nvPr/>
        </p:nvSpPr>
        <p:spPr>
          <a:xfrm>
            <a:off x="16322040" y="23148357"/>
            <a:ext cx="26454038" cy="44935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Catalogue:</a:t>
            </a:r>
            <a:r>
              <a:rPr lang="en-CA" sz="3300" dirty="0">
                <a:latin typeface="Aptos" panose="020B0004020202020204" pitchFamily="34" charset="0"/>
              </a:rPr>
              <a:t> The reproducible catalogue identifies the strongest targets for growth tests by comparing published masses under the same assumptions.</a:t>
            </a: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latin typeface="Aptos" panose="020B0004020202020204" pitchFamily="34" charset="0"/>
            </a:endParaRP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Growth physics:</a:t>
            </a:r>
            <a:r>
              <a:rPr lang="en-CA" sz="3300" dirty="0">
                <a:latin typeface="Aptos" panose="020B0004020202020204" pitchFamily="34" charset="0"/>
              </a:rPr>
              <a:t> The efficiency test shows that difficulty growing from small seeds does not imply a need for heavier seeds or super-Eddington accretion.</a:t>
            </a: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latin typeface="Aptos" panose="020B0004020202020204" pitchFamily="34" charset="0"/>
            </a:endParaRP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Earlier growth: </a:t>
            </a:r>
            <a:r>
              <a:rPr lang="en-CA" sz="3300" dirty="0">
                <a:solidFill>
                  <a:srgbClr val="000000"/>
                </a:solidFill>
              </a:rPr>
              <a:t>Earlier onset alone cannot explain the four target masses from 100 M⊙ seeds at </a:t>
            </a:r>
            <a:r>
              <a:rPr lang="en-CA" sz="3300" dirty="0" err="1">
                <a:solidFill>
                  <a:srgbClr val="000000"/>
                </a:solidFill>
              </a:rPr>
              <a:t>ε</a:t>
            </a:r>
            <a:r>
              <a:rPr lang="en-CA" sz="3300" dirty="0">
                <a:solidFill>
                  <a:srgbClr val="000000"/>
                </a:solidFill>
              </a:rPr>
              <a:t> = 0.1 and average ratio ≤ 1, without mergers.</a:t>
            </a: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solidFill>
                <a:srgbClr val="000000"/>
              </a:solidFill>
            </a:endParaRP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Future observations: </a:t>
            </a:r>
            <a:r>
              <a:rPr lang="en-CA" sz="3300" dirty="0">
                <a:solidFill>
                  <a:srgbClr val="000000"/>
                </a:solidFill>
              </a:rPr>
              <a:t>The independent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mass check shows that the inferred growth difficulty depends on the mass estimate. </a:t>
            </a:r>
            <a:r>
              <a:rPr lang="en-CA" sz="3300" dirty="0">
                <a:latin typeface="Aptos" panose="020B0004020202020204" pitchFamily="34" charset="0"/>
              </a:rPr>
              <a:t>Independent masses and checks on lensing and line broadening would test whether the strongest outliers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truly challenge the reference growth model.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210</TotalTime>
  <Words>1126</Words>
  <Application>Microsoft Macintosh PowerPoint</Application>
  <PresentationFormat>Custom</PresentationFormat>
  <Paragraphs>72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 Early Black-Hole Growth 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2026-10-15T03:54:41Z</dcterms:modified>
</cp:coreProperties>
</file>
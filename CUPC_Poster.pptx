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15"/>
    <p:restoredTop sz="94692"/>
  </p:normalViewPr>
  <p:slideViewPr>
    <p:cSldViewPr snapToGrid="0">
      <p:cViewPr>
        <p:scale>
          <a:sx n="54" d="100"/>
          <a:sy n="54" d="100"/>
        </p:scale>
        <p:origin x="248" y="-3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1:47:21.679" v="2444" actId="20577"/>
      <pc:docMkLst>
        <pc:docMk/>
      </pc:docMkLst>
      <pc:sldChg chg="addSp delSp modSp add del mod">
        <pc:chgData name="Nicole Jiang" userId="09ef0fc0f6f473b5" providerId="LiveId" clId="{EB8F4A53-0964-5BF1-90AD-931457E28E1A}" dt="2026-10-13T20:04:12.431" v="2363" actId="2696"/>
        <pc:sldMkLst>
          <pc:docMk/>
          <pc:sldMk cId="868487171" sldId="259"/>
        </pc:sldMkLst>
      </pc:sldChg>
      <pc:sldChg chg="modSp mod">
        <pc:chgData name="Nicole Jiang" userId="09ef0fc0f6f473b5" providerId="LiveId" clId="{EB8F4A53-0964-5BF1-90AD-931457E28E1A}" dt="2026-10-14T01:47:21.679" v="2444" actId="20577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8:14.362" v="2384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21:08:49.323" v="2392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3T20:05:00.025" v="2367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21:08:26.352" v="2387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1:47:21.679" v="2444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8:17.671" v="2385" actId="255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3T21:09:01.692" v="2393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21:08:38.029" v="2390" actId="1076"/>
          <ac:spMkLst>
            <pc:docMk/>
            <pc:sldMk cId="868487171" sldId="260"/>
            <ac:spMk id="82" creationId="{82B57F9D-B4AF-1E4D-7FBC-B8680CB4CAB8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>
              <a:spcAft>
                <a:spcPts val="800"/>
              </a:spcAft>
              <a:buNone/>
            </a:pPr>
            <a:r>
              <a:rPr lang="en-CA" sz="1200" b="0" dirty="0">
                <a:latin typeface="Aptos"/>
              </a:rPr>
              <a:t>Poster figure inputs: results/manuscript/tables/</a:t>
            </a:r>
            <a:r>
              <a:rPr lang="en-CA" sz="1200" b="0" dirty="0" err="1">
                <a:latin typeface="Aptos"/>
              </a:rPr>
              <a:t>publication_object_selection.csv</a:t>
            </a:r>
            <a:r>
              <a:rPr lang="en-CA" sz="1200" b="0" dirty="0">
                <a:latin typeface="Aptos"/>
              </a:rPr>
              <a:t>; </a:t>
            </a:r>
            <a:r>
              <a:rPr lang="en-CA" sz="1200" b="0" dirty="0" err="1">
                <a:latin typeface="Aptos"/>
              </a:rPr>
              <a:t>mass_offset_object_sensitivity.csv</a:t>
            </a:r>
            <a:r>
              <a:rPr lang="en-CA" sz="1200" b="0" dirty="0">
                <a:latin typeface="Aptos"/>
              </a:rPr>
              <a:t>; results/v3/tables/v3_object_point_ranking.csv and v3_object_uncertainty_ranking.csv; results/v4/tables/v4_minimum_seed_mass.csv. Controlled growth comparison uses </a:t>
            </a:r>
            <a:r>
              <a:rPr lang="en-CA" sz="1200" b="0" dirty="0" err="1">
                <a:latin typeface="Aptos"/>
              </a:rPr>
              <a:t>src.models.predicted_log_mbh</a:t>
            </a:r>
            <a:r>
              <a:rPr lang="en-CA" sz="1200" b="0" dirty="0">
                <a:latin typeface="Aptos"/>
              </a:rPr>
              <a:t> with mean ratio 1, </a:t>
            </a:r>
            <a:r>
              <a:rPr lang="en-CA" sz="1200" b="0" dirty="0" err="1">
                <a:latin typeface="Aptos"/>
              </a:rPr>
              <a:t>z_seed</a:t>
            </a:r>
            <a:r>
              <a:rPr lang="en-CA" sz="1200" b="0" dirty="0">
                <a:latin typeface="Aptos"/>
              </a:rPr>
              <a:t>=30, </a:t>
            </a:r>
            <a:r>
              <a:rPr lang="en-CA" sz="1200" b="0" dirty="0" err="1">
                <a:latin typeface="Aptos"/>
              </a:rPr>
              <a:t>B_merge</a:t>
            </a:r>
            <a:r>
              <a:rPr lang="en-CA" sz="1200" b="0" dirty="0">
                <a:latin typeface="Aptos"/>
              </a:rPr>
              <a:t>=1 and efficiencies 0.1 and 1-sqrt(8/9). Independent dynamical mass: https://</a:t>
            </a:r>
            <a:r>
              <a:rPr lang="en-CA" sz="1200" b="0" dirty="0" err="1">
                <a:latin typeface="Aptos"/>
              </a:rPr>
              <a:t>arxiv.org</a:t>
            </a:r>
            <a:r>
              <a:rPr lang="en-CA" sz="1200" b="0" dirty="0">
                <a:latin typeface="Aptos"/>
              </a:rPr>
              <a:t>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22174200"/>
            <a:ext cx="13258800" cy="9240982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0" y="8595360"/>
            <a:ext cx="13533120" cy="9134856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04800" y="-213360"/>
            <a:ext cx="44500800" cy="4663440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9418320" tIns="91440" rIns="1188720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 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48640"/>
            <a:ext cx="2834640" cy="28346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3291840" y="1051560"/>
            <a:ext cx="6035040" cy="217703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7840" y="457200"/>
            <a:ext cx="3108960" cy="310896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12064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00800"/>
            <a:ext cx="12573000" cy="32461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sz="3300" b="1" lang="en-CA">
                <a:latin typeface="Aptos"/>
              </a:rPr>
              <a:t>How did early black holes grow so big, so fast? </a:t>
            </a:r>
            <a:r>
              <a:rPr sz="3300" b="0" lang="en-CA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120640"/>
            <a:ext cx="13487400" cy="466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28700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388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lang="en-CA">
                    <a:latin typeface="Aptos"/>
                  </a:rPr>
                  <a:t>Model tests: </a:t>
                </a:r>
                <a:r>
                  <a:rPr sz="3300" b="0" lang="en-CA">
                    <a:latin typeface="Aptos"/>
                  </a:rPr>
                  <a:t>Calculated and ranked the lifetime-average Eddington ratios needed to reach each observed mass. Compared them with assumed caps: 1 for the reference test and 0.3, 1, or 2 for earlier-onset tests.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i="0" dirty="0">
                    <a:latin typeface="Aptos"/>
                  </a:rPr>
                  <a:t>Eddington ratio: </a:t>
                </a:r>
                <a:r>
                  <a:rPr lang="en-CA" sz="3300" b="0" i="1" dirty="0" err="1">
                    <a:latin typeface="Aptos"/>
                  </a:rPr>
                  <a:t>f</a:t>
                </a:r>
                <a:r>
                  <a:rPr lang="en-CA" sz="2200" b="0" i="0" baseline="-25000" dirty="0" err="1">
                    <a:latin typeface="Aptos"/>
                  </a:rPr>
                  <a:t>Edd</a:t>
                </a:r>
                <a:r>
                  <a:rPr lang="en-CA" sz="3300" b="0" i="0" dirty="0">
                    <a:latin typeface="Aptos"/>
                  </a:rPr>
                  <a:t> </a:t>
                </a:r>
                <a:r>
                  <a:rPr lang="en-CA" sz="3300" b="1" i="0" dirty="0">
                    <a:latin typeface="Aptos"/>
                  </a:rPr>
                  <a:t>: </a:t>
                </a:r>
                <a:r>
                  <a:rPr lang="en-CA" sz="3300" b="0" i="0" dirty="0">
                    <a:latin typeface="Aptos"/>
                  </a:rPr>
                  <a:t>luminosity/Eddington limit;  </a:t>
                </a:r>
                <a:r>
                  <a:rPr lang="en-CA" sz="3300" b="0" i="1" dirty="0" err="1">
                    <a:latin typeface="Aptos"/>
                  </a:rPr>
                  <a:t>f̄</a:t>
                </a:r>
                <a:r>
                  <a:rPr lang="en-CA" sz="2200" b="0" i="0" baseline="-25000" dirty="0" err="1">
                    <a:latin typeface="Aptos"/>
                  </a:rPr>
                  <a:t>Edd,req</a:t>
                </a:r>
                <a:r>
                  <a:rPr lang="en-CA" sz="3300" b="0" i="0" dirty="0">
                    <a:latin typeface="Aptos"/>
                  </a:rPr>
                  <a:t>: required lifetime average, including inactive periods. Values above 1 require periods of super-Eddington growth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gas remained available for accretion.</a:t>
                </a:r>
              </a:p>
            </p:txBody>
          </p:sp>
        </mc:Choice>
        <mc:Fallback>
          <p:sp xmlns:a14="http://schemas.microsoft.com/office/drawing/2010/main"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371600" y="11567160"/>
                <a:ext cx="12573000" cy="138882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lang="en-CA">
                    <a:latin typeface="Aptos"/>
                  </a:rPr>
                  <a:t>Model tests: </a:t>
                </a:r>
                <a:r>
                  <a:rPr sz="3300" b="0" lang="en-CA">
                    <a:latin typeface="Aptos"/>
                  </a:rPr>
                  <a:t>Calculated and ranked the lifetime-average Eddington ratios needed to reach each observed mass. Compared them with assumed caps: 1 for the reference test and 0.3, 1, or 2 for earlier-onset tests.</a:t>
                </a:r>
              </a:p>
              <a:p>
                <a:r>
                  <a:rPr sz="2600">
                    <a:latin typeface="Cambria Math"/>
                  </a:rPr>
                  <a:t>f̄Edd,req = max[0, ε/(1−ε) × tEdd/Δt × ln(MBH/(Bmerge Mseed))]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i="0" dirty="0">
                    <a:latin typeface="Aptos"/>
                  </a:rPr>
                  <a:t>Eddington ratio: </a:t>
                </a:r>
                <a:r>
                  <a:rPr lang="en-CA" sz="3300" b="0" i="1" dirty="0" err="1">
                    <a:latin typeface="Aptos"/>
                  </a:rPr>
                  <a:t>f</a:t>
                </a:r>
                <a:r>
                  <a:rPr lang="en-CA" sz="2200" b="0" i="0" baseline="-25000" dirty="0" err="1">
                    <a:latin typeface="Aptos"/>
                  </a:rPr>
                  <a:t>Edd</a:t>
                </a:r>
                <a:r>
                  <a:rPr lang="en-CA" sz="3300" b="0" i="0" dirty="0">
                    <a:latin typeface="Aptos"/>
                  </a:rPr>
                  <a:t> </a:t>
                </a:r>
                <a:r>
                  <a:rPr lang="en-CA" sz="3300" b="1" i="0" dirty="0">
                    <a:latin typeface="Aptos"/>
                  </a:rPr>
                  <a:t>: </a:t>
                </a:r>
                <a:r>
                  <a:rPr lang="en-CA" sz="3300" b="0" i="0" dirty="0">
                    <a:latin typeface="Aptos"/>
                  </a:rPr>
                  <a:t>luminosity/Eddington limit;  </a:t>
                </a:r>
                <a:r>
                  <a:rPr lang="en-CA" sz="3300" b="0" i="1" dirty="0" err="1">
                    <a:latin typeface="Aptos"/>
                  </a:rPr>
                  <a:t>f̄</a:t>
                </a:r>
                <a:r>
                  <a:rPr lang="en-CA" sz="2200" b="0" i="0" baseline="-25000" dirty="0" err="1">
                    <a:latin typeface="Aptos"/>
                  </a:rPr>
                  <a:t>Edd,req</a:t>
                </a:r>
                <a:r>
                  <a:rPr lang="en-CA" sz="3300" b="0" i="0" dirty="0">
                    <a:latin typeface="Aptos"/>
                  </a:rPr>
                  <a:t>: required lifetime average, including inactive periods. Values above 1 require periods of super-Eddington growth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gas remained available for accretion.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287000"/>
            <a:ext cx="13487400" cy="160934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29260800" y="21351240"/>
            <a:ext cx="137160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29718000" y="22814280"/>
            <a:ext cx="12801600" cy="83202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Radiative efficiency: </a:t>
            </a:r>
            <a:r>
              <a:rPr sz="3300" b="0" lang="en-CA">
                <a:latin typeface="Aptos"/>
              </a:rPr>
              <a:t>With 100 M⊙ seeds at z = 30, 8 primary objects require average ratios above 1 at ε = 0.1. At ε = 0.05719 (non-spinning thin disc), all 234 central masses require ratios below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Mass measurements: </a:t>
            </a:r>
            <a:r>
              <a:rPr sz="3300" b="0" lang="en-CA">
                <a:latin typeface="Aptos"/>
              </a:rPr>
              <a:t>Independent masses, improved lens models, and tests of scattering in broad emission lines could change which objects exceed the reference limit.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Catalogue: </a:t>
            </a:r>
            <a:r>
              <a:rPr sz="3300" b="0" lang="en-CA">
                <a:latin typeface="Aptos"/>
              </a:rPr>
              <a:t>The catalogue retains alternative measurements for comparison. Its counts combine different surveys and cannot show how common these black holes are.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Earlier growth: </a:t>
            </a:r>
            <a:r>
              <a:rPr sz="3300" b="0" lang="en-CA">
                <a:latin typeface="Aptos"/>
              </a:rPr>
              <a:t>Starting at z = 3,400, the 4 targets still need 270–1,200 M⊙ seeds (ε = 0.1, average ratio ≤ 1, no mergers). Larger seeds or super-Eddington accretion remain possible explanations.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29260800" y="21351240"/>
            <a:ext cx="13716000" cy="108813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26883360"/>
            <a:ext cx="134874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28448179"/>
            <a:ext cx="1257300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26883360"/>
            <a:ext cx="13487400" cy="534924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087600" y="12847320"/>
            <a:ext cx="13533120" cy="69494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47430" y="920951"/>
            <a:ext cx="5286065" cy="3962400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30898293" y="1603265"/>
            <a:ext cx="2033427" cy="978809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32496336" y="-185399"/>
            <a:ext cx="8190834" cy="460899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29718000" y="6400800"/>
            <a:ext cx="128016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At matter–radiation equality (z = 3,400), the 3 leading primary targets plus GN-z11 require minimum seed masses of 270–1,200 M⊙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  <a:r>
              <a:rPr lang="en-CA" sz="33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5270480" y="6400800"/>
            <a:ext cx="13395960" cy="61863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Reference: </a:t>
            </a:r>
            <a:r>
              <a:rPr lang="en-CA" sz="3300" b="0" dirty="0">
                <a:latin typeface="Aptos"/>
              </a:rPr>
              <a:t>8/220 primary objects require an average ratio above 1; 5 do so in ≥ 95% of reported-mass-error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Mass sensitivity: </a:t>
            </a:r>
            <a:r>
              <a:rPr lang="en-CA" sz="3300" b="0" dirty="0">
                <a:latin typeface="Aptos"/>
              </a:rPr>
              <a:t>UNCOVER-20466, COSMOS3D-13852, and RUBIES-EGS-55604 retain ≥ 95% support after a 0.5 </a:t>
            </a:r>
            <a:r>
              <a:rPr lang="en-CA" sz="3300" b="0" dirty="0" err="1">
                <a:latin typeface="Aptos"/>
              </a:rPr>
              <a:t>dex</a:t>
            </a:r>
            <a:r>
              <a:rPr lang="en-CA" sz="3300" b="0" dirty="0">
                <a:latin typeface="Aptos"/>
              </a:rPr>
              <a:t> mass reduction (a factor of 3.2).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Seed mass: </a:t>
            </a:r>
            <a:r>
              <a:rPr lang="en-CA" sz="3300" b="0" dirty="0">
                <a:latin typeface="Aptos"/>
              </a:rPr>
              <a:t>1,000 M⊙ seeds leave 3/220 above 1; 100,000 M⊙ seeds leave 0 above 1 in either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Formation time: </a:t>
            </a:r>
            <a:r>
              <a:rPr lang="en-CA" sz="3300" b="0" dirty="0">
                <a:latin typeface="Aptos"/>
              </a:rPr>
              <a:t>Later seeding (z = 20) gives 18/220 primary objects above 1; GN-z11 has the highest requirement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Efficiency: </a:t>
            </a:r>
            <a:r>
              <a:rPr lang="en-CA" sz="3300" b="0" dirty="0">
                <a:latin typeface="Aptos"/>
              </a:rPr>
              <a:t>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 (non-spinning thin disc) [4], all 234 central masses are reachable from 100 M⊙ seeds at z = 30 with an average ratio below 1.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4950440" y="5120640"/>
            <a:ext cx="28026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4950440" y="5120640"/>
            <a:ext cx="28026360" cy="1595628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5407640" y="19842480"/>
            <a:ext cx="1280160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a −0.5 dex mass shift, 3 targets retain ≥ 95% reported-error support for a required average ratio above 1.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5224760" y="31455360"/>
            <a:ext cx="13121640" cy="7772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29718000" y="17830800"/>
            <a:ext cx="12801600" cy="5029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29718000" y="18836640"/>
            <a:ext cx="128016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3300" b="1" lang="en-CA">
                <a:latin typeface="Aptos"/>
              </a:rPr>
              <a:t>Independent mass check: </a:t>
            </a:r>
            <a:r>
              <a:rPr sz="3300" b="0" lang="en-CA">
                <a:latin typeface="Aptos"/>
              </a:rPr>
              <a:t>For A2744-QSO1, the broad-line mass (2.0 × 10</a:t>
            </a:r>
            <a:r>
              <a:rPr sz="2200" b="0" lang="en-CA" baseline="30000">
                <a:latin typeface="Aptos"/>
              </a:rPr>
              <a:t>7</a:t>
            </a:r>
            <a:r>
              <a:rPr sz="3300" b="0" lang="en-CA">
                <a:latin typeface="Aptos"/>
              </a:rPr>
              <a:t> M⊙) requires an average ratio of 0.929. The dynamical mass (5.0 × 10</a:t>
            </a:r>
            <a:r>
              <a:rPr sz="2200" b="0" lang="en-CA" baseline="30000">
                <a:latin typeface="Aptos"/>
              </a:rPr>
              <a:t>7</a:t>
            </a:r>
            <a:r>
              <a:rPr sz="3300" b="0" lang="en-CA">
                <a:latin typeface="Aptos"/>
              </a:rPr>
              <a:t> M⊙) requires 0.9996 (16th–84th percentiles: 0.947–1.052) [5].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5224760" y="21351240"/>
            <a:ext cx="1312164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sz="3600" b="1" lang="en-CA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959</Words>
  <Application>Microsoft Macintosh PowerPoint</Application>
  <PresentationFormat>Custom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 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2026-10-14T01:47:28Z</dcterms:modified>
</cp:coreProperties>
</file>
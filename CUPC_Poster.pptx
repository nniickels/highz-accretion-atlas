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0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5C"/>
    <a:srgbClr val="002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7"/>
    <p:restoredTop sz="94692"/>
  </p:normalViewPr>
  <p:slideViewPr>
    <p:cSldViewPr snapToGrid="0">
      <p:cViewPr>
        <p:scale>
          <a:sx n="10" d="100"/>
          <a:sy n="10" d="100"/>
        </p:scale>
        <p:origin x="67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6473874E-BB57-4884-5C66-EE1C81F1FB1F}"/>
    <pc:docChg chg="modSld">
      <pc:chgData name="Guest User" userId="" providerId="Windows Live" clId="Web-{6473874E-BB57-4884-5C66-EE1C81F1FB1F}" dt="2026-10-06T18:07:50.156" v="49" actId="14100"/>
      <pc:docMkLst>
        <pc:docMk/>
      </pc:docMkLst>
    </pc:docChg>
  </pc:docChgLst>
  <pc:docChgLst>
    <pc:chgData name="Nicole Jiang" userId="09ef0fc0f6f473b5" providerId="LiveId" clId="{EB8F4A53-0964-5BF1-90AD-931457E28E1A}"/>
    <pc:docChg chg="undo redo custSel addSld delSld modSld">
      <pc:chgData name="Nicole Jiang" userId="09ef0fc0f6f473b5" providerId="LiveId" clId="{EB8F4A53-0964-5BF1-90AD-931457E28E1A}" dt="2026-10-13T21:09:01.692" v="2393" actId="1076"/>
      <pc:docMkLst>
        <pc:docMk/>
      </pc:docMkLst>
      <pc:sldChg chg="addSp delSp modSp add del mod">
        <pc:chgData name="Nicole Jiang" userId="09ef0fc0f6f473b5" providerId="LiveId" clId="{EB8F4A53-0964-5BF1-90AD-931457E28E1A}" dt="2026-10-13T20:04:12.431" v="2363" actId="2696"/>
        <pc:sldMkLst>
          <pc:docMk/>
          <pc:sldMk cId="868487171" sldId="259"/>
        </pc:sldMkLst>
      </pc:sldChg>
      <pc:sldChg chg="modSp mod">
        <pc:chgData name="Nicole Jiang" userId="09ef0fc0f6f473b5" providerId="LiveId" clId="{EB8F4A53-0964-5BF1-90AD-931457E28E1A}" dt="2026-10-13T21:09:01.692" v="2393" actId="1076"/>
        <pc:sldMkLst>
          <pc:docMk/>
          <pc:sldMk cId="868487171" sldId="260"/>
        </pc:sldMkLst>
        <pc:spChg chg="mod">
          <ac:chgData name="Nicole Jiang" userId="09ef0fc0f6f473b5" providerId="LiveId" clId="{EB8F4A53-0964-5BF1-90AD-931457E28E1A}" dt="2026-10-13T21:08:14.362" v="2384" actId="255"/>
          <ac:spMkLst>
            <pc:docMk/>
            <pc:sldMk cId="868487171" sldId="260"/>
            <ac:spMk id="2" creationId="{6F669F8B-BE33-0C82-515C-AF8D3B759FB3}"/>
          </ac:spMkLst>
        </pc:spChg>
        <pc:spChg chg="mod">
          <ac:chgData name="Nicole Jiang" userId="09ef0fc0f6f473b5" providerId="LiveId" clId="{EB8F4A53-0964-5BF1-90AD-931457E28E1A}" dt="2026-10-13T21:08:49.323" v="2392" actId="1076"/>
          <ac:spMkLst>
            <pc:docMk/>
            <pc:sldMk cId="868487171" sldId="260"/>
            <ac:spMk id="15" creationId="{B71483CE-2A7E-6438-7E3B-E605C17C7099}"/>
          </ac:spMkLst>
        </pc:spChg>
        <pc:spChg chg="mod">
          <ac:chgData name="Nicole Jiang" userId="09ef0fc0f6f473b5" providerId="LiveId" clId="{EB8F4A53-0964-5BF1-90AD-931457E28E1A}" dt="2026-10-13T20:05:00.025" v="2367" actId="1076"/>
          <ac:spMkLst>
            <pc:docMk/>
            <pc:sldMk cId="868487171" sldId="260"/>
            <ac:spMk id="32" creationId="{F8D50A2A-9B61-AD34-B9C2-8944BB27426C}"/>
          </ac:spMkLst>
        </pc:spChg>
        <pc:spChg chg="mod">
          <ac:chgData name="Nicole Jiang" userId="09ef0fc0f6f473b5" providerId="LiveId" clId="{EB8F4A53-0964-5BF1-90AD-931457E28E1A}" dt="2026-10-13T21:08:26.352" v="2387" actId="255"/>
          <ac:spMkLst>
            <pc:docMk/>
            <pc:sldMk cId="868487171" sldId="260"/>
            <ac:spMk id="70" creationId="{7842EAEC-0FF9-516A-6712-19E0D19D0354}"/>
          </ac:spMkLst>
        </pc:spChg>
        <pc:spChg chg="mod">
          <ac:chgData name="Nicole Jiang" userId="09ef0fc0f6f473b5" providerId="LiveId" clId="{EB8F4A53-0964-5BF1-90AD-931457E28E1A}" dt="2026-10-13T21:08:30.689" v="2388" actId="255"/>
          <ac:spMkLst>
            <pc:docMk/>
            <pc:sldMk cId="868487171" sldId="260"/>
            <ac:spMk id="73" creationId="{88C51BF9-B81A-ECF4-F01D-305CA1CE9DD1}"/>
          </ac:spMkLst>
        </pc:spChg>
        <pc:spChg chg="mod">
          <ac:chgData name="Nicole Jiang" userId="09ef0fc0f6f473b5" providerId="LiveId" clId="{EB8F4A53-0964-5BF1-90AD-931457E28E1A}" dt="2026-10-13T21:08:17.671" v="2385" actId="255"/>
          <ac:spMkLst>
            <pc:docMk/>
            <pc:sldMk cId="868487171" sldId="260"/>
            <ac:spMk id="76" creationId="{8F4057E1-F618-63B3-DF3A-8B3B4948305D}"/>
          </ac:spMkLst>
        </pc:spChg>
        <pc:spChg chg="mod">
          <ac:chgData name="Nicole Jiang" userId="09ef0fc0f6f473b5" providerId="LiveId" clId="{EB8F4A53-0964-5BF1-90AD-931457E28E1A}" dt="2026-10-13T21:09:01.692" v="2393" actId="1076"/>
          <ac:spMkLst>
            <pc:docMk/>
            <pc:sldMk cId="868487171" sldId="260"/>
            <ac:spMk id="79" creationId="{3DD5B540-2EC8-A5A1-200C-994C1D7C8BFD}"/>
          </ac:spMkLst>
        </pc:spChg>
        <pc:spChg chg="mod">
          <ac:chgData name="Nicole Jiang" userId="09ef0fc0f6f473b5" providerId="LiveId" clId="{EB8F4A53-0964-5BF1-90AD-931457E28E1A}" dt="2026-10-13T21:08:38.029" v="2390" actId="1076"/>
          <ac:spMkLst>
            <pc:docMk/>
            <pc:sldMk cId="868487171" sldId="260"/>
            <ac:spMk id="82" creationId="{82B57F9D-B4AF-1E4D-7FBC-B8680CB4CAB8}"/>
          </ac:spMkLst>
        </pc:spChg>
      </pc:sldChg>
    </pc:docChg>
  </pc:docChgLst>
  <pc:docChgLst>
    <pc:chgData name="Nicole Jiang" userId="09ef0fc0f6f473b5" providerId="Windows Live" clId="Web-{00000000-0000-0000-0000-000000000000}"/>
    <pc:docChg chg="modSld">
      <pc:chgData name="Nicole Jiang" userId="09ef0fc0f6f473b5" providerId="Windows Live" clId="Web-{00000000-0000-0000-0000-000000000000}" dt="2026-10-06T17:56:42.980" v="36" actId="1076"/>
      <pc:docMkLst>
        <pc:docMk/>
      </pc:docMkLst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10-06T18:59:37.821" v="16" actId="1410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F461-2A77-BA43-9B12-25195C3EB239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DA246-DE01-5046-81A0-D7E93C874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5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C11B-3281-61F5-AEEC-E5F2B298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5FC8B-F564-04EA-26FD-6F8FBA438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CB9E4-9956-85CD-1D61-2F397B47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pPr>
              <a:spcAft>
                <a:spcPts val="800"/>
              </a:spcAft>
              <a:buNone/>
            </a:pPr>
            <a:r>
              <a:rPr lang="en-CA" sz="1200" b="0">
                <a:latin typeface="Aptos"/>
              </a:rPr>
              <a:t>Poster figure inputs: results/manuscript/tables/publication_object_selection.csv; mass_offset_object_sensitivity.csv; results/v3/tables/v3_object_point_ranking.csv and v3_object_uncertainty_ranking.csv; results/v4/tables/v4_minimum_seed_mass.csv. Controlled growth comparison uses src.models.predicted_log_mbh with mean ratio 1, z_seed=30, B_merge=1 and efficiencies 0.1 and 1-sqrt(8/9). Independent dynamical mass: https://arxiv.org/abs/2508.21748.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E2F2-BDDF-9490-DE7B-11CDCE91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0DA246-DE01-5046-81A0-D7E93C8740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7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0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1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0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2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5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3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84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34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&quot; x 48&quot;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>
          <a:xfrm>
            <a:off x="696687" y="609600"/>
            <a:ext cx="42497830" cy="3352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 anchor="ctr" anchorCtr="1"/>
          <a:lstStyle>
            <a:lvl1pPr>
              <a:defRPr sz="62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Poster Presentation Title</a:t>
            </a:r>
            <a:br>
              <a:rPr lang="en-US"/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Author Name(s)</a:t>
            </a:r>
            <a:b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US" sz="42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List Affiliated Institutions</a:t>
            </a:r>
            <a:endParaRPr lang="en-US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9668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Abstract or Introduction</a:t>
            </a:r>
            <a:endParaRPr lang="en-US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96687" y="5638800"/>
            <a:ext cx="13585370" cy="86868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 baseline="0"/>
            </a:lvl2pPr>
            <a:lvl3pPr marL="772848" indent="0">
              <a:buNone/>
              <a:defRPr sz="2800" baseline="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696687" y="146304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Objectives</a:t>
            </a:r>
            <a:endParaRPr lang="en-US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96687" y="160020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96687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Methods</a:t>
            </a:r>
            <a:endParaRPr lang="en-US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96687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marR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marL="0" marR="0" lvl="0" indent="0" algn="l" defTabSz="349309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Copy and paste title bars and text boxes to create additional sections.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15152917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Results</a:t>
            </a:r>
            <a:endParaRPr lang="en-US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7"/>
          </p:nvPr>
        </p:nvSpPr>
        <p:spPr>
          <a:xfrm>
            <a:off x="29609145" y="24993600"/>
            <a:ext cx="13585370" cy="73152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29609145" y="42672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Conclusion</a:t>
            </a:r>
            <a:endParaRPr lang="en-US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9"/>
          </p:nvPr>
        </p:nvSpPr>
        <p:spPr>
          <a:xfrm>
            <a:off x="29609145" y="5638800"/>
            <a:ext cx="13585370" cy="17678400"/>
          </a:xfrm>
          <a:prstGeom prst="rect">
            <a:avLst/>
          </a:prstGeom>
        </p:spPr>
        <p:txBody>
          <a:bodyPr vert="horz" lIns="78373" tIns="39187" rIns="78373" bIns="39187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29609145" y="23622000"/>
            <a:ext cx="13585370" cy="1066800"/>
          </a:xfrm>
          <a:prstGeom prst="rect">
            <a:avLst/>
          </a:prstGeom>
          <a:solidFill>
            <a:srgbClr val="C4172F"/>
          </a:solidFill>
          <a:ln>
            <a:solidFill>
              <a:srgbClr val="C4172F"/>
            </a:solidFill>
          </a:ln>
        </p:spPr>
        <p:txBody>
          <a:bodyPr vert="horz" lIns="78373" tIns="39187" rIns="78373" bIns="39187"/>
          <a:lstStyle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4200"/>
              <a:t>References</a:t>
            </a:r>
            <a:endParaRPr lang="en-US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1" hasCustomPrompt="1"/>
          </p:nvPr>
        </p:nvSpPr>
        <p:spPr>
          <a:xfrm>
            <a:off x="15152917" y="5638800"/>
            <a:ext cx="13585370" cy="266700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 baseline="0"/>
            </a:lvl1pPr>
            <a:lvl2pPr marL="397308" indent="0">
              <a:buNone/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22" hasCustomPrompt="1"/>
          </p:nvPr>
        </p:nvSpPr>
        <p:spPr>
          <a:xfrm>
            <a:off x="1219205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7" name="Picture Placeholder 35"/>
          <p:cNvSpPr>
            <a:spLocks noGrp="1"/>
          </p:cNvSpPr>
          <p:nvPr>
            <p:ph type="pic" sz="quarter" idx="23" hasCustomPrompt="1"/>
          </p:nvPr>
        </p:nvSpPr>
        <p:spPr>
          <a:xfrm>
            <a:off x="39711091" y="914400"/>
            <a:ext cx="3135086" cy="2743200"/>
          </a:xfrm>
          <a:prstGeom prst="rect">
            <a:avLst/>
          </a:prstGeom>
          <a:solidFill>
            <a:schemeClr val="bg1"/>
          </a:solidFill>
        </p:spPr>
        <p:txBody>
          <a:bodyPr vert="horz" lIns="78373" tIns="39187" rIns="78373" bIns="39187"/>
          <a:lstStyle>
            <a:lvl1pPr marL="0" indent="0">
              <a:buNone/>
              <a:defRPr sz="2000"/>
            </a:lvl1pPr>
          </a:lstStyle>
          <a:p>
            <a:r>
              <a:rPr lang="en-US"/>
              <a:t>LOGO</a:t>
            </a:r>
          </a:p>
        </p:txBody>
      </p:sp>
      <p:sp>
        <p:nvSpPr>
          <p:cNvPr id="39" name="Chart Placeholder 38"/>
          <p:cNvSpPr>
            <a:spLocks noGrp="1"/>
          </p:cNvSpPr>
          <p:nvPr>
            <p:ph type="chart" sz="quarter" idx="24"/>
          </p:nvPr>
        </p:nvSpPr>
        <p:spPr>
          <a:xfrm>
            <a:off x="16197949" y="16154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sp>
        <p:nvSpPr>
          <p:cNvPr id="40" name="Chart Placeholder 38"/>
          <p:cNvSpPr>
            <a:spLocks noGrp="1"/>
          </p:cNvSpPr>
          <p:nvPr>
            <p:ph type="chart" sz="quarter" idx="25"/>
          </p:nvPr>
        </p:nvSpPr>
        <p:spPr>
          <a:xfrm>
            <a:off x="16197949" y="24536400"/>
            <a:ext cx="11495314" cy="6705600"/>
          </a:xfrm>
          <a:prstGeom prst="rect">
            <a:avLst/>
          </a:prstGeom>
        </p:spPr>
        <p:txBody>
          <a:bodyPr vert="horz" lIns="78373" tIns="39187" rIns="78373" bIns="39187"/>
          <a:lstStyle>
            <a:lvl1pPr marL="0" indent="0">
              <a:buNone/>
              <a:defRPr sz="2800"/>
            </a:lvl1pPr>
          </a:lstStyle>
          <a:p>
            <a:endParaRPr lang="en-US"/>
          </a:p>
        </p:txBody>
      </p:sp>
      <p:pic>
        <p:nvPicPr>
          <p:cNvPr id="4" name="Picture 3" descr="Log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8400" y="32416772"/>
            <a:ext cx="2743200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74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62D96-B761-444F-9627-07D69EF59102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EB7A8-E57D-FE4E-97CB-A535FD572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7601-38BA-EEC6-B535-6199F2F2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E2EF0-72FB-E9D0-1E82-C65E26ED9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0" y="22174200"/>
            <a:ext cx="13258800" cy="9240982"/>
          </a:xfrm>
          <a:prstGeom prst="rect">
            <a:avLst/>
          </a:prstGeom>
        </p:spPr>
      </p:pic>
      <p:pic>
        <p:nvPicPr>
          <p:cNvPr id="14" name="Minimum seed mass versus accretion onset" descr="Manuscript minimum seed masses under fixed growth caps for UNCOVER-20466, COSMOS3D-13852, RUBIES-EGS-55604, and GN-z11.">
            <a:extLst>
              <a:ext uri="{FF2B5EF4-FFF2-40B4-BE49-F238E27FC236}">
                <a16:creationId xmlns:a16="http://schemas.microsoft.com/office/drawing/2014/main" id="{C3CA3027-10C5-D39A-05B0-82DB2540F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2240" y="8595360"/>
            <a:ext cx="13533120" cy="9134856"/>
          </a:xfrm>
          <a:prstGeom prst="rect">
            <a:avLst/>
          </a:prstGeom>
        </p:spPr>
      </p:pic>
      <p:sp>
        <p:nvSpPr>
          <p:cNvPr id="32" name="Title 18">
            <a:extLst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04800" y="-213360"/>
            <a:ext cx="44500800" cy="4663440"/>
          </a:xfrm>
          <a:solidFill>
            <a:srgbClr val="002A5C"/>
          </a:solidFill>
          <a:ln>
            <a:solidFill>
              <a:srgbClr val="09306B"/>
            </a:solidFill>
          </a:ln>
        </p:spPr>
        <p:txBody>
          <a:bodyPr lIns="9418320" tIns="91440" rIns="11887200">
            <a:normAutofit/>
          </a:bodyPr>
          <a:lstStyle/>
          <a:p>
            <a:pPr algn="ctr"/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Black-Hole Growth Constraints from JWST</a:t>
            </a:r>
            <a:b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Nicole Jiang; University of Toronto</a:t>
            </a:r>
            <a:br>
              <a:rPr lang="en-US" sz="4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6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Picture 32" descr="University of Toronto - Wikipedia">
            <a:extLst>
              <a:ext uri="{FF2B5EF4-FFF2-40B4-BE49-F238E27FC236}">
                <a16:creationId xmlns:a16="http://schemas.microsoft.com/office/drawing/2014/main" id="{42BD33B9-86B6-8B04-8AA1-E72E85543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8640"/>
            <a:ext cx="2834640" cy="2834640"/>
          </a:xfrm>
          <a:prstGeom prst="rect">
            <a:avLst/>
          </a:prstGeom>
        </p:spPr>
      </p:pic>
      <p:pic>
        <p:nvPicPr>
          <p:cNvPr id="36" name="Picture 35" descr="University of Toronto profile | Powered by Inpart">
            <a:extLst>
              <a:ext uri="{FF2B5EF4-FFF2-40B4-BE49-F238E27FC236}">
                <a16:creationId xmlns:a16="http://schemas.microsoft.com/office/drawing/2014/main" id="{8C2E503F-9CF2-EBE6-29B0-458691A7DF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902" t="38725" b="33824"/>
          <a:stretch>
            <a:fillRect/>
          </a:stretch>
        </p:blipFill>
        <p:spPr>
          <a:xfrm>
            <a:off x="3291840" y="1051560"/>
            <a:ext cx="6035040" cy="217703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C65ED58-816C-A2B5-F6CB-4326B0858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67840" y="457200"/>
            <a:ext cx="3108960" cy="3108960"/>
          </a:xfrm>
          <a:prstGeom prst="rect">
            <a:avLst/>
          </a:prstGeom>
        </p:spPr>
      </p:pic>
      <p:sp>
        <p:nvSpPr>
          <p:cNvPr id="69" name="Title 18">
            <a:extLst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 txBox="1">
            <a:spLocks/>
          </p:cNvSpPr>
          <p:nvPr/>
        </p:nvSpPr>
        <p:spPr>
          <a:xfrm>
            <a:off x="914400" y="512064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 txBox="1"/>
          <p:nvPr/>
        </p:nvSpPr>
        <p:spPr>
          <a:xfrm>
            <a:off x="1371600" y="6400800"/>
            <a:ext cx="12573000" cy="32461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3300" b="1" dirty="0">
                <a:latin typeface="Aptos"/>
              </a:rPr>
              <a:t>How did early black holes grow so big, so fast? </a:t>
            </a:r>
            <a:r>
              <a:rPr lang="en-CA" sz="3300" b="0" dirty="0">
                <a:latin typeface="Aptos"/>
              </a:rPr>
              <a:t>The James Webb Space Telescope (JWST) has revealed massive black holes with little time to assemble. My research builds a standardized catalogue across studies, then tests objects against analytic growth models to identify the strongest constraints and how they depend on the assumptions.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/>
          <p:nvPr/>
        </p:nvSpPr>
        <p:spPr>
          <a:xfrm>
            <a:off x="914400" y="5120640"/>
            <a:ext cx="13487400" cy="46634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itle 18">
            <a:extLst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 txBox="1">
            <a:spLocks/>
          </p:cNvSpPr>
          <p:nvPr/>
        </p:nvSpPr>
        <p:spPr>
          <a:xfrm>
            <a:off x="914400" y="1028700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 dirty="0"/>
              <a:t>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371600" y="11567160"/>
                <a:ext cx="12573000" cy="12300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Catalogue: </a:t>
                </a:r>
                <a:r>
                  <a:rPr lang="en-CA" sz="3300" b="0" dirty="0">
                    <a:latin typeface="Aptos"/>
                  </a:rPr>
                  <a:t>Compiled 350 published measurements from 32 source families at z ≥ 4. Adopted 1 measurement per object and retained sources, methods, and alternatives. Primary: 220 objects with Balmer-line virial masses [1]; expanded: 234, including tentative candidates and GN-z11 [2].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Reference model: </a:t>
                </a:r>
                <a:r>
                  <a:rPr lang="en-CA" sz="3300" b="0" dirty="0">
                    <a:latin typeface="Aptos"/>
                  </a:rPr>
                  <a:t>Assumed 100 M⊙ seeds at z = 30, radiative efficiency </a:t>
                </a:r>
                <a:r>
                  <a:rPr lang="en-CA" sz="3300" b="0" dirty="0" err="1">
                    <a:latin typeface="Aptos"/>
                  </a:rPr>
                  <a:t>ε</a:t>
                </a:r>
                <a:r>
                  <a:rPr lang="en-CA" sz="3300" b="0" dirty="0">
                    <a:latin typeface="Aptos"/>
                  </a:rPr>
                  <a:t> = 0.1, no mergers (</a:t>
                </a:r>
                <a:r>
                  <a:rPr lang="en-CA" sz="3300" b="0" dirty="0" err="1">
                    <a:latin typeface="Aptos"/>
                  </a:rPr>
                  <a:t>B</a:t>
                </a:r>
                <a:r>
                  <a:rPr lang="en-CA" sz="3300" b="0" baseline="-25000" dirty="0" err="1">
                    <a:latin typeface="Aptos"/>
                  </a:rPr>
                  <a:t>merge</a:t>
                </a:r>
                <a:r>
                  <a:rPr lang="en-CA" sz="3300" b="0" dirty="0">
                    <a:latin typeface="Aptos"/>
                  </a:rPr>
                  <a:t> = 1), and </a:t>
                </a:r>
                <a:r>
                  <a:rPr lang="en-CA" sz="3300" b="0" dirty="0" err="1">
                    <a:latin typeface="Aptos"/>
                  </a:rPr>
                  <a:t>t</a:t>
                </a:r>
                <a:r>
                  <a:rPr lang="en-CA" sz="3300" b="0" baseline="-25000" dirty="0" err="1">
                    <a:latin typeface="Aptos"/>
                  </a:rPr>
                  <a:t>Edd</a:t>
                </a:r>
                <a:r>
                  <a:rPr lang="en-CA" sz="3300" b="0" dirty="0">
                    <a:latin typeface="Aptos"/>
                  </a:rPr>
                  <a:t> ≈ 0.45 Gyr [3].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300" b="1" i="0" lang="en-CA">
                    <a:latin typeface="Aptos"/>
                  </a:rPr>
                  <a:t>Model tests: </a:t>
                </a:r>
                <a:r>
                  <a:rPr sz="3300" b="0" i="0" lang="en-CA">
                    <a:latin typeface="Aptos"/>
                  </a:rPr>
                  <a:t>Calculated the average Eddington ratio required to reach each observed mass. Ranked these requirements and compared them with each model’s allowed average.</a:t>
                </a: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sz="3300" i="1">
                                  <a:latin typeface="Cambria Math"/>
                                </a:rPr>
                              </m:ctrlPr>
                            </m:barPr>
                            <m:e>
                              <m:r>
                                <a:rPr lang="en-US" sz="3300" i="1">
                                  <a:latin typeface="Cambria Math"/>
                                </a:rPr>
                                <m:t>𝑓</m:t>
                              </m:r>
                            </m:e>
                          </m:bar>
                        </m:e>
                        <m:sub>
                          <m:r>
                            <m:rPr>
                              <m:sty m:val="p"/>
                            </m:rPr>
                            <a:rPr lang="en-US" sz="3300" i="0">
                              <a:latin typeface="Cambria Math"/>
                            </a:rPr>
                            <m:t>Edd</m:t>
                          </m:r>
                          <m:r>
                            <a:rPr lang="en-US" sz="3300" i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3300" i="0">
                              <a:latin typeface="Cambria Math"/>
                            </a:rPr>
                            <m:t>req</m:t>
                          </m:r>
                        </m:sub>
                      </m:sSub>
                      <m:r>
                        <a:rPr lang="en-US" sz="33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3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300" i="0">
                              <a:latin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3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3300" i="1">
                                  <a:latin typeface="Cambria Math"/>
                                </a:rPr>
                                <m:t>0,</m:t>
                              </m:r>
                              <m:f>
                                <m:fPr>
                                  <m:ctrlPr>
                                    <a:rPr lang="en-US" sz="33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3300" i="1">
                                      <a:latin typeface="Cambria Math"/>
                                    </a:rPr>
                                    <m:t>𝜀</m:t>
                                  </m:r>
                                </m:num>
                                <m:den>
                                  <m:r>
                                    <a:rPr lang="en-US" sz="3300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3300" i="1">
                                      <a:latin typeface="Cambria Math"/>
                                    </a:rPr>
                                    <m:t>𝜀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3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3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300" i="0">
                                          <a:latin typeface="Cambria Math"/>
                                        </a:rPr>
                                        <m:t>Edd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300" i="1">
                                      <a:latin typeface="Cambria Math"/>
                                    </a:rPr>
                                    <m:t>𝛥</m:t>
                                  </m:r>
                                  <m:r>
                                    <a:rPr lang="en-US" sz="3300" i="1">
                                      <a:latin typeface="Cambria Math"/>
                                    </a:rPr>
                                    <m:t>𝑡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3300" i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3300" i="0"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3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3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33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3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300" i="0">
                                                  <a:latin typeface="Cambria Math"/>
                                                </a:rPr>
                                                <m:t>BH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33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300" i="1">
                                                  <a:latin typeface="Cambria Math"/>
                                                </a:rPr>
                                                <m:t>𝐵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300" i="0">
                                                  <a:latin typeface="Cambria Math"/>
                                                </a:rPr>
                                                <m:t>merge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33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300" i="1">
                                                  <a:latin typeface="Cambria Math"/>
                                                </a:rPr>
                                                <m:t>𝑀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3300" i="0">
                                                  <a:latin typeface="Cambria Math"/>
                                                </a:rPr>
                                                <m:t>seed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CA" sz="3300" b="1" dirty="0">
                  <a:latin typeface="Aptos"/>
                </a:endParaRP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Symbols: </a:t>
                </a:r>
                <a:r>
                  <a:rPr lang="en-CA" sz="3300" b="0" dirty="0">
                    <a:latin typeface="Aptos"/>
                  </a:rPr>
                  <a:t>M⊙: solar mass; M</a:t>
                </a:r>
                <a:r>
                  <a:rPr lang="en-CA" sz="3300" b="0" baseline="-25000" dirty="0">
                    <a:latin typeface="Aptos"/>
                  </a:rPr>
                  <a:t>BH</a:t>
                </a:r>
                <a:r>
                  <a:rPr lang="en-CA" sz="3300" b="0" dirty="0">
                    <a:latin typeface="Aptos"/>
                  </a:rPr>
                  <a:t>: observed mass; </a:t>
                </a:r>
                <a:r>
                  <a:rPr lang="en-CA" sz="3300" b="0" dirty="0" err="1">
                    <a:latin typeface="Aptos"/>
                  </a:rPr>
                  <a:t>M</a:t>
                </a:r>
                <a:r>
                  <a:rPr lang="en-CA" sz="3300" b="0" baseline="-25000" dirty="0" err="1">
                    <a:latin typeface="Aptos"/>
                  </a:rPr>
                  <a:t>seed</a:t>
                </a:r>
                <a:r>
                  <a:rPr lang="en-CA" sz="3300" b="0" dirty="0">
                    <a:latin typeface="Aptos"/>
                  </a:rPr>
                  <a:t>: seed mass; </a:t>
                </a:r>
                <a:r>
                  <a:rPr lang="en-CA" sz="3300" b="0" dirty="0" err="1">
                    <a:latin typeface="Aptos"/>
                  </a:rPr>
                  <a:t>Δt</a:t>
                </a:r>
                <a:r>
                  <a:rPr lang="en-CA" sz="3300" b="0" dirty="0">
                    <a:latin typeface="Aptos"/>
                  </a:rPr>
                  <a:t>: growth time; </a:t>
                </a:r>
                <a:r>
                  <a:rPr lang="en-CA" sz="3300" b="0" dirty="0" err="1">
                    <a:latin typeface="Aptos"/>
                  </a:rPr>
                  <a:t>ε</a:t>
                </a:r>
                <a:r>
                  <a:rPr lang="en-CA" sz="3300" b="0" dirty="0">
                    <a:latin typeface="Aptos"/>
                  </a:rPr>
                  <a:t>: radiated fraction of inflowing rest-mass energy. Larger z means earlier time.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300" b="1" i="0" lang="en-CA">
                    <a:latin typeface="Aptos"/>
                  </a:rPr>
                  <a:t>Eddington ratio: </a:t>
                </a:r>
                <a:r>
                  <a:rPr sz="3300" b="0" i="1" lang="en-CA">
                    <a:latin typeface="Aptos"/>
                  </a:rPr>
                  <a:t>f</a:t>
                </a:r>
                <a:r>
                  <a:rPr sz="2200" b="0" i="0" lang="en-CA" baseline="-25000">
                    <a:latin typeface="Aptos"/>
                  </a:rPr>
                  <a:t>Edd</a:t>
                </a:r>
                <a:r>
                  <a:rPr sz="3300" b="0" i="0" lang="en-CA">
                    <a:latin typeface="Aptos"/>
                  </a:rPr>
                  <a:t>: luminosity/Eddington limit.</a:t>
                </a:r>
                <a:br/>
                <a:r>
                  <a:rPr sz="3300" b="0" i="1" lang="en-CA">
                    <a:latin typeface="Aptos"/>
                  </a:rPr>
                  <a:t>f̄</a:t>
                </a:r>
                <a:r>
                  <a:rPr sz="2200" b="0" i="0" lang="en-CA" baseline="-25000">
                    <a:latin typeface="Aptos"/>
                  </a:rPr>
                  <a:t>Edd,req</a:t>
                </a:r>
                <a:r>
                  <a:rPr sz="3300" b="0" i="0" lang="en-CA">
                    <a:latin typeface="Aptos"/>
                  </a:rPr>
                  <a:t>: required lifetime average, including inactive periods. Values above 1 require super-Eddington episodes under this model.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Uncertainty: </a:t>
                </a:r>
                <a:r>
                  <a:rPr lang="en-CA" sz="3300" b="0" dirty="0">
                    <a:latin typeface="Aptos"/>
                  </a:rPr>
                  <a:t>Used 10,000 draws to approximate reported asymmetric log-mass errors. Included 12 objects without errors in central-mass calculations only.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Sensitivity: </a:t>
                </a:r>
                <a:r>
                  <a:rPr lang="en-CA" sz="3300" b="0" dirty="0">
                    <a:latin typeface="Aptos"/>
                  </a:rPr>
                  <a:t>Varied mass scale, seed mass, onset, and efficiency separately. Reported errors may omit calibration scatter.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Earlier onset: </a:t>
                </a:r>
                <a:r>
                  <a:rPr lang="en-CA" sz="3300" b="0" dirty="0">
                    <a:latin typeface="Aptos"/>
                  </a:rPr>
                  <a:t>For the 3 leading primary targets and GN-z11, solved minimum seed masses over 20 ≤ </a:t>
                </a:r>
                <a:r>
                  <a:rPr lang="en-CA" sz="3300" b="0" dirty="0" err="1">
                    <a:latin typeface="Aptos"/>
                  </a:rPr>
                  <a:t>z</a:t>
                </a:r>
                <a:r>
                  <a:rPr lang="en-CA" sz="3300" b="0" baseline="-25000" dirty="0" err="1">
                    <a:latin typeface="Aptos"/>
                  </a:rPr>
                  <a:t>acc</a:t>
                </a:r>
                <a:r>
                  <a:rPr lang="en-CA" sz="3300" b="0" dirty="0">
                    <a:latin typeface="Aptos"/>
                  </a:rPr>
                  <a:t> ≤ 3,400 using radiation-inclusive ages. Assumed access to fuel.</a:t>
                </a:r>
              </a:p>
            </p:txBody>
          </p:sp>
        </mc:Choice>
        <mc:Fallback>
          <p:sp xmlns:a14="http://schemas.microsoft.com/office/drawing/2010/main"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8C51BF9-B81A-ECF4-F01D-305CA1CE9DD1}"/>
                  </a:ext>
                </a:extLst>
              </p:cNvPr>
              <p:cNvSpPr txBox="1"/>
              <p:nvPr/>
            </p:nvSpPr>
            <p:spPr>
              <a:xfrm>
                <a:off x="1371600" y="11567160"/>
                <a:ext cx="12573000" cy="12300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Catalogue: </a:t>
                </a:r>
                <a:r>
                  <a:rPr lang="en-CA" sz="3300" b="0" dirty="0">
                    <a:latin typeface="Aptos"/>
                  </a:rPr>
                  <a:t>Compiled 350 published measurements from 32 source families at z ≥ 4. Adopted 1 measurement per object and retained sources, methods, and alternatives. Primary: 220 objects with Balmer-line virial masses [1]; expanded: 234, including tentative candidates and GN-z11 [2].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Reference model: </a:t>
                </a:r>
                <a:r>
                  <a:rPr lang="en-CA" sz="3300" b="0" dirty="0">
                    <a:latin typeface="Aptos"/>
                  </a:rPr>
                  <a:t>Assumed 100 M⊙ seeds at z = 30, radiative efficiency </a:t>
                </a:r>
                <a:r>
                  <a:rPr lang="en-CA" sz="3300" b="0" dirty="0" err="1">
                    <a:latin typeface="Aptos"/>
                  </a:rPr>
                  <a:t>ε</a:t>
                </a:r>
                <a:r>
                  <a:rPr lang="en-CA" sz="3300" b="0" dirty="0">
                    <a:latin typeface="Aptos"/>
                  </a:rPr>
                  <a:t> = 0.1, no mergers (</a:t>
                </a:r>
                <a:r>
                  <a:rPr lang="en-CA" sz="3300" b="0" dirty="0" err="1">
                    <a:latin typeface="Aptos"/>
                  </a:rPr>
                  <a:t>B</a:t>
                </a:r>
                <a:r>
                  <a:rPr lang="en-CA" sz="3300" b="0" baseline="-25000" dirty="0" err="1">
                    <a:latin typeface="Aptos"/>
                  </a:rPr>
                  <a:t>merge</a:t>
                </a:r>
                <a:r>
                  <a:rPr lang="en-CA" sz="3300" b="0" dirty="0">
                    <a:latin typeface="Aptos"/>
                  </a:rPr>
                  <a:t> = 1), and </a:t>
                </a:r>
                <a:r>
                  <a:rPr lang="en-CA" sz="3300" b="0" dirty="0" err="1">
                    <a:latin typeface="Aptos"/>
                  </a:rPr>
                  <a:t>t</a:t>
                </a:r>
                <a:r>
                  <a:rPr lang="en-CA" sz="3300" b="0" baseline="-25000" dirty="0" err="1">
                    <a:latin typeface="Aptos"/>
                  </a:rPr>
                  <a:t>Edd</a:t>
                </a:r>
                <a:r>
                  <a:rPr lang="en-CA" sz="3300" b="0" dirty="0">
                    <a:latin typeface="Aptos"/>
                  </a:rPr>
                  <a:t> ≈ 0.45 Gyr [3].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300" b="1" i="0" lang="en-CA">
                    <a:latin typeface="Aptos"/>
                  </a:rPr>
                  <a:t>Model tests: </a:t>
                </a:r>
                <a:r>
                  <a:rPr sz="3300" b="0" i="0" lang="en-CA">
                    <a:latin typeface="Aptos"/>
                  </a:rPr>
                  <a:t>Calculated the average Eddington ratio required to reach each observed mass. Ranked these requirements and compared them with each model’s allowed average.</a:t>
                </a:r>
              </a:p>
              <a:p>
                <a:r>
                  <a:rPr sz="2600">
                    <a:latin typeface="Cambria Math"/>
                  </a:rPr>
                  <a:t>f̄Edd,req = max[0, ε/(1−ε) × tEdd/Δt × ln(MBH/(Bmerge Mseed))]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Symbols: </a:t>
                </a:r>
                <a:r>
                  <a:rPr lang="en-CA" sz="3300" b="0" dirty="0">
                    <a:latin typeface="Aptos"/>
                  </a:rPr>
                  <a:t>M⊙: solar mass; M</a:t>
                </a:r>
                <a:r>
                  <a:rPr lang="en-CA" sz="3300" b="0" baseline="-25000" dirty="0">
                    <a:latin typeface="Aptos"/>
                  </a:rPr>
                  <a:t>BH</a:t>
                </a:r>
                <a:r>
                  <a:rPr lang="en-CA" sz="3300" b="0" dirty="0">
                    <a:latin typeface="Aptos"/>
                  </a:rPr>
                  <a:t>: observed mass; </a:t>
                </a:r>
                <a:r>
                  <a:rPr lang="en-CA" sz="3300" b="0" dirty="0" err="1">
                    <a:latin typeface="Aptos"/>
                  </a:rPr>
                  <a:t>M</a:t>
                </a:r>
                <a:r>
                  <a:rPr lang="en-CA" sz="3300" b="0" baseline="-25000" dirty="0" err="1">
                    <a:latin typeface="Aptos"/>
                  </a:rPr>
                  <a:t>seed</a:t>
                </a:r>
                <a:r>
                  <a:rPr lang="en-CA" sz="3300" b="0" dirty="0">
                    <a:latin typeface="Aptos"/>
                  </a:rPr>
                  <a:t>: seed mass; </a:t>
                </a:r>
                <a:r>
                  <a:rPr lang="en-CA" sz="3300" b="0" dirty="0" err="1">
                    <a:latin typeface="Aptos"/>
                  </a:rPr>
                  <a:t>Δt</a:t>
                </a:r>
                <a:r>
                  <a:rPr lang="en-CA" sz="3300" b="0" dirty="0">
                    <a:latin typeface="Aptos"/>
                  </a:rPr>
                  <a:t>: growth time; </a:t>
                </a:r>
                <a:r>
                  <a:rPr lang="en-CA" sz="3300" b="0" dirty="0" err="1">
                    <a:latin typeface="Aptos"/>
                  </a:rPr>
                  <a:t>ε</a:t>
                </a:r>
                <a:r>
                  <a:rPr lang="en-CA" sz="3300" b="0" dirty="0">
                    <a:latin typeface="Aptos"/>
                  </a:rPr>
                  <a:t>: radiated fraction of inflowing rest-mass energy. Larger z means earlier time.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sz="3300" b="1" i="0" lang="en-CA">
                    <a:latin typeface="Aptos"/>
                  </a:rPr>
                  <a:t>Eddington ratio: </a:t>
                </a:r>
                <a:r>
                  <a:rPr sz="3300" b="0" i="1" lang="en-CA">
                    <a:latin typeface="Aptos"/>
                  </a:rPr>
                  <a:t>f</a:t>
                </a:r>
                <a:r>
                  <a:rPr sz="2200" b="0" i="0" lang="en-CA" baseline="-25000">
                    <a:latin typeface="Aptos"/>
                  </a:rPr>
                  <a:t>Edd</a:t>
                </a:r>
                <a:r>
                  <a:rPr sz="3300" b="0" i="0" lang="en-CA">
                    <a:latin typeface="Aptos"/>
                  </a:rPr>
                  <a:t>: luminosity/Eddington limit.</a:t>
                </a:r>
                <a:br/>
                <a:r>
                  <a:rPr sz="3300" b="0" i="1" lang="en-CA">
                    <a:latin typeface="Aptos"/>
                  </a:rPr>
                  <a:t>f̄</a:t>
                </a:r>
                <a:r>
                  <a:rPr sz="2200" b="0" i="0" lang="en-CA" baseline="-25000">
                    <a:latin typeface="Aptos"/>
                  </a:rPr>
                  <a:t>Edd,req</a:t>
                </a:r>
                <a:r>
                  <a:rPr sz="3300" b="0" i="0" lang="en-CA">
                    <a:latin typeface="Aptos"/>
                  </a:rPr>
                  <a:t>: required lifetime average, including inactive periods. Values above 1 require super-Eddington episodes under this model.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Uncertainty: </a:t>
                </a:r>
                <a:r>
                  <a:rPr lang="en-CA" sz="3300" b="0" dirty="0">
                    <a:latin typeface="Aptos"/>
                  </a:rPr>
                  <a:t>Used 10,000 draws to approximate reported asymmetric log-mass errors. Included 12 objects without errors in central-mass calculations only.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Sensitivity: </a:t>
                </a:r>
                <a:r>
                  <a:rPr lang="en-CA" sz="3300" b="0" dirty="0">
                    <a:latin typeface="Aptos"/>
                  </a:rPr>
                  <a:t>Varied mass scale, seed mass, onset, and efficiency separately. Reported errors may omit calibration scatter.</a:t>
                </a:r>
              </a:p>
              <a:p>
                <a:pPr>
                  <a:spcAft>
                    <a:spcPts val="500"/>
                  </a:spcAft>
                  <a:buNone/>
                </a:pPr>
                <a:r>
                  <a:rPr lang="en-CA" sz="3300" b="1" dirty="0">
                    <a:latin typeface="Aptos"/>
                  </a:rPr>
                  <a:t>Earlier onset: </a:t>
                </a:r>
                <a:r>
                  <a:rPr lang="en-CA" sz="3300" b="0" dirty="0">
                    <a:latin typeface="Aptos"/>
                  </a:rPr>
                  <a:t>For the 3 leading primary targets and GN-z11, solved minimum seed masses over 20 ≤ </a:t>
                </a:r>
                <a:r>
                  <a:rPr lang="en-CA" sz="3300" b="0" dirty="0" err="1">
                    <a:latin typeface="Aptos"/>
                  </a:rPr>
                  <a:t>z</a:t>
                </a:r>
                <a:r>
                  <a:rPr lang="en-CA" sz="3300" b="0" baseline="-25000" dirty="0" err="1">
                    <a:latin typeface="Aptos"/>
                  </a:rPr>
                  <a:t>acc</a:t>
                </a:r>
                <a:r>
                  <a:rPr lang="en-CA" sz="3300" b="0" dirty="0">
                    <a:latin typeface="Aptos"/>
                  </a:rPr>
                  <a:t> ≤ 3,400 using radiation-inclusive ages. Assumed access to fuel.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/>
          <p:nvPr/>
        </p:nvSpPr>
        <p:spPr>
          <a:xfrm>
            <a:off x="914400" y="10287000"/>
            <a:ext cx="13487400" cy="160934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itle 18">
            <a:extLst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 txBox="1">
            <a:spLocks/>
          </p:cNvSpPr>
          <p:nvPr/>
        </p:nvSpPr>
        <p:spPr>
          <a:xfrm>
            <a:off x="29260800" y="21351240"/>
            <a:ext cx="137160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Conclusions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 txBox="1"/>
          <p:nvPr/>
        </p:nvSpPr>
        <p:spPr>
          <a:xfrm>
            <a:off x="29718000" y="22814280"/>
            <a:ext cx="12801600" cy="83202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28600">
              <a:spcAft>
                <a:spcPts val="800"/>
              </a:spcAft>
              <a:buChar char="•"/>
            </a:pPr>
            <a:r>
              <a:rPr lang="en-CA" sz="3300" b="1" dirty="0">
                <a:latin typeface="Aptos"/>
              </a:rPr>
              <a:t>Efficiency drives the tension: </a:t>
            </a:r>
            <a:r>
              <a:rPr lang="en-CA" sz="3300" b="0" dirty="0">
                <a:latin typeface="Aptos"/>
              </a:rPr>
              <a:t>Some objects challenge the reference model. At </a:t>
            </a:r>
            <a:r>
              <a:rPr lang="en-CA" sz="3300" b="0" dirty="0" err="1">
                <a:latin typeface="Aptos"/>
              </a:rPr>
              <a:t>ε</a:t>
            </a:r>
            <a:r>
              <a:rPr lang="en-CA" sz="3300" b="0" dirty="0">
                <a:latin typeface="Aptos"/>
              </a:rPr>
              <a:t> = 0.05719, the ideal thin-disc efficiency for a non-spinning black hole, 100 M⊙ seeds at z = 30 reach all 234 central masses with an average ratio below 1.</a:t>
            </a:r>
          </a:p>
          <a:p>
            <a:pPr marL="285750" indent="-228600">
              <a:buChar char="•"/>
            </a:pPr>
            <a:r>
              <a:rPr lang="en-CA" sz="3300" b="1" dirty="0">
                <a:latin typeface="Aptos"/>
              </a:rPr>
              <a:t>Independent mass estimates: </a:t>
            </a:r>
            <a:r>
              <a:rPr lang="en-CA" sz="3300" b="0" dirty="0">
                <a:latin typeface="Aptos"/>
              </a:rPr>
              <a:t>Tests of calibration, lensing, and scattering are essential to establish which objects are most challenging.</a:t>
            </a:r>
          </a:p>
          <a:p>
            <a:pPr marL="285750" indent="-228600">
              <a:buChar char="•"/>
            </a:pPr>
            <a:r>
              <a:rPr lang="en-CA" sz="3300" b="1" dirty="0">
                <a:latin typeface="Aptos"/>
              </a:rPr>
              <a:t>Catalogue contribution: </a:t>
            </a:r>
            <a:r>
              <a:rPr lang="en-CA" sz="3300" b="0" dirty="0">
                <a:latin typeface="Aptos"/>
              </a:rPr>
              <a:t>Documented measurement choices and retained alternatives support consistent comparisons and follow-up. Sample counts describe the literature sample, not population fractions.</a:t>
            </a:r>
          </a:p>
          <a:p>
            <a:pPr marL="285750" indent="-228600">
              <a:buChar char="•"/>
            </a:pPr>
            <a:r>
              <a:rPr lang="en-CA" sz="3300" b="1" dirty="0">
                <a:latin typeface="Aptos"/>
              </a:rPr>
              <a:t>Earlier onset offers limited relief: </a:t>
            </a:r>
            <a:r>
              <a:rPr lang="en-CA" sz="3300" b="0" dirty="0">
                <a:latin typeface="Aptos"/>
              </a:rPr>
              <a:t>Earlier onset alone cannot rescue 100 M⊙ seeds for the 4 targets at </a:t>
            </a:r>
            <a:r>
              <a:rPr lang="en-CA" sz="3300" b="0" dirty="0" err="1">
                <a:latin typeface="Aptos"/>
              </a:rPr>
              <a:t>ε</a:t>
            </a:r>
            <a:r>
              <a:rPr lang="en-CA" sz="3300" b="0" dirty="0">
                <a:latin typeface="Aptos"/>
              </a:rPr>
              <a:t> = 0.1, average ratio ≤ 1, and no mergers. Gains diminish at earlier onset. Growth compatibility does not establish primordial black hole (PBH) formation or abundance viability.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/>
          <p:nvPr/>
        </p:nvSpPr>
        <p:spPr>
          <a:xfrm>
            <a:off x="29260800" y="21351240"/>
            <a:ext cx="13716000" cy="1088136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18">
            <a:extLst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 txBox="1">
            <a:spLocks/>
          </p:cNvSpPr>
          <p:nvPr/>
        </p:nvSpPr>
        <p:spPr>
          <a:xfrm>
            <a:off x="914400" y="26883360"/>
            <a:ext cx="1348740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References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 txBox="1"/>
          <p:nvPr/>
        </p:nvSpPr>
        <p:spPr>
          <a:xfrm>
            <a:off x="1371600" y="28448179"/>
            <a:ext cx="12573000" cy="3395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CA" sz="3300" dirty="0"/>
              <a:t>[1] Shen (2013), BASI, 41, 61.</a:t>
            </a:r>
            <a:endParaRPr lang="en-US" sz="3300" dirty="0"/>
          </a:p>
          <a:p>
            <a:r>
              <a:rPr lang="en-CA" sz="3300" dirty="0"/>
              <a:t>[2] </a:t>
            </a:r>
            <a:r>
              <a:rPr lang="en-CA" sz="3300" dirty="0" err="1"/>
              <a:t>Maiolino</a:t>
            </a:r>
            <a:r>
              <a:rPr lang="en-CA" sz="3300" dirty="0"/>
              <a:t> et al. (2024), Nature, 627, 59.</a:t>
            </a:r>
          </a:p>
          <a:p>
            <a:r>
              <a:rPr lang="en-CA" sz="3300" dirty="0"/>
              <a:t>[3] Dayal (2024), A&amp;A, 690, A182.</a:t>
            </a:r>
            <a:endParaRPr lang="en-US" sz="3300" dirty="0"/>
          </a:p>
          <a:p>
            <a:pPr>
              <a:spcBef>
                <a:spcPts val="600"/>
              </a:spcBef>
            </a:pPr>
            <a:r>
              <a:rPr lang="en-CA" sz="3300" dirty="0"/>
              <a:t>[4] Bardeen et al. (1972), </a:t>
            </a:r>
            <a:r>
              <a:rPr lang="en-CA" sz="3300" dirty="0" err="1"/>
              <a:t>ApJ</a:t>
            </a:r>
            <a:r>
              <a:rPr lang="en-CA" sz="3300" dirty="0"/>
              <a:t>, 178, 347.</a:t>
            </a:r>
            <a:endParaRPr lang="en-US" sz="3300" dirty="0"/>
          </a:p>
          <a:p>
            <a:pPr>
              <a:spcAft>
                <a:spcPts val="800"/>
              </a:spcAft>
              <a:buNone/>
            </a:pPr>
            <a:r>
              <a:rPr lang="en-CA" sz="3300" b="0" dirty="0">
                <a:latin typeface="Aptos"/>
              </a:rPr>
              <a:t>[5] </a:t>
            </a:r>
            <a:r>
              <a:rPr lang="en-CA" sz="3300" b="0" dirty="0" err="1">
                <a:latin typeface="Aptos"/>
              </a:rPr>
              <a:t>Juodzbalis</a:t>
            </a:r>
            <a:r>
              <a:rPr lang="en-CA" sz="3300" b="0" dirty="0">
                <a:latin typeface="Aptos"/>
              </a:rPr>
              <a:t> et al. (2025), arXiv:2508.21748.</a:t>
            </a:r>
          </a:p>
          <a:p>
            <a:pPr>
              <a:spcBef>
                <a:spcPts val="600"/>
              </a:spcBef>
            </a:pPr>
            <a:r>
              <a:rPr lang="en-CA" sz="3300" dirty="0"/>
              <a:t>Catalogue sources and code: QR link above.</a:t>
            </a:r>
            <a:endParaRPr lang="en-US" sz="33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/>
          <p:nvPr/>
        </p:nvSpPr>
        <p:spPr>
          <a:xfrm>
            <a:off x="914400" y="26883360"/>
            <a:ext cx="13487400" cy="534924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37658-2539-7C1B-497A-E176914914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87600" y="12847320"/>
            <a:ext cx="13533120" cy="6949440"/>
          </a:xfrm>
          <a:prstGeom prst="rect">
            <a:avLst/>
          </a:prstGeom>
        </p:spPr>
      </p:pic>
      <p:pic>
        <p:nvPicPr>
          <p:cNvPr id="5" name="Picture 4" descr="File:JWST spacecraft model 1.png - Wikimedia Commons">
            <a:extLst>
              <a:ext uri="{FF2B5EF4-FFF2-40B4-BE49-F238E27FC236}">
                <a16:creationId xmlns:a16="http://schemas.microsoft.com/office/drawing/2014/main" id="{0BD845B3-DC16-6DC6-BFC8-2D65D24767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47430" y="920951"/>
            <a:ext cx="5286065" cy="3962400"/>
          </a:xfrm>
          <a:prstGeom prst="rect">
            <a:avLst/>
          </a:prstGeom>
        </p:spPr>
      </p:pic>
      <p:pic>
        <p:nvPicPr>
          <p:cNvPr id="6" name="Picture 5" descr="Eyes open clipart clipground #31495 - Free Transparent PNG Logos">
            <a:extLst>
              <a:ext uri="{FF2B5EF4-FFF2-40B4-BE49-F238E27FC236}">
                <a16:creationId xmlns:a16="http://schemas.microsoft.com/office/drawing/2014/main" id="{9D3E6E2E-04C2-513B-0EE5-8C40F5B8F4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443004">
            <a:off x="30898293" y="1603265"/>
            <a:ext cx="2033427" cy="978809"/>
          </a:xfrm>
          <a:prstGeom prst="rect">
            <a:avLst/>
          </a:prstGeom>
        </p:spPr>
      </p:pic>
      <p:pic>
        <p:nvPicPr>
          <p:cNvPr id="10" name="Picture 9" descr="Nebula overlay color 26548388 PNG">
            <a:extLst>
              <a:ext uri="{FF2B5EF4-FFF2-40B4-BE49-F238E27FC236}">
                <a16:creationId xmlns:a16="http://schemas.microsoft.com/office/drawing/2014/main" id="{FB4EBB94-758E-75A7-659C-BF66DBB0AE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98715">
            <a:off x="32496336" y="-185399"/>
            <a:ext cx="8190834" cy="460899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 txBox="1"/>
          <p:nvPr/>
        </p:nvSpPr>
        <p:spPr>
          <a:xfrm>
            <a:off x="29718000" y="6400800"/>
            <a:ext cx="12801600" cy="16158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300" b="1" dirty="0">
                <a:latin typeface="Aptos"/>
              </a:rPr>
              <a:t>Earlier-onset test: </a:t>
            </a:r>
            <a:r>
              <a:rPr lang="en-CA" sz="3300" b="0" dirty="0">
                <a:latin typeface="Aptos"/>
              </a:rPr>
              <a:t>At matter–radiation equality (z = 3,400), the 3 leading primary targets plus GN-z11 require minimum seed masses of 270–1,200 M⊙ (</a:t>
            </a:r>
            <a:r>
              <a:rPr lang="en-CA" sz="3300" b="0" dirty="0" err="1">
                <a:latin typeface="Aptos"/>
              </a:rPr>
              <a:t>ε</a:t>
            </a:r>
            <a:r>
              <a:rPr lang="en-CA" sz="3300" b="0" dirty="0">
                <a:latin typeface="Aptos"/>
              </a:rPr>
              <a:t> = 0.1, average ratio ≤ 1, no mergers).</a:t>
            </a:r>
            <a:r>
              <a:rPr lang="en-CA" sz="33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 txBox="1"/>
          <p:nvPr/>
        </p:nvSpPr>
        <p:spPr>
          <a:xfrm>
            <a:off x="15270480" y="6400800"/>
            <a:ext cx="13395960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28600">
              <a:buChar char="•"/>
            </a:pPr>
            <a:r>
              <a:rPr lang="en-CA" sz="3300" b="1" dirty="0">
                <a:latin typeface="Aptos"/>
              </a:rPr>
              <a:t>Reference: </a:t>
            </a:r>
            <a:r>
              <a:rPr lang="en-CA" sz="3300" b="0" dirty="0">
                <a:latin typeface="Aptos"/>
              </a:rPr>
              <a:t>8/220 primary objects require an average ratio above 1; 5 do so in ≥ 95% of reported-mass-error draws.</a:t>
            </a:r>
          </a:p>
          <a:p>
            <a:pPr marL="285750" indent="-228600">
              <a:buChar char="•"/>
            </a:pPr>
            <a:r>
              <a:rPr lang="en-CA" sz="3300" b="1" dirty="0">
                <a:latin typeface="Aptos"/>
              </a:rPr>
              <a:t>Mass sensitivity: </a:t>
            </a:r>
            <a:r>
              <a:rPr lang="en-CA" sz="3300" b="0" dirty="0">
                <a:latin typeface="Aptos"/>
              </a:rPr>
              <a:t>UNCOVER-20466, COSMOS3D-13852, and RUBIES-EGS-55604 retain ≥ 95% support after a 0.5 </a:t>
            </a:r>
            <a:r>
              <a:rPr lang="en-CA" sz="3300" b="0" dirty="0" err="1">
                <a:latin typeface="Aptos"/>
              </a:rPr>
              <a:t>dex</a:t>
            </a:r>
            <a:r>
              <a:rPr lang="en-CA" sz="3300" b="0" dirty="0">
                <a:latin typeface="Aptos"/>
              </a:rPr>
              <a:t> mass reduction (a factor of 3.2).</a:t>
            </a:r>
          </a:p>
          <a:p>
            <a:pPr marL="285750" indent="-228600">
              <a:buChar char="•"/>
            </a:pPr>
            <a:r>
              <a:rPr lang="en-CA" sz="3300" b="1" dirty="0">
                <a:latin typeface="Aptos"/>
              </a:rPr>
              <a:t>Seed mass: </a:t>
            </a:r>
            <a:r>
              <a:rPr lang="en-CA" sz="3300" b="0" dirty="0">
                <a:latin typeface="Aptos"/>
              </a:rPr>
              <a:t>1,000 M⊙ seeds leave 3/220 above 1; 100,000 M⊙ seeds leave 0 above 1 in either sample.</a:t>
            </a:r>
          </a:p>
          <a:p>
            <a:pPr marL="285750" indent="-228600">
              <a:buChar char="•"/>
            </a:pPr>
            <a:r>
              <a:rPr lang="en-CA" sz="3300" b="1" dirty="0">
                <a:latin typeface="Aptos"/>
              </a:rPr>
              <a:t>Formation time: </a:t>
            </a:r>
            <a:r>
              <a:rPr lang="en-CA" sz="3300" b="0" dirty="0">
                <a:latin typeface="Aptos"/>
              </a:rPr>
              <a:t>Later seeding (z = 20) gives 18/220 primary objects above 1; GN-z11 has the highest requirement in the expanded sample.</a:t>
            </a:r>
          </a:p>
          <a:p>
            <a:pPr marL="285750" indent="-228600">
              <a:buChar char="•"/>
            </a:pPr>
            <a:r>
              <a:rPr lang="en-CA" sz="3300" b="1" dirty="0">
                <a:latin typeface="Aptos"/>
              </a:rPr>
              <a:t>Efficiency: </a:t>
            </a:r>
            <a:r>
              <a:rPr lang="en-CA" sz="3300" b="0" dirty="0">
                <a:latin typeface="Aptos"/>
              </a:rPr>
              <a:t>At </a:t>
            </a:r>
            <a:r>
              <a:rPr lang="en-CA" sz="3300" b="0" dirty="0" err="1">
                <a:latin typeface="Aptos"/>
              </a:rPr>
              <a:t>ε</a:t>
            </a:r>
            <a:r>
              <a:rPr lang="en-CA" sz="3300" b="0" dirty="0">
                <a:latin typeface="Aptos"/>
              </a:rPr>
              <a:t> = 0.05719 (non-spinning thin disc) [4], all 234 central masses are reachable from 100 M⊙ seeds at z = 30 with an average ratio below 1.</a:t>
            </a: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 txBox="1">
            <a:spLocks/>
          </p:cNvSpPr>
          <p:nvPr/>
        </p:nvSpPr>
        <p:spPr>
          <a:xfrm>
            <a:off x="14950440" y="5120640"/>
            <a:ext cx="28026360" cy="960120"/>
          </a:xfrm>
          <a:prstGeom prst="rect">
            <a:avLst/>
          </a:prstGeom>
          <a:solidFill>
            <a:srgbClr val="002A5C"/>
          </a:solidFill>
          <a:ln>
            <a:solidFill>
              <a:srgbClr val="09306B"/>
            </a:solidFill>
          </a:ln>
        </p:spPr>
        <p:txBody>
          <a:bodyPr vert="horz" lIns="78373" tIns="39187" rIns="78373" bIns="39187" rtlCol="0" anchor="ctr" anchorCtr="1">
            <a:normAutofit/>
          </a:bodyPr>
          <a:lstStyle>
            <a:lvl1pPr algn="l" defTabSz="4389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en-US" sz="5000"/>
              <a:t>Results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/>
          <p:nvPr/>
        </p:nvSpPr>
        <p:spPr>
          <a:xfrm>
            <a:off x="14950440" y="5120640"/>
            <a:ext cx="28026360" cy="15727680"/>
          </a:xfrm>
          <a:prstGeom prst="rect">
            <a:avLst/>
          </a:prstGeom>
          <a:noFill/>
          <a:ln>
            <a:solidFill>
              <a:srgbClr val="002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igure takeaway 110"/>
          <p:cNvSpPr txBox="1"/>
          <p:nvPr/>
        </p:nvSpPr>
        <p:spPr>
          <a:xfrm>
            <a:off x="15407640" y="19842480"/>
            <a:ext cx="12801600" cy="914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>
                <a:latin typeface="Aptos"/>
              </a:rPr>
              <a:t>After a −0.5 dex mass shift, 3 targets retain ≥ 95% reported-error support for a required average ratio above 1.</a:t>
            </a:r>
          </a:p>
        </p:txBody>
      </p:sp>
      <p:sp>
        <p:nvSpPr>
          <p:cNvPr id="111" name="Figure takeaway 111"/>
          <p:cNvSpPr txBox="1"/>
          <p:nvPr/>
        </p:nvSpPr>
        <p:spPr>
          <a:xfrm>
            <a:off x="15224760" y="31455360"/>
            <a:ext cx="13121640" cy="777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CA" sz="2400" b="0">
                <a:latin typeface="Aptos"/>
              </a:rPr>
              <a:t>Only efficiency changes between panels. Points below a curve can be reached with a lower average Eddington ratio.</a:t>
            </a:r>
          </a:p>
        </p:txBody>
      </p:sp>
      <p:sp>
        <p:nvSpPr>
          <p:cNvPr id="112" name="Figure takeaway 112"/>
          <p:cNvSpPr txBox="1"/>
          <p:nvPr/>
        </p:nvSpPr>
        <p:spPr>
          <a:xfrm>
            <a:off x="29718000" y="17830800"/>
            <a:ext cx="12801600" cy="5029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None/>
            </a:pPr>
            <a:r>
              <a:rPr lang="en-CA" sz="2400" b="0" dirty="0">
                <a:latin typeface="Aptos"/>
              </a:rPr>
              <a:t>Earlier starts reduce required seeds, with diminishing gains.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483CE-2A7E-6438-7E3B-E605C17C7099}"/>
              </a:ext>
            </a:extLst>
          </p:cNvPr>
          <p:cNvSpPr txBox="1"/>
          <p:nvPr/>
        </p:nvSpPr>
        <p:spPr>
          <a:xfrm>
            <a:off x="29718000" y="18836640"/>
            <a:ext cx="12801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3300" b="1" dirty="0">
                <a:latin typeface="Aptos"/>
              </a:rPr>
              <a:t>Independent mass check: </a:t>
            </a:r>
            <a:r>
              <a:rPr lang="en-CA" sz="3300" b="0" dirty="0">
                <a:latin typeface="Aptos"/>
              </a:rPr>
              <a:t>A2744-QSO1’s dynamical mass raises the ratio from 0.929 to ≈ 1; uncertainty spans 1 [5].</a:t>
            </a:r>
            <a:endParaRPr lang="en-CA" sz="3300" dirty="0"/>
          </a:p>
        </p:txBody>
      </p:sp>
      <p:sp>
        <p:nvSpPr>
          <p:cNvPr id="120" name="Efficiency comparison heading">
            <a:extLst>
              <a:ext uri="{FF2B5EF4-FFF2-40B4-BE49-F238E27FC236}">
                <a16:creationId xmlns:a16="http://schemas.microsoft.com/office/drawing/2014/main" id="{3A05E1FE-512D-49F3-9C39-22D275F0EE18}"/>
              </a:ext>
            </a:extLst>
          </p:cNvPr>
          <p:cNvSpPr>
            <a:spLocks noGrp="1"/>
          </p:cNvSpPr>
          <p:nvPr/>
        </p:nvSpPr>
        <p:spPr>
          <a:xfrm>
            <a:off x="15224760" y="21351240"/>
            <a:ext cx="13121640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b="1">
                <a:solidFill>
                  <a:srgbClr val="002A5C"/>
                </a:solidFill>
              </a:defRPr>
            </a:defPPr>
          </a:lstStyle>
          <a:p>
            <a:pPr>
              <a:spcAft>
                <a:spcPts val="800"/>
              </a:spcAft>
              <a:buNone/>
              <a:defRPr b="1">
                <a:solidFill>
                  <a:srgbClr val="002A5C"/>
                </a:solidFill>
              </a:defRPr>
            </a:pPr>
            <a:r>
              <a:rPr sz="3600" b="1">
                <a:solidFill>
                  <a:srgbClr val="002A5C"/>
                </a:solidFill>
                <a:latin typeface="Aptos"/>
                <a:ea typeface="Aptos"/>
                <a:cs typeface="Aptos"/>
              </a:rPr>
              <a:t>Growth tension depends on efficiency</a:t>
            </a:r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</TotalTime>
  <Words>923</Words>
  <Application>Microsoft Macintosh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 Early Black-Hole Growth Constraints from JWST Nicole Jiang; University of Toronto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Jiang</dc:creator>
  <cp:lastModifiedBy>Nicole Jiang</cp:lastModifiedBy>
  <cp:revision>1</cp:revision>
  <dcterms:created xsi:type="dcterms:W3CDTF">2026-09-30T19:05:59Z</dcterms:created>
  <dcterms:modified xsi:type="dcterms:W3CDTF">2026-10-13T21:09:07Z</dcterms:modified>
</cp:coreProperties>
</file>
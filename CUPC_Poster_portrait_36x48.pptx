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0" r:id="rId2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701"/>
  </p:normalViewPr>
  <p:slideViewPr>
    <p:cSldViewPr snapToGrid="0">
      <p:cViewPr>
        <p:scale>
          <a:sx n="52" d="100"/>
          <a:sy n="52" d="100"/>
        </p:scale>
        <p:origin x="264" y="-3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01:47:48.911" v="2678" actId="20577"/>
      <pc:docMkLst>
        <pc:docMk/>
      </pc:docMkLst>
      <pc:sldChg chg="addSp delSp modSp add del mod">
        <pc:chgData name="Nicole Jiang" userId="09ef0fc0f6f473b5" providerId="LiveId" clId="{EB8F4A53-0964-5BF1-90AD-931457E28E1A}" dt="2026-10-13T17:24:31.699" v="2580" actId="2696"/>
        <pc:sldMkLst>
          <pc:docMk/>
          <pc:sldMk cId="868487171" sldId="259"/>
        </pc:sldMkLst>
      </pc:sldChg>
      <pc:sldChg chg="addSp delSp modSp mod">
        <pc:chgData name="Nicole Jiang" userId="09ef0fc0f6f473b5" providerId="LiveId" clId="{EB8F4A53-0964-5BF1-90AD-931457E28E1A}" dt="2026-10-14T01:47:48.911" v="2678" actId="20577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7:08.915" v="2657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04:31:08.200" v="2544" actId="14100"/>
          <ac:spMkLst>
            <pc:docMk/>
            <pc:sldMk cId="868487171" sldId="260"/>
            <ac:spMk id="7" creationId="{3AC78928-AF13-E1B9-F802-F1FD39D07D33}"/>
          </ac:spMkLst>
        </pc:spChg>
        <pc:spChg chg="add del mod">
          <ac:chgData name="Nicole Jiang" userId="09ef0fc0f6f473b5" providerId="LiveId" clId="{EB8F4A53-0964-5BF1-90AD-931457E28E1A}" dt="2026-10-13T04:24:36.137" v="2460" actId="478"/>
          <ac:spMkLst>
            <pc:docMk/>
            <pc:sldMk cId="868487171" sldId="260"/>
            <ac:spMk id="8" creationId="{75C85530-E1D2-AF34-1B2C-F56DD2AFE4AF}"/>
          </ac:spMkLst>
        </pc:spChg>
        <pc:spChg chg="add del">
          <ac:chgData name="Nicole Jiang" userId="09ef0fc0f6f473b5" providerId="LiveId" clId="{EB8F4A53-0964-5BF1-90AD-931457E28E1A}" dt="2026-10-13T17:35:09.918" v="2597" actId="22"/>
          <ac:spMkLst>
            <pc:docMk/>
            <pc:sldMk cId="868487171" sldId="260"/>
            <ac:spMk id="9" creationId="{BC255E84-3920-83B2-B909-E002B21CB45A}"/>
          </ac:spMkLst>
        </pc:spChg>
        <pc:spChg chg="mod">
          <ac:chgData name="Nicole Jiang" userId="09ef0fc0f6f473b5" providerId="LiveId" clId="{EB8F4A53-0964-5BF1-90AD-931457E28E1A}" dt="2026-10-13T04:33:36.816" v="2572" actId="14100"/>
          <ac:spMkLst>
            <pc:docMk/>
            <pc:sldMk cId="868487171" sldId="260"/>
            <ac:spMk id="11" creationId="{AF7EDC07-606F-DD66-5973-0AE0D673B23B}"/>
          </ac:spMkLst>
        </pc:spChg>
        <pc:spChg chg="add del mod">
          <ac:chgData name="Nicole Jiang" userId="09ef0fc0f6f473b5" providerId="LiveId" clId="{EB8F4A53-0964-5BF1-90AD-931457E28E1A}" dt="2026-10-13T04:24:48.767" v="2466"/>
          <ac:spMkLst>
            <pc:docMk/>
            <pc:sldMk cId="868487171" sldId="260"/>
            <ac:spMk id="12" creationId="{C0849F7A-B4A3-9284-9FFE-EB9FFC54D4D3}"/>
          </ac:spMkLst>
        </pc:spChg>
        <pc:spChg chg="add mod">
          <ac:chgData name="Nicole Jiang" userId="09ef0fc0f6f473b5" providerId="LiveId" clId="{EB8F4A53-0964-5BF1-90AD-931457E28E1A}" dt="2026-10-13T21:07:24.355" v="2661" actId="255"/>
          <ac:spMkLst>
            <pc:docMk/>
            <pc:sldMk cId="868487171" sldId="260"/>
            <ac:spMk id="15" creationId="{B71483CE-2A7E-6438-7E3B-E605C17C7099}"/>
          </ac:spMkLst>
        </pc:spChg>
        <pc:spChg chg="add mod">
          <ac:chgData name="Nicole Jiang" userId="09ef0fc0f6f473b5" providerId="LiveId" clId="{EB8F4A53-0964-5BF1-90AD-931457E28E1A}" dt="2026-10-13T04:33:20.708" v="2567" actId="571"/>
          <ac:spMkLst>
            <pc:docMk/>
            <pc:sldMk cId="868487171" sldId="260"/>
            <ac:spMk id="17" creationId="{84ACFD66-AC45-B0B3-9E6F-FC9D5909992E}"/>
          </ac:spMkLst>
        </pc:spChg>
        <pc:spChg chg="mod">
          <ac:chgData name="Nicole Jiang" userId="09ef0fc0f6f473b5" providerId="LiveId" clId="{EB8F4A53-0964-5BF1-90AD-931457E28E1A}" dt="2026-10-13T17:25:16.831" v="2589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04:30:28.608" v="2535" actId="14100"/>
          <ac:spMkLst>
            <pc:docMk/>
            <pc:sldMk cId="868487171" sldId="260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13T21:07:12.551" v="2658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3T21:02:41.287" v="2608" actId="14100"/>
          <ac:spMkLst>
            <pc:docMk/>
            <pc:sldMk cId="868487171" sldId="260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3T21:02:47.022" v="2609" actId="1076"/>
          <ac:spMkLst>
            <pc:docMk/>
            <pc:sldMk cId="868487171" sldId="260"/>
            <ac:spMk id="72" creationId="{6D9DC137-E8CF-8FC7-F26F-A7759AD2C396}"/>
          </ac:spMkLst>
        </pc:spChg>
        <pc:spChg chg="mod">
          <ac:chgData name="Nicole Jiang" userId="09ef0fc0f6f473b5" providerId="LiveId" clId="{EB8F4A53-0964-5BF1-90AD-931457E28E1A}" dt="2026-10-14T01:47:48.911" v="2678" actId="20577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3T21:03:18.931" v="2617" actId="14100"/>
          <ac:spMkLst>
            <pc:docMk/>
            <pc:sldMk cId="868487171" sldId="260"/>
            <ac:spMk id="74" creationId="{F5F0E6D1-7308-2846-C555-5A8981E84E43}"/>
          </ac:spMkLst>
        </pc:spChg>
        <pc:spChg chg="del">
          <ac:chgData name="Nicole Jiang" userId="09ef0fc0f6f473b5" providerId="LiveId" clId="{EB8F4A53-0964-5BF1-90AD-931457E28E1A}" dt="2026-10-13T04:15:58.561" v="2424" actId="478"/>
          <ac:spMkLst>
            <pc:docMk/>
            <pc:sldMk cId="868487171" sldId="260"/>
            <ac:spMk id="75" creationId="{1321580B-F01F-0657-4172-18EB0518DB94}"/>
          </ac:spMkLst>
        </pc:spChg>
        <pc:spChg chg="mod">
          <ac:chgData name="Nicole Jiang" userId="09ef0fc0f6f473b5" providerId="LiveId" clId="{EB8F4A53-0964-5BF1-90AD-931457E28E1A}" dt="2026-10-13T21:07:19.681" v="2660" actId="255"/>
          <ac:spMkLst>
            <pc:docMk/>
            <pc:sldMk cId="868487171" sldId="260"/>
            <ac:spMk id="76" creationId="{8F4057E1-F618-63B3-DF3A-8B3B4948305D}"/>
          </ac:spMkLst>
        </pc:spChg>
        <pc:spChg chg="del mod">
          <ac:chgData name="Nicole Jiang" userId="09ef0fc0f6f473b5" providerId="LiveId" clId="{EB8F4A53-0964-5BF1-90AD-931457E28E1A}" dt="2026-10-13T04:15:59.780" v="2425" actId="478"/>
          <ac:spMkLst>
            <pc:docMk/>
            <pc:sldMk cId="868487171" sldId="260"/>
            <ac:spMk id="77" creationId="{7A1E6EC0-2FA9-D0FD-7275-799C6E89A662}"/>
          </ac:spMkLst>
        </pc:spChg>
        <pc:spChg chg="mod">
          <ac:chgData name="Nicole Jiang" userId="09ef0fc0f6f473b5" providerId="LiveId" clId="{EB8F4A53-0964-5BF1-90AD-931457E28E1A}" dt="2026-10-13T04:33:24.947" v="2569" actId="1076"/>
          <ac:spMkLst>
            <pc:docMk/>
            <pc:sldMk cId="868487171" sldId="260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3T21:07:28.149" v="2662" actId="255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04:33:28.472" v="2570" actId="14100"/>
          <ac:spMkLst>
            <pc:docMk/>
            <pc:sldMk cId="868487171" sldId="260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3T17:25:54.657" v="2593" actId="1076"/>
          <ac:spMkLst>
            <pc:docMk/>
            <pc:sldMk cId="868487171" sldId="260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3T21:07:31.461" v="2663" actId="255"/>
          <ac:spMkLst>
            <pc:docMk/>
            <pc:sldMk cId="868487171" sldId="260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3T17:25:58.232" v="2594" actId="14100"/>
          <ac:spMkLst>
            <pc:docMk/>
            <pc:sldMk cId="868487171" sldId="260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3T04:25:23.126" v="2472" actId="1076"/>
          <ac:spMkLst>
            <pc:docMk/>
            <pc:sldMk cId="868487171" sldId="260"/>
            <ac:spMk id="110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27.266" v="2618" actId="1076"/>
          <ac:spMkLst>
            <pc:docMk/>
            <pc:sldMk cId="868487171" sldId="260"/>
            <ac:spMk id="111" creationId="{00000000-0000-0000-0000-000000000000}"/>
          </ac:spMkLst>
        </pc:spChg>
        <pc:spChg chg="mod">
          <ac:chgData name="Nicole Jiang" userId="09ef0fc0f6f473b5" providerId="LiveId" clId="{EB8F4A53-0964-5BF1-90AD-931457E28E1A}" dt="2026-10-13T04:25:35.209" v="2475" actId="1076"/>
          <ac:spMkLst>
            <pc:docMk/>
            <pc:sldMk cId="868487171" sldId="260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36.169" v="2620" actId="1076"/>
          <ac:spMkLst>
            <pc:docMk/>
            <pc:sldMk cId="868487171" sldId="260"/>
            <ac:spMk id="120" creationId="{3A05E1FE-512D-49F3-9C39-22D275F0EE18}"/>
          </ac:spMkLst>
        </pc:spChg>
        <pc:picChg chg="mod">
          <ac:chgData name="Nicole Jiang" userId="09ef0fc0f6f473b5" providerId="LiveId" clId="{EB8F4A53-0964-5BF1-90AD-931457E28E1A}" dt="2026-10-13T21:03:29.514" v="2619" actId="1076"/>
          <ac:picMkLst>
            <pc:docMk/>
            <pc:sldMk cId="868487171" sldId="260"/>
            <ac:picMk id="3" creationId="{535E2EF0-72FB-E9D0-1E82-C65E26ED9E91}"/>
          </ac:picMkLst>
        </pc:picChg>
        <pc:picChg chg="mod">
          <ac:chgData name="Nicole Jiang" userId="09ef0fc0f6f473b5" providerId="LiveId" clId="{EB8F4A53-0964-5BF1-90AD-931457E28E1A}" dt="2026-10-13T04:31:29.384" v="2549" actId="1076"/>
          <ac:picMkLst>
            <pc:docMk/>
            <pc:sldMk cId="868487171" sldId="260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3T03:53:35.490" v="2389" actId="1076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3T03:53:38.080" v="2390" actId="1076"/>
          <ac:picMkLst>
            <pc:docMk/>
            <pc:sldMk cId="868487171" sldId="260"/>
            <ac:picMk id="6" creationId="{9D3E6E2E-04C2-513B-0EE5-8C40F5B8F46A}"/>
          </ac:picMkLst>
        </pc:picChg>
        <pc:picChg chg="add mod">
          <ac:chgData name="Nicole Jiang" userId="09ef0fc0f6f473b5" providerId="LiveId" clId="{EB8F4A53-0964-5BF1-90AD-931457E28E1A}" dt="2026-10-13T04:25:48.062" v="2478" actId="1076"/>
          <ac:picMkLst>
            <pc:docMk/>
            <pc:sldMk cId="868487171" sldId="260"/>
            <ac:picMk id="9" creationId="{DA4F04D1-71C4-D0BB-D2B5-DFFC4A124624}"/>
          </ac:picMkLst>
        </pc:picChg>
        <pc:picChg chg="mod">
          <ac:chgData name="Nicole Jiang" userId="09ef0fc0f6f473b5" providerId="LiveId" clId="{EB8F4A53-0964-5BF1-90AD-931457E28E1A}" dt="2026-10-13T03:52:22.696" v="2378" actId="1076"/>
          <ac:picMkLst>
            <pc:docMk/>
            <pc:sldMk cId="868487171" sldId="260"/>
            <ac:picMk id="10" creationId="{FB4EBB94-758E-75A7-659C-BF66DBB0AEF6}"/>
          </ac:picMkLst>
        </pc:picChg>
        <pc:picChg chg="mod">
          <ac:chgData name="Nicole Jiang" userId="09ef0fc0f6f473b5" providerId="LiveId" clId="{EB8F4A53-0964-5BF1-90AD-931457E28E1A}" dt="2026-10-13T04:24:29.830" v="2458" actId="1076"/>
          <ac:picMkLst>
            <pc:docMk/>
            <pc:sldMk cId="868487171" sldId="260"/>
            <ac:picMk id="14" creationId="{C3CA3027-10C5-D39A-05B0-82DB2540F9D3}"/>
          </ac:picMkLst>
        </pc:picChg>
        <pc:picChg chg="add mod">
          <ac:chgData name="Nicole Jiang" userId="09ef0fc0f6f473b5" providerId="LiveId" clId="{EB8F4A53-0964-5BF1-90AD-931457E28E1A}" dt="2026-10-13T04:30:22.385" v="2519" actId="571"/>
          <ac:picMkLst>
            <pc:docMk/>
            <pc:sldMk cId="868487171" sldId="260"/>
            <ac:picMk id="16" creationId="{0E987B6D-2DAC-5699-DEFF-718AA7AF9224}"/>
          </ac:picMkLst>
        </pc:picChg>
        <pc:picChg chg="mod">
          <ac:chgData name="Nicole Jiang" userId="09ef0fc0f6f473b5" providerId="LiveId" clId="{EB8F4A53-0964-5BF1-90AD-931457E28E1A}" dt="2026-10-13T03:52:53.768" v="2384" actId="1076"/>
          <ac:picMkLst>
            <pc:docMk/>
            <pc:sldMk cId="868487171" sldId="260"/>
            <ac:picMk id="33" creationId="{42BD33B9-86B6-8B04-8AA1-E72E85543563}"/>
          </ac:picMkLst>
        </pc:picChg>
        <pc:picChg chg="mod">
          <ac:chgData name="Nicole Jiang" userId="09ef0fc0f6f473b5" providerId="LiveId" clId="{EB8F4A53-0964-5BF1-90AD-931457E28E1A}" dt="2026-10-13T03:52:51.190" v="2383" actId="1076"/>
          <ac:picMkLst>
            <pc:docMk/>
            <pc:sldMk cId="868487171" sldId="260"/>
            <ac:picMk id="36" creationId="{8C2E503F-9CF2-EBE6-29B0-458691A7DFB1}"/>
          </ac:picMkLst>
        </pc:picChg>
      </pc:sldChg>
      <pc:sldChg chg="modSp add del mod">
        <pc:chgData name="Nicole Jiang" userId="09ef0fc0f6f473b5" providerId="LiveId" clId="{EB8F4A53-0964-5BF1-90AD-931457E28E1A}" dt="2026-10-13T17:35:40.898" v="2607" actId="2696"/>
        <pc:sldMkLst>
          <pc:docMk/>
          <pc:sldMk cId="1945540972" sldId="261"/>
        </pc:sldMkLst>
        <pc:spChg chg="mod">
          <ac:chgData name="Nicole Jiang" userId="09ef0fc0f6f473b5" providerId="LiveId" clId="{EB8F4A53-0964-5BF1-90AD-931457E28E1A}" dt="2026-10-13T17:35:28.310" v="2606" actId="20577"/>
          <ac:spMkLst>
            <pc:docMk/>
            <pc:sldMk cId="1945540972" sldId="261"/>
            <ac:spMk id="73" creationId="{69833F19-D0F2-FA5A-D1B8-216186ACC37F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251523"/>
            <a:ext cx="15087600" cy="10515600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2905720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4048" y="-168958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sz="3300" b="1" lang="en-CA">
                <a:latin typeface="Aptos"/>
              </a:rPr>
              <a:t>How did early black holes grow so big, so fast? </a:t>
            </a:r>
            <a:r>
              <a:rPr sz="3300" b="0" lang="en-CA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8"/>
            <a:ext cx="15087600" cy="4543185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359156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463040" y="11772769"/>
                <a:ext cx="14173200" cy="12808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published measurements from 32 source families at z ≥ 4. Adopted 1 measurement per object and retained sources, methods, and alternatives. Primary: 220 objects with Balmer-line virial masses [1]; expanded: 234,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300" b="1" lang="en-CA">
                    <a:latin typeface="Aptos"/>
                  </a:rPr>
                  <a:t>Model tests: </a:t>
                </a:r>
                <a:r>
                  <a:rPr sz="3300" b="0" lang="en-CA">
                    <a:latin typeface="Aptos"/>
                  </a:rPr>
                  <a:t>Calculated and ranked the lifetime-average Eddington ratios needed to reach each observed mass. Compared them with assumed caps: 1 for the reference test and 0.3, 1, or 2 for earlier-onset tests.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mass; M</a:t>
                </a:r>
                <a:r>
                  <a:rPr lang="en-CA" sz="33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mass;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33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seed mass;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time;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Larger z means earlier time. </a:t>
                </a:r>
                <a:r>
                  <a:rPr lang="en-CA" sz="3300" b="1" i="0" dirty="0">
                    <a:latin typeface="Aptos"/>
                  </a:rPr>
                  <a:t>Eddington ratio: </a:t>
                </a:r>
                <a:r>
                  <a:rPr lang="en-CA" sz="3300" b="0" i="1" dirty="0" err="1">
                    <a:latin typeface="Aptos"/>
                  </a:rPr>
                  <a:t>f</a:t>
                </a:r>
                <a:r>
                  <a:rPr lang="en-CA" sz="2200" b="0" i="0" baseline="-25000" dirty="0" err="1">
                    <a:latin typeface="Aptos"/>
                  </a:rPr>
                  <a:t>Edd</a:t>
                </a:r>
                <a:r>
                  <a:rPr lang="en-CA" sz="3300" b="0" i="0" dirty="0">
                    <a:latin typeface="Aptos"/>
                  </a:rPr>
                  <a:t>: luminosity/Eddington limit</a:t>
                </a:r>
                <a:r>
                  <a:rPr lang="en-CA" sz="3300" dirty="0">
                    <a:latin typeface="Aptos"/>
                  </a:rPr>
                  <a:t>; </a:t>
                </a:r>
                <a:r>
                  <a:rPr lang="en-CA" sz="3300" b="0" i="1" dirty="0" err="1">
                    <a:latin typeface="Aptos"/>
                  </a:rPr>
                  <a:t>f̄</a:t>
                </a:r>
                <a:r>
                  <a:rPr lang="en-CA" sz="2200" b="0" i="0" baseline="-25000" dirty="0" err="1">
                    <a:latin typeface="Aptos"/>
                  </a:rPr>
                  <a:t>Edd,req</a:t>
                </a:r>
                <a:r>
                  <a:rPr lang="en-CA" sz="3300" b="0" i="0" dirty="0">
                    <a:latin typeface="Aptos"/>
                  </a:rPr>
                  <a:t>: required lifetime average, including inactive periods</a:t>
                </a:r>
                <a:r>
                  <a:rPr lang="en-CA" sz="3300" dirty="0"/>
                  <a:t>. Values above 1 require periods of super-Eddington growth under this model.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to approximate reported asymmetric log-mass errors. Included 12 objects without errors in central-mass calculations only.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onset, and efficiency separately.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For the 3 leading primary targets and GN-z11, solved minimum seed masses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33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 using radiation-inclusive ages. Assumed gas remained available for accretion.</a:t>
                </a:r>
              </a:p>
            </p:txBody>
          </p:sp>
        </mc:Choice>
        <mc:Fallback>
          <p:sp xmlns:a14="http://schemas.microsoft.com/office/drawing/2010/main"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463040" y="11772769"/>
                <a:ext cx="14173200" cy="12808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published measurements from 32 source families at z ≥ 4. Adopted 1 measurement per object and retained sources, methods, and alternatives. Primary: 220 objects with Balmer-line virial masses [1]; expanded: 234,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sz="3300" b="1" lang="en-CA">
                    <a:latin typeface="Aptos"/>
                  </a:rPr>
                  <a:t>Model tests: </a:t>
                </a:r>
                <a:r>
                  <a:rPr sz="3300" b="0" lang="en-CA">
                    <a:latin typeface="Aptos"/>
                  </a:rPr>
                  <a:t>Calculated and ranked the lifetime-average Eddington ratios needed to reach each observed mass. Compared them with assumed caps: 1 for the reference test and 0.3, 1, or 2 for earlier-onset tests.</a:t>
                </a:r>
              </a:p>
              <a:p>
                <a:r>
                  <a:rPr sz="2600">
                    <a:latin typeface="Cambria Math"/>
                  </a:rPr>
                  <a:t>f̄Edd,req = max[0, ε/(1−ε) × tEdd/Δt × ln(MBH/(Bmerge Mseed))]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mass; M</a:t>
                </a:r>
                <a:r>
                  <a:rPr lang="en-CA" sz="33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mass;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33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seed mass;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time;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Larger z means earlier time. </a:t>
                </a:r>
                <a:r>
                  <a:rPr lang="en-CA" sz="3300" b="1" i="0" dirty="0">
                    <a:latin typeface="Aptos"/>
                  </a:rPr>
                  <a:t>Eddington ratio: </a:t>
                </a:r>
                <a:r>
                  <a:rPr lang="en-CA" sz="3300" b="0" i="1" dirty="0" err="1">
                    <a:latin typeface="Aptos"/>
                  </a:rPr>
                  <a:t>f</a:t>
                </a:r>
                <a:r>
                  <a:rPr lang="en-CA" sz="2200" b="0" i="0" baseline="-25000" dirty="0" err="1">
                    <a:latin typeface="Aptos"/>
                  </a:rPr>
                  <a:t>Edd</a:t>
                </a:r>
                <a:r>
                  <a:rPr lang="en-CA" sz="3300" b="0" i="0" dirty="0">
                    <a:latin typeface="Aptos"/>
                  </a:rPr>
                  <a:t>: luminosity/Eddington limit</a:t>
                </a:r>
                <a:r>
                  <a:rPr lang="en-CA" sz="3300" dirty="0">
                    <a:latin typeface="Aptos"/>
                  </a:rPr>
                  <a:t>; </a:t>
                </a:r>
                <a:r>
                  <a:rPr lang="en-CA" sz="3300" b="0" i="1" dirty="0" err="1">
                    <a:latin typeface="Aptos"/>
                  </a:rPr>
                  <a:t>f̄</a:t>
                </a:r>
                <a:r>
                  <a:rPr lang="en-CA" sz="2200" b="0" i="0" baseline="-25000" dirty="0" err="1">
                    <a:latin typeface="Aptos"/>
                  </a:rPr>
                  <a:t>Edd,req</a:t>
                </a:r>
                <a:r>
                  <a:rPr lang="en-CA" sz="3300" b="0" i="0" dirty="0">
                    <a:latin typeface="Aptos"/>
                  </a:rPr>
                  <a:t>: required lifetime average, including inactive periods</a:t>
                </a:r>
                <a:r>
                  <a:rPr lang="en-CA" sz="3300" dirty="0"/>
                  <a:t>. Values above 1 require periods of super-Eddington growth under this model.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to approximate reported asymmetric log-mass errors. Included 12 objects without errors in central-mass calculations only.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onset, and efficiency separately.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For the 3 leading primary targets and GN-z11, solved minimum seed masses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33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 using radiation-inclusive ages. Assumed gas remained available for accretion.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408582"/>
            <a:ext cx="15087600" cy="14586557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50369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841982" y="36683439"/>
            <a:ext cx="14996160" cy="6583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latin typeface="Aptos"/>
              </a:rPr>
              <a:t>Radiative efficiency: </a:t>
            </a:r>
            <a:r>
              <a:rPr sz="3300" b="0" lang="en-CA">
                <a:latin typeface="Aptos"/>
              </a:rPr>
              <a:t>With 100 M⊙ seeds at z = 30, 8 primary objects require average ratios above 1 at ε = 0.1. At ε = 0.05719 (non-spinning thin disc), all 234 central masses require ratios below 1.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latin typeface="Aptos"/>
              </a:rPr>
              <a:t>Mass measurements: </a:t>
            </a:r>
            <a:r>
              <a:rPr sz="3300" b="0" lang="en-CA">
                <a:latin typeface="Aptos"/>
              </a:rPr>
              <a:t>Independent masses, improved lens models, and tests of scattering in broad emission lines could change which objects exceed the reference limit.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latin typeface="Aptos"/>
              </a:rPr>
              <a:t>Catalogue: </a:t>
            </a:r>
            <a:r>
              <a:rPr sz="3300" b="0" lang="en-CA">
                <a:latin typeface="Aptos"/>
              </a:rPr>
              <a:t>The catalogue retains alternative measurements for comparison. Its counts combine different surveys and cannot show how common these black holes are.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sz="3300" b="1" lang="en-CA">
                <a:latin typeface="Aptos"/>
              </a:rPr>
              <a:t>Earlier growth: </a:t>
            </a:r>
            <a:r>
              <a:rPr sz="3300" b="0" lang="en-CA">
                <a:latin typeface="Aptos"/>
              </a:rPr>
              <a:t>Starting at z = 3,400, the 4 targets still need 270–1,200 M⊙ seeds (ε = 0.1, average ratio ≤ 1, no mergers). Larger seeds or super-Eddington accretion remain possible explanations.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503691"/>
            <a:ext cx="15453360" cy="793030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8218254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39363981"/>
            <a:ext cx="1389888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8218254"/>
            <a:ext cx="15087600" cy="521574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62120" y="12298680"/>
            <a:ext cx="14630400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33324" y="21259800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At matter–radiation equality (z = 3,400), the 3 leading primary targets plus GN-z11 require minimum seed masses of 270–1,200 M⊙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  <a:r>
              <a:rPr lang="en-CA" sz="33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Reference: </a:t>
            </a:r>
            <a:r>
              <a:rPr lang="en-CA" sz="3300" b="0" dirty="0">
                <a:latin typeface="Aptos"/>
              </a:rPr>
              <a:t>8/220 primary objects require an average ratio above 1; 5 do so in ≥ 95% of reported-mass-error draws.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Mass sensitivity: </a:t>
            </a:r>
            <a:r>
              <a:rPr lang="en-CA" sz="3300" b="0" dirty="0">
                <a:latin typeface="Aptos"/>
              </a:rPr>
              <a:t>UNCOVER-20466, COSMOS3D-13852, and RUBIES-EGS-55604 retain ≥ 95% support after a 0.5 </a:t>
            </a:r>
            <a:r>
              <a:rPr lang="en-CA" sz="3300" b="0" dirty="0" err="1">
                <a:latin typeface="Aptos"/>
              </a:rPr>
              <a:t>dex</a:t>
            </a:r>
            <a:r>
              <a:rPr lang="en-CA" sz="3300" b="0" dirty="0">
                <a:latin typeface="Aptos"/>
              </a:rPr>
              <a:t> mass reduction (a factor of 3.2).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Seed mass: </a:t>
            </a:r>
            <a:r>
              <a:rPr lang="en-CA" sz="3300" b="0" dirty="0">
                <a:latin typeface="Aptos"/>
              </a:rPr>
              <a:t>1,000 M⊙ seeds leave 3/220 above 1; 100,000 M⊙ seeds leave 0 above 1 in either sample.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Formation time: </a:t>
            </a:r>
            <a:r>
              <a:rPr lang="en-CA" sz="3300" b="0" dirty="0">
                <a:latin typeface="Aptos"/>
              </a:rPr>
              <a:t>Later seeding (z = 20) gives 18/220 primary objects above 1; GN-z11 has the highest requirement in the expanded sample.</a:t>
            </a:r>
          </a:p>
          <a:p>
            <a:pPr marL="285750" indent="-228600">
              <a:buChar char="•"/>
            </a:pPr>
            <a:r>
              <a:rPr lang="en-CA" sz="3300" b="1" dirty="0">
                <a:latin typeface="Aptos"/>
              </a:rPr>
              <a:t>Efficiency: </a:t>
            </a:r>
            <a:r>
              <a:rPr lang="en-CA" sz="3300" b="0" dirty="0">
                <a:latin typeface="Aptos"/>
              </a:rPr>
              <a:t>At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0.05719 (non-spinning thin disc) [4], all 234 central masses are reachable from 100 M⊙ seeds at z = 30 with an average ratio below 1.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2990534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7190720" y="20162520"/>
            <a:ext cx="1444752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After a −0.5 </a:t>
            </a:r>
            <a:r>
              <a:rPr lang="en-CA" sz="2400" b="0" dirty="0" err="1">
                <a:latin typeface="Aptos"/>
              </a:rPr>
              <a:t>dex</a:t>
            </a:r>
            <a:r>
              <a:rPr lang="en-CA" sz="2400" b="0" dirty="0">
                <a:latin typeface="Aptos"/>
              </a:rPr>
              <a:t> mass shift, 3 targets retain ≥ 95% reported-error support for a required average ratio above 1.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188720" y="36859926"/>
            <a:ext cx="14356080" cy="10515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826960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3375600"/>
            <a:ext cx="14767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3300" b="1" lang="en-CA">
                <a:latin typeface="Aptos"/>
              </a:rPr>
              <a:t>Independent mass check: </a:t>
            </a:r>
            <a:r>
              <a:rPr sz="3300" b="0" lang="en-CA">
                <a:latin typeface="Aptos"/>
              </a:rPr>
              <a:t>For A2744-QSO1, the broad-line mass (2.0 × 10</a:t>
            </a:r>
            <a:r>
              <a:rPr sz="2200" b="0" lang="en-CA" baseline="30000">
                <a:latin typeface="Aptos"/>
              </a:rPr>
              <a:t>7</a:t>
            </a:r>
            <a:r>
              <a:rPr sz="3300" b="0" lang="en-CA">
                <a:latin typeface="Aptos"/>
              </a:rPr>
              <a:t> M⊙) requires an average ratio of 0.929. The dynamical mass (5.0 × 10</a:t>
            </a:r>
            <a:r>
              <a:rPr sz="2200" b="0" lang="en-CA" baseline="30000">
                <a:latin typeface="Aptos"/>
              </a:rPr>
              <a:t>7</a:t>
            </a:r>
            <a:r>
              <a:rPr sz="3300" b="0" lang="en-CA">
                <a:latin typeface="Aptos"/>
              </a:rPr>
              <a:t> M⊙) requires 0.9996 (16th–84th percentiles: 0.947–1.052) [5].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280160" y="25453836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sz="3600" b="1" lang="en-CA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214</TotalTime>
  <Words>960</Words>
  <Application>Microsoft Macintosh PowerPoint</Application>
  <PresentationFormat>Custom</PresentationFormat>
  <Paragraphs>39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2026-10-14T01:47:56Z</dcterms:modified>
</cp:coreProperties>
</file>
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0" r:id="rId2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A5C"/>
    <a:srgbClr val="002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8"/>
    <p:restoredTop sz="94701"/>
  </p:normalViewPr>
  <p:slideViewPr>
    <p:cSldViewPr snapToGrid="0">
      <p:cViewPr>
        <p:scale>
          <a:sx n="15" d="100"/>
          <a:sy n="15" d="100"/>
        </p:scale>
        <p:origin x="288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6473874E-BB57-4884-5C66-EE1C81F1FB1F}"/>
    <pc:docChg chg="modSld">
      <pc:chgData name="Guest User" userId="" providerId="Windows Live" clId="Web-{6473874E-BB57-4884-5C66-EE1C81F1FB1F}" dt="2026-10-06T18:07:50.156" v="49" actId="14100"/>
      <pc:docMkLst>
        <pc:docMk/>
      </pc:docMkLst>
    </pc:docChg>
  </pc:docChgLst>
  <pc:docChgLst>
    <pc:chgData name="Nicole Jiang" userId="09ef0fc0f6f473b5" providerId="LiveId" clId="{EB8F4A53-0964-5BF1-90AD-931457E28E1A}"/>
    <pc:docChg chg="undo redo custSel addSld delSld modSld">
      <pc:chgData name="Nicole Jiang" userId="09ef0fc0f6f473b5" providerId="LiveId" clId="{EB8F4A53-0964-5BF1-90AD-931457E28E1A}" dt="2026-10-13T17:35:40.898" v="2607" actId="2696"/>
      <pc:docMkLst>
        <pc:docMk/>
      </pc:docMkLst>
      <pc:sldChg chg="addSp delSp modSp add del mod">
        <pc:chgData name="Nicole Jiang" userId="09ef0fc0f6f473b5" providerId="LiveId" clId="{EB8F4A53-0964-5BF1-90AD-931457E28E1A}" dt="2026-10-13T17:24:31.699" v="2580" actId="2696"/>
        <pc:sldMkLst>
          <pc:docMk/>
          <pc:sldMk cId="868487171" sldId="259"/>
        </pc:sldMkLst>
      </pc:sldChg>
      <pc:sldChg chg="addSp delSp modSp mod">
        <pc:chgData name="Nicole Jiang" userId="09ef0fc0f6f473b5" providerId="LiveId" clId="{EB8F4A53-0964-5BF1-90AD-931457E28E1A}" dt="2026-10-13T17:35:09.918" v="2597" actId="22"/>
        <pc:sldMkLst>
          <pc:docMk/>
          <pc:sldMk cId="868487171" sldId="260"/>
        </pc:sldMkLst>
        <pc:spChg chg="mod">
          <ac:chgData name="Nicole Jiang" userId="09ef0fc0f6f473b5" providerId="LiveId" clId="{EB8F4A53-0964-5BF1-90AD-931457E28E1A}" dt="2026-10-13T04:31:23.380" v="2548" actId="14100"/>
          <ac:spMkLst>
            <pc:docMk/>
            <pc:sldMk cId="868487171" sldId="260"/>
            <ac:spMk id="2" creationId="{6F669F8B-BE33-0C82-515C-AF8D3B759FB3}"/>
          </ac:spMkLst>
        </pc:spChg>
        <pc:spChg chg="mod">
          <ac:chgData name="Nicole Jiang" userId="09ef0fc0f6f473b5" providerId="LiveId" clId="{EB8F4A53-0964-5BF1-90AD-931457E28E1A}" dt="2026-10-13T04:31:08.200" v="2544" actId="14100"/>
          <ac:spMkLst>
            <pc:docMk/>
            <pc:sldMk cId="868487171" sldId="260"/>
            <ac:spMk id="7" creationId="{3AC78928-AF13-E1B9-F802-F1FD39D07D33}"/>
          </ac:spMkLst>
        </pc:spChg>
        <pc:spChg chg="add del mod">
          <ac:chgData name="Nicole Jiang" userId="09ef0fc0f6f473b5" providerId="LiveId" clId="{EB8F4A53-0964-5BF1-90AD-931457E28E1A}" dt="2026-10-13T04:24:36.137" v="2460" actId="478"/>
          <ac:spMkLst>
            <pc:docMk/>
            <pc:sldMk cId="868487171" sldId="260"/>
            <ac:spMk id="8" creationId="{75C85530-E1D2-AF34-1B2C-F56DD2AFE4AF}"/>
          </ac:spMkLst>
        </pc:spChg>
        <pc:spChg chg="add del">
          <ac:chgData name="Nicole Jiang" userId="09ef0fc0f6f473b5" providerId="LiveId" clId="{EB8F4A53-0964-5BF1-90AD-931457E28E1A}" dt="2026-10-13T17:35:09.918" v="2597" actId="22"/>
          <ac:spMkLst>
            <pc:docMk/>
            <pc:sldMk cId="868487171" sldId="260"/>
            <ac:spMk id="9" creationId="{BC255E84-3920-83B2-B909-E002B21CB45A}"/>
          </ac:spMkLst>
        </pc:spChg>
        <pc:spChg chg="mod">
          <ac:chgData name="Nicole Jiang" userId="09ef0fc0f6f473b5" providerId="LiveId" clId="{EB8F4A53-0964-5BF1-90AD-931457E28E1A}" dt="2026-10-13T04:33:36.816" v="2572" actId="14100"/>
          <ac:spMkLst>
            <pc:docMk/>
            <pc:sldMk cId="868487171" sldId="260"/>
            <ac:spMk id="11" creationId="{AF7EDC07-606F-DD66-5973-0AE0D673B23B}"/>
          </ac:spMkLst>
        </pc:spChg>
        <pc:spChg chg="add del mod">
          <ac:chgData name="Nicole Jiang" userId="09ef0fc0f6f473b5" providerId="LiveId" clId="{EB8F4A53-0964-5BF1-90AD-931457E28E1A}" dt="2026-10-13T04:24:48.767" v="2466"/>
          <ac:spMkLst>
            <pc:docMk/>
            <pc:sldMk cId="868487171" sldId="260"/>
            <ac:spMk id="12" creationId="{C0849F7A-B4A3-9284-9FFE-EB9FFC54D4D3}"/>
          </ac:spMkLst>
        </pc:spChg>
        <pc:spChg chg="add mod">
          <ac:chgData name="Nicole Jiang" userId="09ef0fc0f6f473b5" providerId="LiveId" clId="{EB8F4A53-0964-5BF1-90AD-931457E28E1A}" dt="2026-10-13T04:31:17.775" v="2547" actId="14100"/>
          <ac:spMkLst>
            <pc:docMk/>
            <pc:sldMk cId="868487171" sldId="260"/>
            <ac:spMk id="15" creationId="{B71483CE-2A7E-6438-7E3B-E605C17C7099}"/>
          </ac:spMkLst>
        </pc:spChg>
        <pc:spChg chg="add mod">
          <ac:chgData name="Nicole Jiang" userId="09ef0fc0f6f473b5" providerId="LiveId" clId="{EB8F4A53-0964-5BF1-90AD-931457E28E1A}" dt="2026-10-13T04:33:20.708" v="2567" actId="571"/>
          <ac:spMkLst>
            <pc:docMk/>
            <pc:sldMk cId="868487171" sldId="260"/>
            <ac:spMk id="17" creationId="{84ACFD66-AC45-B0B3-9E6F-FC9D5909992E}"/>
          </ac:spMkLst>
        </pc:spChg>
        <pc:spChg chg="mod">
          <ac:chgData name="Nicole Jiang" userId="09ef0fc0f6f473b5" providerId="LiveId" clId="{EB8F4A53-0964-5BF1-90AD-931457E28E1A}" dt="2026-10-13T17:25:16.831" v="2589" actId="1076"/>
          <ac:spMkLst>
            <pc:docMk/>
            <pc:sldMk cId="868487171" sldId="260"/>
            <ac:spMk id="32" creationId="{F8D50A2A-9B61-AD34-B9C2-8944BB27426C}"/>
          </ac:spMkLst>
        </pc:spChg>
        <pc:spChg chg="mod">
          <ac:chgData name="Nicole Jiang" userId="09ef0fc0f6f473b5" providerId="LiveId" clId="{EB8F4A53-0964-5BF1-90AD-931457E28E1A}" dt="2026-10-13T04:30:28.608" v="2535" actId="14100"/>
          <ac:spMkLst>
            <pc:docMk/>
            <pc:sldMk cId="868487171" sldId="260"/>
            <ac:spMk id="69" creationId="{D8B6836B-DAF1-F68F-D717-73D3A454BC2E}"/>
          </ac:spMkLst>
        </pc:spChg>
        <pc:spChg chg="mod">
          <ac:chgData name="Nicole Jiang" userId="09ef0fc0f6f473b5" providerId="LiveId" clId="{EB8F4A53-0964-5BF1-90AD-931457E28E1A}" dt="2026-10-13T04:30:28.266" v="2534" actId="14100"/>
          <ac:spMkLst>
            <pc:docMk/>
            <pc:sldMk cId="868487171" sldId="260"/>
            <ac:spMk id="70" creationId="{7842EAEC-0FF9-516A-6712-19E0D19D0354}"/>
          </ac:spMkLst>
        </pc:spChg>
        <pc:spChg chg="mod">
          <ac:chgData name="Nicole Jiang" userId="09ef0fc0f6f473b5" providerId="LiveId" clId="{EB8F4A53-0964-5BF1-90AD-931457E28E1A}" dt="2026-10-13T04:30:53.652" v="2541" actId="14100"/>
          <ac:spMkLst>
            <pc:docMk/>
            <pc:sldMk cId="868487171" sldId="260"/>
            <ac:spMk id="71" creationId="{ABB03D82-A209-1440-3180-9DD4419EFCBF}"/>
          </ac:spMkLst>
        </pc:spChg>
        <pc:spChg chg="mod">
          <ac:chgData name="Nicole Jiang" userId="09ef0fc0f6f473b5" providerId="LiveId" clId="{EB8F4A53-0964-5BF1-90AD-931457E28E1A}" dt="2026-10-13T04:30:27.674" v="2532" actId="1076"/>
          <ac:spMkLst>
            <pc:docMk/>
            <pc:sldMk cId="868487171" sldId="260"/>
            <ac:spMk id="72" creationId="{6D9DC137-E8CF-8FC7-F26F-A7759AD2C396}"/>
          </ac:spMkLst>
        </pc:spChg>
        <pc:spChg chg="mod">
          <ac:chgData name="Nicole Jiang" userId="09ef0fc0f6f473b5" providerId="LiveId" clId="{EB8F4A53-0964-5BF1-90AD-931457E28E1A}" dt="2026-10-13T04:30:25.812" v="2529" actId="1076"/>
          <ac:spMkLst>
            <pc:docMk/>
            <pc:sldMk cId="868487171" sldId="260"/>
            <ac:spMk id="73" creationId="{88C51BF9-B81A-ECF4-F01D-305CA1CE9DD1}"/>
          </ac:spMkLst>
        </pc:spChg>
        <pc:spChg chg="mod">
          <ac:chgData name="Nicole Jiang" userId="09ef0fc0f6f473b5" providerId="LiveId" clId="{EB8F4A53-0964-5BF1-90AD-931457E28E1A}" dt="2026-10-13T04:30:29.517" v="2537" actId="14100"/>
          <ac:spMkLst>
            <pc:docMk/>
            <pc:sldMk cId="868487171" sldId="260"/>
            <ac:spMk id="74" creationId="{F5F0E6D1-7308-2846-C555-5A8981E84E43}"/>
          </ac:spMkLst>
        </pc:spChg>
        <pc:spChg chg="del">
          <ac:chgData name="Nicole Jiang" userId="09ef0fc0f6f473b5" providerId="LiveId" clId="{EB8F4A53-0964-5BF1-90AD-931457E28E1A}" dt="2026-10-13T04:15:58.561" v="2424" actId="478"/>
          <ac:spMkLst>
            <pc:docMk/>
            <pc:sldMk cId="868487171" sldId="260"/>
            <ac:spMk id="75" creationId="{1321580B-F01F-0657-4172-18EB0518DB94}"/>
          </ac:spMkLst>
        </pc:spChg>
        <pc:spChg chg="mod">
          <ac:chgData name="Nicole Jiang" userId="09ef0fc0f6f473b5" providerId="LiveId" clId="{EB8F4A53-0964-5BF1-90AD-931457E28E1A}" dt="2026-10-13T04:31:14.790" v="2546" actId="14100"/>
          <ac:spMkLst>
            <pc:docMk/>
            <pc:sldMk cId="868487171" sldId="260"/>
            <ac:spMk id="76" creationId="{8F4057E1-F618-63B3-DF3A-8B3B4948305D}"/>
          </ac:spMkLst>
        </pc:spChg>
        <pc:spChg chg="del mod">
          <ac:chgData name="Nicole Jiang" userId="09ef0fc0f6f473b5" providerId="LiveId" clId="{EB8F4A53-0964-5BF1-90AD-931457E28E1A}" dt="2026-10-13T04:15:59.780" v="2425" actId="478"/>
          <ac:spMkLst>
            <pc:docMk/>
            <pc:sldMk cId="868487171" sldId="260"/>
            <ac:spMk id="77" creationId="{7A1E6EC0-2FA9-D0FD-7275-799C6E89A662}"/>
          </ac:spMkLst>
        </pc:spChg>
        <pc:spChg chg="mod">
          <ac:chgData name="Nicole Jiang" userId="09ef0fc0f6f473b5" providerId="LiveId" clId="{EB8F4A53-0964-5BF1-90AD-931457E28E1A}" dt="2026-10-13T04:33:24.947" v="2569" actId="1076"/>
          <ac:spMkLst>
            <pc:docMk/>
            <pc:sldMk cId="868487171" sldId="260"/>
            <ac:spMk id="78" creationId="{D50205E6-BF86-6F08-991C-43F597FDF8DD}"/>
          </ac:spMkLst>
        </pc:spChg>
        <pc:spChg chg="mod">
          <ac:chgData name="Nicole Jiang" userId="09ef0fc0f6f473b5" providerId="LiveId" clId="{EB8F4A53-0964-5BF1-90AD-931457E28E1A}" dt="2026-10-13T04:33:31.799" v="2571" actId="1076"/>
          <ac:spMkLst>
            <pc:docMk/>
            <pc:sldMk cId="868487171" sldId="260"/>
            <ac:spMk id="79" creationId="{3DD5B540-2EC8-A5A1-200C-994C1D7C8BFD}"/>
          </ac:spMkLst>
        </pc:spChg>
        <pc:spChg chg="mod">
          <ac:chgData name="Nicole Jiang" userId="09ef0fc0f6f473b5" providerId="LiveId" clId="{EB8F4A53-0964-5BF1-90AD-931457E28E1A}" dt="2026-10-13T04:33:28.472" v="2570" actId="14100"/>
          <ac:spMkLst>
            <pc:docMk/>
            <pc:sldMk cId="868487171" sldId="260"/>
            <ac:spMk id="80" creationId="{BBD5C8AB-335C-2E4D-00F6-4B0BF74BB013}"/>
          </ac:spMkLst>
        </pc:spChg>
        <pc:spChg chg="mod">
          <ac:chgData name="Nicole Jiang" userId="09ef0fc0f6f473b5" providerId="LiveId" clId="{EB8F4A53-0964-5BF1-90AD-931457E28E1A}" dt="2026-10-13T17:25:54.657" v="2593" actId="1076"/>
          <ac:spMkLst>
            <pc:docMk/>
            <pc:sldMk cId="868487171" sldId="260"/>
            <ac:spMk id="81" creationId="{8E773A53-2851-D565-B46F-D419BA57021E}"/>
          </ac:spMkLst>
        </pc:spChg>
        <pc:spChg chg="mod">
          <ac:chgData name="Nicole Jiang" userId="09ef0fc0f6f473b5" providerId="LiveId" clId="{EB8F4A53-0964-5BF1-90AD-931457E28E1A}" dt="2026-10-13T17:26:01.614" v="2595" actId="1076"/>
          <ac:spMkLst>
            <pc:docMk/>
            <pc:sldMk cId="868487171" sldId="260"/>
            <ac:spMk id="82" creationId="{82B57F9D-B4AF-1E4D-7FBC-B8680CB4CAB8}"/>
          </ac:spMkLst>
        </pc:spChg>
        <pc:spChg chg="mod">
          <ac:chgData name="Nicole Jiang" userId="09ef0fc0f6f473b5" providerId="LiveId" clId="{EB8F4A53-0964-5BF1-90AD-931457E28E1A}" dt="2026-10-13T17:25:58.232" v="2594" actId="14100"/>
          <ac:spMkLst>
            <pc:docMk/>
            <pc:sldMk cId="868487171" sldId="260"/>
            <ac:spMk id="83" creationId="{7156AF1B-4C0F-9637-8495-BA5941742B85}"/>
          </ac:spMkLst>
        </pc:spChg>
        <pc:spChg chg="mod">
          <ac:chgData name="Nicole Jiang" userId="09ef0fc0f6f473b5" providerId="LiveId" clId="{EB8F4A53-0964-5BF1-90AD-931457E28E1A}" dt="2026-10-13T04:25:23.126" v="2472" actId="1076"/>
          <ac:spMkLst>
            <pc:docMk/>
            <pc:sldMk cId="868487171" sldId="260"/>
            <ac:spMk id="110" creationId="{00000000-0000-0000-0000-000000000000}"/>
          </ac:spMkLst>
        </pc:spChg>
        <pc:spChg chg="mod">
          <ac:chgData name="Nicole Jiang" userId="09ef0fc0f6f473b5" providerId="LiveId" clId="{EB8F4A53-0964-5BF1-90AD-931457E28E1A}" dt="2026-10-13T04:35:01.208" v="2578" actId="1076"/>
          <ac:spMkLst>
            <pc:docMk/>
            <pc:sldMk cId="868487171" sldId="260"/>
            <ac:spMk id="111" creationId="{00000000-0000-0000-0000-000000000000}"/>
          </ac:spMkLst>
        </pc:spChg>
        <pc:spChg chg="mod">
          <ac:chgData name="Nicole Jiang" userId="09ef0fc0f6f473b5" providerId="LiveId" clId="{EB8F4A53-0964-5BF1-90AD-931457E28E1A}" dt="2026-10-13T04:25:35.209" v="2475" actId="1076"/>
          <ac:spMkLst>
            <pc:docMk/>
            <pc:sldMk cId="868487171" sldId="260"/>
            <ac:spMk id="112" creationId="{00000000-0000-0000-0000-000000000000}"/>
          </ac:spMkLst>
        </pc:spChg>
        <pc:picChg chg="mod">
          <ac:chgData name="Nicole Jiang" userId="09ef0fc0f6f473b5" providerId="LiveId" clId="{EB8F4A53-0964-5BF1-90AD-931457E28E1A}" dt="2026-10-13T04:35:03.777" v="2579" actId="1076"/>
          <ac:picMkLst>
            <pc:docMk/>
            <pc:sldMk cId="868487171" sldId="260"/>
            <ac:picMk id="3" creationId="{535E2EF0-72FB-E9D0-1E82-C65E26ED9E91}"/>
          </ac:picMkLst>
        </pc:picChg>
        <pc:picChg chg="mod">
          <ac:chgData name="Nicole Jiang" userId="09ef0fc0f6f473b5" providerId="LiveId" clId="{EB8F4A53-0964-5BF1-90AD-931457E28E1A}" dt="2026-10-13T04:31:29.384" v="2549" actId="1076"/>
          <ac:picMkLst>
            <pc:docMk/>
            <pc:sldMk cId="868487171" sldId="260"/>
            <ac:picMk id="4" creationId="{C4337658-2539-7C1B-497A-E1769149148E}"/>
          </ac:picMkLst>
        </pc:picChg>
        <pc:picChg chg="mod">
          <ac:chgData name="Nicole Jiang" userId="09ef0fc0f6f473b5" providerId="LiveId" clId="{EB8F4A53-0964-5BF1-90AD-931457E28E1A}" dt="2026-10-13T03:53:35.490" v="2389" actId="1076"/>
          <ac:picMkLst>
            <pc:docMk/>
            <pc:sldMk cId="868487171" sldId="260"/>
            <ac:picMk id="5" creationId="{0BD845B3-DC16-6DC6-BFC8-2D65D247678D}"/>
          </ac:picMkLst>
        </pc:picChg>
        <pc:picChg chg="mod">
          <ac:chgData name="Nicole Jiang" userId="09ef0fc0f6f473b5" providerId="LiveId" clId="{EB8F4A53-0964-5BF1-90AD-931457E28E1A}" dt="2026-10-13T03:53:38.080" v="2390" actId="1076"/>
          <ac:picMkLst>
            <pc:docMk/>
            <pc:sldMk cId="868487171" sldId="260"/>
            <ac:picMk id="6" creationId="{9D3E6E2E-04C2-513B-0EE5-8C40F5B8F46A}"/>
          </ac:picMkLst>
        </pc:picChg>
        <pc:picChg chg="add mod">
          <ac:chgData name="Nicole Jiang" userId="09ef0fc0f6f473b5" providerId="LiveId" clId="{EB8F4A53-0964-5BF1-90AD-931457E28E1A}" dt="2026-10-13T04:25:48.062" v="2478" actId="1076"/>
          <ac:picMkLst>
            <pc:docMk/>
            <pc:sldMk cId="868487171" sldId="260"/>
            <ac:picMk id="9" creationId="{DA4F04D1-71C4-D0BB-D2B5-DFFC4A124624}"/>
          </ac:picMkLst>
        </pc:picChg>
        <pc:picChg chg="mod">
          <ac:chgData name="Nicole Jiang" userId="09ef0fc0f6f473b5" providerId="LiveId" clId="{EB8F4A53-0964-5BF1-90AD-931457E28E1A}" dt="2026-10-13T03:52:22.696" v="2378" actId="1076"/>
          <ac:picMkLst>
            <pc:docMk/>
            <pc:sldMk cId="868487171" sldId="260"/>
            <ac:picMk id="10" creationId="{FB4EBB94-758E-75A7-659C-BF66DBB0AEF6}"/>
          </ac:picMkLst>
        </pc:picChg>
        <pc:picChg chg="mod">
          <ac:chgData name="Nicole Jiang" userId="09ef0fc0f6f473b5" providerId="LiveId" clId="{EB8F4A53-0964-5BF1-90AD-931457E28E1A}" dt="2026-10-13T04:24:29.830" v="2458" actId="1076"/>
          <ac:picMkLst>
            <pc:docMk/>
            <pc:sldMk cId="868487171" sldId="260"/>
            <ac:picMk id="14" creationId="{C3CA3027-10C5-D39A-05B0-82DB2540F9D3}"/>
          </ac:picMkLst>
        </pc:picChg>
        <pc:picChg chg="add mod">
          <ac:chgData name="Nicole Jiang" userId="09ef0fc0f6f473b5" providerId="LiveId" clId="{EB8F4A53-0964-5BF1-90AD-931457E28E1A}" dt="2026-10-13T04:30:22.385" v="2519" actId="571"/>
          <ac:picMkLst>
            <pc:docMk/>
            <pc:sldMk cId="868487171" sldId="260"/>
            <ac:picMk id="16" creationId="{0E987B6D-2DAC-5699-DEFF-718AA7AF9224}"/>
          </ac:picMkLst>
        </pc:picChg>
        <pc:picChg chg="mod">
          <ac:chgData name="Nicole Jiang" userId="09ef0fc0f6f473b5" providerId="LiveId" clId="{EB8F4A53-0964-5BF1-90AD-931457E28E1A}" dt="2026-10-13T03:52:53.768" v="2384" actId="1076"/>
          <ac:picMkLst>
            <pc:docMk/>
            <pc:sldMk cId="868487171" sldId="260"/>
            <ac:picMk id="33" creationId="{42BD33B9-86B6-8B04-8AA1-E72E85543563}"/>
          </ac:picMkLst>
        </pc:picChg>
        <pc:picChg chg="mod">
          <ac:chgData name="Nicole Jiang" userId="09ef0fc0f6f473b5" providerId="LiveId" clId="{EB8F4A53-0964-5BF1-90AD-931457E28E1A}" dt="2026-10-13T03:52:51.190" v="2383" actId="1076"/>
          <ac:picMkLst>
            <pc:docMk/>
            <pc:sldMk cId="868487171" sldId="260"/>
            <ac:picMk id="36" creationId="{8C2E503F-9CF2-EBE6-29B0-458691A7DFB1}"/>
          </ac:picMkLst>
        </pc:picChg>
      </pc:sldChg>
      <pc:sldChg chg="modSp add del mod">
        <pc:chgData name="Nicole Jiang" userId="09ef0fc0f6f473b5" providerId="LiveId" clId="{EB8F4A53-0964-5BF1-90AD-931457E28E1A}" dt="2026-10-13T17:35:40.898" v="2607" actId="2696"/>
        <pc:sldMkLst>
          <pc:docMk/>
          <pc:sldMk cId="1945540972" sldId="261"/>
        </pc:sldMkLst>
        <pc:spChg chg="mod">
          <ac:chgData name="Nicole Jiang" userId="09ef0fc0f6f473b5" providerId="LiveId" clId="{EB8F4A53-0964-5BF1-90AD-931457E28E1A}" dt="2026-10-13T17:35:28.310" v="2606" actId="20577"/>
          <ac:spMkLst>
            <pc:docMk/>
            <pc:sldMk cId="1945540972" sldId="261"/>
            <ac:spMk id="73" creationId="{69833F19-D0F2-FA5A-D1B8-216186ACC37F}"/>
          </ac:spMkLst>
        </pc:spChg>
      </pc:sldChg>
    </pc:docChg>
  </pc:docChgLst>
  <pc:docChgLst>
    <pc:chgData name="Nicole Jiang" userId="09ef0fc0f6f473b5" providerId="Windows Live" clId="Web-{00000000-0000-0000-0000-000000000000}"/>
    <pc:docChg chg="modSld">
      <pc:chgData name="Nicole Jiang" userId="09ef0fc0f6f473b5" providerId="Windows Live" clId="Web-{00000000-0000-0000-0000-000000000000}" dt="2026-10-06T17:56:42.980" v="36" actId="1076"/>
      <pc:docMkLst>
        <pc:docMk/>
      </pc:docMkLst>
    </pc:docChg>
  </pc:docChgLst>
  <pc:docChgLst>
    <pc:chgData name="Guest User" providerId="Windows Live" clId="Web-{00000000-0000-0000-0000-000000000000}"/>
    <pc:docChg chg="modSld">
      <pc:chgData name="Guest User" userId="" providerId="Windows Live" clId="Web-{00000000-0000-0000-0000-000000000000}" dt="2026-10-06T18:59:37.821" v="16" actId="14100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8F461-2A77-BA43-9B12-25195C3EB23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DA246-DE01-5046-81A0-D7E93C874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5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C11B-3281-61F5-AEEC-E5F2B298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5FC8B-F564-04EA-26FD-6F8FBA438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CB9E4-9956-85CD-1D61-2F397B472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pPr>
              <a:spcAft>
                <a:spcPts val="800"/>
              </a:spcAft>
              <a:buNone/>
            </a:pPr>
            <a:r>
              <a:rPr lang="en-CA" sz="1200" b="0">
                <a:latin typeface="Aptos"/>
              </a:rPr>
              <a:t>Poster figure inputs: results/manuscript/tables/publication_object_selection.csv; mass_offset_object_sensitivity.csv; results/v3/tables/v3_object_point_ranking.csv and v3_object_uncertainty_ranking.csv; results/v4/tables/v4_minimum_seed_mass.csv. Controlled growth comparison uses src.models.predicted_log_mbh with mean ratio 1, z_seed=30, B_merge=1 and efficiencies 0.1 and 1-sqrt(8/9). Independent dynamical mass: https://arxiv.org/abs/2508.21748.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3E2F2-BDDF-9490-DE7B-11CDCE910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DA246-DE01-5046-81A0-D7E93C8740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52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7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3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1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0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2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54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3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8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8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34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&quot; x 48&quot;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696687" y="609600"/>
            <a:ext cx="42497830" cy="3352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 anchor="ctr" anchorCtr="1"/>
          <a:lstStyle>
            <a:lvl1pPr>
              <a:defRPr sz="62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Poster Presentation Title</a:t>
            </a:r>
            <a:br>
              <a:rPr lang="en-US"/>
            </a:br>
            <a: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Author Name(s)</a:t>
            </a:r>
            <a:b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Affiliated Institutions</a:t>
            </a:r>
            <a:endParaRPr lang="en-US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696687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Abstract or Introduction</a:t>
            </a:r>
            <a:endParaRPr lang="en-US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696687" y="5638800"/>
            <a:ext cx="13585370" cy="86868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 baseline="0"/>
            </a:lvl1pPr>
            <a:lvl2pPr marL="397308" indent="0">
              <a:buNone/>
              <a:defRPr sz="2800" baseline="0"/>
            </a:lvl2pPr>
            <a:lvl3pPr marL="772848" indent="0">
              <a:buNone/>
              <a:defRPr sz="2800" baseline="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Any element of this template (colors, fonts, layouts, etc.) can be edited to suit your needs. To change the color of a title bar: right click the text box, select format shape, edit the “Fill” and “Line” your desired specifications.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96687" y="146304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Objectives</a:t>
            </a:r>
            <a:endParaRPr lang="en-US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696687" y="160020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marR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marR="0" lvl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To change the color of a title bar: right click the text box, select format shape, edit the “Fill” and “Line” your desired specifications.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696687" y="236220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Methods</a:t>
            </a:r>
            <a:endParaRPr lang="en-US"/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696687" y="249936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marR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marR="0" lvl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Copy and paste title bars and text boxes to create additional sections.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15152917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Results</a:t>
            </a:r>
            <a:endParaRPr lang="en-US"/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7"/>
          </p:nvPr>
        </p:nvSpPr>
        <p:spPr>
          <a:xfrm>
            <a:off x="29609145" y="249936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29609145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Conclusion</a:t>
            </a:r>
            <a:endParaRPr lang="en-US"/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19"/>
          </p:nvPr>
        </p:nvSpPr>
        <p:spPr>
          <a:xfrm>
            <a:off x="29609145" y="5638800"/>
            <a:ext cx="13585370" cy="17678400"/>
          </a:xfrm>
          <a:prstGeom prst="rect">
            <a:avLst/>
          </a:prstGeom>
        </p:spPr>
        <p:txBody>
          <a:bodyPr vert="horz" lIns="78373" tIns="39187" rIns="78373" bIns="39187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29609145" y="236220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References</a:t>
            </a:r>
            <a:endParaRPr lang="en-US"/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15152917" y="5638800"/>
            <a:ext cx="13585370" cy="266700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 baseline="0"/>
            </a:lvl1pPr>
            <a:lvl2pPr marL="397308" indent="0"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Remember to save all charts, graphs, and tables as 300DPI images prior to inserting them into your posters. Doing so will ensure the best results when printing your posters.</a:t>
            </a:r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22" hasCustomPrompt="1"/>
          </p:nvPr>
        </p:nvSpPr>
        <p:spPr>
          <a:xfrm>
            <a:off x="1219205" y="914400"/>
            <a:ext cx="3135086" cy="2743200"/>
          </a:xfrm>
          <a:prstGeom prst="rect">
            <a:avLst/>
          </a:prstGeom>
          <a:solidFill>
            <a:schemeClr val="bg1"/>
          </a:solidFill>
        </p:spPr>
        <p:txBody>
          <a:bodyPr vert="horz" lIns="78373" tIns="39187" rIns="78373" bIns="39187"/>
          <a:lstStyle>
            <a:lvl1pPr marL="0" indent="0">
              <a:buNone/>
              <a:defRPr sz="20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37" name="Picture Placeholder 35"/>
          <p:cNvSpPr>
            <a:spLocks noGrp="1"/>
          </p:cNvSpPr>
          <p:nvPr>
            <p:ph type="pic" sz="quarter" idx="23" hasCustomPrompt="1"/>
          </p:nvPr>
        </p:nvSpPr>
        <p:spPr>
          <a:xfrm>
            <a:off x="39711091" y="914400"/>
            <a:ext cx="3135086" cy="2743200"/>
          </a:xfrm>
          <a:prstGeom prst="rect">
            <a:avLst/>
          </a:prstGeom>
          <a:solidFill>
            <a:schemeClr val="bg1"/>
          </a:solidFill>
        </p:spPr>
        <p:txBody>
          <a:bodyPr vert="horz" lIns="78373" tIns="39187" rIns="78373" bIns="39187"/>
          <a:lstStyle>
            <a:lvl1pPr marL="0" indent="0">
              <a:buNone/>
              <a:defRPr sz="20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39" name="Chart Placeholder 38"/>
          <p:cNvSpPr>
            <a:spLocks noGrp="1"/>
          </p:cNvSpPr>
          <p:nvPr>
            <p:ph type="chart" sz="quarter" idx="24"/>
          </p:nvPr>
        </p:nvSpPr>
        <p:spPr>
          <a:xfrm>
            <a:off x="16197949" y="16154400"/>
            <a:ext cx="11495314" cy="67056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0" name="Chart Placeholder 38"/>
          <p:cNvSpPr>
            <a:spLocks noGrp="1"/>
          </p:cNvSpPr>
          <p:nvPr>
            <p:ph type="chart" sz="quarter" idx="25"/>
          </p:nvPr>
        </p:nvSpPr>
        <p:spPr>
          <a:xfrm>
            <a:off x="16197949" y="24536400"/>
            <a:ext cx="11495314" cy="67056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pic>
        <p:nvPicPr>
          <p:cNvPr id="4" name="Picture 3" descr="Logo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8400" y="32416772"/>
            <a:ext cx="2743200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7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0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7601-38BA-EEC6-B535-6199F2F2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5E2EF0-72FB-E9D0-1E82-C65E26ED9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648920"/>
            <a:ext cx="15087600" cy="10515600"/>
          </a:xfrm>
          <a:prstGeom prst="rect">
            <a:avLst/>
          </a:prstGeom>
        </p:spPr>
      </p:pic>
      <p:pic>
        <p:nvPicPr>
          <p:cNvPr id="14" name="Minimum seed mass versus accretion onset" descr="Manuscript minimum seed masses under fixed growth caps for UNCOVER-20466, COSMOS3D-13852, RUBIES-EGS-55604, and GN-z11.">
            <a:extLst>
              <a:ext uri="{FF2B5EF4-FFF2-40B4-BE49-F238E27FC236}">
                <a16:creationId xmlns:a16="http://schemas.microsoft.com/office/drawing/2014/main" id="{C3CA3027-10C5-D39A-05B0-82DB2540F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2120" y="23180040"/>
            <a:ext cx="14630400" cy="9875520"/>
          </a:xfrm>
          <a:prstGeom prst="rect">
            <a:avLst/>
          </a:prstGeom>
        </p:spPr>
      </p:pic>
      <p:sp>
        <p:nvSpPr>
          <p:cNvPr id="32" name="Title 18">
            <a:extLst>
              <a:ext uri="{FF2B5EF4-FFF2-40B4-BE49-F238E27FC236}">
                <a16:creationId xmlns:a16="http://schemas.microsoft.com/office/drawing/2014/main" id="{F8D50A2A-9B61-AD34-B9C2-8944BB2742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384048" y="-168958"/>
            <a:ext cx="33686496" cy="4842334"/>
          </a:xfrm>
          <a:solidFill>
            <a:srgbClr val="002A5C"/>
          </a:solidFill>
          <a:ln>
            <a:solidFill>
              <a:srgbClr val="09306B"/>
            </a:solidFill>
          </a:ln>
        </p:spPr>
        <p:txBody>
          <a:bodyPr lIns="7680960" tIns="457200" rIns="8869680">
            <a:normAutofit/>
          </a:bodyPr>
          <a:lstStyle/>
          <a:p>
            <a:pPr algn="ctr"/>
            <a:br>
              <a:rPr lang="en-US" sz="4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Black-Hole Growth
Constraints from JWST</a:t>
            </a:r>
            <a:br>
              <a:rPr lang="en-US" sz="6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Nicole Jiang; University of Toronto</a:t>
            </a:r>
            <a:br>
              <a:rPr lang="en-US" sz="4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 descr="University of Toronto - Wikipedia">
            <a:extLst>
              <a:ext uri="{FF2B5EF4-FFF2-40B4-BE49-F238E27FC236}">
                <a16:creationId xmlns:a16="http://schemas.microsoft.com/office/drawing/2014/main" id="{42BD33B9-86B6-8B04-8AA1-E72E85543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774808"/>
            <a:ext cx="2377440" cy="2377440"/>
          </a:xfrm>
          <a:prstGeom prst="rect">
            <a:avLst/>
          </a:prstGeom>
        </p:spPr>
      </p:pic>
      <p:pic>
        <p:nvPicPr>
          <p:cNvPr id="36" name="Picture 35" descr="University of Toronto profile | Powered by Inpart">
            <a:extLst>
              <a:ext uri="{FF2B5EF4-FFF2-40B4-BE49-F238E27FC236}">
                <a16:creationId xmlns:a16="http://schemas.microsoft.com/office/drawing/2014/main" id="{8C2E503F-9CF2-EBE6-29B0-458691A7DF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902" t="38725" b="33824"/>
          <a:stretch>
            <a:fillRect/>
          </a:stretch>
        </p:blipFill>
        <p:spPr>
          <a:xfrm>
            <a:off x="2961848" y="1118870"/>
            <a:ext cx="4937760" cy="178120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C65ED58-816C-A2B5-F6CB-4326B0858D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43680" y="502920"/>
            <a:ext cx="2743200" cy="2743200"/>
          </a:xfrm>
          <a:prstGeom prst="rect">
            <a:avLst/>
          </a:prstGeom>
        </p:spPr>
      </p:pic>
      <p:sp>
        <p:nvSpPr>
          <p:cNvPr id="69" name="Title 18">
            <a:extLst>
              <a:ext uri="{FF2B5EF4-FFF2-40B4-BE49-F238E27FC236}">
                <a16:creationId xmlns:a16="http://schemas.microsoft.com/office/drawing/2014/main" id="{D8B6836B-DAF1-F68F-D717-73D3A454BC2E}"/>
              </a:ext>
            </a:extLst>
          </p:cNvPr>
          <p:cNvSpPr txBox="1">
            <a:spLocks/>
          </p:cNvSpPr>
          <p:nvPr/>
        </p:nvSpPr>
        <p:spPr>
          <a:xfrm>
            <a:off x="914400" y="5362478"/>
            <a:ext cx="150876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 dirty="0"/>
              <a:t>Introduction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42EAEC-0FF9-516A-6712-19E0D19D0354}"/>
              </a:ext>
            </a:extLst>
          </p:cNvPr>
          <p:cNvSpPr txBox="1"/>
          <p:nvPr/>
        </p:nvSpPr>
        <p:spPr>
          <a:xfrm>
            <a:off x="1371600" y="6642638"/>
            <a:ext cx="14173200" cy="27853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</a:pPr>
            <a:r>
              <a:rPr lang="en-CA" sz="3500" b="1" dirty="0">
                <a:latin typeface="Aptos"/>
              </a:rPr>
              <a:t>How did early black holes grow so big, so fast? </a:t>
            </a:r>
            <a:r>
              <a:rPr lang="en-CA" sz="3500" b="0" dirty="0">
                <a:latin typeface="Aptos"/>
              </a:rPr>
              <a:t>The James Webb Space Telescope (JWST) has revealed massive black holes with little time to assemble. My research builds a standardized catalogue across studies, then tests objects against analytic growth models to identify the strongest constraints and how they depend on the assumptions.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B03D82-A209-1440-3180-9DD4419EFCBF}"/>
              </a:ext>
            </a:extLst>
          </p:cNvPr>
          <p:cNvSpPr/>
          <p:nvPr/>
        </p:nvSpPr>
        <p:spPr>
          <a:xfrm>
            <a:off x="914400" y="5362478"/>
            <a:ext cx="15087600" cy="4819475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itle 18">
            <a:extLst>
              <a:ext uri="{FF2B5EF4-FFF2-40B4-BE49-F238E27FC236}">
                <a16:creationId xmlns:a16="http://schemas.microsoft.com/office/drawing/2014/main" id="{6D9DC137-E8CF-8FC7-F26F-A7759AD2C396}"/>
              </a:ext>
            </a:extLst>
          </p:cNvPr>
          <p:cNvSpPr txBox="1">
            <a:spLocks/>
          </p:cNvSpPr>
          <p:nvPr/>
        </p:nvSpPr>
        <p:spPr>
          <a:xfrm>
            <a:off x="914400" y="10770678"/>
            <a:ext cx="150876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 dirty="0"/>
              <a:t>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/>
              <p:nvPr/>
            </p:nvSpPr>
            <p:spPr>
              <a:xfrm>
                <a:off x="1463040" y="11978640"/>
                <a:ext cx="14173200" cy="12344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Catalogue: </a:t>
                </a:r>
                <a:r>
                  <a:rPr lang="en-CA" sz="3500" b="0" dirty="0">
                    <a:latin typeface="Aptos"/>
                  </a:rPr>
                  <a:t>350 published measurements from 32 source families at z ≥ 4. Adopt one measurement per object and retain sources, methods, and alternatives. Primary: 220 objects with Balmer-line virial masses [1]; expanded: 234, including tentative candidates and GN-z11 [2].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Reference model: </a:t>
                </a:r>
                <a:r>
                  <a:rPr lang="en-CA" sz="3500" b="0" dirty="0">
                    <a:latin typeface="Aptos"/>
                  </a:rPr>
                  <a:t>100 M⊙ seeds at z = 30, radiative efficiency </a:t>
                </a:r>
                <a:r>
                  <a:rPr lang="en-CA" sz="3500" b="0" dirty="0" err="1">
                    <a:latin typeface="Aptos"/>
                  </a:rPr>
                  <a:t>ε</a:t>
                </a:r>
                <a:r>
                  <a:rPr lang="en-CA" sz="3500" b="0" dirty="0">
                    <a:latin typeface="Aptos"/>
                  </a:rPr>
                  <a:t> = 0.1, no mergers (</a:t>
                </a:r>
                <a:r>
                  <a:rPr lang="en-CA" sz="3500" b="0" dirty="0" err="1">
                    <a:latin typeface="Aptos"/>
                  </a:rPr>
                  <a:t>B</a:t>
                </a:r>
                <a:r>
                  <a:rPr lang="en-CA" sz="2450" b="0" baseline="-25000" dirty="0" err="1">
                    <a:latin typeface="Aptos"/>
                  </a:rPr>
                  <a:t>merge</a:t>
                </a:r>
                <a:r>
                  <a:rPr lang="en-CA" sz="3500" b="0" dirty="0">
                    <a:latin typeface="Aptos"/>
                  </a:rPr>
                  <a:t> = 1), and </a:t>
                </a:r>
                <a:r>
                  <a:rPr lang="en-CA" sz="3500" b="0" dirty="0" err="1">
                    <a:latin typeface="Aptos"/>
                  </a:rPr>
                  <a:t>t</a:t>
                </a:r>
                <a:r>
                  <a:rPr lang="en-CA" sz="2450" b="0" baseline="-25000" dirty="0" err="1">
                    <a:latin typeface="Aptos"/>
                  </a:rPr>
                  <a:t>Edd</a:t>
                </a:r>
                <a:r>
                  <a:rPr lang="en-CA" sz="3500" b="0" dirty="0">
                    <a:latin typeface="Aptos"/>
                  </a:rPr>
                  <a:t> ≈ 0.45 Gyr [3].</a:t>
                </a: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3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3500" i="1">
                                  <a:latin typeface="Cambria Math"/>
                                </a:rPr>
                              </m:ctrlPr>
                            </m:barPr>
                            <m:e>
                              <m:r>
                                <a:rPr lang="en-US" sz="3500" i="1">
                                  <a:latin typeface="Cambria Math"/>
                                </a:rPr>
                                <m:t>𝑓</m:t>
                              </m:r>
                            </m:e>
                          </m:bar>
                        </m:e>
                        <m:sub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Edd</m:t>
                          </m:r>
                          <m:r>
                            <a:rPr lang="en-US" sz="3500" i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req</m:t>
                          </m:r>
                        </m:sub>
                      </m:sSub>
                      <m:r>
                        <a:rPr lang="en-US" sz="35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3500" i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5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3500" i="1">
                                  <a:latin typeface="Cambria Math"/>
                                </a:rPr>
                                <m:t>0,</m:t>
                              </m:r>
                              <m:f>
                                <m:fPr>
                                  <m:ctrlPr>
                                    <a:rPr lang="en-US" sz="35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3500" i="1">
                                      <a:latin typeface="Cambria Math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sz="3500" i="1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sz="3500" i="1">
                                      <a:latin typeface="Cambria Math"/>
                                    </a:rPr>
                                    <m:t>𝜀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35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5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500" i="1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500" i="0">
                                          <a:latin typeface="Cambria Math"/>
                                        </a:rPr>
                                        <m:t>Edd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500" i="1">
                                      <a:latin typeface="Cambria Math"/>
                                    </a:rPr>
                                    <m:t>𝛥</m:t>
                                  </m:r>
                                  <m:r>
                                    <a:rPr lang="en-US" sz="3500" i="1">
                                      <a:latin typeface="Cambria Math"/>
                                    </a:rPr>
                                    <m:t>𝑡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sz="3500" i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3500" i="0">
                                      <a:latin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3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3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BH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𝐵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merge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seed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CA" sz="3500" b="1" dirty="0">
                  <a:latin typeface="Aptos"/>
                </a:endParaRP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Symbols: </a:t>
                </a:r>
                <a:r>
                  <a:rPr lang="en-CA" sz="3500" b="0" dirty="0">
                    <a:latin typeface="Aptos"/>
                  </a:rPr>
                  <a:t>M⊙: solar mass; M</a:t>
                </a:r>
                <a:r>
                  <a:rPr lang="en-CA" sz="2450" b="0" baseline="-25000" dirty="0">
                    <a:latin typeface="Aptos"/>
                  </a:rPr>
                  <a:t>BH</a:t>
                </a:r>
                <a:r>
                  <a:rPr lang="en-CA" sz="3500" b="0" dirty="0">
                    <a:latin typeface="Aptos"/>
                  </a:rPr>
                  <a:t>: observed mass; </a:t>
                </a:r>
                <a:r>
                  <a:rPr lang="en-CA" sz="3500" b="0" dirty="0" err="1">
                    <a:latin typeface="Aptos"/>
                  </a:rPr>
                  <a:t>M</a:t>
                </a:r>
                <a:r>
                  <a:rPr lang="en-CA" sz="2450" b="0" baseline="-25000" dirty="0" err="1">
                    <a:latin typeface="Aptos"/>
                  </a:rPr>
                  <a:t>seed</a:t>
                </a:r>
                <a:r>
                  <a:rPr lang="en-CA" sz="3500" b="0" dirty="0">
                    <a:latin typeface="Aptos"/>
                  </a:rPr>
                  <a:t>: seed mass; </a:t>
                </a:r>
                <a:r>
                  <a:rPr lang="en-CA" sz="3500" b="0" dirty="0" err="1">
                    <a:latin typeface="Aptos"/>
                  </a:rPr>
                  <a:t>Δt</a:t>
                </a:r>
                <a:r>
                  <a:rPr lang="en-CA" sz="3500" b="0" dirty="0">
                    <a:latin typeface="Aptos"/>
                  </a:rPr>
                  <a:t>: growth time; </a:t>
                </a:r>
                <a:r>
                  <a:rPr lang="en-CA" sz="3500" b="0" dirty="0" err="1">
                    <a:latin typeface="Aptos"/>
                  </a:rPr>
                  <a:t>ε</a:t>
                </a:r>
                <a:r>
                  <a:rPr lang="en-CA" sz="3500" b="0" dirty="0">
                    <a:latin typeface="Aptos"/>
                  </a:rPr>
                  <a:t>: radiated fraction of inflowing rest-mass energy. Larger z means earlier time.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Eddington ratio: </a:t>
                </a:r>
                <a:r>
                  <a:rPr lang="en-CA" sz="3500" b="0" dirty="0">
                    <a:latin typeface="Aptos"/>
                  </a:rPr>
                  <a:t>Luminosity divided by the Eddington limit. The lifetime average includes inactive periods. Values above 1 require super-Eddington episodes under this model.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Uncertainty: </a:t>
                </a:r>
                <a:r>
                  <a:rPr lang="en-CA" sz="3500" b="0" dirty="0">
                    <a:latin typeface="Aptos"/>
                  </a:rPr>
                  <a:t>10,000 draws approximate reported asymmetric log-mass errors. Twelve objects without errors enter central-mass calculations only.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Sensitivity: </a:t>
                </a:r>
                <a:r>
                  <a:rPr lang="en-CA" sz="3500" b="0" dirty="0">
                    <a:latin typeface="Aptos"/>
                  </a:rPr>
                  <a:t>Vary mass scale, seed mass, onset, and efficiency separately. Reported errors may omit calibration scatter.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500" b="1" dirty="0">
                    <a:latin typeface="Aptos"/>
                  </a:rPr>
                  <a:t>Earlier onset: </a:t>
                </a:r>
                <a:r>
                  <a:rPr lang="en-CA" sz="3500" b="0" dirty="0">
                    <a:latin typeface="Aptos"/>
                  </a:rPr>
                  <a:t>For the three leading primary targets and GN-z11, solve minimum seed masses over 20 ≤ </a:t>
                </a:r>
                <a:r>
                  <a:rPr lang="en-CA" sz="3500" b="0" dirty="0" err="1">
                    <a:latin typeface="Aptos"/>
                  </a:rPr>
                  <a:t>z</a:t>
                </a:r>
                <a:r>
                  <a:rPr lang="en-CA" sz="2450" b="0" baseline="-25000" dirty="0" err="1">
                    <a:latin typeface="Aptos"/>
                  </a:rPr>
                  <a:t>acc</a:t>
                </a:r>
                <a:r>
                  <a:rPr lang="en-CA" sz="3500" b="0" dirty="0">
                    <a:latin typeface="Aptos"/>
                  </a:rPr>
                  <a:t> ≤ 3400 using radiation-inclusive ages. Access to fuel is assumed.</a:t>
                </a:r>
              </a:p>
            </p:txBody>
          </p:sp>
        </mc:Choice>
        <mc:Fallback xmlns="">
          <p:sp xmlns:a14="http://schemas.microsoft.com/office/drawing/2010/main"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/>
              <p:nvPr/>
            </p:nvSpPr>
            <p:spPr>
              <a:xfrm>
                <a:off x="1463040" y="11978640"/>
                <a:ext cx="14173200" cy="12344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Catalogue: </a:t>
                </a:r>
                <a:r>
                  <a:rPr sz="3500" b="0" lang="en-CA">
                    <a:latin typeface="Aptos"/>
                  </a:rPr>
                  <a:t>350 published measurements from 32 source families at z ≥ 4. Adopt one measurement per object and retain sources, methods, and alternatives. Primary: 220 objects with Balmer-line virial masses [1]; expanded: 234, including tentative candidates and GN-z11 [2].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Reference model: </a:t>
                </a:r>
                <a:r>
                  <a:rPr sz="3500" b="0" lang="en-CA">
                    <a:latin typeface="Aptos"/>
                  </a:rPr>
                  <a:t>100 M⊙ seeds at z = 30, radiative efficiency ε = 0.1, no mergers (</a:t>
                </a:r>
                <a:r>
                  <a:rPr sz="3500" b="0" lang="en-CA">
                    <a:latin typeface="Aptos"/>
                  </a:rPr>
                  <a:t>B</a:t>
                </a:r>
                <a:r>
                  <a:rPr sz="2450" b="0" lang="en-CA" baseline="-25000">
                    <a:latin typeface="Aptos"/>
                  </a:rPr>
                  <a:t>merge</a:t>
                </a:r>
                <a:r>
                  <a:rPr sz="3500" b="0" lang="en-CA">
                    <a:latin typeface="Aptos"/>
                  </a:rPr>
                  <a:t> = 1), and </a:t>
                </a:r>
                <a:r>
                  <a:rPr sz="3500" b="0" lang="en-CA">
                    <a:latin typeface="Aptos"/>
                  </a:rPr>
                  <a:t>t</a:t>
                </a:r>
                <a:r>
                  <a:rPr sz="2450" b="0" lang="en-CA" baseline="-25000">
                    <a:latin typeface="Aptos"/>
                  </a:rPr>
                  <a:t>Edd</a:t>
                </a:r>
                <a:r>
                  <a:rPr sz="3500" b="0" lang="en-CA">
                    <a:latin typeface="Aptos"/>
                  </a:rPr>
                  <a:t> ≈ 0.45 Gyr [3].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2600" b="0" lang="en-CA">
                    <a:latin typeface="Aptos"/>
                  </a:rPr>
                  <a:t>f̄Edd,req = max[0, ε/(1−ε) × </a:t>
                </a:r>
                <a:r>
                  <a:rPr sz="2600" b="0" lang="en-CA">
                    <a:latin typeface="Aptos"/>
                  </a:rPr>
                  <a:t>t</a:t>
                </a:r>
                <a:r>
                  <a:rPr sz="1820" b="0" lang="en-CA" baseline="-25000">
                    <a:latin typeface="Aptos"/>
                  </a:rPr>
                  <a:t>Edd</a:t>
                </a:r>
                <a:r>
                  <a:rPr sz="2600" b="0" lang="en-CA">
                    <a:latin typeface="Aptos"/>
                  </a:rPr>
                  <a:t>/Δt × ln(</a:t>
                </a:r>
                <a:r>
                  <a:rPr sz="2600" b="0" lang="en-CA">
                    <a:latin typeface="Aptos"/>
                  </a:rPr>
                  <a:t>M</a:t>
                </a:r>
                <a:r>
                  <a:rPr sz="1820" b="0" lang="en-CA" baseline="-25000">
                    <a:latin typeface="Aptos"/>
                  </a:rPr>
                  <a:t>BH</a:t>
                </a:r>
                <a:r>
                  <a:rPr sz="2600" b="0" lang="en-CA">
                    <a:latin typeface="Aptos"/>
                  </a:rPr>
                  <a:t>/(</a:t>
                </a:r>
                <a:r>
                  <a:rPr sz="2600" b="0" lang="en-CA">
                    <a:latin typeface="Aptos"/>
                  </a:rPr>
                  <a:t>B</a:t>
                </a:r>
                <a:r>
                  <a:rPr sz="1820" b="0" lang="en-CA" baseline="-25000">
                    <a:latin typeface="Aptos"/>
                  </a:rPr>
                  <a:t>merge</a:t>
                </a:r>
                <a:r>
                  <a:rPr sz="2600" b="0" lang="en-CA">
                    <a:latin typeface="Aptos"/>
                  </a:rPr>
                  <a:t> </a:t>
                </a:r>
                <a:r>
                  <a:rPr sz="2600" b="0" lang="en-CA">
                    <a:latin typeface="Aptos"/>
                  </a:rPr>
                  <a:t>M</a:t>
                </a:r>
                <a:r>
                  <a:rPr sz="1820" b="0" lang="en-CA" baseline="-25000">
                    <a:latin typeface="Aptos"/>
                  </a:rPr>
                  <a:t>seed</a:t>
                </a:r>
                <a:r>
                  <a:rPr sz="2600" b="0" lang="en-CA">
                    <a:latin typeface="Aptos"/>
                  </a:rPr>
                  <a:t>))]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Symbols: </a:t>
                </a:r>
                <a:r>
                  <a:rPr sz="3500" b="0" lang="en-CA">
                    <a:latin typeface="Aptos"/>
                  </a:rPr>
                  <a:t>M⊙: solar mass; </a:t>
                </a:r>
                <a:r>
                  <a:rPr sz="3500" b="0" lang="en-CA">
                    <a:latin typeface="Aptos"/>
                  </a:rPr>
                  <a:t>M</a:t>
                </a:r>
                <a:r>
                  <a:rPr sz="2450" b="0" lang="en-CA" baseline="-25000">
                    <a:latin typeface="Aptos"/>
                  </a:rPr>
                  <a:t>BH</a:t>
                </a:r>
                <a:r>
                  <a:rPr sz="3500" b="0" lang="en-CA">
                    <a:latin typeface="Aptos"/>
                  </a:rPr>
                  <a:t>: observed mass; </a:t>
                </a:r>
                <a:r>
                  <a:rPr sz="3500" b="0" lang="en-CA">
                    <a:latin typeface="Aptos"/>
                  </a:rPr>
                  <a:t>M</a:t>
                </a:r>
                <a:r>
                  <a:rPr sz="2450" b="0" lang="en-CA" baseline="-25000">
                    <a:latin typeface="Aptos"/>
                  </a:rPr>
                  <a:t>seed</a:t>
                </a:r>
                <a:r>
                  <a:rPr sz="3500" b="0" lang="en-CA">
                    <a:latin typeface="Aptos"/>
                  </a:rPr>
                  <a:t>: seed mass; Δt: growth time; ε: radiated fraction of inflowing rest-mass energy. Larger z means earlier time.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Eddington ratio: </a:t>
                </a:r>
                <a:r>
                  <a:rPr sz="3500" b="0" lang="en-CA">
                    <a:latin typeface="Aptos"/>
                  </a:rPr>
                  <a:t>Luminosity divided by the Eddington limit. The lifetime average includes inactive periods. Values above 1 require super-Eddington episodes under this model.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Uncertainty: </a:t>
                </a:r>
                <a:r>
                  <a:rPr sz="3500" b="0" lang="en-CA">
                    <a:latin typeface="Aptos"/>
                  </a:rPr>
                  <a:t>10,000 draws approximate reported asymmetric log-mass errors. Twelve objects without errors enter central-mass calculations only.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Sensitivity: </a:t>
                </a:r>
                <a:r>
                  <a:rPr sz="3500" b="0" lang="en-CA">
                    <a:latin typeface="Aptos"/>
                  </a:rPr>
                  <a:t>Vary mass scale, seed mass, onset, and efficiency separately. Reported errors may omit calibration scatter.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500" b="1" lang="en-CA">
                    <a:latin typeface="Aptos"/>
                  </a:rPr>
                  <a:t>Earlier onset: </a:t>
                </a:r>
                <a:r>
                  <a:rPr sz="3500" b="0" lang="en-CA">
                    <a:latin typeface="Aptos"/>
                  </a:rPr>
                  <a:t>For the three leading primary targets and GN-z11, solve minimum seed masses over 20 ≤ </a:t>
                </a:r>
                <a:r>
                  <a:rPr sz="3500" b="0" lang="en-CA">
                    <a:latin typeface="Aptos"/>
                  </a:rPr>
                  <a:t>z</a:t>
                </a:r>
                <a:r>
                  <a:rPr sz="2450" b="0" lang="en-CA" baseline="-25000">
                    <a:latin typeface="Aptos"/>
                  </a:rPr>
                  <a:t>acc</a:t>
                </a:r>
                <a:r>
                  <a:rPr sz="3500" b="0" lang="en-CA">
                    <a:latin typeface="Aptos"/>
                  </a:rPr>
                  <a:t> ≤ 3400 using radiation-inclusive ages. Access to fuel is assumed.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F5F0E6D1-7308-2846-C555-5A8981E84E43}"/>
              </a:ext>
            </a:extLst>
          </p:cNvPr>
          <p:cNvSpPr/>
          <p:nvPr/>
        </p:nvSpPr>
        <p:spPr>
          <a:xfrm>
            <a:off x="914400" y="10770677"/>
            <a:ext cx="15087600" cy="13643762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itle 18">
            <a:extLst>
              <a:ext uri="{FF2B5EF4-FFF2-40B4-BE49-F238E27FC236}">
                <a16:creationId xmlns:a16="http://schemas.microsoft.com/office/drawing/2014/main" id="{D50205E6-BF86-6F08-991C-43F597FDF8DD}"/>
              </a:ext>
            </a:extLst>
          </p:cNvPr>
          <p:cNvSpPr txBox="1">
            <a:spLocks/>
          </p:cNvSpPr>
          <p:nvPr/>
        </p:nvSpPr>
        <p:spPr>
          <a:xfrm>
            <a:off x="16550640" y="35503691"/>
            <a:ext cx="1545336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Conclusions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D5B540-2EC8-A5A1-200C-994C1D7C8BFD}"/>
              </a:ext>
            </a:extLst>
          </p:cNvPr>
          <p:cNvSpPr txBox="1"/>
          <p:nvPr/>
        </p:nvSpPr>
        <p:spPr>
          <a:xfrm>
            <a:off x="16841982" y="36683439"/>
            <a:ext cx="14996160" cy="60016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28600">
              <a:spcAft>
                <a:spcPts val="800"/>
              </a:spcAft>
              <a:buChar char="•"/>
            </a:pPr>
            <a:r>
              <a:rPr lang="en-CA" sz="3200" b="1">
                <a:latin typeface="Aptos"/>
              </a:rPr>
              <a:t>Efficiency drives the tension: </a:t>
            </a:r>
            <a:r>
              <a:rPr lang="en-CA" sz="3200" b="0">
                <a:latin typeface="Aptos"/>
              </a:rPr>
              <a:t>Some objects challenge the reference model. At ε = 0.05719, the ideal thin-disc efficiency for a non-spinning black hole, 100 M⊙ seeds at z = 30 reach all 234 central masses with an average ratio below 1.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Independent mass estimates: </a:t>
            </a:r>
            <a:r>
              <a:rPr lang="en-CA" sz="3200" b="0" dirty="0">
                <a:latin typeface="Aptos"/>
              </a:rPr>
              <a:t>Tests of calibration, lensing, and scattering are essential to establish which objects are most challenging.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Catalogue contribution: </a:t>
            </a:r>
            <a:r>
              <a:rPr lang="en-CA" sz="3200" b="0" dirty="0">
                <a:latin typeface="Aptos"/>
              </a:rPr>
              <a:t>Documented measurement choices and retained alternatives support consistent comparisons and follow-up. Sample counts describe the literature sample, not population fractions.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Earlier onset offers limited relief: </a:t>
            </a:r>
            <a:r>
              <a:rPr lang="en-CA" sz="3200" b="0" dirty="0">
                <a:latin typeface="Aptos"/>
              </a:rPr>
              <a:t>Earlier onset alone cannot rescue 100 M⊙ seeds for the four targets at </a:t>
            </a:r>
            <a:r>
              <a:rPr lang="en-CA" sz="3200" b="0" dirty="0" err="1">
                <a:latin typeface="Aptos"/>
              </a:rPr>
              <a:t>ε</a:t>
            </a:r>
            <a:r>
              <a:rPr lang="en-CA" sz="3200" b="0" dirty="0">
                <a:latin typeface="Aptos"/>
              </a:rPr>
              <a:t> = 0.1, average ratio ≤1, and no mergers. Gains diminish at earlier onset. Growth compatibility does not establish primordial black hole (PBH) formation or abundance viability.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BD5C8AB-335C-2E4D-00F6-4B0BF74BB013}"/>
              </a:ext>
            </a:extLst>
          </p:cNvPr>
          <p:cNvSpPr/>
          <p:nvPr/>
        </p:nvSpPr>
        <p:spPr>
          <a:xfrm>
            <a:off x="16550640" y="35503691"/>
            <a:ext cx="15453360" cy="7349366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18">
            <a:extLst>
              <a:ext uri="{FF2B5EF4-FFF2-40B4-BE49-F238E27FC236}">
                <a16:creationId xmlns:a16="http://schemas.microsoft.com/office/drawing/2014/main" id="{8E773A53-2851-D565-B46F-D419BA57021E}"/>
              </a:ext>
            </a:extLst>
          </p:cNvPr>
          <p:cNvSpPr txBox="1">
            <a:spLocks/>
          </p:cNvSpPr>
          <p:nvPr/>
        </p:nvSpPr>
        <p:spPr>
          <a:xfrm>
            <a:off x="914400" y="38218254"/>
            <a:ext cx="150876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References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B57F9D-B4AF-1E4D-7FBC-B8680CB4CAB8}"/>
              </a:ext>
            </a:extLst>
          </p:cNvPr>
          <p:cNvSpPr txBox="1"/>
          <p:nvPr/>
        </p:nvSpPr>
        <p:spPr>
          <a:xfrm>
            <a:off x="1371600" y="39363981"/>
            <a:ext cx="13898880" cy="3303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CA" sz="3200" dirty="0"/>
              <a:t>[1] Shen (2013), BASI, 41, 61.</a:t>
            </a:r>
            <a:endParaRPr lang="en-US" sz="3200" dirty="0"/>
          </a:p>
          <a:p>
            <a:r>
              <a:rPr lang="en-CA" sz="3200" dirty="0"/>
              <a:t>[2] </a:t>
            </a:r>
            <a:r>
              <a:rPr lang="en-CA" sz="3200" dirty="0" err="1"/>
              <a:t>Maiolino</a:t>
            </a:r>
            <a:r>
              <a:rPr lang="en-CA" sz="3200" dirty="0"/>
              <a:t> et al. (2024), Nature, 627, 59.</a:t>
            </a:r>
          </a:p>
          <a:p>
            <a:r>
              <a:rPr lang="en-CA" sz="3200" dirty="0"/>
              <a:t>[3] Dayal (2024), A&amp;A, 690, A182.</a:t>
            </a:r>
            <a:endParaRPr lang="en-US" sz="3200" dirty="0"/>
          </a:p>
          <a:p>
            <a:pPr>
              <a:spcBef>
                <a:spcPts val="600"/>
              </a:spcBef>
            </a:pPr>
            <a:r>
              <a:rPr lang="en-CA" sz="3200" dirty="0"/>
              <a:t>[4] Bardeen et al. (1972), </a:t>
            </a:r>
            <a:r>
              <a:rPr lang="en-CA" sz="3200" dirty="0" err="1"/>
              <a:t>ApJ</a:t>
            </a:r>
            <a:r>
              <a:rPr lang="en-CA" sz="3200" dirty="0"/>
              <a:t>, 178, 347.</a:t>
            </a:r>
            <a:endParaRPr lang="en-US" sz="3200" dirty="0"/>
          </a:p>
          <a:p>
            <a:pPr>
              <a:spcAft>
                <a:spcPts val="800"/>
              </a:spcAft>
              <a:buNone/>
            </a:pPr>
            <a:r>
              <a:rPr lang="en-CA" sz="3200" b="0" dirty="0">
                <a:latin typeface="Aptos"/>
              </a:rPr>
              <a:t>[5] </a:t>
            </a:r>
            <a:r>
              <a:rPr lang="en-CA" sz="3200" b="0" dirty="0" err="1">
                <a:latin typeface="Aptos"/>
              </a:rPr>
              <a:t>Juodzbalis</a:t>
            </a:r>
            <a:r>
              <a:rPr lang="en-CA" sz="3200" b="0" dirty="0">
                <a:latin typeface="Aptos"/>
              </a:rPr>
              <a:t> et al. (2025), arXiv:2508.21748.</a:t>
            </a:r>
          </a:p>
          <a:p>
            <a:pPr>
              <a:spcBef>
                <a:spcPts val="600"/>
              </a:spcBef>
            </a:pPr>
            <a:r>
              <a:rPr lang="en-CA" sz="3200" dirty="0"/>
              <a:t>Catalogue sources and code: QR link above.</a:t>
            </a:r>
            <a:endParaRPr lang="en-US" sz="32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56AF1B-4C0F-9637-8495-BA5941742B85}"/>
              </a:ext>
            </a:extLst>
          </p:cNvPr>
          <p:cNvSpPr/>
          <p:nvPr/>
        </p:nvSpPr>
        <p:spPr>
          <a:xfrm>
            <a:off x="914400" y="38218254"/>
            <a:ext cx="15087600" cy="4634802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37658-2539-7C1B-497A-E176914914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2120" y="11704320"/>
            <a:ext cx="14630400" cy="8412480"/>
          </a:xfrm>
          <a:prstGeom prst="rect">
            <a:avLst/>
          </a:prstGeom>
        </p:spPr>
      </p:pic>
      <p:pic>
        <p:nvPicPr>
          <p:cNvPr id="5" name="Picture 4" descr="File:JWST spacecraft model 1.png - Wikimedia Commons">
            <a:extLst>
              <a:ext uri="{FF2B5EF4-FFF2-40B4-BE49-F238E27FC236}">
                <a16:creationId xmlns:a16="http://schemas.microsoft.com/office/drawing/2014/main" id="{0BD845B3-DC16-6DC6-BFC8-2D65D24767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12863" y="2212116"/>
            <a:ext cx="3968969" cy="2975113"/>
          </a:xfrm>
          <a:prstGeom prst="rect">
            <a:avLst/>
          </a:prstGeom>
        </p:spPr>
      </p:pic>
      <p:pic>
        <p:nvPicPr>
          <p:cNvPr id="6" name="Picture 5" descr="Eyes open clipart clipground #31495 - Free Transparent PNG Logos">
            <a:extLst>
              <a:ext uri="{FF2B5EF4-FFF2-40B4-BE49-F238E27FC236}">
                <a16:creationId xmlns:a16="http://schemas.microsoft.com/office/drawing/2014/main" id="{9D3E6E2E-04C2-513B-0EE5-8C40F5B8F4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443004">
            <a:off x="23071504" y="2606120"/>
            <a:ext cx="1527081" cy="735074"/>
          </a:xfrm>
          <a:prstGeom prst="rect">
            <a:avLst/>
          </a:prstGeom>
        </p:spPr>
      </p:pic>
      <p:pic>
        <p:nvPicPr>
          <p:cNvPr id="10" name="Picture 9" descr="Nebula overlay color 26548388 PNG">
            <a:extLst>
              <a:ext uri="{FF2B5EF4-FFF2-40B4-BE49-F238E27FC236}">
                <a16:creationId xmlns:a16="http://schemas.microsoft.com/office/drawing/2014/main" id="{FB4EBB94-758E-75A7-659C-BF66DBB0AE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98715">
            <a:off x="23425759" y="-141307"/>
            <a:ext cx="6097999" cy="343135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8F4057E1-F618-63B3-DF3A-8B3B4948305D}"/>
              </a:ext>
            </a:extLst>
          </p:cNvPr>
          <p:cNvSpPr txBox="1"/>
          <p:nvPr/>
        </p:nvSpPr>
        <p:spPr>
          <a:xfrm>
            <a:off x="17133324" y="21259800"/>
            <a:ext cx="14630400" cy="17830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3200" b="1" dirty="0">
                <a:latin typeface="Aptos"/>
              </a:rPr>
              <a:t>Earlier-onset test: </a:t>
            </a:r>
            <a:r>
              <a:rPr lang="en-CA" sz="3200" b="0" dirty="0">
                <a:latin typeface="Aptos"/>
              </a:rPr>
              <a:t>At matter–radiation equality (z = 3400), the three leading primary targets plus GN-z11 require minimum seed masses of 270–1,200 M⊙ (</a:t>
            </a:r>
            <a:r>
              <a:rPr lang="en-CA" sz="3200" b="0" dirty="0" err="1">
                <a:latin typeface="Aptos"/>
              </a:rPr>
              <a:t>ε</a:t>
            </a:r>
            <a:r>
              <a:rPr lang="en-CA" sz="3200" b="0" dirty="0">
                <a:latin typeface="Aptos"/>
              </a:rPr>
              <a:t> = 0.1, average ratio ≤1, no mergers).</a:t>
            </a:r>
            <a:r>
              <a:rPr lang="en-CA" sz="32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669F8B-BE33-0C82-515C-AF8D3B759FB3}"/>
              </a:ext>
            </a:extLst>
          </p:cNvPr>
          <p:cNvSpPr txBox="1"/>
          <p:nvPr/>
        </p:nvSpPr>
        <p:spPr>
          <a:xfrm>
            <a:off x="17133324" y="6642638"/>
            <a:ext cx="14413476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Reference: </a:t>
            </a:r>
            <a:r>
              <a:rPr lang="en-CA" sz="3200" b="0" dirty="0">
                <a:latin typeface="Aptos"/>
              </a:rPr>
              <a:t>8/220 primary objects require an average ratio above 1; five do so in ≥95% of reported-mass-error draws.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Mass sensitivity: </a:t>
            </a:r>
            <a:r>
              <a:rPr lang="en-CA" sz="3200" b="0" dirty="0">
                <a:latin typeface="Aptos"/>
              </a:rPr>
              <a:t>UNCOVER-20466, COSMOS3D-13852, and RUBIES-EGS-55604 retain ≥95% support after a 0.5 </a:t>
            </a:r>
            <a:r>
              <a:rPr lang="en-CA" sz="3200" b="0" dirty="0" err="1">
                <a:latin typeface="Aptos"/>
              </a:rPr>
              <a:t>dex</a:t>
            </a:r>
            <a:r>
              <a:rPr lang="en-CA" sz="3200" b="0" dirty="0">
                <a:latin typeface="Aptos"/>
              </a:rPr>
              <a:t> mass reduction (a factor of 3.2).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Seed mass: </a:t>
            </a:r>
            <a:r>
              <a:rPr lang="en-CA" sz="3200" b="0" dirty="0">
                <a:latin typeface="Aptos"/>
              </a:rPr>
              <a:t>1,000 M⊙ seeds leave 3/220 above unity; 100,000 M⊙ seeds leave none in either sample.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Formation time: </a:t>
            </a:r>
            <a:r>
              <a:rPr lang="en-CA" sz="3200" b="0" dirty="0">
                <a:latin typeface="Aptos"/>
              </a:rPr>
              <a:t>Later seeding (z = 20) gives 18/220 primary objects above unity; GN-z11 has the highest requirement in the expanded sample.</a:t>
            </a:r>
          </a:p>
          <a:p>
            <a:pPr marL="285750" indent="-228600">
              <a:buChar char="•"/>
            </a:pPr>
            <a:r>
              <a:rPr lang="en-CA" sz="3200" b="1" dirty="0">
                <a:latin typeface="Aptos"/>
              </a:rPr>
              <a:t>Efficiency: </a:t>
            </a:r>
            <a:r>
              <a:rPr lang="en-CA" sz="3200" b="0" dirty="0">
                <a:latin typeface="Aptos"/>
              </a:rPr>
              <a:t>At </a:t>
            </a:r>
            <a:r>
              <a:rPr lang="en-CA" sz="3200" b="0" dirty="0" err="1">
                <a:latin typeface="Aptos"/>
              </a:rPr>
              <a:t>ε</a:t>
            </a:r>
            <a:r>
              <a:rPr lang="en-CA" sz="3200" b="0" dirty="0">
                <a:latin typeface="Aptos"/>
              </a:rPr>
              <a:t> = 0.05719 (non-spinning thin disc) [4], all 234 central masses are reachable from 100 M⊙ seeds at z = 30 with an average ratio below 1.</a:t>
            </a:r>
          </a:p>
        </p:txBody>
      </p:sp>
      <p:sp>
        <p:nvSpPr>
          <p:cNvPr id="7" name="Title 18">
            <a:extLst>
              <a:ext uri="{FF2B5EF4-FFF2-40B4-BE49-F238E27FC236}">
                <a16:creationId xmlns:a16="http://schemas.microsoft.com/office/drawing/2014/main" id="{3AC78928-AF13-E1B9-F802-F1FD39D07D33}"/>
              </a:ext>
            </a:extLst>
          </p:cNvPr>
          <p:cNvSpPr txBox="1">
            <a:spLocks/>
          </p:cNvSpPr>
          <p:nvPr/>
        </p:nvSpPr>
        <p:spPr>
          <a:xfrm>
            <a:off x="16550640" y="5362478"/>
            <a:ext cx="1545336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Results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EDC07-606F-DD66-5973-0AE0D673B23B}"/>
              </a:ext>
            </a:extLst>
          </p:cNvPr>
          <p:cNvSpPr/>
          <p:nvPr/>
        </p:nvSpPr>
        <p:spPr>
          <a:xfrm>
            <a:off x="16550640" y="5344777"/>
            <a:ext cx="15453360" cy="29745323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igure takeaway 110"/>
          <p:cNvSpPr txBox="1"/>
          <p:nvPr/>
        </p:nvSpPr>
        <p:spPr>
          <a:xfrm>
            <a:off x="17190720" y="20162520"/>
            <a:ext cx="14447520" cy="914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CA" sz="2400" b="0">
                <a:latin typeface="Aptos"/>
              </a:rPr>
              <a:t>Three targets retain ≥95% reported-error support for a required average ratio above unity after a −0.5 dex mass shift.</a:t>
            </a:r>
          </a:p>
        </p:txBody>
      </p:sp>
      <p:sp>
        <p:nvSpPr>
          <p:cNvPr id="111" name="Figure takeaway 111"/>
          <p:cNvSpPr txBox="1"/>
          <p:nvPr/>
        </p:nvSpPr>
        <p:spPr>
          <a:xfrm>
            <a:off x="1188720" y="36301680"/>
            <a:ext cx="14356080" cy="1051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CA" sz="2400" b="0">
                <a:latin typeface="Aptos"/>
              </a:rPr>
              <a:t>Only efficiency changes between panels. Points below a curve can be reached with a lower average Eddington ratio.</a:t>
            </a:r>
          </a:p>
        </p:txBody>
      </p:sp>
      <p:sp>
        <p:nvSpPr>
          <p:cNvPr id="112" name="Figure takeaway 112"/>
          <p:cNvSpPr txBox="1"/>
          <p:nvPr/>
        </p:nvSpPr>
        <p:spPr>
          <a:xfrm>
            <a:off x="17190720" y="33101280"/>
            <a:ext cx="14447520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</a:pPr>
            <a:r>
              <a:rPr lang="en-CA" sz="2400" b="0" dirty="0">
                <a:latin typeface="Aptos"/>
              </a:rPr>
              <a:t>Earlier starts reduce required seeds, with diminishing gains.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483CE-2A7E-6438-7E3B-E605C17C7099}"/>
              </a:ext>
            </a:extLst>
          </p:cNvPr>
          <p:cNvSpPr txBox="1"/>
          <p:nvPr/>
        </p:nvSpPr>
        <p:spPr>
          <a:xfrm>
            <a:off x="17133324" y="33686452"/>
            <a:ext cx="144134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3200" b="1" dirty="0">
                <a:latin typeface="Aptos"/>
              </a:rPr>
              <a:t>Independent mass check: </a:t>
            </a:r>
            <a:r>
              <a:rPr lang="en-CA" sz="3200" b="0" dirty="0">
                <a:latin typeface="Aptos"/>
              </a:rPr>
              <a:t>A2744-QSO1’s dynamical mass raises its required ratio from 0.929 to ≈1; uncertainty spans unity [5].</a:t>
            </a:r>
            <a:endParaRPr lang="en-CA" sz="3200" dirty="0"/>
          </a:p>
        </p:txBody>
      </p:sp>
      <p:sp>
        <p:nvSpPr>
          <p:cNvPr id="120" name="Efficiency comparison heading">
            <a:extLst>
              <a:ext uri="{FF2B5EF4-FFF2-40B4-BE49-F238E27FC236}">
                <a16:creationId xmlns:a16="http://schemas.microsoft.com/office/drawing/2014/main" id="{3A05E1FE-512D-49F3-9C39-22D275F0EE18}"/>
              </a:ext>
            </a:extLst>
          </p:cNvPr>
          <p:cNvSpPr>
            <a:spLocks noGrp="1"/>
          </p:cNvSpPr>
          <p:nvPr/>
        </p:nvSpPr>
        <p:spPr>
          <a:xfrm>
            <a:off x="1280160" y="24825960"/>
            <a:ext cx="14356080" cy="6400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b="1">
                <a:solidFill>
                  <a:srgbClr val="002A5C"/>
                </a:solidFill>
              </a:defRPr>
            </a:defPPr>
          </a:lstStyle>
          <a:p>
            <a:pPr>
              <a:spcAft>
                <a:spcPts val="800"/>
              </a:spcAft>
              <a:buNone/>
              <a:defRPr b="1">
                <a:solidFill>
                  <a:srgbClr val="002A5C"/>
                </a:solidFill>
              </a:defRPr>
            </a:pPr>
            <a:r>
              <a:rPr sz="3600" b="1">
                <a:solidFill>
                  <a:srgbClr val="002A5C"/>
                </a:solidFill>
                <a:latin typeface="Aptos"/>
                <a:ea typeface="Aptos"/>
                <a:cs typeface="Aptos"/>
              </a:rPr>
              <a:t>Growth tension depends on efficiency</a:t>
            </a:r>
          </a:p>
        </p:txBody>
      </p:sp>
    </p:spTree>
    <p:extLst>
      <p:ext uri="{BB962C8B-B14F-4D97-AF65-F5344CB8AC3E}">
        <p14:creationId xmlns:p14="http://schemas.microsoft.com/office/powerpoint/2010/main" val="86848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917</Words>
  <Application>Microsoft Macintosh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 Early Black-Hole Growth
Constraints from JWST Nicole Jiang; University of Toronto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Jiang</dc:creator>
  <cp:lastModifiedBy>Nicole Jiang</cp:lastModifiedBy>
  <cp:revision>1</cp:revision>
  <dcterms:created xsi:type="dcterms:W3CDTF">2026-09-30T19:05:59Z</dcterms:created>
  <dcterms:modified xsi:type="dcterms:W3CDTF">2026-10-13T17:35:50Z</dcterms:modified>
</cp:coreProperties>
</file>